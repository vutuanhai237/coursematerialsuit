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66"/>
  </p:notesMasterIdLst>
  <p:handoutMasterIdLst>
    <p:handoutMasterId r:id="rId67"/>
  </p:handoutMasterIdLst>
  <p:sldIdLst>
    <p:sldId id="747" r:id="rId2"/>
    <p:sldId id="943" r:id="rId3"/>
    <p:sldId id="729" r:id="rId4"/>
    <p:sldId id="948" r:id="rId5"/>
    <p:sldId id="944" r:id="rId6"/>
    <p:sldId id="947" r:id="rId7"/>
    <p:sldId id="945" r:id="rId8"/>
    <p:sldId id="949" r:id="rId9"/>
    <p:sldId id="950" r:id="rId10"/>
    <p:sldId id="951" r:id="rId11"/>
    <p:sldId id="952" r:id="rId12"/>
    <p:sldId id="953" r:id="rId13"/>
    <p:sldId id="954" r:id="rId14"/>
    <p:sldId id="946" r:id="rId15"/>
    <p:sldId id="955" r:id="rId16"/>
    <p:sldId id="957" r:id="rId17"/>
    <p:sldId id="956" r:id="rId18"/>
    <p:sldId id="958" r:id="rId19"/>
    <p:sldId id="959" r:id="rId20"/>
    <p:sldId id="960" r:id="rId21"/>
    <p:sldId id="961" r:id="rId22"/>
    <p:sldId id="962" r:id="rId23"/>
    <p:sldId id="963" r:id="rId24"/>
    <p:sldId id="964" r:id="rId25"/>
    <p:sldId id="965" r:id="rId26"/>
    <p:sldId id="967" r:id="rId27"/>
    <p:sldId id="968" r:id="rId28"/>
    <p:sldId id="966" r:id="rId29"/>
    <p:sldId id="972" r:id="rId30"/>
    <p:sldId id="973" r:id="rId31"/>
    <p:sldId id="969" r:id="rId32"/>
    <p:sldId id="970" r:id="rId33"/>
    <p:sldId id="971" r:id="rId34"/>
    <p:sldId id="974" r:id="rId35"/>
    <p:sldId id="975" r:id="rId36"/>
    <p:sldId id="1004" r:id="rId37"/>
    <p:sldId id="977" r:id="rId38"/>
    <p:sldId id="978" r:id="rId39"/>
    <p:sldId id="979" r:id="rId40"/>
    <p:sldId id="980" r:id="rId41"/>
    <p:sldId id="981" r:id="rId42"/>
    <p:sldId id="982" r:id="rId43"/>
    <p:sldId id="983" r:id="rId44"/>
    <p:sldId id="987" r:id="rId45"/>
    <p:sldId id="984" r:id="rId46"/>
    <p:sldId id="985" r:id="rId47"/>
    <p:sldId id="986" r:id="rId48"/>
    <p:sldId id="988" r:id="rId49"/>
    <p:sldId id="989" r:id="rId50"/>
    <p:sldId id="990" r:id="rId51"/>
    <p:sldId id="991" r:id="rId52"/>
    <p:sldId id="992" r:id="rId53"/>
    <p:sldId id="993" r:id="rId54"/>
    <p:sldId id="995" r:id="rId55"/>
    <p:sldId id="996" r:id="rId56"/>
    <p:sldId id="997" r:id="rId57"/>
    <p:sldId id="994" r:id="rId58"/>
    <p:sldId id="998" r:id="rId59"/>
    <p:sldId id="999" r:id="rId60"/>
    <p:sldId id="1000" r:id="rId61"/>
    <p:sldId id="1001" r:id="rId62"/>
    <p:sldId id="1002" r:id="rId63"/>
    <p:sldId id="1003" r:id="rId64"/>
    <p:sldId id="941" r:id="rId65"/>
  </p:sldIdLst>
  <p:sldSz cx="9144000" cy="6858000" type="screen4x3"/>
  <p:notesSz cx="6858000" cy="9144000"/>
  <p:defaultTextStyle>
    <a:defPPr>
      <a:defRPr lang="en-US"/>
    </a:defPPr>
    <a:lvl1pPr algn="l" rtl="0" fontAlgn="base">
      <a:spcBef>
        <a:spcPct val="0"/>
      </a:spcBef>
      <a:spcAft>
        <a:spcPct val="0"/>
      </a:spcAft>
      <a:defRPr sz="2000" b="1" kern="1200">
        <a:solidFill>
          <a:schemeClr val="tx1"/>
        </a:solidFill>
        <a:latin typeface="Arial" charset="0"/>
        <a:ea typeface="+mn-ea"/>
        <a:cs typeface="Arial" charset="0"/>
      </a:defRPr>
    </a:lvl1pPr>
    <a:lvl2pPr marL="457200" algn="l" rtl="0" fontAlgn="base">
      <a:spcBef>
        <a:spcPct val="0"/>
      </a:spcBef>
      <a:spcAft>
        <a:spcPct val="0"/>
      </a:spcAft>
      <a:defRPr sz="2000" b="1" kern="1200">
        <a:solidFill>
          <a:schemeClr val="tx1"/>
        </a:solidFill>
        <a:latin typeface="Arial" charset="0"/>
        <a:ea typeface="+mn-ea"/>
        <a:cs typeface="Arial" charset="0"/>
      </a:defRPr>
    </a:lvl2pPr>
    <a:lvl3pPr marL="914400" algn="l" rtl="0" fontAlgn="base">
      <a:spcBef>
        <a:spcPct val="0"/>
      </a:spcBef>
      <a:spcAft>
        <a:spcPct val="0"/>
      </a:spcAft>
      <a:defRPr sz="2000" b="1" kern="1200">
        <a:solidFill>
          <a:schemeClr val="tx1"/>
        </a:solidFill>
        <a:latin typeface="Arial" charset="0"/>
        <a:ea typeface="+mn-ea"/>
        <a:cs typeface="Arial" charset="0"/>
      </a:defRPr>
    </a:lvl3pPr>
    <a:lvl4pPr marL="1371600" algn="l" rtl="0" fontAlgn="base">
      <a:spcBef>
        <a:spcPct val="0"/>
      </a:spcBef>
      <a:spcAft>
        <a:spcPct val="0"/>
      </a:spcAft>
      <a:defRPr sz="2000" b="1" kern="1200">
        <a:solidFill>
          <a:schemeClr val="tx1"/>
        </a:solidFill>
        <a:latin typeface="Arial" charset="0"/>
        <a:ea typeface="+mn-ea"/>
        <a:cs typeface="Arial" charset="0"/>
      </a:defRPr>
    </a:lvl4pPr>
    <a:lvl5pPr marL="1828800" algn="l" rtl="0" fontAlgn="base">
      <a:spcBef>
        <a:spcPct val="0"/>
      </a:spcBef>
      <a:spcAft>
        <a:spcPct val="0"/>
      </a:spcAft>
      <a:defRPr sz="2000" b="1" kern="1200">
        <a:solidFill>
          <a:schemeClr val="tx1"/>
        </a:solidFill>
        <a:latin typeface="Arial" charset="0"/>
        <a:ea typeface="+mn-ea"/>
        <a:cs typeface="Arial" charset="0"/>
      </a:defRPr>
    </a:lvl5pPr>
    <a:lvl6pPr marL="2286000" algn="l" defTabSz="914400" rtl="0" eaLnBrk="1" latinLnBrk="0" hangingPunct="1">
      <a:defRPr sz="2000" b="1" kern="1200">
        <a:solidFill>
          <a:schemeClr val="tx1"/>
        </a:solidFill>
        <a:latin typeface="Arial" charset="0"/>
        <a:ea typeface="+mn-ea"/>
        <a:cs typeface="Arial" charset="0"/>
      </a:defRPr>
    </a:lvl6pPr>
    <a:lvl7pPr marL="2743200" algn="l" defTabSz="914400" rtl="0" eaLnBrk="1" latinLnBrk="0" hangingPunct="1">
      <a:defRPr sz="2000" b="1" kern="1200">
        <a:solidFill>
          <a:schemeClr val="tx1"/>
        </a:solidFill>
        <a:latin typeface="Arial" charset="0"/>
        <a:ea typeface="+mn-ea"/>
        <a:cs typeface="Arial" charset="0"/>
      </a:defRPr>
    </a:lvl7pPr>
    <a:lvl8pPr marL="3200400" algn="l" defTabSz="914400" rtl="0" eaLnBrk="1" latinLnBrk="0" hangingPunct="1">
      <a:defRPr sz="2000" b="1" kern="1200">
        <a:solidFill>
          <a:schemeClr val="tx1"/>
        </a:solidFill>
        <a:latin typeface="Arial" charset="0"/>
        <a:ea typeface="+mn-ea"/>
        <a:cs typeface="Arial" charset="0"/>
      </a:defRPr>
    </a:lvl8pPr>
    <a:lvl9pPr marL="3657600" algn="l" defTabSz="914400" rtl="0" eaLnBrk="1" latinLnBrk="0" hangingPunct="1">
      <a:defRPr sz="2000" b="1"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00FF"/>
    <a:srgbClr val="FF3300"/>
    <a:srgbClr val="0099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88" autoAdjust="0"/>
    <p:restoredTop sz="80515" autoAdjust="0"/>
  </p:normalViewPr>
  <p:slideViewPr>
    <p:cSldViewPr>
      <p:cViewPr>
        <p:scale>
          <a:sx n="60" d="100"/>
          <a:sy n="60" d="100"/>
        </p:scale>
        <p:origin x="-1764"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E4C3519-B168-47D6-8308-C5CD23CE404E}" type="datetimeFigureOut">
              <a:rPr lang="en-US" smtClean="0"/>
              <a:pPr/>
              <a:t>12/21/2015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868FB2A-484F-4FEF-8236-6DAF1800D4E8}" type="slidenum">
              <a:rPr lang="en-US" smtClean="0"/>
              <a:pPr/>
              <a:t>‹#›</a:t>
            </a:fld>
            <a:endParaRPr lang="en-US"/>
          </a:p>
        </p:txBody>
      </p:sp>
    </p:spTree>
    <p:extLst>
      <p:ext uri="{BB962C8B-B14F-4D97-AF65-F5344CB8AC3E}">
        <p14:creationId xmlns:p14="http://schemas.microsoft.com/office/powerpoint/2010/main" val="3528439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E8A6E0-DF9C-4FE8-B984-41C3F0634796}" type="datetimeFigureOut">
              <a:rPr lang="en-US" smtClean="0"/>
              <a:pPr/>
              <a:t>12/21/2015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48F1E3-0BA9-4479-9A23-62D2F56F905A}" type="slidenum">
              <a:rPr lang="en-US" smtClean="0"/>
              <a:pPr/>
              <a:t>‹#›</a:t>
            </a:fld>
            <a:endParaRPr lang="en-US"/>
          </a:p>
        </p:txBody>
      </p:sp>
    </p:spTree>
    <p:extLst>
      <p:ext uri="{BB962C8B-B14F-4D97-AF65-F5344CB8AC3E}">
        <p14:creationId xmlns:p14="http://schemas.microsoft.com/office/powerpoint/2010/main" val="1064445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mtClean="0"/>
              <a:t>Có thực sự cần đến </a:t>
            </a:r>
            <a:r>
              <a:rPr lang="en-US" smtClean="0"/>
              <a:t>nhiều</a:t>
            </a:r>
            <a:r>
              <a:rPr lang="vi-VN" smtClean="0"/>
              <a:t> phiên bản không?</a:t>
            </a:r>
            <a:endParaRPr lang="en-US" smtClean="0"/>
          </a:p>
          <a:p>
            <a:pPr marL="0" marR="0" indent="0" algn="l" defTabSz="914400" rtl="0" eaLnBrk="1" fontAlgn="auto" latinLnBrk="0" hangingPunct="1">
              <a:lnSpc>
                <a:spcPct val="100000"/>
              </a:lnSpc>
              <a:spcBef>
                <a:spcPts val="0"/>
              </a:spcBef>
              <a:spcAft>
                <a:spcPts val="0"/>
              </a:spcAft>
              <a:buClrTx/>
              <a:buSzTx/>
              <a:buFontTx/>
              <a:buNone/>
              <a:tabLst/>
              <a:defRPr/>
            </a:pPr>
            <a:r>
              <a:rPr lang="vi-VN" sz="1200" b="0" i="0" u="none" strike="noStrike" kern="1200" baseline="0" smtClean="0">
                <a:solidFill>
                  <a:schemeClr val="tx1"/>
                </a:solidFill>
                <a:latin typeface="+mn-lt"/>
                <a:ea typeface="+mn-ea"/>
                <a:cs typeface="+mn-cs"/>
              </a:rPr>
              <a:t>Như vậy ta phải viết rất nhiều định nghĩa hàm hoàn toàn tương tự nhau, chỉ có kiểu dữ liệu là thay đổi.</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r>
              <a:rPr lang="vi-VN" sz="2800" smtClean="0">
                <a:solidFill>
                  <a:schemeClr val="tx1">
                    <a:lumMod val="95000"/>
                    <a:lumOff val="5000"/>
                  </a:schemeClr>
                </a:solidFill>
                <a:latin typeface="Arial" pitchFamily="34" charset="0"/>
                <a:cs typeface="Arial" pitchFamily="34" charset="0"/>
              </a:rPr>
              <a:t>Ta thấy khai báo và định nghĩa của Stack </a:t>
            </a:r>
            <a:r>
              <a:rPr lang="vi-VN" sz="2800" smtClean="0">
                <a:solidFill>
                  <a:srgbClr val="0000FF"/>
                </a:solidFill>
                <a:latin typeface="Arial" pitchFamily="34" charset="0"/>
                <a:cs typeface="Arial" pitchFamily="34" charset="0"/>
              </a:rPr>
              <a:t>phụ thuộc </a:t>
            </a:r>
            <a:r>
              <a:rPr lang="vi-VN" sz="2800" smtClean="0">
                <a:solidFill>
                  <a:schemeClr val="tx1">
                    <a:lumMod val="95000"/>
                    <a:lumOff val="5000"/>
                  </a:schemeClr>
                </a:solidFill>
                <a:latin typeface="Arial" pitchFamily="34" charset="0"/>
                <a:cs typeface="Arial" pitchFamily="34" charset="0"/>
              </a:rPr>
              <a:t>tại một mức độ nào đó vào </a:t>
            </a:r>
            <a:r>
              <a:rPr lang="vi-VN" sz="2800" smtClean="0">
                <a:solidFill>
                  <a:srgbClr val="0066FF"/>
                </a:solidFill>
                <a:latin typeface="Arial" pitchFamily="34" charset="0"/>
                <a:cs typeface="Arial" pitchFamily="34" charset="0"/>
              </a:rPr>
              <a:t>kiểu dữ liệu int</a:t>
            </a:r>
            <a:r>
              <a:rPr lang="en-US" sz="2800" smtClean="0">
                <a:solidFill>
                  <a:srgbClr val="0066FF"/>
                </a:solidFill>
                <a:latin typeface="Arial" pitchFamily="34" charset="0"/>
                <a:cs typeface="Arial" pitchFamily="34" charset="0"/>
              </a:rPr>
              <a:t>.</a:t>
            </a:r>
            <a:endParaRPr lang="vi-VN" sz="2800" smtClean="0">
              <a:solidFill>
                <a:srgbClr val="0066FF"/>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v"/>
            </a:pPr>
            <a:r>
              <a:rPr lang="vi-VN" sz="2400" smtClean="0">
                <a:solidFill>
                  <a:schemeClr val="tx1">
                    <a:lumMod val="95000"/>
                    <a:lumOff val="5000"/>
                  </a:schemeClr>
                </a:solidFill>
                <a:latin typeface="Arial" pitchFamily="34" charset="0"/>
                <a:cs typeface="Arial" pitchFamily="34" charset="0"/>
              </a:rPr>
              <a:t>Một số phương thức lấy tham số và trả về kiểu </a:t>
            </a:r>
            <a:r>
              <a:rPr lang="vi-VN" sz="2400" smtClean="0">
                <a:solidFill>
                  <a:srgbClr val="0066FF"/>
                </a:solidFill>
                <a:latin typeface="Arial" pitchFamily="34" charset="0"/>
                <a:cs typeface="Arial" pitchFamily="34" charset="0"/>
              </a:rPr>
              <a:t>int</a:t>
            </a:r>
          </a:p>
          <a:p>
            <a:pPr lvl="1" algn="just">
              <a:lnSpc>
                <a:spcPct val="130000"/>
              </a:lnSpc>
              <a:spcBef>
                <a:spcPts val="300"/>
              </a:spcBef>
              <a:spcAft>
                <a:spcPts val="300"/>
              </a:spcAft>
              <a:buFont typeface="Wingdings" pitchFamily="2" charset="2"/>
              <a:buChar char="v"/>
            </a:pPr>
            <a:r>
              <a:rPr lang="vi-VN" sz="2400" smtClean="0">
                <a:solidFill>
                  <a:schemeClr val="tx1">
                    <a:lumMod val="95000"/>
                    <a:lumOff val="5000"/>
                  </a:schemeClr>
                </a:solidFill>
                <a:latin typeface="Arial" pitchFamily="34" charset="0"/>
                <a:cs typeface="Arial" pitchFamily="34" charset="0"/>
              </a:rPr>
              <a:t>Nếu ta muốn tạo ngăn xếp cho một kiểu dữ liệu khác thì sao?</a:t>
            </a:r>
          </a:p>
          <a:p>
            <a:pPr lvl="1" algn="just">
              <a:lnSpc>
                <a:spcPct val="130000"/>
              </a:lnSpc>
              <a:spcBef>
                <a:spcPts val="300"/>
              </a:spcBef>
              <a:spcAft>
                <a:spcPts val="300"/>
              </a:spcAft>
              <a:buFont typeface="Wingdings" pitchFamily="2" charset="2"/>
              <a:buChar char="v"/>
            </a:pPr>
            <a:r>
              <a:rPr lang="vi-VN" sz="2400" smtClean="0">
                <a:solidFill>
                  <a:schemeClr val="tx1">
                    <a:lumMod val="95000"/>
                    <a:lumOff val="5000"/>
                  </a:schemeClr>
                </a:solidFill>
                <a:latin typeface="Arial" pitchFamily="34" charset="0"/>
                <a:cs typeface="Arial" pitchFamily="34" charset="0"/>
              </a:rPr>
              <a:t>Ta có nên định nghĩa lại hoàn toàn lớp Stack (kết quả sẽ tạo ra nhiều lớp chẳng hạn </a:t>
            </a:r>
            <a:r>
              <a:rPr lang="vi-VN" sz="2400" smtClean="0">
                <a:solidFill>
                  <a:srgbClr val="FF0000"/>
                </a:solidFill>
                <a:latin typeface="Arial" pitchFamily="34" charset="0"/>
                <a:cs typeface="Arial" pitchFamily="34" charset="0"/>
              </a:rPr>
              <a:t>IntStack</a:t>
            </a:r>
            <a:r>
              <a:rPr lang="vi-VN" sz="2400" smtClean="0">
                <a:solidFill>
                  <a:schemeClr val="tx1">
                    <a:lumMod val="95000"/>
                    <a:lumOff val="5000"/>
                  </a:schemeClr>
                </a:solidFill>
                <a:latin typeface="Arial" pitchFamily="34" charset="0"/>
                <a:cs typeface="Arial" pitchFamily="34" charset="0"/>
              </a:rPr>
              <a:t>, </a:t>
            </a:r>
            <a:r>
              <a:rPr lang="vi-VN" sz="2400" smtClean="0">
                <a:solidFill>
                  <a:srgbClr val="FF0000"/>
                </a:solidFill>
                <a:latin typeface="Arial" pitchFamily="34" charset="0"/>
                <a:cs typeface="Arial" pitchFamily="34" charset="0"/>
              </a:rPr>
              <a:t>FloatStack</a:t>
            </a:r>
            <a:r>
              <a:rPr lang="vi-VN" sz="2400" smtClean="0">
                <a:solidFill>
                  <a:schemeClr val="tx1">
                    <a:lumMod val="95000"/>
                    <a:lumOff val="5000"/>
                  </a:schemeClr>
                </a:solidFill>
                <a:latin typeface="Arial" pitchFamily="34" charset="0"/>
                <a:cs typeface="Arial" pitchFamily="34" charset="0"/>
              </a:rPr>
              <a:t>,…) hay không?</a:t>
            </a:r>
          </a:p>
        </p:txBody>
      </p:sp>
      <p:sp>
        <p:nvSpPr>
          <p:cNvPr id="4" name="Slide Number Placeholder 3"/>
          <p:cNvSpPr>
            <a:spLocks noGrp="1"/>
          </p:cNvSpPr>
          <p:nvPr>
            <p:ph type="sldNum" sz="quarter" idx="10"/>
          </p:nvPr>
        </p:nvSpPr>
        <p:spPr/>
        <p:txBody>
          <a:bodyPr/>
          <a:lstStyle/>
          <a:p>
            <a:fld id="{3D48F1E3-0BA9-4479-9A23-62D2F56F905A}"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mtClean="0"/>
              <a:t>Qua các ví dụ, ta thấy đây là một phương pháp tự nhiên tuân theo khuôn mẫu hướng đối tượng theo nhiều kiể</a:t>
            </a:r>
            <a:r>
              <a:rPr lang="en-US" smtClean="0"/>
              <a:t>u</a:t>
            </a:r>
          </a:p>
        </p:txBody>
      </p:sp>
      <p:sp>
        <p:nvSpPr>
          <p:cNvPr id="4" name="Slide Number Placeholder 3"/>
          <p:cNvSpPr>
            <a:spLocks noGrp="1"/>
          </p:cNvSpPr>
          <p:nvPr>
            <p:ph type="sldNum" sz="quarter" idx="10"/>
          </p:nvPr>
        </p:nvSpPr>
        <p:spPr/>
        <p:txBody>
          <a:bodyPr/>
          <a:lstStyle/>
          <a:p>
            <a:fld id="{3D48F1E3-0BA9-4479-9A23-62D2F56F905A}" type="slidenum">
              <a:rPr lang="en-US" smtClean="0"/>
              <a:pPr/>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sz="1200" b="0" i="0" u="none" strike="noStrike" kern="1200" baseline="0" smtClean="0">
                <a:solidFill>
                  <a:schemeClr val="tx1"/>
                </a:solidFill>
                <a:latin typeface="+mn-lt"/>
                <a:ea typeface="+mn-ea"/>
                <a:cs typeface="+mn-cs"/>
              </a:rPr>
              <a:t>Chương trình dịch C++ cho phép giải quyết đơn giản vấn đề trên bằng cách định nghĩa một khuôn hình hàm duy nhất theo cú pháp</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smtClean="0"/>
              <a:t>Dùng function template chúng ta chỉ cần viết một hàm duy nhất cho nhiều kiểu dữ</a:t>
            </a:r>
            <a:r>
              <a:rPr lang="en-US" baseline="0" smtClean="0"/>
              <a:t> </a:t>
            </a:r>
            <a:r>
              <a:rPr lang="vi-VN" smtClean="0"/>
              <a:t>liệu khác nhau thay vì phải viết nhiều hàm cho từng kiểu dữ liệu cụ thể.</a:t>
            </a:r>
          </a:p>
          <a:p>
            <a:r>
              <a:rPr lang="vi-VN" smtClean="0"/>
              <a:t>Dùng function template giúp giảm được kích thước và tăng tính linh động của chương trình.</a:t>
            </a:r>
          </a:p>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vi-VN" sz="2400" smtClean="0">
                <a:solidFill>
                  <a:schemeClr val="tx1">
                    <a:lumMod val="95000"/>
                    <a:lumOff val="5000"/>
                  </a:schemeClr>
                </a:solidFill>
                <a:latin typeface="Arial" pitchFamily="34" charset="0"/>
                <a:cs typeface="Arial" pitchFamily="34" charset="0"/>
              </a:rPr>
              <a:t>Nếu không, trình biên dịch sẽ sinh một cài đặt của swap() lấy hai tham số kiểu int (thực ra là viết đoạn mã mà ta sẽ tạo nếu ta tự mình viết) – và liên kết lời gọi hàm với phiên bản vừa sinh</a:t>
            </a:r>
          </a:p>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r>
              <a:rPr lang="en-US" sz="1200" smtClean="0">
                <a:solidFill>
                  <a:schemeClr val="tx1">
                    <a:lumMod val="95000"/>
                    <a:lumOff val="5000"/>
                  </a:schemeClr>
                </a:solidFill>
                <a:latin typeface="Arial" pitchFamily="34" charset="0"/>
                <a:cs typeface="Arial" pitchFamily="34" charset="0"/>
              </a:rPr>
              <a:t>Như v</a:t>
            </a:r>
            <a:r>
              <a:rPr lang="vi-VN" sz="1200" smtClean="0">
                <a:solidFill>
                  <a:schemeClr val="tx1">
                    <a:lumMod val="95000"/>
                    <a:lumOff val="5000"/>
                  </a:schemeClr>
                </a:solidFill>
                <a:latin typeface="Arial" pitchFamily="34" charset="0"/>
                <a:cs typeface="Arial" pitchFamily="34" charset="0"/>
              </a:rPr>
              <a:t>ậy, đến cuối quy trình biên dịch đoạn mã trong ví dụ, sẽ có hai phiên bản của swap() được tạo (một cho hai tham số kiểu int, một cho hai tham số kiểu float) với các lời gọi hàm của ta được liên kết với phiên bản thích hợp</a:t>
            </a:r>
            <a:r>
              <a:rPr lang="en-US" sz="1200" smtClean="0">
                <a:solidFill>
                  <a:schemeClr val="tx1">
                    <a:lumMod val="95000"/>
                    <a:lumOff val="5000"/>
                  </a:schemeClr>
                </a:solidFill>
                <a:latin typeface="Arial" pitchFamily="34" charset="0"/>
                <a:cs typeface="Arial" pitchFamily="34" charset="0"/>
              </a:rPr>
              <a:t>.</a:t>
            </a:r>
            <a:endParaRPr lang="vi-VN" sz="1200" smtClean="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v"/>
            </a:pPr>
            <a:r>
              <a:rPr lang="en-US" sz="1200" smtClean="0">
                <a:solidFill>
                  <a:schemeClr val="tx1">
                    <a:lumMod val="95000"/>
                    <a:lumOff val="5000"/>
                  </a:schemeClr>
                </a:solidFill>
                <a:latin typeface="Arial" pitchFamily="34" charset="0"/>
                <a:cs typeface="Arial" pitchFamily="34" charset="0"/>
              </a:rPr>
              <a:t>T</a:t>
            </a:r>
            <a:r>
              <a:rPr lang="vi-VN" sz="1200" smtClean="0">
                <a:solidFill>
                  <a:schemeClr val="tx1">
                    <a:lumMod val="95000"/>
                    <a:lumOff val="5000"/>
                  </a:schemeClr>
                </a:solidFill>
                <a:latin typeface="Arial" pitchFamily="34" charset="0"/>
                <a:cs typeface="Arial" pitchFamily="34" charset="0"/>
              </a:rPr>
              <a:t>a có thể đoán rằng có chi phí phụ về thời gian biên dịch đối với việc sử dụng template</a:t>
            </a:r>
          </a:p>
          <a:p>
            <a:pPr lvl="1" algn="just">
              <a:lnSpc>
                <a:spcPct val="130000"/>
              </a:lnSpc>
              <a:spcBef>
                <a:spcPts val="300"/>
              </a:spcBef>
              <a:spcAft>
                <a:spcPts val="300"/>
              </a:spcAft>
              <a:buFont typeface="Wingdings" pitchFamily="2" charset="2"/>
              <a:buChar char="v"/>
            </a:pPr>
            <a:r>
              <a:rPr lang="vi-VN" sz="2400" smtClean="0">
                <a:solidFill>
                  <a:schemeClr val="tx1">
                    <a:lumMod val="95000"/>
                    <a:lumOff val="5000"/>
                  </a:schemeClr>
                </a:solidFill>
                <a:latin typeface="Arial" pitchFamily="34" charset="0"/>
                <a:cs typeface="Arial" pitchFamily="34" charset="0"/>
              </a:rPr>
              <a:t>Ngoài ra còn có chi phí phụ về không gian liên quan đến mỗi cài đặt của swap() được tạo trong khi biên dịch</a:t>
            </a:r>
          </a:p>
          <a:p>
            <a:pPr lvl="1" algn="just">
              <a:lnSpc>
                <a:spcPct val="130000"/>
              </a:lnSpc>
              <a:spcBef>
                <a:spcPts val="300"/>
              </a:spcBef>
              <a:spcAft>
                <a:spcPts val="300"/>
              </a:spcAft>
              <a:buFont typeface="Wingdings" pitchFamily="2" charset="2"/>
              <a:buChar char="v"/>
            </a:pPr>
            <a:r>
              <a:rPr lang="vi-VN" sz="2400" smtClean="0">
                <a:solidFill>
                  <a:schemeClr val="tx1">
                    <a:lumMod val="95000"/>
                    <a:lumOff val="5000"/>
                  </a:schemeClr>
                </a:solidFill>
                <a:latin typeface="Arial" pitchFamily="34" charset="0"/>
                <a:cs typeface="Arial" pitchFamily="34" charset="0"/>
              </a:rPr>
              <a:t>Tuy nhiên, tính hiệu quả của các cài đặt đó cũng không khác với khi ta tự cài đặt chúng</a:t>
            </a:r>
          </a:p>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smtClean="0">
                <a:solidFill>
                  <a:schemeClr val="tx1">
                    <a:lumMod val="95000"/>
                    <a:lumOff val="5000"/>
                  </a:schemeClr>
                </a:solidFill>
                <a:latin typeface="Arial" pitchFamily="34" charset="0"/>
                <a:cs typeface="Arial" pitchFamily="34" charset="0"/>
              </a:rPr>
              <a:t>T</a:t>
            </a:r>
            <a:r>
              <a:rPr lang="vi-VN" sz="1200" smtClean="0">
                <a:solidFill>
                  <a:schemeClr val="tx1">
                    <a:lumMod val="95000"/>
                    <a:lumOff val="5000"/>
                  </a:schemeClr>
                </a:solidFill>
                <a:latin typeface="Arial" pitchFamily="34" charset="0"/>
                <a:cs typeface="Arial" pitchFamily="34" charset="0"/>
              </a:rPr>
              <a:t>a có thể cho phép hai thành viên nhận các kiểu dữ liệu khác nhau</a:t>
            </a:r>
            <a:r>
              <a:rPr lang="en-US" sz="1200" smtClean="0">
                <a:solidFill>
                  <a:schemeClr val="tx1">
                    <a:lumMod val="95000"/>
                    <a:lumOff val="5000"/>
                  </a:schemeClr>
                </a:solidFill>
                <a:latin typeface="Arial" pitchFamily="34" charset="0"/>
                <a:cs typeface="Arial" pitchFamily="34" charset="0"/>
              </a:rPr>
              <a:t>?</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eaLnBrk="1" hangingPunct="1">
              <a:defRPr/>
            </a:pPr>
            <a:r>
              <a:rPr lang="vi-VN" smtClean="0"/>
              <a:t>Tại sao đòi hỏi kiểu tường minh?</a:t>
            </a:r>
          </a:p>
          <a:p>
            <a:pPr lvl="1" algn="just" eaLnBrk="1" hangingPunct="1">
              <a:defRPr/>
            </a:pPr>
            <a:r>
              <a:rPr lang="vi-VN" sz="2400" smtClean="0"/>
              <a:t>Các lệnh trên làm gì? - cấp phát bộ nhớ cho đối tượng</a:t>
            </a:r>
          </a:p>
          <a:p>
            <a:pPr lvl="1" algn="just" eaLnBrk="1" hangingPunct="1">
              <a:defRPr/>
            </a:pPr>
            <a:r>
              <a:rPr lang="vi-VN" sz="2400" smtClean="0">
                <a:ea typeface="+mn-ea"/>
              </a:rPr>
              <a:t>Nếu không biết các kiểu dữ liệu được sử dụng, trình biên dịch làm thế nào để biết cần đến bao nhiêu bộ nhớ</a:t>
            </a:r>
            <a:r>
              <a:rPr lang="en-US" sz="2400" smtClean="0">
                <a:ea typeface="+mn-ea"/>
              </a:rPr>
              <a:t>.</a:t>
            </a:r>
            <a:endParaRPr lang="vi-VN" sz="2400" dirty="0" smtClean="0">
              <a:ea typeface="+mn-ea"/>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smtClean="0">
                <a:solidFill>
                  <a:schemeClr val="tx1">
                    <a:lumMod val="95000"/>
                    <a:lumOff val="5000"/>
                  </a:schemeClr>
                </a:solidFill>
                <a:latin typeface="Arial" pitchFamily="34" charset="0"/>
                <a:cs typeface="Arial" pitchFamily="34" charset="0"/>
              </a:rPr>
              <a:t>Khi đó, ta có thể test tương đối đầy đủ lớp Stack cho số nguyên để tìm các lỗi tổng quát mà không phải quan tâm đến các vấn đề liên quan đến template</a:t>
            </a:r>
          </a:p>
        </p:txBody>
      </p:sp>
      <p:sp>
        <p:nvSpPr>
          <p:cNvPr id="4" name="Slide Number Placeholder 3"/>
          <p:cNvSpPr>
            <a:spLocks noGrp="1"/>
          </p:cNvSpPr>
          <p:nvPr>
            <p:ph type="sldNum" sz="quarter" idx="10"/>
          </p:nvPr>
        </p:nvSpPr>
        <p:spPr/>
        <p:txBody>
          <a:bodyPr/>
          <a:lstStyle/>
          <a:p>
            <a:fld id="{3D48F1E3-0BA9-4479-9A23-62D2F56F905A}" type="slidenum">
              <a:rPr lang="en-US" smtClean="0"/>
              <a:pPr/>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Template Stack</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smtClean="0"/>
              <a:t>Các phương thức của khuôn mẫu lớp</a:t>
            </a:r>
            <a:r>
              <a:rPr lang="en-US" smtClean="0"/>
              <a:t>:</a:t>
            </a:r>
            <a:r>
              <a:rPr lang="en-US" baseline="0" smtClean="0"/>
              <a:t> </a:t>
            </a:r>
            <a:r>
              <a:rPr lang="vi-VN" smtClean="0"/>
              <a:t>Định nghĩa như bình thường, nhưng bắt đầu bằng dòng</a:t>
            </a:r>
            <a:r>
              <a:rPr lang="en-US" smtClean="0"/>
              <a:t> </a:t>
            </a:r>
            <a:r>
              <a:rPr lang="vi-VN" smtClean="0"/>
              <a:t>template &lt;class T&gt;</a:t>
            </a:r>
          </a:p>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29</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31</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smtClean="0">
                <a:solidFill>
                  <a:schemeClr val="tx1">
                    <a:lumMod val="95000"/>
                    <a:lumOff val="5000"/>
                  </a:schemeClr>
                </a:solidFill>
                <a:latin typeface="Arial" pitchFamily="34" charset="0"/>
                <a:cs typeface="Arial" pitchFamily="34" charset="0"/>
                <a:sym typeface="Wingdings" pitchFamily="2" charset="2"/>
              </a:rPr>
              <a:t>C</a:t>
            </a:r>
            <a:r>
              <a:rPr lang="vi-VN" sz="1200" smtClean="0">
                <a:solidFill>
                  <a:schemeClr val="tx1">
                    <a:lumMod val="95000"/>
                    <a:lumOff val="5000"/>
                  </a:schemeClr>
                </a:solidFill>
                <a:latin typeface="Arial" pitchFamily="34" charset="0"/>
                <a:cs typeface="Arial" pitchFamily="34" charset="0"/>
              </a:rPr>
              <a:t>ó thể thêm một tham số vào lệnh template chỉ ra một số int (giá trị này sẽ được dùng để xác định giá trị cho max)</a:t>
            </a:r>
          </a:p>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buFontTx/>
              <a:buNone/>
            </a:pPr>
            <a:r>
              <a:rPr lang="vi-VN" sz="1200" smtClean="0"/>
              <a:t>Sửa khai báo và định nghĩa trước để sử dụng tham số mới</a:t>
            </a:r>
          </a:p>
        </p:txBody>
      </p:sp>
      <p:sp>
        <p:nvSpPr>
          <p:cNvPr id="4" name="Slide Number Placeholder 3"/>
          <p:cNvSpPr>
            <a:spLocks noGrp="1"/>
          </p:cNvSpPr>
          <p:nvPr>
            <p:ph type="sldNum" sz="quarter" idx="10"/>
          </p:nvPr>
        </p:nvSpPr>
        <p:spPr/>
        <p:txBody>
          <a:bodyPr/>
          <a:lstStyle/>
          <a:p>
            <a:fld id="{3D48F1E3-0BA9-4479-9A23-62D2F56F905A}" type="slidenum">
              <a:rPr lang="en-US" smtClean="0"/>
              <a:pPr/>
              <a:t>33</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35</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XL</a:t>
            </a:r>
            <a:r>
              <a:rPr lang="en-US" baseline="0" dirty="0" smtClean="0"/>
              <a:t> </a:t>
            </a:r>
            <a:r>
              <a:rPr lang="en-US" baseline="0" dirty="0" err="1" smtClean="0"/>
              <a:t>ngoại</a:t>
            </a:r>
            <a:r>
              <a:rPr lang="en-US" baseline="0" dirty="0" smtClean="0"/>
              <a:t> </a:t>
            </a:r>
            <a:r>
              <a:rPr lang="en-US" baseline="0" dirty="0" err="1" smtClean="0"/>
              <a:t>lệ</a:t>
            </a:r>
            <a:r>
              <a:rPr lang="en-US" baseline="0" dirty="0" smtClean="0"/>
              <a:t>: </a:t>
            </a:r>
          </a:p>
          <a:p>
            <a:pPr marL="171450" indent="-171450">
              <a:buFontTx/>
              <a:buChar char="-"/>
            </a:pPr>
            <a:r>
              <a:rPr lang="en-US" baseline="0" dirty="0" err="1" smtClean="0"/>
              <a:t>Tránh</a:t>
            </a:r>
            <a:r>
              <a:rPr lang="en-US" baseline="0" dirty="0" smtClean="0"/>
              <a:t> </a:t>
            </a:r>
            <a:r>
              <a:rPr lang="en-US" baseline="0" dirty="0" err="1" smtClean="0"/>
              <a:t>rò</a:t>
            </a:r>
            <a:r>
              <a:rPr lang="en-US" baseline="0" dirty="0" smtClean="0"/>
              <a:t> </a:t>
            </a:r>
            <a:r>
              <a:rPr lang="en-US" baseline="0" dirty="0" err="1" smtClean="0"/>
              <a:t>rỉ</a:t>
            </a:r>
            <a:r>
              <a:rPr lang="en-US" baseline="0" dirty="0" smtClean="0"/>
              <a:t> </a:t>
            </a:r>
            <a:r>
              <a:rPr lang="en-US" baseline="0" dirty="0" err="1" smtClean="0"/>
              <a:t>tài</a:t>
            </a:r>
            <a:r>
              <a:rPr lang="en-US" baseline="0" dirty="0" smtClean="0"/>
              <a:t> </a:t>
            </a:r>
            <a:r>
              <a:rPr lang="en-US" baseline="0" dirty="0" err="1" smtClean="0"/>
              <a:t>nguyên</a:t>
            </a:r>
            <a:endParaRPr lang="en-US" baseline="0" dirty="0" smtClean="0"/>
          </a:p>
          <a:p>
            <a:pPr marL="171450" indent="-171450">
              <a:buFontTx/>
              <a:buChar char="-"/>
            </a:pPr>
            <a:r>
              <a:rPr lang="en-GB" dirty="0" smtClean="0"/>
              <a:t>strong exception-safety guarantees</a:t>
            </a:r>
          </a:p>
          <a:p>
            <a:pPr marL="0" indent="0">
              <a:buFontTx/>
              <a:buNone/>
            </a:pPr>
            <a:r>
              <a:rPr lang="en-US" dirty="0" err="1" smtClean="0"/>
              <a:t>Trong</a:t>
            </a:r>
            <a:r>
              <a:rPr lang="en-US" dirty="0" smtClean="0"/>
              <a:t> throw </a:t>
            </a:r>
            <a:r>
              <a:rPr lang="en-US" dirty="0" err="1" smtClean="0"/>
              <a:t>chỉ</a:t>
            </a:r>
            <a:r>
              <a:rPr lang="en-US" baseline="0" dirty="0" smtClean="0"/>
              <a:t> </a:t>
            </a:r>
            <a:r>
              <a:rPr lang="en-US" baseline="0" dirty="0" err="1" smtClean="0"/>
              <a:t>là</a:t>
            </a:r>
            <a:r>
              <a:rPr lang="en-US" baseline="0" dirty="0" smtClean="0"/>
              <a:t>  </a:t>
            </a:r>
            <a:r>
              <a:rPr lang="en-US" baseline="0" dirty="0" err="1" smtClean="0"/>
              <a:t>tạm</a:t>
            </a:r>
            <a:r>
              <a:rPr lang="en-US" baseline="0" dirty="0" smtClean="0"/>
              <a:t> </a:t>
            </a:r>
            <a:r>
              <a:rPr lang="en-US" baseline="0" dirty="0" err="1" smtClean="0"/>
              <a:t>thời</a:t>
            </a:r>
            <a:r>
              <a:rPr lang="en-US" baseline="0" dirty="0" smtClean="0"/>
              <a:t>, </a:t>
            </a:r>
            <a:r>
              <a:rPr lang="en-US" baseline="0" dirty="0" err="1" smtClean="0"/>
              <a:t>sẽ</a:t>
            </a:r>
            <a:r>
              <a:rPr lang="en-US" baseline="0" dirty="0" smtClean="0"/>
              <a:t> </a:t>
            </a:r>
            <a:r>
              <a:rPr lang="en-US" baseline="0" dirty="0" err="1" smtClean="0"/>
              <a:t>có</a:t>
            </a:r>
            <a:r>
              <a:rPr lang="en-US" baseline="0" dirty="0" smtClean="0"/>
              <a:t> copy constructor </a:t>
            </a:r>
            <a:r>
              <a:rPr lang="en-US" baseline="0" dirty="0" err="1" smtClean="0"/>
              <a:t>được</a:t>
            </a:r>
            <a:r>
              <a:rPr lang="en-US" baseline="0" dirty="0" smtClean="0"/>
              <a:t> </a:t>
            </a:r>
            <a:r>
              <a:rPr lang="en-US" baseline="0" dirty="0" err="1" smtClean="0"/>
              <a:t>gọi</a:t>
            </a:r>
            <a:r>
              <a:rPr lang="en-US" baseline="0" dirty="0" smtClean="0"/>
              <a:t> </a:t>
            </a:r>
            <a:r>
              <a:rPr lang="en-US" baseline="0" dirty="0" err="1" smtClean="0"/>
              <a:t>trong</a:t>
            </a:r>
            <a:r>
              <a:rPr lang="en-US" baseline="0" dirty="0" smtClean="0"/>
              <a:t> catch </a:t>
            </a:r>
            <a:r>
              <a:rPr lang="en-US" baseline="0" dirty="0" err="1" smtClean="0"/>
              <a:t>tương</a:t>
            </a:r>
            <a:r>
              <a:rPr lang="en-US" baseline="0" dirty="0" smtClean="0"/>
              <a:t> </a:t>
            </a:r>
            <a:r>
              <a:rPr lang="en-US" baseline="0" dirty="0" err="1" smtClean="0"/>
              <a:t>ứng</a:t>
            </a:r>
            <a:endParaRPr lang="en-US" baseline="0" dirty="0" smtClean="0"/>
          </a:p>
          <a:p>
            <a:pPr marL="0" indent="0">
              <a:buFontTx/>
              <a:buNone/>
            </a:pPr>
            <a:r>
              <a:rPr lang="en-GB" dirty="0" smtClean="0"/>
              <a:t>&lt;</a:t>
            </a:r>
            <a:r>
              <a:rPr lang="en-GB" smtClean="0"/>
              <a:t>stdexcept</a:t>
            </a:r>
            <a:r>
              <a:rPr lang="en-GB" dirty="0" smtClean="0"/>
              <a:t>&gt; </a:t>
            </a:r>
            <a:r>
              <a:rPr lang="en-GB" dirty="0" err="1" smtClean="0"/>
              <a:t>định</a:t>
            </a:r>
            <a:r>
              <a:rPr lang="en-GB" baseline="0" dirty="0" smtClean="0"/>
              <a:t> </a:t>
            </a:r>
            <a:r>
              <a:rPr lang="en-GB" baseline="0" dirty="0" err="1" smtClean="0"/>
              <a:t>nghĩa</a:t>
            </a:r>
            <a:r>
              <a:rPr lang="en-GB" baseline="0" dirty="0" smtClean="0"/>
              <a:t>, &lt;exception&gt; </a:t>
            </a:r>
            <a:r>
              <a:rPr lang="en-GB" baseline="0" dirty="0" err="1" smtClean="0"/>
              <a:t>hiện</a:t>
            </a:r>
            <a:r>
              <a:rPr lang="en-GB" baseline="0" dirty="0" smtClean="0"/>
              <a:t> </a:t>
            </a:r>
            <a:r>
              <a:rPr lang="en-GB" baseline="0" dirty="0" err="1" smtClean="0"/>
              <a:t>thực</a:t>
            </a:r>
            <a:endParaRPr lang="en-GB" dirty="0"/>
          </a:p>
        </p:txBody>
      </p:sp>
      <p:sp>
        <p:nvSpPr>
          <p:cNvPr id="4" name="Slide Number Placeholder 3"/>
          <p:cNvSpPr>
            <a:spLocks noGrp="1"/>
          </p:cNvSpPr>
          <p:nvPr>
            <p:ph type="sldNum" sz="quarter" idx="10"/>
          </p:nvPr>
        </p:nvSpPr>
        <p:spPr/>
        <p:txBody>
          <a:bodyPr/>
          <a:lstStyle/>
          <a:p>
            <a:fld id="{3D48F1E3-0BA9-4479-9A23-62D2F56F905A}" type="slidenum">
              <a:rPr lang="en-US" smtClean="0"/>
              <a:pPr/>
              <a:t>36</a:t>
            </a:fld>
            <a:endParaRPr lang="en-US"/>
          </a:p>
        </p:txBody>
      </p:sp>
    </p:spTree>
    <p:extLst>
      <p:ext uri="{BB962C8B-B14F-4D97-AF65-F5344CB8AC3E}">
        <p14:creationId xmlns:p14="http://schemas.microsoft.com/office/powerpoint/2010/main" val="3861629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buFontTx/>
              <a:buChar char="-"/>
            </a:pPr>
            <a:r>
              <a:rPr lang="en-US" dirty="0" err="1" smtClean="0"/>
              <a:t>Lỗi</a:t>
            </a:r>
            <a:r>
              <a:rPr lang="en-US" dirty="0" smtClean="0"/>
              <a:t> </a:t>
            </a:r>
            <a:r>
              <a:rPr lang="en-US" dirty="0" err="1" smtClean="0"/>
              <a:t>có</a:t>
            </a:r>
            <a:r>
              <a:rPr lang="en-US" dirty="0" smtClean="0"/>
              <a:t> 2 </a:t>
            </a:r>
            <a:r>
              <a:rPr lang="en-US" dirty="0" err="1" smtClean="0"/>
              <a:t>loại</a:t>
            </a:r>
            <a:r>
              <a:rPr lang="en-US" dirty="0" smtClean="0"/>
              <a:t>: </a:t>
            </a:r>
            <a:r>
              <a:rPr lang="en-US" dirty="0" err="1" smtClean="0"/>
              <a:t>Lỗi</a:t>
            </a:r>
            <a:r>
              <a:rPr lang="en-US" dirty="0" smtClean="0"/>
              <a:t> </a:t>
            </a:r>
            <a:r>
              <a:rPr lang="en-US" dirty="0" err="1" smtClean="0"/>
              <a:t>lúc</a:t>
            </a:r>
            <a:r>
              <a:rPr lang="en-US" dirty="0" smtClean="0"/>
              <a:t> </a:t>
            </a:r>
            <a:r>
              <a:rPr lang="en-US" dirty="0" err="1" smtClean="0"/>
              <a:t>biên</a:t>
            </a:r>
            <a:r>
              <a:rPr lang="en-US" dirty="0" smtClean="0"/>
              <a:t> </a:t>
            </a:r>
            <a:r>
              <a:rPr lang="en-US" dirty="0" err="1" smtClean="0"/>
              <a:t>dịch</a:t>
            </a:r>
            <a:r>
              <a:rPr lang="en-US" dirty="0" smtClean="0"/>
              <a:t> (compile-time error-</a:t>
            </a:r>
            <a:r>
              <a:rPr lang="en-US" dirty="0" err="1" smtClean="0"/>
              <a:t>lỗi</a:t>
            </a:r>
            <a:r>
              <a:rPr lang="en-US" dirty="0" smtClean="0"/>
              <a:t> </a:t>
            </a:r>
            <a:r>
              <a:rPr lang="en-US" dirty="0" err="1" smtClean="0"/>
              <a:t>cú</a:t>
            </a:r>
            <a:r>
              <a:rPr lang="en-US" dirty="0" smtClean="0"/>
              <a:t> </a:t>
            </a:r>
            <a:r>
              <a:rPr lang="en-US" dirty="0" err="1" smtClean="0"/>
              <a:t>pháp</a:t>
            </a:r>
            <a:r>
              <a:rPr lang="en-US" dirty="0" smtClean="0"/>
              <a:t>), </a:t>
            </a:r>
            <a:r>
              <a:rPr lang="en-US" dirty="0" err="1" smtClean="0"/>
              <a:t>lỗi</a:t>
            </a:r>
            <a:r>
              <a:rPr lang="en-US" dirty="0" smtClean="0"/>
              <a:t> </a:t>
            </a:r>
            <a:r>
              <a:rPr lang="en-US" dirty="0" err="1" smtClean="0"/>
              <a:t>lúc</a:t>
            </a:r>
            <a:r>
              <a:rPr lang="en-US" dirty="0" smtClean="0"/>
              <a:t> </a:t>
            </a:r>
            <a:r>
              <a:rPr lang="en-US" dirty="0" err="1" smtClean="0"/>
              <a:t>thực</a:t>
            </a:r>
            <a:r>
              <a:rPr lang="en-US" dirty="0" smtClean="0"/>
              <a:t> </a:t>
            </a:r>
            <a:r>
              <a:rPr lang="en-US" dirty="0" err="1" smtClean="0"/>
              <a:t>thi</a:t>
            </a:r>
            <a:r>
              <a:rPr lang="en-US" dirty="0" smtClean="0"/>
              <a:t> (run-time error- </a:t>
            </a:r>
            <a:r>
              <a:rPr lang="en-US" dirty="0" err="1" smtClean="0"/>
              <a:t>giải</a:t>
            </a:r>
            <a:r>
              <a:rPr lang="en-US" dirty="0" smtClean="0"/>
              <a:t> </a:t>
            </a:r>
            <a:r>
              <a:rPr lang="en-US" dirty="0" err="1" smtClean="0"/>
              <a:t>thuật</a:t>
            </a:r>
            <a:r>
              <a:rPr lang="en-US" dirty="0" smtClean="0"/>
              <a:t> </a:t>
            </a:r>
            <a:r>
              <a:rPr lang="en-US" dirty="0" err="1" smtClean="0"/>
              <a:t>sai</a:t>
            </a:r>
            <a:r>
              <a:rPr lang="en-US" dirty="0" smtClean="0"/>
              <a:t>, </a:t>
            </a:r>
            <a:r>
              <a:rPr lang="en-US" dirty="0" err="1" smtClean="0"/>
              <a:t>không</a:t>
            </a:r>
            <a:r>
              <a:rPr lang="en-US" dirty="0" smtClean="0"/>
              <a:t> </a:t>
            </a:r>
            <a:r>
              <a:rPr lang="en-US" dirty="0" err="1" smtClean="0"/>
              <a:t>dự</a:t>
            </a:r>
            <a:r>
              <a:rPr lang="en-US" dirty="0" smtClean="0"/>
              <a:t> </a:t>
            </a:r>
            <a:r>
              <a:rPr lang="en-US" dirty="0" err="1" smtClean="0"/>
              <a:t>đoán</a:t>
            </a:r>
            <a:r>
              <a:rPr lang="en-US" dirty="0" smtClean="0"/>
              <a:t> </a:t>
            </a:r>
            <a:r>
              <a:rPr lang="en-US" dirty="0" err="1" smtClean="0"/>
              <a:t>được</a:t>
            </a:r>
            <a:r>
              <a:rPr lang="en-US" dirty="0" smtClean="0"/>
              <a:t> </a:t>
            </a:r>
            <a:r>
              <a:rPr lang="en-US" dirty="0" err="1" smtClean="0"/>
              <a:t>tình</a:t>
            </a:r>
            <a:r>
              <a:rPr lang="en-US" dirty="0" smtClean="0"/>
              <a:t> </a:t>
            </a:r>
            <a:r>
              <a:rPr lang="en-US" dirty="0" err="1" smtClean="0"/>
              <a:t>huống</a:t>
            </a:r>
            <a:r>
              <a:rPr lang="en-US" dirty="0" smtClean="0"/>
              <a:t>).</a:t>
            </a:r>
          </a:p>
          <a:p>
            <a:pPr eaLnBrk="1" hangingPunct="1">
              <a:buFontTx/>
              <a:buChar char="-"/>
            </a:pPr>
            <a:r>
              <a:rPr lang="en-US" dirty="0" err="1" smtClean="0"/>
              <a:t>Thí</a:t>
            </a:r>
            <a:r>
              <a:rPr lang="en-US" dirty="0" smtClean="0"/>
              <a:t> </a:t>
            </a:r>
            <a:r>
              <a:rPr lang="en-US" dirty="0" err="1" smtClean="0"/>
              <a:t>dụ</a:t>
            </a:r>
            <a:r>
              <a:rPr lang="en-US" dirty="0" smtClean="0"/>
              <a:t>: </a:t>
            </a:r>
            <a:r>
              <a:rPr lang="en-US" dirty="0" err="1" smtClean="0"/>
              <a:t>thực</a:t>
            </a:r>
            <a:r>
              <a:rPr lang="en-US" dirty="0" smtClean="0"/>
              <a:t> </a:t>
            </a:r>
            <a:r>
              <a:rPr lang="en-US" dirty="0" err="1" smtClean="0"/>
              <a:t>hiện</a:t>
            </a:r>
            <a:r>
              <a:rPr lang="en-US" dirty="0" smtClean="0"/>
              <a:t> </a:t>
            </a:r>
            <a:r>
              <a:rPr lang="en-US" dirty="0" err="1" smtClean="0"/>
              <a:t>phép</a:t>
            </a:r>
            <a:r>
              <a:rPr lang="en-US" dirty="0" smtClean="0"/>
              <a:t> chia </a:t>
            </a:r>
            <a:r>
              <a:rPr lang="en-US" dirty="0" err="1" smtClean="0"/>
              <a:t>mà</a:t>
            </a:r>
            <a:r>
              <a:rPr lang="en-US" dirty="0" smtClean="0"/>
              <a:t> </a:t>
            </a:r>
            <a:r>
              <a:rPr lang="en-US" dirty="0" err="1" smtClean="0"/>
              <a:t>mẫu</a:t>
            </a:r>
            <a:r>
              <a:rPr lang="en-US" dirty="0" smtClean="0"/>
              <a:t> </a:t>
            </a:r>
            <a:r>
              <a:rPr lang="en-US" dirty="0" err="1" smtClean="0"/>
              <a:t>số</a:t>
            </a:r>
            <a:r>
              <a:rPr lang="en-US" dirty="0" smtClean="0"/>
              <a:t> </a:t>
            </a:r>
            <a:r>
              <a:rPr lang="en-US" dirty="0" err="1" smtClean="0"/>
              <a:t>là</a:t>
            </a:r>
            <a:r>
              <a:rPr lang="en-US" dirty="0" smtClean="0"/>
              <a:t> 0</a:t>
            </a:r>
          </a:p>
          <a:p>
            <a:pPr eaLnBrk="1" hangingPunct="1">
              <a:buFontTx/>
              <a:buChar char="-"/>
            </a:pPr>
            <a:r>
              <a:rPr lang="en-US" dirty="0" err="1" smtClean="0"/>
              <a:t>Khi</a:t>
            </a:r>
            <a:r>
              <a:rPr lang="en-US" dirty="0" smtClean="0"/>
              <a:t> 1 run-time error </a:t>
            </a:r>
            <a:r>
              <a:rPr lang="en-US" dirty="0" err="1" smtClean="0"/>
              <a:t>xảy</a:t>
            </a:r>
            <a:r>
              <a:rPr lang="en-US" dirty="0" smtClean="0"/>
              <a:t> </a:t>
            </a:r>
            <a:r>
              <a:rPr lang="en-US" dirty="0" err="1" smtClean="0"/>
              <a:t>ra</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kết</a:t>
            </a:r>
            <a:r>
              <a:rPr lang="en-US" dirty="0" smtClean="0"/>
              <a:t> </a:t>
            </a:r>
            <a:r>
              <a:rPr lang="en-US" dirty="0" err="1" smtClean="0"/>
              <a:t>thúc</a:t>
            </a:r>
            <a:r>
              <a:rPr lang="en-US" dirty="0" smtClean="0"/>
              <a:t> </a:t>
            </a:r>
            <a:r>
              <a:rPr lang="en-US" dirty="0" err="1" smtClean="0"/>
              <a:t>đột</a:t>
            </a:r>
            <a:r>
              <a:rPr lang="en-US" dirty="0" smtClean="0"/>
              <a:t> </a:t>
            </a:r>
            <a:r>
              <a:rPr lang="en-US" dirty="0" err="1" smtClean="0"/>
              <a:t>ngột</a:t>
            </a:r>
            <a:r>
              <a:rPr lang="en-US" dirty="0" smtClean="0"/>
              <a:t> </a:t>
            </a:r>
            <a:r>
              <a:rPr lang="en-US" dirty="0" err="1" smtClean="0"/>
              <a:t>và</a:t>
            </a:r>
            <a:r>
              <a:rPr lang="en-US" dirty="0" smtClean="0"/>
              <a:t> </a:t>
            </a:r>
            <a:r>
              <a:rPr lang="en-US" dirty="0" err="1" smtClean="0"/>
              <a:t>điều</a:t>
            </a:r>
            <a:r>
              <a:rPr lang="en-US" dirty="0" smtClean="0"/>
              <a:t> </a:t>
            </a:r>
            <a:r>
              <a:rPr lang="en-US" dirty="0" err="1" smtClean="0"/>
              <a:t>khiển</a:t>
            </a:r>
            <a:r>
              <a:rPr lang="en-US" dirty="0" smtClean="0"/>
              <a:t> </a:t>
            </a:r>
            <a:r>
              <a:rPr lang="en-US" dirty="0" err="1" smtClean="0"/>
              <a:t>được</a:t>
            </a:r>
            <a:r>
              <a:rPr lang="en-US" dirty="0" smtClean="0"/>
              <a:t> </a:t>
            </a:r>
            <a:r>
              <a:rPr lang="en-US" dirty="0" err="1" smtClean="0"/>
              <a:t>trả</a:t>
            </a:r>
            <a:r>
              <a:rPr lang="en-US" dirty="0" smtClean="0"/>
              <a:t> </a:t>
            </a:r>
            <a:r>
              <a:rPr lang="en-US" dirty="0" err="1" smtClean="0"/>
              <a:t>lại</a:t>
            </a:r>
            <a:r>
              <a:rPr lang="en-US" dirty="0" smtClean="0"/>
              <a:t> </a:t>
            </a:r>
            <a:r>
              <a:rPr lang="en-US" dirty="0" err="1" smtClean="0"/>
              <a:t>cho</a:t>
            </a:r>
            <a:r>
              <a:rPr lang="en-US" dirty="0" smtClean="0"/>
              <a:t> OS </a:t>
            </a:r>
            <a:r>
              <a:rPr lang="en-US" dirty="0" smtClean="0">
                <a:sym typeface="Wingdings" pitchFamily="2" charset="2"/>
              </a:rPr>
              <a:t> </a:t>
            </a:r>
            <a:r>
              <a:rPr lang="en-US" dirty="0" err="1" smtClean="0">
                <a:sym typeface="Wingdings" pitchFamily="2" charset="2"/>
              </a:rPr>
              <a:t>Cần</a:t>
            </a:r>
            <a:r>
              <a:rPr lang="en-US" dirty="0" smtClean="0">
                <a:sym typeface="Wingdings" pitchFamily="2" charset="2"/>
              </a:rPr>
              <a:t> </a:t>
            </a:r>
            <a:r>
              <a:rPr lang="en-US" dirty="0" err="1" smtClean="0">
                <a:sym typeface="Wingdings" pitchFamily="2" charset="2"/>
              </a:rPr>
              <a:t>phải</a:t>
            </a:r>
            <a:r>
              <a:rPr lang="en-US" dirty="0" smtClean="0">
                <a:sym typeface="Wingdings" pitchFamily="2" charset="2"/>
              </a:rPr>
              <a:t> </a:t>
            </a:r>
            <a:r>
              <a:rPr lang="en-US" dirty="0" err="1" smtClean="0">
                <a:sym typeface="Wingdings" pitchFamily="2" charset="2"/>
              </a:rPr>
              <a:t>quản</a:t>
            </a:r>
            <a:r>
              <a:rPr lang="en-US" dirty="0" smtClean="0">
                <a:sym typeface="Wingdings" pitchFamily="2" charset="2"/>
              </a:rPr>
              <a:t> </a:t>
            </a:r>
            <a:r>
              <a:rPr lang="en-US" dirty="0" err="1" smtClean="0">
                <a:sym typeface="Wingdings" pitchFamily="2" charset="2"/>
              </a:rPr>
              <a:t>lý</a:t>
            </a:r>
            <a:r>
              <a:rPr lang="en-US" dirty="0" smtClean="0">
                <a:sym typeface="Wingdings" pitchFamily="2" charset="2"/>
              </a:rPr>
              <a:t> </a:t>
            </a:r>
            <a:r>
              <a:rPr lang="en-US" dirty="0" err="1" smtClean="0">
                <a:sym typeface="Wingdings" pitchFamily="2" charset="2"/>
              </a:rPr>
              <a:t>được</a:t>
            </a:r>
            <a:r>
              <a:rPr lang="en-US" dirty="0" smtClean="0">
                <a:sym typeface="Wingdings" pitchFamily="2" charset="2"/>
              </a:rPr>
              <a:t> </a:t>
            </a:r>
            <a:r>
              <a:rPr lang="en-US" dirty="0" err="1" smtClean="0">
                <a:sym typeface="Wingdings" pitchFamily="2" charset="2"/>
              </a:rPr>
              <a:t>các</a:t>
            </a:r>
            <a:r>
              <a:rPr lang="en-US" dirty="0" smtClean="0">
                <a:sym typeface="Wingdings" pitchFamily="2" charset="2"/>
              </a:rPr>
              <a:t> </a:t>
            </a:r>
            <a:r>
              <a:rPr lang="en-US" dirty="0" err="1" smtClean="0">
                <a:sym typeface="Wingdings" pitchFamily="2" charset="2"/>
              </a:rPr>
              <a:t>tình</a:t>
            </a:r>
            <a:r>
              <a:rPr lang="en-US" dirty="0" smtClean="0">
                <a:sym typeface="Wingdings" pitchFamily="2" charset="2"/>
              </a:rPr>
              <a:t> </a:t>
            </a:r>
            <a:r>
              <a:rPr lang="en-US" dirty="0" err="1" smtClean="0">
                <a:sym typeface="Wingdings" pitchFamily="2" charset="2"/>
              </a:rPr>
              <a:t>huống</a:t>
            </a:r>
            <a:r>
              <a:rPr lang="en-US" dirty="0" smtClean="0">
                <a:sym typeface="Wingdings" pitchFamily="2" charset="2"/>
              </a:rPr>
              <a:t> </a:t>
            </a:r>
            <a:r>
              <a:rPr lang="en-US" dirty="0" err="1" smtClean="0">
                <a:sym typeface="Wingdings" pitchFamily="2" charset="2"/>
              </a:rPr>
              <a:t>này</a:t>
            </a:r>
            <a:r>
              <a:rPr lang="en-US" dirty="0" smtClean="0">
                <a:sym typeface="Wingdings" pitchFamily="2" charset="2"/>
              </a:rPr>
              <a:t>.</a:t>
            </a:r>
          </a:p>
          <a:p>
            <a:pPr eaLnBrk="1" hangingPunct="1">
              <a:buFontTx/>
              <a:buChar char="-"/>
            </a:pPr>
            <a:r>
              <a:rPr lang="en-US" dirty="0" smtClean="0"/>
              <a:t>Exception </a:t>
            </a:r>
            <a:r>
              <a:rPr lang="en-US" dirty="0" err="1" smtClean="0"/>
              <a:t>là</a:t>
            </a:r>
            <a:r>
              <a:rPr lang="en-US" dirty="0" smtClean="0"/>
              <a:t> </a:t>
            </a:r>
            <a:r>
              <a:rPr lang="en-US" dirty="0" err="1" smtClean="0"/>
              <a:t>một</a:t>
            </a:r>
            <a:r>
              <a:rPr lang="en-US" dirty="0" smtClean="0"/>
              <a:t> </a:t>
            </a:r>
            <a:r>
              <a:rPr lang="en-US" dirty="0" err="1" smtClean="0"/>
              <a:t>lỗi</a:t>
            </a:r>
            <a:r>
              <a:rPr lang="en-US" dirty="0" smtClean="0"/>
              <a:t> </a:t>
            </a:r>
            <a:r>
              <a:rPr lang="en-US" dirty="0" err="1" smtClean="0"/>
              <a:t>đặc</a:t>
            </a:r>
            <a:r>
              <a:rPr lang="en-US" dirty="0" smtClean="0"/>
              <a:t> </a:t>
            </a:r>
            <a:r>
              <a:rPr lang="en-US" dirty="0" err="1" smtClean="0"/>
              <a:t>biệt</a:t>
            </a:r>
            <a:r>
              <a:rPr lang="en-US" dirty="0" smtClean="0"/>
              <a:t>. </a:t>
            </a:r>
            <a:r>
              <a:rPr lang="en-US" dirty="0" err="1" smtClean="0"/>
              <a:t>Lỗi</a:t>
            </a:r>
            <a:r>
              <a:rPr lang="en-US" dirty="0" smtClean="0"/>
              <a:t> </a:t>
            </a:r>
            <a:r>
              <a:rPr lang="en-US" dirty="0" err="1" smtClean="0"/>
              <a:t>này</a:t>
            </a:r>
            <a:r>
              <a:rPr lang="en-US" dirty="0" smtClean="0"/>
              <a:t> </a:t>
            </a:r>
            <a:r>
              <a:rPr lang="en-US" dirty="0" err="1" smtClean="0"/>
              <a:t>xuất</a:t>
            </a:r>
            <a:r>
              <a:rPr lang="en-US" dirty="0" smtClean="0"/>
              <a:t> </a:t>
            </a:r>
            <a:r>
              <a:rPr lang="en-US" dirty="0" err="1" smtClean="0"/>
              <a:t>hiện</a:t>
            </a:r>
            <a:r>
              <a:rPr lang="en-US" dirty="0" smtClean="0"/>
              <a:t> </a:t>
            </a:r>
            <a:r>
              <a:rPr lang="en-US" dirty="0" err="1" smtClean="0"/>
              <a:t>vào</a:t>
            </a:r>
            <a:r>
              <a:rPr lang="en-US" dirty="0" smtClean="0"/>
              <a:t> </a:t>
            </a:r>
            <a:r>
              <a:rPr lang="en-US" dirty="0" err="1" smtClean="0"/>
              <a:t>lúc</a:t>
            </a:r>
            <a:r>
              <a:rPr lang="en-US" dirty="0" smtClean="0"/>
              <a:t> </a:t>
            </a:r>
            <a:r>
              <a:rPr lang="en-US" dirty="0" err="1" smtClean="0"/>
              <a:t>thực</a:t>
            </a:r>
            <a:r>
              <a:rPr lang="en-US" dirty="0" smtClean="0"/>
              <a:t> </a:t>
            </a:r>
            <a:r>
              <a:rPr lang="en-US" dirty="0" err="1" smtClean="0"/>
              <a:t>thi</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Các</a:t>
            </a:r>
            <a:r>
              <a:rPr lang="en-US" dirty="0" smtClean="0"/>
              <a:t> </a:t>
            </a:r>
            <a:r>
              <a:rPr lang="en-US" dirty="0" err="1" smtClean="0"/>
              <a:t>trạng</a:t>
            </a:r>
            <a:r>
              <a:rPr lang="en-US" dirty="0" smtClean="0"/>
              <a:t> </a:t>
            </a:r>
            <a:r>
              <a:rPr lang="en-US" dirty="0" err="1" smtClean="0"/>
              <a:t>thái</a:t>
            </a:r>
            <a:r>
              <a:rPr lang="en-US" dirty="0" smtClean="0"/>
              <a:t> </a:t>
            </a:r>
            <a:r>
              <a:rPr lang="en-US" dirty="0" err="1" smtClean="0"/>
              <a:t>không</a:t>
            </a:r>
            <a:r>
              <a:rPr lang="en-US" dirty="0" smtClean="0"/>
              <a:t> </a:t>
            </a:r>
            <a:r>
              <a:rPr lang="en-US" dirty="0" err="1" smtClean="0"/>
              <a:t>bình</a:t>
            </a:r>
            <a:r>
              <a:rPr lang="en-US" dirty="0" smtClean="0"/>
              <a:t> </a:t>
            </a:r>
            <a:r>
              <a:rPr lang="en-US" dirty="0" err="1" smtClean="0"/>
              <a:t>thường</a:t>
            </a:r>
            <a:r>
              <a:rPr lang="en-US" dirty="0" smtClean="0"/>
              <a:t> </a:t>
            </a:r>
            <a:r>
              <a:rPr lang="en-US" dirty="0" err="1" smtClean="0"/>
              <a:t>xảy</a:t>
            </a:r>
            <a:r>
              <a:rPr lang="en-US" dirty="0" smtClean="0"/>
              <a:t> </a:t>
            </a:r>
            <a:r>
              <a:rPr lang="en-US" dirty="0" err="1" smtClean="0"/>
              <a:t>ra</a:t>
            </a:r>
            <a:r>
              <a:rPr lang="en-US" dirty="0" smtClean="0"/>
              <a:t> </a:t>
            </a:r>
            <a:r>
              <a:rPr lang="en-US" dirty="0" err="1" smtClean="0"/>
              <a:t>trong</a:t>
            </a:r>
            <a:r>
              <a:rPr lang="en-US" dirty="0" smtClean="0"/>
              <a:t> </a:t>
            </a:r>
            <a:r>
              <a:rPr lang="en-US" dirty="0" err="1" smtClean="0"/>
              <a:t>khi</a:t>
            </a:r>
            <a:r>
              <a:rPr lang="en-US" dirty="0" smtClean="0"/>
              <a:t> </a:t>
            </a:r>
            <a:r>
              <a:rPr lang="en-US" dirty="0" err="1" smtClean="0"/>
              <a:t>thi</a:t>
            </a:r>
            <a:r>
              <a:rPr lang="en-US" dirty="0" smtClean="0"/>
              <a:t> </a:t>
            </a:r>
            <a:r>
              <a:rPr lang="en-US" dirty="0" err="1" smtClean="0"/>
              <a:t>hành</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tạo</a:t>
            </a:r>
            <a:r>
              <a:rPr lang="en-US" dirty="0" smtClean="0"/>
              <a:t> </a:t>
            </a:r>
            <a:r>
              <a:rPr lang="en-US" dirty="0" err="1" smtClean="0"/>
              <a:t>ra</a:t>
            </a:r>
            <a:r>
              <a:rPr lang="en-US" dirty="0" smtClean="0"/>
              <a:t> </a:t>
            </a:r>
            <a:r>
              <a:rPr lang="en-US" dirty="0" err="1" smtClean="0"/>
              <a:t>các</a:t>
            </a:r>
            <a:r>
              <a:rPr lang="en-US" dirty="0" smtClean="0"/>
              <a:t> exception. </a:t>
            </a:r>
            <a:r>
              <a:rPr lang="en-US" dirty="0" err="1" smtClean="0"/>
              <a:t>Những</a:t>
            </a:r>
            <a:r>
              <a:rPr lang="en-US" dirty="0" smtClean="0"/>
              <a:t> </a:t>
            </a:r>
            <a:r>
              <a:rPr lang="en-US" dirty="0" err="1" smtClean="0"/>
              <a:t>trạng</a:t>
            </a:r>
            <a:r>
              <a:rPr lang="en-US" dirty="0" smtClean="0"/>
              <a:t> </a:t>
            </a:r>
            <a:r>
              <a:rPr lang="en-US" dirty="0" err="1" smtClean="0"/>
              <a:t>thái</a:t>
            </a:r>
            <a:r>
              <a:rPr lang="en-US" dirty="0" smtClean="0"/>
              <a:t> </a:t>
            </a:r>
            <a:r>
              <a:rPr lang="en-US" dirty="0" err="1" smtClean="0"/>
              <a:t>này</a:t>
            </a:r>
            <a:r>
              <a:rPr lang="en-US" dirty="0" smtClean="0"/>
              <a:t> </a:t>
            </a:r>
            <a:r>
              <a:rPr lang="en-US" dirty="0" err="1" smtClean="0"/>
              <a:t>không</a:t>
            </a:r>
            <a:r>
              <a:rPr lang="en-US" dirty="0" smtClean="0"/>
              <a:t> </a:t>
            </a:r>
            <a:r>
              <a:rPr lang="en-US" dirty="0" err="1" smtClean="0"/>
              <a:t>được</a:t>
            </a:r>
            <a:r>
              <a:rPr lang="en-US" dirty="0" smtClean="0"/>
              <a:t> </a:t>
            </a:r>
            <a:r>
              <a:rPr lang="en-US" dirty="0" err="1" smtClean="0"/>
              <a:t>biết</a:t>
            </a:r>
            <a:r>
              <a:rPr lang="en-US" dirty="0" smtClean="0"/>
              <a:t> </a:t>
            </a:r>
            <a:r>
              <a:rPr lang="en-US" dirty="0" err="1" smtClean="0"/>
              <a:t>trước</a:t>
            </a:r>
            <a:r>
              <a:rPr lang="en-US" dirty="0" smtClean="0"/>
              <a:t> </a:t>
            </a:r>
            <a:r>
              <a:rPr lang="en-US" dirty="0" err="1" smtClean="0"/>
              <a:t>trong</a:t>
            </a:r>
            <a:r>
              <a:rPr lang="en-US" dirty="0" smtClean="0"/>
              <a:t> </a:t>
            </a:r>
            <a:r>
              <a:rPr lang="en-US" dirty="0" err="1" smtClean="0"/>
              <a:t>khi</a:t>
            </a:r>
            <a:r>
              <a:rPr lang="en-US" dirty="0" smtClean="0"/>
              <a:t> ta </a:t>
            </a:r>
            <a:r>
              <a:rPr lang="en-US" dirty="0" err="1" smtClean="0"/>
              <a:t>đang</a:t>
            </a:r>
            <a:r>
              <a:rPr lang="en-US" dirty="0" smtClean="0"/>
              <a:t> </a:t>
            </a:r>
            <a:r>
              <a:rPr lang="en-US" dirty="0" err="1" smtClean="0"/>
              <a:t>xây</a:t>
            </a:r>
            <a:r>
              <a:rPr lang="en-US" dirty="0" smtClean="0"/>
              <a:t> </a:t>
            </a:r>
            <a:r>
              <a:rPr lang="en-US" dirty="0" err="1" smtClean="0"/>
              <a:t>dựng</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Nếu</a:t>
            </a:r>
            <a:r>
              <a:rPr lang="en-US" dirty="0" smtClean="0"/>
              <a:t> </a:t>
            </a:r>
            <a:r>
              <a:rPr lang="en-US" dirty="0" err="1" smtClean="0"/>
              <a:t>bạn</a:t>
            </a:r>
            <a:r>
              <a:rPr lang="en-US" dirty="0" smtClean="0"/>
              <a:t> </a:t>
            </a:r>
            <a:r>
              <a:rPr lang="en-US" dirty="0" err="1" smtClean="0"/>
              <a:t>không</a:t>
            </a:r>
            <a:r>
              <a:rPr lang="en-US" dirty="0" smtClean="0"/>
              <a:t>  </a:t>
            </a:r>
            <a:r>
              <a:rPr lang="en-US" dirty="0" err="1" smtClean="0"/>
              <a:t>phân</a:t>
            </a:r>
            <a:r>
              <a:rPr lang="en-US" dirty="0" smtClean="0"/>
              <a:t> </a:t>
            </a:r>
            <a:r>
              <a:rPr lang="en-US" dirty="0" err="1" smtClean="0"/>
              <a:t>phối</a:t>
            </a:r>
            <a:r>
              <a:rPr lang="en-US" dirty="0" smtClean="0"/>
              <a:t> </a:t>
            </a:r>
            <a:r>
              <a:rPr lang="en-US" dirty="0" err="1" smtClean="0"/>
              <a:t>các</a:t>
            </a:r>
            <a:r>
              <a:rPr lang="en-US" dirty="0" smtClean="0"/>
              <a:t> </a:t>
            </a:r>
            <a:r>
              <a:rPr lang="en-US" dirty="0" err="1" smtClean="0"/>
              <a:t>trạng</a:t>
            </a:r>
            <a:r>
              <a:rPr lang="en-US" dirty="0" smtClean="0"/>
              <a:t> </a:t>
            </a:r>
            <a:r>
              <a:rPr lang="en-US" dirty="0" err="1" smtClean="0"/>
              <a:t>thái</a:t>
            </a:r>
            <a:r>
              <a:rPr lang="en-US" dirty="0" smtClean="0"/>
              <a:t> </a:t>
            </a:r>
            <a:r>
              <a:rPr lang="en-US" dirty="0" err="1" smtClean="0"/>
              <a:t>này</a:t>
            </a:r>
            <a:r>
              <a:rPr lang="en-US" dirty="0" smtClean="0"/>
              <a:t> </a:t>
            </a:r>
            <a:r>
              <a:rPr lang="en-US" dirty="0" err="1" smtClean="0"/>
              <a:t>thì</a:t>
            </a:r>
            <a:r>
              <a:rPr lang="en-US" dirty="0" smtClean="0"/>
              <a:t> exception </a:t>
            </a:r>
            <a:r>
              <a:rPr lang="en-US" dirty="0" err="1" smtClean="0"/>
              <a:t>có</a:t>
            </a:r>
            <a:r>
              <a:rPr lang="en-US" dirty="0" smtClean="0"/>
              <a:t> </a:t>
            </a:r>
            <a:r>
              <a:rPr lang="en-US" dirty="0" err="1" smtClean="0"/>
              <a:t>thể</a:t>
            </a:r>
            <a:r>
              <a:rPr lang="en-US" dirty="0" smtClean="0"/>
              <a:t> </a:t>
            </a:r>
            <a:r>
              <a:rPr lang="en-US" dirty="0" err="1" smtClean="0"/>
              <a:t>bị</a:t>
            </a:r>
            <a:r>
              <a:rPr lang="en-US" dirty="0" smtClean="0"/>
              <a:t> </a:t>
            </a:r>
            <a:r>
              <a:rPr lang="en-US" dirty="0" err="1" smtClean="0"/>
              <a:t>kết</a:t>
            </a:r>
            <a:r>
              <a:rPr lang="en-US" dirty="0" smtClean="0"/>
              <a:t> </a:t>
            </a:r>
            <a:r>
              <a:rPr lang="en-US" dirty="0" err="1" smtClean="0"/>
              <a:t>thúc</a:t>
            </a:r>
            <a:r>
              <a:rPr lang="en-US" dirty="0" smtClean="0"/>
              <a:t> </a:t>
            </a:r>
            <a:r>
              <a:rPr lang="en-US" dirty="0" err="1" smtClean="0"/>
              <a:t>đột</a:t>
            </a:r>
            <a:r>
              <a:rPr lang="en-US" dirty="0" smtClean="0"/>
              <a:t> </a:t>
            </a:r>
            <a:r>
              <a:rPr lang="en-US" dirty="0" err="1" smtClean="0"/>
              <a:t>ngột</a:t>
            </a:r>
            <a:r>
              <a:rPr lang="en-US" dirty="0" smtClean="0"/>
              <a:t>. </a:t>
            </a:r>
            <a:r>
              <a:rPr lang="en-US" dirty="0" err="1" smtClean="0"/>
              <a:t>Ví</a:t>
            </a:r>
            <a:r>
              <a:rPr lang="en-US" dirty="0" smtClean="0"/>
              <a:t> </a:t>
            </a:r>
            <a:r>
              <a:rPr lang="en-US" dirty="0" err="1" smtClean="0"/>
              <a:t>dụ</a:t>
            </a:r>
            <a:r>
              <a:rPr lang="en-US" dirty="0" smtClean="0"/>
              <a:t>, </a:t>
            </a:r>
            <a:r>
              <a:rPr lang="en-US" dirty="0" err="1" smtClean="0"/>
              <a:t>việc</a:t>
            </a:r>
            <a:r>
              <a:rPr lang="en-US" dirty="0" smtClean="0"/>
              <a:t> chia </a:t>
            </a:r>
            <a:r>
              <a:rPr lang="en-US" dirty="0" err="1" smtClean="0"/>
              <a:t>cho</a:t>
            </a:r>
            <a:r>
              <a:rPr lang="en-US" dirty="0" smtClean="0"/>
              <a:t> 0 </a:t>
            </a:r>
            <a:r>
              <a:rPr lang="en-US" dirty="0" err="1" smtClean="0"/>
              <a:t>sẽ</a:t>
            </a:r>
            <a:r>
              <a:rPr lang="en-US" dirty="0" smtClean="0"/>
              <a:t> </a:t>
            </a:r>
            <a:r>
              <a:rPr lang="en-US" dirty="0" err="1" smtClean="0"/>
              <a:t>tạo</a:t>
            </a:r>
            <a:r>
              <a:rPr lang="en-US" dirty="0" smtClean="0"/>
              <a:t> </a:t>
            </a:r>
            <a:r>
              <a:rPr lang="en-US" dirty="0" err="1" smtClean="0"/>
              <a:t>một</a:t>
            </a:r>
            <a:r>
              <a:rPr lang="en-US" dirty="0" smtClean="0"/>
              <a:t> </a:t>
            </a:r>
            <a:r>
              <a:rPr lang="en-US" dirty="0" err="1" smtClean="0"/>
              <a:t>lỗi</a:t>
            </a:r>
            <a:r>
              <a:rPr lang="en-US" dirty="0" smtClean="0"/>
              <a:t> </a:t>
            </a:r>
            <a:r>
              <a:rPr lang="en-US" dirty="0" err="1" smtClean="0"/>
              <a:t>trong</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Ngôn</a:t>
            </a:r>
            <a:r>
              <a:rPr lang="en-US" dirty="0" smtClean="0"/>
              <a:t> </a:t>
            </a:r>
            <a:r>
              <a:rPr lang="en-US" dirty="0" err="1" smtClean="0"/>
              <a:t>ngữ</a:t>
            </a:r>
            <a:r>
              <a:rPr lang="en-US" dirty="0" smtClean="0"/>
              <a:t> Java </a:t>
            </a:r>
            <a:r>
              <a:rPr lang="en-US" dirty="0" err="1" smtClean="0"/>
              <a:t>cung</a:t>
            </a:r>
            <a:r>
              <a:rPr lang="en-US" dirty="0" smtClean="0"/>
              <a:t> </a:t>
            </a:r>
            <a:r>
              <a:rPr lang="en-US" dirty="0" err="1" smtClean="0"/>
              <a:t>cấp</a:t>
            </a:r>
            <a:r>
              <a:rPr lang="en-US" dirty="0" smtClean="0"/>
              <a:t> </a:t>
            </a:r>
            <a:r>
              <a:rPr lang="en-US" dirty="0" err="1" smtClean="0"/>
              <a:t>bộ</a:t>
            </a:r>
            <a:r>
              <a:rPr lang="en-US" dirty="0" smtClean="0"/>
              <a:t> </a:t>
            </a:r>
            <a:r>
              <a:rPr lang="en-US" dirty="0" err="1" smtClean="0"/>
              <a:t>máy</a:t>
            </a:r>
            <a:r>
              <a:rPr lang="en-US" dirty="0" smtClean="0"/>
              <a:t> </a:t>
            </a:r>
            <a:r>
              <a:rPr lang="en-US" dirty="0" err="1" smtClean="0"/>
              <a:t>dùng</a:t>
            </a:r>
            <a:r>
              <a:rPr lang="en-US" dirty="0" smtClean="0"/>
              <a:t> </a:t>
            </a:r>
            <a:r>
              <a:rPr lang="en-US" dirty="0" err="1" smtClean="0"/>
              <a:t>để</a:t>
            </a:r>
            <a:r>
              <a:rPr lang="en-US" dirty="0" smtClean="0"/>
              <a:t> </a:t>
            </a:r>
            <a:r>
              <a:rPr lang="en-US" dirty="0" err="1" smtClean="0"/>
              <a:t>xử</a:t>
            </a:r>
            <a:r>
              <a:rPr lang="en-US" dirty="0" smtClean="0"/>
              <a:t> </a:t>
            </a:r>
            <a:r>
              <a:rPr lang="en-US" dirty="0" err="1" smtClean="0"/>
              <a:t>lý</a:t>
            </a:r>
            <a:r>
              <a:rPr lang="en-US" dirty="0" smtClean="0"/>
              <a:t> </a:t>
            </a:r>
            <a:r>
              <a:rPr lang="en-US" dirty="0" err="1" smtClean="0"/>
              <a:t>ngoại</a:t>
            </a:r>
            <a:r>
              <a:rPr lang="en-US" dirty="0" smtClean="0"/>
              <a:t> </a:t>
            </a:r>
            <a:r>
              <a:rPr lang="en-US" dirty="0" err="1" smtClean="0"/>
              <a:t>lệ</a:t>
            </a:r>
            <a:r>
              <a:rPr lang="en-US" dirty="0" smtClean="0"/>
              <a:t> </a:t>
            </a:r>
            <a:r>
              <a:rPr lang="en-US" dirty="0" err="1" smtClean="0"/>
              <a:t>rất</a:t>
            </a:r>
            <a:r>
              <a:rPr lang="en-US" dirty="0" smtClean="0"/>
              <a:t> </a:t>
            </a:r>
            <a:r>
              <a:rPr lang="en-US" dirty="0" err="1" smtClean="0"/>
              <a:t>tuyệt</a:t>
            </a:r>
            <a:r>
              <a:rPr lang="en-US" dirty="0" smtClean="0"/>
              <a:t> </a:t>
            </a:r>
            <a:r>
              <a:rPr lang="en-US" dirty="0" err="1" smtClean="0"/>
              <a:t>vời</a:t>
            </a:r>
            <a:r>
              <a:rPr lang="en-US" dirty="0" smtClean="0"/>
              <a:t>. </a:t>
            </a:r>
            <a:r>
              <a:rPr lang="en-US" dirty="0" err="1" smtClean="0"/>
              <a:t>Việc</a:t>
            </a:r>
            <a:r>
              <a:rPr lang="en-US" dirty="0" smtClean="0"/>
              <a:t> </a:t>
            </a:r>
            <a:r>
              <a:rPr lang="en-US" dirty="0" err="1" smtClean="0"/>
              <a:t>xử</a:t>
            </a:r>
            <a:r>
              <a:rPr lang="en-US" dirty="0" smtClean="0"/>
              <a:t> </a:t>
            </a:r>
            <a:r>
              <a:rPr lang="en-US" dirty="0" err="1" smtClean="0"/>
              <a:t>lý</a:t>
            </a:r>
            <a:r>
              <a:rPr lang="en-US" dirty="0" smtClean="0"/>
              <a:t> </a:t>
            </a:r>
            <a:r>
              <a:rPr lang="en-US" dirty="0" err="1" smtClean="0"/>
              <a:t>này</a:t>
            </a:r>
            <a:r>
              <a:rPr lang="en-US" dirty="0" smtClean="0"/>
              <a:t> </a:t>
            </a:r>
            <a:r>
              <a:rPr lang="en-US" dirty="0" err="1" smtClean="0"/>
              <a:t>làm</a:t>
            </a:r>
            <a:r>
              <a:rPr lang="en-US" dirty="0" smtClean="0"/>
              <a:t> </a:t>
            </a:r>
            <a:r>
              <a:rPr lang="en-US" dirty="0" err="1" smtClean="0"/>
              <a:t>hạn</a:t>
            </a:r>
            <a:r>
              <a:rPr lang="en-US" dirty="0" smtClean="0"/>
              <a:t> </a:t>
            </a:r>
            <a:r>
              <a:rPr lang="en-US" dirty="0" err="1" smtClean="0"/>
              <a:t>chế</a:t>
            </a:r>
            <a:r>
              <a:rPr lang="en-US" dirty="0" smtClean="0"/>
              <a:t> </a:t>
            </a:r>
            <a:r>
              <a:rPr lang="en-US" dirty="0" err="1" smtClean="0"/>
              <a:t>tối</a:t>
            </a:r>
            <a:r>
              <a:rPr lang="en-US" dirty="0" smtClean="0"/>
              <a:t> </a:t>
            </a:r>
            <a:r>
              <a:rPr lang="en-US" dirty="0" err="1" smtClean="0"/>
              <a:t>đa</a:t>
            </a:r>
            <a:r>
              <a:rPr lang="en-US" dirty="0" smtClean="0"/>
              <a:t> </a:t>
            </a:r>
            <a:r>
              <a:rPr lang="en-US" dirty="0" err="1" smtClean="0"/>
              <a:t>trường</a:t>
            </a:r>
            <a:r>
              <a:rPr lang="en-US" dirty="0" smtClean="0"/>
              <a:t> </a:t>
            </a:r>
            <a:r>
              <a:rPr lang="en-US" dirty="0" err="1" smtClean="0"/>
              <a:t>hợp</a:t>
            </a:r>
            <a:r>
              <a:rPr lang="en-US" dirty="0" smtClean="0"/>
              <a:t> </a:t>
            </a:r>
            <a:r>
              <a:rPr lang="en-US" dirty="0" err="1" smtClean="0"/>
              <a:t>hệ</a:t>
            </a:r>
            <a:r>
              <a:rPr lang="en-US" dirty="0" smtClean="0"/>
              <a:t> </a:t>
            </a:r>
            <a:r>
              <a:rPr lang="en-US" dirty="0" err="1" smtClean="0"/>
              <a:t>thống</a:t>
            </a:r>
            <a:r>
              <a:rPr lang="en-US" dirty="0" smtClean="0"/>
              <a:t> </a:t>
            </a:r>
            <a:r>
              <a:rPr lang="en-US" dirty="0" err="1" smtClean="0"/>
              <a:t>bị</a:t>
            </a:r>
            <a:r>
              <a:rPr lang="en-US" dirty="0" smtClean="0"/>
              <a:t> </a:t>
            </a:r>
            <a:r>
              <a:rPr lang="en-US" dirty="0" err="1" smtClean="0"/>
              <a:t>phá</a:t>
            </a:r>
            <a:r>
              <a:rPr lang="en-US" dirty="0" smtClean="0"/>
              <a:t> </a:t>
            </a:r>
            <a:r>
              <a:rPr lang="en-US" dirty="0" err="1" smtClean="0"/>
              <a:t>vỡ</a:t>
            </a:r>
            <a:r>
              <a:rPr lang="en-US" dirty="0" smtClean="0"/>
              <a:t> (crash) hay </a:t>
            </a:r>
            <a:r>
              <a:rPr lang="en-US" dirty="0" err="1" smtClean="0"/>
              <a:t>hệ</a:t>
            </a:r>
            <a:r>
              <a:rPr lang="en-US" dirty="0" smtClean="0"/>
              <a:t> </a:t>
            </a:r>
            <a:r>
              <a:rPr lang="en-US" dirty="0" err="1" smtClean="0"/>
              <a:t>thống</a:t>
            </a:r>
            <a:r>
              <a:rPr lang="en-US" dirty="0" smtClean="0"/>
              <a:t> </a:t>
            </a:r>
            <a:r>
              <a:rPr lang="en-US" dirty="0" err="1" smtClean="0"/>
              <a:t>bị</a:t>
            </a:r>
            <a:r>
              <a:rPr lang="en-US" dirty="0" smtClean="0"/>
              <a:t> </a:t>
            </a:r>
            <a:r>
              <a:rPr lang="en-US" dirty="0" err="1" smtClean="0"/>
              <a:t>ngắt</a:t>
            </a:r>
            <a:r>
              <a:rPr lang="en-US" dirty="0" smtClean="0"/>
              <a:t> </a:t>
            </a:r>
            <a:r>
              <a:rPr lang="en-US" dirty="0" err="1" smtClean="0"/>
              <a:t>đột</a:t>
            </a:r>
            <a:r>
              <a:rPr lang="en-US" dirty="0" smtClean="0"/>
              <a:t> </a:t>
            </a:r>
            <a:r>
              <a:rPr lang="en-US" dirty="0" err="1" smtClean="0"/>
              <a:t>ngột</a:t>
            </a:r>
            <a:r>
              <a:rPr lang="en-US" dirty="0" smtClean="0"/>
              <a:t>. </a:t>
            </a:r>
            <a:r>
              <a:rPr lang="en-US" dirty="0" err="1" smtClean="0"/>
              <a:t>Tính</a:t>
            </a:r>
            <a:r>
              <a:rPr lang="en-US" dirty="0" smtClean="0"/>
              <a:t> </a:t>
            </a:r>
            <a:r>
              <a:rPr lang="en-US" dirty="0" err="1" smtClean="0"/>
              <a:t>năng</a:t>
            </a:r>
            <a:r>
              <a:rPr lang="en-US" dirty="0" smtClean="0"/>
              <a:t> </a:t>
            </a:r>
            <a:r>
              <a:rPr lang="en-US" dirty="0" err="1" smtClean="0"/>
              <a:t>này</a:t>
            </a:r>
            <a:r>
              <a:rPr lang="en-US" dirty="0" smtClean="0"/>
              <a:t> </a:t>
            </a:r>
            <a:r>
              <a:rPr lang="en-US" dirty="0" err="1" smtClean="0"/>
              <a:t>làm</a:t>
            </a:r>
            <a:r>
              <a:rPr lang="en-US" dirty="0" smtClean="0"/>
              <a:t> </a:t>
            </a:r>
            <a:r>
              <a:rPr lang="en-US" dirty="0" err="1" smtClean="0"/>
              <a:t>cho</a:t>
            </a:r>
            <a:r>
              <a:rPr lang="en-US" dirty="0" smtClean="0"/>
              <a:t> Java </a:t>
            </a:r>
            <a:r>
              <a:rPr lang="en-US" dirty="0" err="1" smtClean="0"/>
              <a:t>là</a:t>
            </a:r>
            <a:r>
              <a:rPr lang="en-US" dirty="0" smtClean="0"/>
              <a:t> </a:t>
            </a:r>
            <a:r>
              <a:rPr lang="en-US" dirty="0" err="1" smtClean="0"/>
              <a:t>một</a:t>
            </a:r>
            <a:r>
              <a:rPr lang="en-US" dirty="0" smtClean="0"/>
              <a:t> </a:t>
            </a:r>
            <a:r>
              <a:rPr lang="en-US" dirty="0" err="1" smtClean="0"/>
              <a:t>ngôn</a:t>
            </a:r>
            <a:r>
              <a:rPr lang="en-US" dirty="0" smtClean="0"/>
              <a:t> </a:t>
            </a:r>
            <a:r>
              <a:rPr lang="en-US" dirty="0" err="1" smtClean="0"/>
              <a:t>ngữ</a:t>
            </a:r>
            <a:r>
              <a:rPr lang="en-US" dirty="0" smtClean="0"/>
              <a:t> </a:t>
            </a:r>
            <a:r>
              <a:rPr lang="en-US" dirty="0" err="1" smtClean="0"/>
              <a:t>lập</a:t>
            </a:r>
            <a:r>
              <a:rPr lang="en-US" dirty="0" smtClean="0"/>
              <a:t> </a:t>
            </a:r>
            <a:r>
              <a:rPr lang="en-US" dirty="0" err="1" smtClean="0"/>
              <a:t>trình</a:t>
            </a:r>
            <a:r>
              <a:rPr lang="en-US" dirty="0" smtClean="0"/>
              <a:t> </a:t>
            </a:r>
            <a:r>
              <a:rPr lang="en-US" dirty="0" err="1" smtClean="0"/>
              <a:t>mạnh</a:t>
            </a:r>
            <a:r>
              <a:rPr lang="en-US" dirty="0" smtClean="0"/>
              <a: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37</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38</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39</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40</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smtClean="0">
                <a:solidFill>
                  <a:schemeClr val="tx1">
                    <a:lumMod val="95000"/>
                    <a:lumOff val="5000"/>
                  </a:schemeClr>
                </a:solidFill>
                <a:latin typeface="Arial" pitchFamily="34" charset="0"/>
                <a:cs typeface="Arial" pitchFamily="34" charset="0"/>
              </a:rPr>
              <a:t>Không phải hàm nào cũng phải xử lý lỗi nếu có một số hàm gọi thành chuỗi, ngoại lệ chỉ  lần được xử lý tại một hàm là đủ</a:t>
            </a:r>
            <a:endParaRPr lang="en-US" sz="1200" smtClean="0">
              <a:solidFill>
                <a:schemeClr val="tx1">
                  <a:lumMod val="95000"/>
                  <a:lumOff val="5000"/>
                </a:schemeClr>
              </a:solidFill>
              <a:latin typeface="Arial" pitchFamily="34" charset="0"/>
              <a:cs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smtClean="0">
                <a:solidFill>
                  <a:schemeClr val="tx1">
                    <a:lumMod val="95000"/>
                    <a:lumOff val="5000"/>
                  </a:schemeClr>
                </a:solidFill>
                <a:latin typeface="Arial" pitchFamily="34" charset="0"/>
                <a:cs typeface="Arial" pitchFamily="34" charset="0"/>
              </a:rPr>
              <a:t>K</a:t>
            </a:r>
            <a:r>
              <a:rPr lang="vi-VN" sz="1200" smtClean="0">
                <a:solidFill>
                  <a:schemeClr val="tx1">
                    <a:lumMod val="95000"/>
                    <a:lumOff val="5000"/>
                  </a:schemeClr>
                </a:solidFill>
                <a:latin typeface="Arial" pitchFamily="34" charset="0"/>
                <a:cs typeface="Arial" pitchFamily="34" charset="0"/>
              </a:rPr>
              <a:t>hông thể bỏ qua ngoại lệ, nếu không, chương trình sẽ kết thúc</a:t>
            </a:r>
            <a:endParaRPr lang="en-US" sz="1200" smtClean="0">
              <a:solidFill>
                <a:schemeClr val="tx1">
                  <a:lumMod val="95000"/>
                  <a:lumOff val="5000"/>
                </a:schemeClr>
              </a:solidFill>
              <a:latin typeface="Arial" pitchFamily="34" charset="0"/>
              <a:cs typeface="Arial" pitchFamily="34" charset="0"/>
            </a:endParaRPr>
          </a:p>
          <a:p>
            <a:pPr algn="just" eaLnBrk="1" hangingPunct="1">
              <a:lnSpc>
                <a:spcPct val="120000"/>
              </a:lnSpc>
            </a:pPr>
            <a:r>
              <a:rPr lang="en-US" smtClean="0"/>
              <a:t>Dựa trên cơ chế </a:t>
            </a:r>
            <a:r>
              <a:rPr lang="en-US" smtClean="0">
                <a:solidFill>
                  <a:srgbClr val="0000FF"/>
                </a:solidFill>
              </a:rPr>
              <a:t>“ném” (throw)</a:t>
            </a:r>
            <a:r>
              <a:rPr lang="en-US" smtClean="0"/>
              <a:t> và </a:t>
            </a:r>
            <a:r>
              <a:rPr lang="en-US" smtClean="0">
                <a:solidFill>
                  <a:srgbClr val="0000FF"/>
                </a:solidFill>
              </a:rPr>
              <a:t>bắt (catch)</a:t>
            </a:r>
            <a:r>
              <a:rPr lang="en-US" smtClean="0"/>
              <a:t> ngoại lệ</a:t>
            </a:r>
          </a:p>
          <a:p>
            <a:pPr lvl="1" algn="just" eaLnBrk="1" hangingPunct="1">
              <a:lnSpc>
                <a:spcPct val="120000"/>
              </a:lnSpc>
            </a:pPr>
            <a:r>
              <a:rPr lang="en-US" smtClean="0">
                <a:solidFill>
                  <a:srgbClr val="0000FF"/>
                </a:solidFill>
              </a:rPr>
              <a:t>Ném ngoại lệ</a:t>
            </a:r>
            <a:r>
              <a:rPr lang="en-US" smtClean="0"/>
              <a:t>: dừng chương trình và chuyển điều khiển lên mức trên (nơi bắt ngoại lệ)</a:t>
            </a:r>
          </a:p>
          <a:p>
            <a:pPr lvl="1" algn="just" eaLnBrk="1" hangingPunct="1">
              <a:lnSpc>
                <a:spcPct val="120000"/>
              </a:lnSpc>
            </a:pPr>
            <a:r>
              <a:rPr lang="en-US" smtClean="0">
                <a:solidFill>
                  <a:srgbClr val="0000FF"/>
                </a:solidFill>
              </a:rPr>
              <a:t>Bắt ngoại lệ</a:t>
            </a:r>
            <a:r>
              <a:rPr lang="en-US" smtClean="0"/>
              <a:t>: xử lý với ngoại lệ</a:t>
            </a:r>
            <a:endParaRPr lang="vi-VN" sz="1200" smtClean="0">
              <a:solidFill>
                <a:schemeClr val="tx1">
                  <a:lumMod val="95000"/>
                  <a:lumOff val="5000"/>
                </a:schemeClr>
              </a:solidFill>
              <a:latin typeface="Arial" pitchFamily="34" charset="0"/>
              <a:cs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vi-VN" sz="1200" smtClean="0">
              <a:solidFill>
                <a:schemeClr val="tx1">
                  <a:lumMod val="95000"/>
                  <a:lumOff val="5000"/>
                </a:schemeClr>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41</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42</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43</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44</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r>
              <a:rPr lang="vi-VN" sz="2800" smtClean="0">
                <a:solidFill>
                  <a:srgbClr val="0066FF"/>
                </a:solidFill>
                <a:latin typeface="Arial" pitchFamily="34" charset="0"/>
                <a:cs typeface="Arial" pitchFamily="34" charset="0"/>
              </a:rPr>
              <a:t>Quy trình ném và bắt ngoại lệ:</a:t>
            </a:r>
          </a:p>
          <a:p>
            <a:pPr lvl="1" algn="just">
              <a:lnSpc>
                <a:spcPct val="130000"/>
              </a:lnSpc>
              <a:spcBef>
                <a:spcPts val="300"/>
              </a:spcBef>
              <a:spcAft>
                <a:spcPts val="300"/>
              </a:spcAft>
              <a:buFont typeface="Wingdings" pitchFamily="2" charset="2"/>
              <a:buChar char="v"/>
            </a:pPr>
            <a:r>
              <a:rPr lang="en-US" sz="2400" smtClean="0">
                <a:solidFill>
                  <a:schemeClr val="tx1">
                    <a:lumMod val="95000"/>
                    <a:lumOff val="5000"/>
                  </a:schemeClr>
                </a:solidFill>
                <a:latin typeface="Arial" pitchFamily="34" charset="0"/>
                <a:cs typeface="Arial" pitchFamily="34" charset="0"/>
              </a:rPr>
              <a:t>G</a:t>
            </a:r>
            <a:r>
              <a:rPr lang="vi-VN" sz="2400" smtClean="0">
                <a:solidFill>
                  <a:schemeClr val="tx1">
                    <a:lumMod val="95000"/>
                    <a:lumOff val="5000"/>
                  </a:schemeClr>
                </a:solidFill>
                <a:latin typeface="Arial" pitchFamily="34" charset="0"/>
                <a:cs typeface="Arial" pitchFamily="34" charset="0"/>
              </a:rPr>
              <a:t>iả sử người dùng nhập</a:t>
            </a:r>
            <a:r>
              <a:rPr lang="en-US" sz="2400" smtClean="0">
                <a:solidFill>
                  <a:schemeClr val="tx1">
                    <a:lumMod val="95000"/>
                    <a:lumOff val="5000"/>
                  </a:schemeClr>
                </a:solidFill>
                <a:latin typeface="Arial" pitchFamily="34" charset="0"/>
                <a:cs typeface="Arial" pitchFamily="34" charset="0"/>
              </a:rPr>
              <a:t> </a:t>
            </a:r>
            <a:r>
              <a:rPr lang="vi-VN" sz="2400" smtClean="0">
                <a:solidFill>
                  <a:schemeClr val="tx1">
                    <a:lumMod val="95000"/>
                    <a:lumOff val="5000"/>
                  </a:schemeClr>
                </a:solidFill>
                <a:latin typeface="Arial" pitchFamily="34" charset="0"/>
                <a:cs typeface="Arial" pitchFamily="34" charset="0"/>
              </a:rPr>
              <a:t>mẫu số bằng 0</a:t>
            </a:r>
          </a:p>
          <a:p>
            <a:pPr lvl="1" algn="just">
              <a:lnSpc>
                <a:spcPct val="130000"/>
              </a:lnSpc>
              <a:spcBef>
                <a:spcPts val="300"/>
              </a:spcBef>
              <a:spcAft>
                <a:spcPts val="300"/>
              </a:spcAft>
              <a:buFont typeface="Wingdings" pitchFamily="2" charset="2"/>
              <a:buChar char="v"/>
            </a:pPr>
            <a:r>
              <a:rPr lang="vi-VN" sz="2400" smtClean="0">
                <a:solidFill>
                  <a:schemeClr val="tx1">
                    <a:lumMod val="95000"/>
                    <a:lumOff val="5000"/>
                  </a:schemeClr>
                </a:solidFill>
                <a:latin typeface="Arial" pitchFamily="34" charset="0"/>
                <a:cs typeface="Arial" pitchFamily="34" charset="0"/>
              </a:rPr>
              <a:t>Mã chương trình trong MyDivide() tạo một ngoại lệ (bằng cách nào đó) và ném</a:t>
            </a:r>
          </a:p>
          <a:p>
            <a:pPr lvl="1" algn="just">
              <a:lnSpc>
                <a:spcPct val="130000"/>
              </a:lnSpc>
              <a:spcBef>
                <a:spcPts val="300"/>
              </a:spcBef>
              <a:spcAft>
                <a:spcPts val="300"/>
              </a:spcAft>
              <a:buFont typeface="Wingdings" pitchFamily="2" charset="2"/>
              <a:buChar char="v"/>
            </a:pPr>
            <a:r>
              <a:rPr lang="vi-VN" sz="2400" smtClean="0">
                <a:solidFill>
                  <a:schemeClr val="tx1">
                    <a:lumMod val="95000"/>
                    <a:lumOff val="5000"/>
                  </a:schemeClr>
                </a:solidFill>
                <a:latin typeface="Arial" pitchFamily="34" charset="0"/>
                <a:cs typeface="Arial" pitchFamily="34" charset="0"/>
              </a:rPr>
              <a:t>Khi một hàm ném một ngoại lệ,</a:t>
            </a:r>
            <a:r>
              <a:rPr lang="en-US" sz="2400" smtClean="0">
                <a:solidFill>
                  <a:schemeClr val="tx1">
                    <a:lumMod val="95000"/>
                    <a:lumOff val="5000"/>
                  </a:schemeClr>
                </a:solidFill>
                <a:latin typeface="Arial" pitchFamily="34" charset="0"/>
                <a:cs typeface="Arial" pitchFamily="34" charset="0"/>
              </a:rPr>
              <a:t> </a:t>
            </a:r>
            <a:r>
              <a:rPr lang="vi-VN" sz="2400" smtClean="0">
                <a:solidFill>
                  <a:schemeClr val="tx1">
                    <a:lumMod val="95000"/>
                    <a:lumOff val="5000"/>
                  </a:schemeClr>
                </a:solidFill>
                <a:latin typeface="Arial" pitchFamily="34" charset="0"/>
                <a:cs typeface="Arial" pitchFamily="34" charset="0"/>
              </a:rPr>
              <a:t> nó lập tức kết thúc thực thi và gửi ngoại lệ đó cho nơi gọi nó</a:t>
            </a:r>
          </a:p>
          <a:p>
            <a:pPr lvl="1" algn="just">
              <a:lnSpc>
                <a:spcPct val="130000"/>
              </a:lnSpc>
              <a:spcBef>
                <a:spcPts val="300"/>
              </a:spcBef>
              <a:spcAft>
                <a:spcPts val="300"/>
              </a:spcAft>
              <a:buFont typeface="Wingdings" pitchFamily="2" charset="2"/>
              <a:buChar char="v"/>
            </a:pPr>
            <a:r>
              <a:rPr lang="vi-VN" sz="2400" smtClean="0">
                <a:solidFill>
                  <a:schemeClr val="tx1">
                    <a:lumMod val="95000"/>
                    <a:lumOff val="5000"/>
                  </a:schemeClr>
                </a:solidFill>
                <a:latin typeface="Arial" pitchFamily="34" charset="0"/>
                <a:cs typeface="Arial" pitchFamily="34" charset="0"/>
              </a:rPr>
              <a:t>Nếu main() có thể xử lý ngoại lệ, nó sẽ bắt và giải quyết ngoại lệ</a:t>
            </a:r>
            <a:r>
              <a:rPr lang="en-US" sz="2400" smtClean="0">
                <a:solidFill>
                  <a:schemeClr val="tx1">
                    <a:lumMod val="95000"/>
                    <a:lumOff val="5000"/>
                  </a:schemeClr>
                </a:solidFill>
                <a:latin typeface="Arial" pitchFamily="34" charset="0"/>
                <a:cs typeface="Arial" pitchFamily="34" charset="0"/>
              </a:rPr>
              <a:t>. </a:t>
            </a:r>
            <a:r>
              <a:rPr lang="vi-VN" sz="2400" smtClean="0">
                <a:solidFill>
                  <a:schemeClr val="tx1">
                    <a:lumMod val="95000"/>
                    <a:lumOff val="5000"/>
                  </a:schemeClr>
                </a:solidFill>
                <a:latin typeface="Arial" pitchFamily="34" charset="0"/>
                <a:cs typeface="Arial" pitchFamily="34" charset="0"/>
              </a:rPr>
              <a:t>Chẳng hạn yêu cầu người dùng nhập lại mẫu số</a:t>
            </a:r>
            <a:endParaRPr lang="en-US" sz="2400" smtClean="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None/>
            </a:pPr>
            <a:endParaRPr lang="en-US" sz="2400" smtClean="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None/>
            </a:pPr>
            <a:r>
              <a:rPr lang="vi-VN" sz="2400" smtClean="0">
                <a:solidFill>
                  <a:schemeClr val="tx1">
                    <a:lumMod val="95000"/>
                    <a:lumOff val="5000"/>
                  </a:schemeClr>
                </a:solidFill>
                <a:latin typeface="Arial" pitchFamily="34" charset="0"/>
                <a:cs typeface="Arial" pitchFamily="34" charset="0"/>
              </a:rPr>
              <a:t>Nếu một hàm không thể bắt ngoại lệ? Ngoại lệ đó sẽ được chuyển lên mức trên cho main() bắt.</a:t>
            </a:r>
          </a:p>
          <a:p>
            <a:pPr lvl="1" algn="just">
              <a:lnSpc>
                <a:spcPct val="130000"/>
              </a:lnSpc>
              <a:spcBef>
                <a:spcPts val="300"/>
              </a:spcBef>
              <a:spcAft>
                <a:spcPts val="300"/>
              </a:spcAft>
              <a:buFont typeface="Wingdings" pitchFamily="2" charset="2"/>
              <a:buNone/>
            </a:pPr>
            <a:endParaRPr lang="en-US" sz="2400" smtClean="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None/>
            </a:pPr>
            <a:r>
              <a:rPr lang="vi-VN" sz="2400" smtClean="0">
                <a:solidFill>
                  <a:schemeClr val="tx1">
                    <a:lumMod val="95000"/>
                    <a:lumOff val="5000"/>
                  </a:schemeClr>
                </a:solidFill>
                <a:latin typeface="Arial" pitchFamily="34" charset="0"/>
                <a:cs typeface="Arial" pitchFamily="34" charset="0"/>
              </a:rPr>
              <a:t>Nếu không có hàm nào bắt được ngoại lệ? Tại mức thực thi cao nhất, chương trình tổng (nơi gọi hàm main()) sẽ bắt mọi ngoại lệ còn sót lại mà nó nhìn thấy. Khi đó, chương trình lập tức kết thúc</a:t>
            </a:r>
            <a:endParaRPr lang="en-US" sz="2400" smtClean="0">
              <a:solidFill>
                <a:schemeClr val="tx1">
                  <a:lumMod val="95000"/>
                  <a:lumOff val="5000"/>
                </a:schemeClr>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45</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46</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smtClean="0">
                <a:solidFill>
                  <a:schemeClr val="tx1">
                    <a:lumMod val="95000"/>
                    <a:lumOff val="5000"/>
                  </a:schemeClr>
                </a:solidFill>
                <a:latin typeface="Arial" pitchFamily="34" charset="0"/>
                <a:cs typeface="Arial" pitchFamily="34" charset="0"/>
              </a:rPr>
              <a:t>Ví dụ, MyDivide() ném ngoại lệ là một string</a:t>
            </a:r>
          </a:p>
        </p:txBody>
      </p:sp>
      <p:sp>
        <p:nvSpPr>
          <p:cNvPr id="4" name="Slide Number Placeholder 3"/>
          <p:cNvSpPr>
            <a:spLocks noGrp="1"/>
          </p:cNvSpPr>
          <p:nvPr>
            <p:ph type="sldNum" sz="quarter" idx="10"/>
          </p:nvPr>
        </p:nvSpPr>
        <p:spPr/>
        <p:txBody>
          <a:bodyPr/>
          <a:lstStyle/>
          <a:p>
            <a:fld id="{3D48F1E3-0BA9-4479-9A23-62D2F56F905A}" type="slidenum">
              <a:rPr lang="en-US" smtClean="0"/>
              <a:pPr/>
              <a:t>47</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smtClean="0"/>
              <a:t>Mã liên quan đến thuật toán nằm trong khối try</a:t>
            </a:r>
          </a:p>
          <a:p>
            <a:r>
              <a:rPr lang="vi-VN" smtClean="0"/>
              <a:t>Mã giải quyết lỗi đặt trong (các) khối catch</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48</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smtClean="0"/>
              <a:t>Ch</a:t>
            </a:r>
            <a:r>
              <a:rPr lang="en-US" smtClean="0"/>
              <a:t>ú</a:t>
            </a:r>
            <a:r>
              <a:rPr lang="en-US" baseline="0" smtClean="0"/>
              <a:t> ý phải có d</a:t>
            </a:r>
            <a:r>
              <a:rPr lang="vi-VN" smtClean="0"/>
              <a:t>ấu chấm phẩy đánh dấu kết thúc của toàn khối try-catch</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49</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50</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51</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52</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53</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smtClean="0">
                <a:solidFill>
                  <a:schemeClr val="tx1">
                    <a:lumMod val="95000"/>
                    <a:lumOff val="5000"/>
                  </a:schemeClr>
                </a:solidFill>
                <a:latin typeface="Arial" pitchFamily="34" charset="0"/>
                <a:cs typeface="Arial" pitchFamily="34" charset="0"/>
              </a:rPr>
              <a:t>Nếu muốn bắt các ngoại lệ dẫn xuất tách khỏi ngoại lệ cơ sở, ta phải xếp lệnh catch cho lớp dẫn xuất lên trước</a:t>
            </a:r>
          </a:p>
        </p:txBody>
      </p:sp>
      <p:sp>
        <p:nvSpPr>
          <p:cNvPr id="4" name="Slide Number Placeholder 3"/>
          <p:cNvSpPr>
            <a:spLocks noGrp="1"/>
          </p:cNvSpPr>
          <p:nvPr>
            <p:ph type="sldNum" sz="quarter" idx="10"/>
          </p:nvPr>
        </p:nvSpPr>
        <p:spPr/>
        <p:txBody>
          <a:bodyPr/>
          <a:lstStyle/>
          <a:p>
            <a:fld id="{3D48F1E3-0BA9-4479-9A23-62D2F56F905A}" type="slidenum">
              <a:rPr lang="en-US" smtClean="0"/>
              <a:pPr/>
              <a:t>54</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55</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smtClean="0"/>
              <a:t>Do tham số ba chấm bắt được mọi ngoại lệ, ta chỉ nên sử dụng nó cho lệnh catch cuối cùng trong một khối try-catch</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56</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57</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vi-VN" sz="2400" smtClean="0">
                <a:solidFill>
                  <a:schemeClr val="tx1">
                    <a:lumMod val="95000"/>
                    <a:lumOff val="5000"/>
                  </a:schemeClr>
                </a:solidFill>
                <a:latin typeface="Arial" pitchFamily="34" charset="0"/>
                <a:cs typeface="Arial" pitchFamily="34" charset="0"/>
              </a:rPr>
              <a:t>File này cũng đã #include &lt;exception&gt; nên khi dùng không cần #include cả hai</a:t>
            </a:r>
          </a:p>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58</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smtClean="0">
                <a:solidFill>
                  <a:schemeClr val="tx1">
                    <a:lumMod val="95000"/>
                    <a:lumOff val="5000"/>
                  </a:schemeClr>
                </a:solidFill>
                <a:latin typeface="Arial" pitchFamily="34" charset="0"/>
                <a:cs typeface="Arial" pitchFamily="34" charset="0"/>
              </a:rPr>
              <a:t>Một lý do là cả hai lớp này đều có constructor nhận tham số là một string mà nó sẽ là kết quả trả về của hàm what()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59</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vi-VN" sz="2400" smtClean="0">
                <a:solidFill>
                  <a:srgbClr val="0066FF"/>
                </a:solidFill>
                <a:latin typeface="Arial" pitchFamily="34" charset="0"/>
                <a:cs typeface="Arial" pitchFamily="34" charset="0"/>
              </a:rPr>
              <a:t>out_of_range</a:t>
            </a:r>
            <a:r>
              <a:rPr lang="vi-VN" sz="2400" smtClean="0">
                <a:solidFill>
                  <a:schemeClr val="tx1">
                    <a:lumMod val="95000"/>
                    <a:lumOff val="5000"/>
                  </a:schemeClr>
                </a:solidFill>
                <a:latin typeface="Arial" pitchFamily="34" charset="0"/>
                <a:cs typeface="Arial" pitchFamily="34" charset="0"/>
              </a:rPr>
              <a:t> tham số ngoài khoảng (chẳng hạn chỉ số không hợp lệ)</a:t>
            </a:r>
          </a:p>
        </p:txBody>
      </p:sp>
      <p:sp>
        <p:nvSpPr>
          <p:cNvPr id="4" name="Slide Number Placeholder 3"/>
          <p:cNvSpPr>
            <a:spLocks noGrp="1"/>
          </p:cNvSpPr>
          <p:nvPr>
            <p:ph type="sldNum" sz="quarter" idx="10"/>
          </p:nvPr>
        </p:nvSpPr>
        <p:spPr/>
        <p:txBody>
          <a:bodyPr/>
          <a:lstStyle/>
          <a:p>
            <a:fld id="{3D48F1E3-0BA9-4479-9A23-62D2F56F905A}" type="slidenum">
              <a:rPr lang="en-US" smtClean="0"/>
              <a:pPr/>
              <a:t>60</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mtClean="0"/>
              <a:t>Ta phải sửa lệnh </a:t>
            </a:r>
            <a:r>
              <a:rPr lang="vi-VN" b="1" smtClean="0"/>
              <a:t>catch cũ để bắt được ngoại lệ kiểu </a:t>
            </a:r>
            <a:r>
              <a:rPr lang="en-US" b="1" smtClean="0"/>
              <a:t>invalid_argument </a:t>
            </a:r>
            <a:r>
              <a:rPr lang="en-US" smtClean="0"/>
              <a:t>(thay cho kiểu string trong phiên bản </a:t>
            </a:r>
            <a:r>
              <a:rPr lang="vi-VN" smtClean="0"/>
              <a:t>trước)</a:t>
            </a:r>
          </a:p>
        </p:txBody>
      </p:sp>
      <p:sp>
        <p:nvSpPr>
          <p:cNvPr id="4" name="Slide Number Placeholder 3"/>
          <p:cNvSpPr>
            <a:spLocks noGrp="1"/>
          </p:cNvSpPr>
          <p:nvPr>
            <p:ph type="sldNum" sz="quarter" idx="10"/>
          </p:nvPr>
        </p:nvSpPr>
        <p:spPr/>
        <p:txBody>
          <a:bodyPr/>
          <a:lstStyle/>
          <a:p>
            <a:fld id="{3D48F1E3-0BA9-4479-9A23-62D2F56F905A}" type="slidenum">
              <a:rPr lang="en-US" smtClean="0"/>
              <a:pPr/>
              <a:t>61</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mtClean="0"/>
              <a:t>Ta sẽ phải sửa lệnh </a:t>
            </a:r>
            <a:r>
              <a:rPr lang="vi-VN" b="1" smtClean="0"/>
              <a:t>catch cũ để bắt được ngoại lệ kiểu </a:t>
            </a:r>
            <a:r>
              <a:rPr lang="en-US" b="1" smtClean="0"/>
              <a:t>invalid_argument </a:t>
            </a:r>
            <a:r>
              <a:rPr lang="en-US" smtClean="0"/>
              <a:t>(thay cho kiểu string trong phiên bản </a:t>
            </a:r>
            <a:r>
              <a:rPr lang="vi-VN" smtClean="0"/>
              <a:t>trước)</a:t>
            </a:r>
          </a:p>
        </p:txBody>
      </p:sp>
      <p:sp>
        <p:nvSpPr>
          <p:cNvPr id="4" name="Slide Number Placeholder 3"/>
          <p:cNvSpPr>
            <a:spLocks noGrp="1"/>
          </p:cNvSpPr>
          <p:nvPr>
            <p:ph type="sldNum" sz="quarter" idx="10"/>
          </p:nvPr>
        </p:nvSpPr>
        <p:spPr/>
        <p:txBody>
          <a:bodyPr/>
          <a:lstStyle/>
          <a:p>
            <a:fld id="{3D48F1E3-0BA9-4479-9A23-62D2F56F905A}" type="slidenum">
              <a:rPr lang="en-US" smtClean="0"/>
              <a:pPr/>
              <a:t>62</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7" name="Date Placeholder 3"/>
          <p:cNvSpPr>
            <a:spLocks noGrp="1"/>
          </p:cNvSpPr>
          <p:nvPr>
            <p:ph type="dt" sz="half" idx="10"/>
          </p:nvPr>
        </p:nvSpPr>
        <p:spPr>
          <a:xfrm>
            <a:off x="533400" y="6629400"/>
            <a:ext cx="2133600" cy="228600"/>
          </a:xfrm>
          <a:prstGeom prst="rect">
            <a:avLst/>
          </a:prstGeom>
        </p:spPr>
        <p:txBody>
          <a:bodyPr/>
          <a:lstStyle/>
          <a:p>
            <a:pPr>
              <a:defRPr/>
            </a:pPr>
            <a:fld id="{F9F2DA52-21B3-428E-9CA1-AC592442864C}" type="datetime1">
              <a:rPr lang="vi-VN" smtClean="0"/>
              <a:pPr>
                <a:defRPr/>
              </a:pPr>
              <a:t>21/12/2015</a:t>
            </a:fld>
            <a:endParaRPr lang="en-US"/>
          </a:p>
        </p:txBody>
      </p:sp>
      <p:sp>
        <p:nvSpPr>
          <p:cNvPr id="8" name="Footer Placeholder 4"/>
          <p:cNvSpPr>
            <a:spLocks noGrp="1"/>
          </p:cNvSpPr>
          <p:nvPr>
            <p:ph type="ftr" sz="quarter" idx="11"/>
          </p:nvPr>
        </p:nvSpPr>
        <p:spPr>
          <a:xfrm>
            <a:off x="3200400" y="6629400"/>
            <a:ext cx="2895600" cy="228600"/>
          </a:xfrm>
          <a:prstGeom prst="rect">
            <a:avLst/>
          </a:prstGeom>
        </p:spPr>
        <p:txBody>
          <a:bodyPr/>
          <a:lstStyle/>
          <a:p>
            <a:pPr>
              <a:defRPr/>
            </a:pPr>
            <a:r>
              <a:rPr lang="vi-VN" smtClean="0"/>
              <a:t>Lập Trình môi trường Windows</a:t>
            </a:r>
            <a:endParaRPr lang="en-US"/>
          </a:p>
        </p:txBody>
      </p:sp>
      <p:sp>
        <p:nvSpPr>
          <p:cNvPr id="9" name="Slide Number Placeholder 5"/>
          <p:cNvSpPr>
            <a:spLocks noGrp="1"/>
          </p:cNvSpPr>
          <p:nvPr>
            <p:ph type="sldNum" sz="quarter" idx="12"/>
          </p:nvPr>
        </p:nvSpPr>
        <p:spPr>
          <a:xfrm>
            <a:off x="6629400" y="6629400"/>
            <a:ext cx="2133600" cy="228600"/>
          </a:xfrm>
          <a:prstGeom prst="rect">
            <a:avLst/>
          </a:prstGeom>
        </p:spPr>
        <p:txBody>
          <a:body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398206524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a:xfrm>
            <a:off x="533400" y="6629400"/>
            <a:ext cx="2133600" cy="228600"/>
          </a:xfrm>
          <a:prstGeom prst="rect">
            <a:avLst/>
          </a:prstGeom>
        </p:spPr>
        <p:txBody>
          <a:bodyPr/>
          <a:lstStyle/>
          <a:p>
            <a:pPr>
              <a:defRPr/>
            </a:pPr>
            <a:fld id="{44C22182-640A-4FDB-A760-8D0D3703758B}" type="datetime1">
              <a:rPr lang="vi-VN" smtClean="0"/>
              <a:pPr>
                <a:defRPr/>
              </a:pPr>
              <a:t>21/12/2015</a:t>
            </a:fld>
            <a:endParaRPr lang="en-US"/>
          </a:p>
        </p:txBody>
      </p:sp>
      <p:sp>
        <p:nvSpPr>
          <p:cNvPr id="8" name="Footer Placeholder 4"/>
          <p:cNvSpPr>
            <a:spLocks noGrp="1"/>
          </p:cNvSpPr>
          <p:nvPr>
            <p:ph type="ftr" sz="quarter" idx="11"/>
          </p:nvPr>
        </p:nvSpPr>
        <p:spPr>
          <a:xfrm>
            <a:off x="3200400" y="6629400"/>
            <a:ext cx="2895600" cy="228600"/>
          </a:xfrm>
          <a:prstGeom prst="rect">
            <a:avLst/>
          </a:prstGeom>
        </p:spPr>
        <p:txBody>
          <a:bodyPr/>
          <a:lstStyle/>
          <a:p>
            <a:pPr>
              <a:defRPr/>
            </a:pPr>
            <a:r>
              <a:rPr lang="vi-VN" smtClean="0"/>
              <a:t>Lập Trình môi trường Windows</a:t>
            </a:r>
            <a:endParaRPr lang="en-US"/>
          </a:p>
        </p:txBody>
      </p:sp>
      <p:sp>
        <p:nvSpPr>
          <p:cNvPr id="9" name="Slide Number Placeholder 5"/>
          <p:cNvSpPr>
            <a:spLocks noGrp="1"/>
          </p:cNvSpPr>
          <p:nvPr>
            <p:ph type="sldNum" sz="quarter" idx="12"/>
          </p:nvPr>
        </p:nvSpPr>
        <p:spPr>
          <a:xfrm>
            <a:off x="6629400" y="6629400"/>
            <a:ext cx="2133600" cy="228600"/>
          </a:xfrm>
          <a:prstGeom prst="rect">
            <a:avLst/>
          </a:prstGeom>
        </p:spPr>
        <p:txBody>
          <a:body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59361180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D00E03C3-320B-4CD7-9640-A4106852A002}" type="datetime1">
              <a:rPr lang="vi-VN" smtClean="0"/>
              <a:pPr>
                <a:defRPr/>
              </a:pPr>
              <a:t>21/12/2015</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smtClean="0"/>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04884776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23F17DD4-4097-4EB2-A992-9E7B71C79DDE}" type="datetime1">
              <a:rPr lang="vi-VN" smtClean="0"/>
              <a:pPr>
                <a:defRPr/>
              </a:pPr>
              <a:t>21/12/2015</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smtClean="0"/>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41315383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9EA94887-7573-4ECC-91FE-C733876AF6AE}" type="datetime1">
              <a:rPr lang="vi-VN" smtClean="0"/>
              <a:pPr>
                <a:defRPr/>
              </a:pPr>
              <a:t>21/12/2015</a:t>
            </a:fld>
            <a:endParaRPr lang="en-US"/>
          </a:p>
        </p:txBody>
      </p:sp>
      <p:sp>
        <p:nvSpPr>
          <p:cNvPr id="11" name="Footer Placeholder 4"/>
          <p:cNvSpPr>
            <a:spLocks noGrp="1"/>
          </p:cNvSpPr>
          <p:nvPr>
            <p:ph type="ftr" sz="quarter" idx="11"/>
          </p:nvPr>
        </p:nvSpPr>
        <p:spPr>
          <a:xfrm>
            <a:off x="3200400" y="6629400"/>
            <a:ext cx="2895600" cy="228600"/>
          </a:xfrm>
          <a:prstGeom prst="rect">
            <a:avLst/>
          </a:prstGeom>
        </p:spPr>
        <p:txBody>
          <a:bodyPr/>
          <a:lstStyle>
            <a:lvl1pPr algn="ctr">
              <a:defRPr sz="1200"/>
            </a:lvl1pPr>
          </a:lstStyle>
          <a:p>
            <a:pPr>
              <a:defRPr/>
            </a:pPr>
            <a:r>
              <a:rPr lang="vi-VN" smtClean="0"/>
              <a:t>Lập Trình môi trường Windows</a:t>
            </a:r>
            <a:endParaRPr lang="en-US"/>
          </a:p>
        </p:txBody>
      </p:sp>
      <p:sp>
        <p:nvSpPr>
          <p:cNvPr id="12" name="Slide Number Placeholder 5"/>
          <p:cNvSpPr>
            <a:spLocks noGrp="1"/>
          </p:cNvSpPr>
          <p:nvPr>
            <p:ph type="sldNum" sz="quarter" idx="12"/>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00741627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6"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2DD64B64-89CB-47C1-9829-0221F223EBE9}" type="datetime1">
              <a:rPr lang="vi-VN" smtClean="0"/>
              <a:pPr>
                <a:defRPr/>
              </a:pPr>
              <a:t>21/12/2015</a:t>
            </a:fld>
            <a:endParaRPr lang="en-US"/>
          </a:p>
        </p:txBody>
      </p:sp>
      <p:sp>
        <p:nvSpPr>
          <p:cNvPr id="7"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smtClean="0"/>
              <a:t>Lập Trình môi trường Windows</a:t>
            </a:r>
            <a:endParaRPr lang="en-US"/>
          </a:p>
        </p:txBody>
      </p:sp>
      <p:sp>
        <p:nvSpPr>
          <p:cNvPr id="8"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2576766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586CD8A5-14A1-4AD5-9D7B-43D1DA7BE684}" type="datetime1">
              <a:rPr lang="vi-VN" smtClean="0"/>
              <a:pPr>
                <a:defRPr/>
              </a:pPr>
              <a:t>21/12/2015</a:t>
            </a:fld>
            <a:endParaRPr lang="en-US"/>
          </a:p>
        </p:txBody>
      </p:sp>
      <p:sp>
        <p:nvSpPr>
          <p:cNvPr id="6"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smtClean="0"/>
              <a:t>Lập Trình môi trường Windows</a:t>
            </a:r>
            <a:endParaRPr lang="en-US"/>
          </a:p>
        </p:txBody>
      </p:sp>
      <p:sp>
        <p:nvSpPr>
          <p:cNvPr id="7"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420902129"/>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09B66242-8D8B-4489-A534-F6835F9510A4}" type="datetime1">
              <a:rPr lang="vi-VN" smtClean="0"/>
              <a:pPr>
                <a:defRPr/>
              </a:pPr>
              <a:t>21/12/2015</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smtClean="0"/>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575352181"/>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A54E60E0-101B-4F0B-8CAB-7BC10001EC84}" type="datetime1">
              <a:rPr lang="vi-VN" smtClean="0"/>
              <a:pPr>
                <a:defRPr/>
              </a:pPr>
              <a:t>21/12/2015</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smtClean="0"/>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407522674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94740A0E-981F-4D7D-85DC-FABA068F5BDC}" type="datetime1">
              <a:rPr lang="vi-VN" smtClean="0"/>
              <a:pPr>
                <a:defRPr/>
              </a:pPr>
              <a:t>21/12/2015</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smtClean="0"/>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26253399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FD2709FD-D6D7-46E8-9542-09A9D0999F67}" type="datetime1">
              <a:rPr lang="vi-VN" smtClean="0"/>
              <a:pPr>
                <a:defRPr/>
              </a:pPr>
              <a:t>21/12/2015</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smtClean="0"/>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78237799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03EB8757-C3C4-467B-A4BF-7922ED51D895}" type="datetime1">
              <a:rPr lang="vi-VN" smtClean="0"/>
              <a:pPr>
                <a:defRPr/>
              </a:pPr>
              <a:t>21/12/2015</a:t>
            </a:fld>
            <a:endParaRPr lang="en-US"/>
          </a:p>
        </p:txBody>
      </p:sp>
      <p:sp>
        <p:nvSpPr>
          <p:cNvPr id="11"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smtClean="0"/>
              <a:t>Lập Trình môi trường Windows</a:t>
            </a:r>
            <a:endParaRPr lang="en-US"/>
          </a:p>
        </p:txBody>
      </p:sp>
      <p:sp>
        <p:nvSpPr>
          <p:cNvPr id="12"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33389716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198" name="Rectangle 150"/>
          <p:cNvSpPr>
            <a:spLocks noGrp="1" noChangeArrowheads="1"/>
          </p:cNvSpPr>
          <p:nvPr>
            <p:ph type="ctrTitle"/>
          </p:nvPr>
        </p:nvSpPr>
        <p:spPr>
          <a:xfrm>
            <a:off x="0" y="2057400"/>
            <a:ext cx="5943600" cy="2286000"/>
          </a:xfrm>
        </p:spPr>
        <p:txBody>
          <a:bodyPr>
            <a:noAutofit/>
          </a:bodyPr>
          <a:lstStyle/>
          <a:p>
            <a:r>
              <a:rPr lang="en-US" sz="4600" b="1" smtClean="0"/>
              <a:t>CHƯƠNG 7.</a:t>
            </a:r>
            <a:br>
              <a:rPr lang="en-US" sz="4600" b="1" smtClean="0"/>
            </a:br>
            <a:r>
              <a:rPr lang="en-US" sz="4600" b="1" smtClean="0"/>
              <a:t>TEMPLATE, EXCEPTION</a:t>
            </a:r>
            <a:endParaRPr lang="es-ES" sz="4600" b="1">
              <a:solidFill>
                <a:schemeClr val="tx1"/>
              </a:solidFill>
            </a:endParaRPr>
          </a:p>
        </p:txBody>
      </p:sp>
      <p:pic>
        <p:nvPicPr>
          <p:cNvPr id="22529" name="Picture 1"/>
          <p:cNvPicPr>
            <a:picLocks noChangeAspect="1" noChangeArrowheads="1"/>
          </p:cNvPicPr>
          <p:nvPr/>
        </p:nvPicPr>
        <p:blipFill>
          <a:blip r:embed="rId3" cstate="print"/>
          <a:srcRect/>
          <a:stretch>
            <a:fillRect/>
          </a:stretch>
        </p:blipFill>
        <p:spPr bwMode="auto">
          <a:xfrm>
            <a:off x="6838950" y="1571625"/>
            <a:ext cx="1924050" cy="3990975"/>
          </a:xfrm>
          <a:prstGeom prst="rect">
            <a:avLst/>
          </a:prstGeom>
          <a:noFill/>
          <a:ln w="9525">
            <a:noFill/>
            <a:miter lim="800000"/>
            <a:headEnd/>
            <a:tailEnd/>
          </a:ln>
        </p:spPr>
      </p:pic>
      <p:sp>
        <p:nvSpPr>
          <p:cNvPr id="2" name="Subtitle 1"/>
          <p:cNvSpPr>
            <a:spLocks noGrp="1"/>
          </p:cNvSpPr>
          <p:nvPr>
            <p:ph type="subTitle" idx="1"/>
          </p:nvPr>
        </p:nvSpPr>
        <p:spPr/>
        <p:txBody>
          <a:bodyPr/>
          <a:lstStyle/>
          <a:p>
            <a:endParaRPr lang="en-GB"/>
          </a:p>
        </p:txBody>
      </p:sp>
    </p:spTree>
    <p:extLst>
      <p:ext uri="{BB962C8B-B14F-4D97-AF65-F5344CB8AC3E}">
        <p14:creationId xmlns:p14="http://schemas.microsoft.com/office/powerpoint/2010/main" val="9907433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smtClean="0">
                <a:effectLst>
                  <a:outerShdw blurRad="38100" dist="38100" dir="2700000" algn="tl">
                    <a:srgbClr val="000000">
                      <a:alpha val="43137"/>
                    </a:srgbClr>
                  </a:outerShdw>
                </a:effectLst>
                <a:latin typeface="Arial" pitchFamily="34" charset="0"/>
                <a:cs typeface="Arial" pitchFamily="34" charset="0"/>
              </a:rPr>
              <a:t>Template</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p:txBody>
          <a:bodyPr/>
          <a:lstStyle/>
          <a:p>
            <a:pPr>
              <a:defRPr/>
            </a:pPr>
            <a:fld id="{B6C9ACEC-4E53-4F9E-B036-FFA4F9C8A670}" type="datetime1">
              <a:rPr lang="en-US" smtClean="0">
                <a:latin typeface="Times New Roman" pitchFamily="18" charset="0"/>
                <a:cs typeface="Times New Roman" pitchFamily="18" charset="0"/>
              </a:rPr>
              <a:pPr>
                <a:defRPr/>
              </a:pPr>
              <a:t>12/21/2015</a:t>
            </a:fld>
            <a:endParaRPr lang="en-US">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pPr>
              <a:defRPr/>
            </a:pPr>
            <a:fld id="{688F6725-D91E-415D-8720-601CB0D1C024}" type="slidenum">
              <a:rPr lang="en-US" smtClean="0">
                <a:latin typeface="Times New Roman" pitchFamily="18" charset="0"/>
                <a:cs typeface="Times New Roman" pitchFamily="18" charset="0"/>
              </a:rPr>
              <a:pPr>
                <a:defRPr/>
              </a:pPr>
              <a:t>2</a:t>
            </a:fld>
            <a:endParaRPr lang="en-US">
              <a:latin typeface="Times New Roman" pitchFamily="18" charset="0"/>
              <a:cs typeface="Times New Roman" pitchFamily="18" charset="0"/>
            </a:endParaRPr>
          </a:p>
        </p:txBody>
      </p:sp>
      <p:grpSp>
        <p:nvGrpSpPr>
          <p:cNvPr id="11" name="Group 10"/>
          <p:cNvGrpSpPr/>
          <p:nvPr/>
        </p:nvGrpSpPr>
        <p:grpSpPr>
          <a:xfrm>
            <a:off x="1828800" y="1665516"/>
            <a:ext cx="5410200" cy="665163"/>
            <a:chOff x="1828800" y="1665516"/>
            <a:chExt cx="5410200" cy="665163"/>
          </a:xfrm>
        </p:grpSpPr>
        <p:grpSp>
          <p:nvGrpSpPr>
            <p:cNvPr id="3" name="Group 3"/>
            <p:cNvGrpSpPr>
              <a:grpSpLocks/>
            </p:cNvGrpSpPr>
            <p:nvPr/>
          </p:nvGrpSpPr>
          <p:grpSpPr bwMode="auto">
            <a:xfrm>
              <a:off x="1828800" y="1665516"/>
              <a:ext cx="762000" cy="665163"/>
              <a:chOff x="1110" y="2656"/>
              <a:chExt cx="1549" cy="1351"/>
            </a:xfrm>
          </p:grpSpPr>
          <p:sp>
            <p:nvSpPr>
              <p:cNvPr id="43"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4"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5"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0" name="Line 11"/>
            <p:cNvSpPr>
              <a:spLocks noChangeShapeType="1"/>
            </p:cNvSpPr>
            <p:nvPr/>
          </p:nvSpPr>
          <p:spPr bwMode="auto">
            <a:xfrm>
              <a:off x="2438400" y="2275116"/>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1" name="Text Box 12"/>
            <p:cNvSpPr txBox="1">
              <a:spLocks noChangeArrowheads="1"/>
            </p:cNvSpPr>
            <p:nvPr/>
          </p:nvSpPr>
          <p:spPr bwMode="auto">
            <a:xfrm>
              <a:off x="2743200" y="1741716"/>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Lập trình tổng quát</a:t>
              </a:r>
              <a:endParaRPr lang="en-US" sz="2800" dirty="0">
                <a:latin typeface="Times New Roman" pitchFamily="18" charset="0"/>
                <a:cs typeface="Times New Roman" pitchFamily="18" charset="0"/>
              </a:endParaRPr>
            </a:p>
          </p:txBody>
        </p:sp>
        <p:sp>
          <p:nvSpPr>
            <p:cNvPr id="52" name="Text Box 13"/>
            <p:cNvSpPr txBox="1">
              <a:spLocks noChangeArrowheads="1"/>
            </p:cNvSpPr>
            <p:nvPr/>
          </p:nvSpPr>
          <p:spPr bwMode="gray">
            <a:xfrm>
              <a:off x="2025650" y="1763941"/>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1</a:t>
              </a:r>
            </a:p>
          </p:txBody>
        </p:sp>
      </p:grpSp>
      <p:grpSp>
        <p:nvGrpSpPr>
          <p:cNvPr id="12" name="Group 11"/>
          <p:cNvGrpSpPr/>
          <p:nvPr/>
        </p:nvGrpSpPr>
        <p:grpSpPr>
          <a:xfrm>
            <a:off x="1828800" y="2605314"/>
            <a:ext cx="5791200" cy="665163"/>
            <a:chOff x="1828800" y="2605314"/>
            <a:chExt cx="5791200" cy="665163"/>
          </a:xfrm>
        </p:grpSpPr>
        <p:grpSp>
          <p:nvGrpSpPr>
            <p:cNvPr id="7" name="Group 7"/>
            <p:cNvGrpSpPr>
              <a:grpSpLocks/>
            </p:cNvGrpSpPr>
            <p:nvPr/>
          </p:nvGrpSpPr>
          <p:grpSpPr bwMode="auto">
            <a:xfrm>
              <a:off x="1828800" y="2605314"/>
              <a:ext cx="762000" cy="665163"/>
              <a:chOff x="3174" y="2656"/>
              <a:chExt cx="1549" cy="1351"/>
            </a:xfrm>
          </p:grpSpPr>
          <p:sp>
            <p:nvSpPr>
              <p:cNvPr id="47"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8"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9"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3" name="Line 14"/>
            <p:cNvSpPr>
              <a:spLocks noChangeShapeType="1"/>
            </p:cNvSpPr>
            <p:nvPr/>
          </p:nvSpPr>
          <p:spPr bwMode="auto">
            <a:xfrm>
              <a:off x="2438400" y="3189516"/>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4" name="Text Box 15"/>
            <p:cNvSpPr txBox="1">
              <a:spLocks noChangeArrowheads="1"/>
            </p:cNvSpPr>
            <p:nvPr/>
          </p:nvSpPr>
          <p:spPr bwMode="auto">
            <a:xfrm>
              <a:off x="2743200" y="2656116"/>
              <a:ext cx="4876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smtClean="0">
                  <a:latin typeface="Times New Roman" pitchFamily="18" charset="0"/>
                  <a:cs typeface="Times New Roman" pitchFamily="18" charset="0"/>
                </a:rPr>
                <a:t>Lập trình tổng quát trong C++</a:t>
              </a:r>
              <a:endParaRPr lang="en-US" sz="2800" dirty="0">
                <a:latin typeface="Times New Roman" pitchFamily="18" charset="0"/>
                <a:cs typeface="Times New Roman" pitchFamily="18" charset="0"/>
              </a:endParaRPr>
            </a:p>
          </p:txBody>
        </p:sp>
        <p:sp>
          <p:nvSpPr>
            <p:cNvPr id="55" name="Text Box 16"/>
            <p:cNvSpPr txBox="1">
              <a:spLocks noChangeArrowheads="1"/>
            </p:cNvSpPr>
            <p:nvPr/>
          </p:nvSpPr>
          <p:spPr bwMode="gray">
            <a:xfrm>
              <a:off x="2025650" y="2775858"/>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2</a:t>
              </a:r>
            </a:p>
          </p:txBody>
        </p:sp>
      </p:grpSp>
      <p:grpSp>
        <p:nvGrpSpPr>
          <p:cNvPr id="13" name="Group 12"/>
          <p:cNvGrpSpPr/>
          <p:nvPr/>
        </p:nvGrpSpPr>
        <p:grpSpPr>
          <a:xfrm>
            <a:off x="1828800" y="3472091"/>
            <a:ext cx="5410200" cy="665163"/>
            <a:chOff x="1828800" y="3472091"/>
            <a:chExt cx="5410200" cy="665163"/>
          </a:xfrm>
        </p:grpSpPr>
        <p:grpSp>
          <p:nvGrpSpPr>
            <p:cNvPr id="8" name="Group 17"/>
            <p:cNvGrpSpPr>
              <a:grpSpLocks/>
            </p:cNvGrpSpPr>
            <p:nvPr/>
          </p:nvGrpSpPr>
          <p:grpSpPr bwMode="auto">
            <a:xfrm>
              <a:off x="1828800" y="3472091"/>
              <a:ext cx="762000" cy="665163"/>
              <a:chOff x="1110" y="2656"/>
              <a:chExt cx="1549" cy="1351"/>
            </a:xfrm>
          </p:grpSpPr>
          <p:sp>
            <p:nvSpPr>
              <p:cNvPr id="5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4" name="Line 25"/>
            <p:cNvSpPr>
              <a:spLocks noChangeShapeType="1"/>
            </p:cNvSpPr>
            <p:nvPr/>
          </p:nvSpPr>
          <p:spPr bwMode="auto">
            <a:xfrm>
              <a:off x="2438400" y="40816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5" name="Text Box 26"/>
            <p:cNvSpPr txBox="1">
              <a:spLocks noChangeArrowheads="1"/>
            </p:cNvSpPr>
            <p:nvPr/>
          </p:nvSpPr>
          <p:spPr bwMode="auto">
            <a:xfrm>
              <a:off x="2743200" y="35482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smtClean="0">
                  <a:latin typeface="Times New Roman" pitchFamily="18" charset="0"/>
                  <a:cs typeface="Times New Roman" pitchFamily="18" charset="0"/>
                </a:rPr>
                <a:t>C++ template</a:t>
              </a:r>
              <a:endParaRPr lang="en-US" sz="2800" dirty="0">
                <a:latin typeface="Times New Roman" pitchFamily="18" charset="0"/>
                <a:cs typeface="Times New Roman" pitchFamily="18" charset="0"/>
              </a:endParaRPr>
            </a:p>
          </p:txBody>
        </p:sp>
        <p:sp>
          <p:nvSpPr>
            <p:cNvPr id="66" name="Text Box 27"/>
            <p:cNvSpPr txBox="1">
              <a:spLocks noChangeArrowheads="1"/>
            </p:cNvSpPr>
            <p:nvPr/>
          </p:nvSpPr>
          <p:spPr bwMode="gray">
            <a:xfrm>
              <a:off x="2025650" y="35705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3</a:t>
              </a:r>
            </a:p>
          </p:txBody>
        </p:sp>
      </p:grpSp>
      <p:grpSp>
        <p:nvGrpSpPr>
          <p:cNvPr id="14" name="Group 13"/>
          <p:cNvGrpSpPr/>
          <p:nvPr/>
        </p:nvGrpSpPr>
        <p:grpSpPr>
          <a:xfrm>
            <a:off x="1828800" y="4386491"/>
            <a:ext cx="5410200" cy="665163"/>
            <a:chOff x="1828800" y="4386491"/>
            <a:chExt cx="5410200" cy="665163"/>
          </a:xfrm>
        </p:grpSpPr>
        <p:grpSp>
          <p:nvGrpSpPr>
            <p:cNvPr id="9" name="Group 21"/>
            <p:cNvGrpSpPr>
              <a:grpSpLocks/>
            </p:cNvGrpSpPr>
            <p:nvPr/>
          </p:nvGrpSpPr>
          <p:grpSpPr bwMode="auto">
            <a:xfrm>
              <a:off x="1828800" y="4386491"/>
              <a:ext cx="762000" cy="665163"/>
              <a:chOff x="3174" y="2656"/>
              <a:chExt cx="1549" cy="1351"/>
            </a:xfrm>
          </p:grpSpPr>
          <p:sp>
            <p:nvSpPr>
              <p:cNvPr id="61"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2"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3"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7" name="Line 28"/>
            <p:cNvSpPr>
              <a:spLocks noChangeShapeType="1"/>
            </p:cNvSpPr>
            <p:nvPr/>
          </p:nvSpPr>
          <p:spPr bwMode="auto">
            <a:xfrm>
              <a:off x="2438400" y="49960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8" name="Text Box 29"/>
            <p:cNvSpPr txBox="1">
              <a:spLocks noChangeArrowheads="1"/>
            </p:cNvSpPr>
            <p:nvPr/>
          </p:nvSpPr>
          <p:spPr bwMode="auto">
            <a:xfrm>
              <a:off x="2743200" y="44626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smtClean="0">
                  <a:latin typeface="Times New Roman" pitchFamily="18" charset="0"/>
                  <a:cs typeface="Times New Roman" pitchFamily="18" charset="0"/>
                </a:rPr>
                <a:t>Khuôn mẫu hàm</a:t>
              </a:r>
              <a:endParaRPr lang="en-US" sz="2800" dirty="0">
                <a:latin typeface="Times New Roman" pitchFamily="18" charset="0"/>
                <a:cs typeface="Times New Roman" pitchFamily="18" charset="0"/>
              </a:endParaRPr>
            </a:p>
          </p:txBody>
        </p:sp>
        <p:sp>
          <p:nvSpPr>
            <p:cNvPr id="69" name="Text Box 30"/>
            <p:cNvSpPr txBox="1">
              <a:spLocks noChangeArrowheads="1"/>
            </p:cNvSpPr>
            <p:nvPr/>
          </p:nvSpPr>
          <p:spPr bwMode="gray">
            <a:xfrm>
              <a:off x="2025650" y="44849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4</a:t>
              </a:r>
            </a:p>
          </p:txBody>
        </p:sp>
      </p:grpSp>
      <p:grpSp>
        <p:nvGrpSpPr>
          <p:cNvPr id="15" name="Group 14"/>
          <p:cNvGrpSpPr/>
          <p:nvPr/>
        </p:nvGrpSpPr>
        <p:grpSpPr>
          <a:xfrm>
            <a:off x="1828800" y="5323116"/>
            <a:ext cx="5413775" cy="665163"/>
            <a:chOff x="1828800" y="5323116"/>
            <a:chExt cx="5413775" cy="665163"/>
          </a:xfrm>
        </p:grpSpPr>
        <p:sp>
          <p:nvSpPr>
            <p:cNvPr id="70" name="Line 28"/>
            <p:cNvSpPr>
              <a:spLocks noChangeShapeType="1"/>
            </p:cNvSpPr>
            <p:nvPr/>
          </p:nvSpPr>
          <p:spPr bwMode="auto">
            <a:xfrm>
              <a:off x="2441975" y="5912079"/>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1" name="Text Box 29"/>
            <p:cNvSpPr txBox="1">
              <a:spLocks noChangeArrowheads="1"/>
            </p:cNvSpPr>
            <p:nvPr/>
          </p:nvSpPr>
          <p:spPr bwMode="auto">
            <a:xfrm>
              <a:off x="2746775" y="5378679"/>
              <a:ext cx="44922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smtClean="0">
                  <a:latin typeface="Times New Roman" pitchFamily="18" charset="0"/>
                  <a:cs typeface="Times New Roman" pitchFamily="18" charset="0"/>
                </a:rPr>
                <a:t>Khuôn mẫu lớp</a:t>
              </a:r>
              <a:endParaRPr lang="en-US" sz="2800" dirty="0">
                <a:latin typeface="Times New Roman" pitchFamily="18" charset="0"/>
                <a:cs typeface="Times New Roman" pitchFamily="18" charset="0"/>
              </a:endParaRPr>
            </a:p>
          </p:txBody>
        </p:sp>
        <p:sp>
          <p:nvSpPr>
            <p:cNvPr id="72" name="Text Box 30"/>
            <p:cNvSpPr txBox="1">
              <a:spLocks noChangeArrowheads="1"/>
            </p:cNvSpPr>
            <p:nvPr/>
          </p:nvSpPr>
          <p:spPr bwMode="gray">
            <a:xfrm>
              <a:off x="2028138" y="5400904"/>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smtClean="0">
                  <a:solidFill>
                    <a:schemeClr val="bg1"/>
                  </a:solidFill>
                  <a:latin typeface="Times New Roman" pitchFamily="18" charset="0"/>
                  <a:cs typeface="Times New Roman" pitchFamily="18" charset="0"/>
                </a:rPr>
                <a:t>5</a:t>
              </a:r>
              <a:endParaRPr lang="en-US" sz="2400" b="1" dirty="0">
                <a:solidFill>
                  <a:schemeClr val="bg1"/>
                </a:solidFill>
                <a:latin typeface="Times New Roman" pitchFamily="18" charset="0"/>
                <a:cs typeface="Times New Roman" pitchFamily="18" charset="0"/>
              </a:endParaRPr>
            </a:p>
          </p:txBody>
        </p:sp>
        <p:grpSp>
          <p:nvGrpSpPr>
            <p:cNvPr id="10" name="Group 17"/>
            <p:cNvGrpSpPr>
              <a:grpSpLocks/>
            </p:cNvGrpSpPr>
            <p:nvPr/>
          </p:nvGrpSpPr>
          <p:grpSpPr bwMode="auto">
            <a:xfrm>
              <a:off x="1828800" y="5323116"/>
              <a:ext cx="762000" cy="665163"/>
              <a:chOff x="1110" y="2656"/>
              <a:chExt cx="1549" cy="1351"/>
            </a:xfrm>
          </p:grpSpPr>
          <p:sp>
            <p:nvSpPr>
              <p:cNvPr id="74"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5"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6"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000" dirty="0" smtClean="0">
                    <a:solidFill>
                      <a:schemeClr val="bg1"/>
                    </a:solidFill>
                    <a:latin typeface="Times New Roman" pitchFamily="18" charset="0"/>
                    <a:cs typeface="Times New Roman" pitchFamily="18" charset="0"/>
                  </a:rPr>
                  <a:t> </a:t>
                </a:r>
                <a:r>
                  <a:rPr lang="en-US" sz="2400" dirty="0" smtClean="0">
                    <a:solidFill>
                      <a:schemeClr val="bg1"/>
                    </a:solidFill>
                    <a:latin typeface="Times New Roman" pitchFamily="18" charset="0"/>
                    <a:cs typeface="Times New Roman" pitchFamily="18" charset="0"/>
                  </a:rPr>
                  <a:t>5</a:t>
                </a:r>
                <a:endParaRPr lang="en-US" sz="2400" dirty="0">
                  <a:solidFill>
                    <a:schemeClr val="bg1"/>
                  </a:solidFill>
                  <a:latin typeface="Times New Roman" pitchFamily="18" charset="0"/>
                  <a:cs typeface="Times New Roman"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smtClean="0">
                <a:effectLst>
                  <a:outerShdw blurRad="38100" dist="38100" dir="2700000" algn="tl">
                    <a:srgbClr val="000000">
                      <a:alpha val="43137"/>
                    </a:srgbClr>
                  </a:outerShdw>
                </a:effectLst>
                <a:latin typeface="Arial" pitchFamily="34" charset="0"/>
                <a:cs typeface="Arial" pitchFamily="34" charset="0"/>
              </a:rPr>
              <a:t>Giới thiệu</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Autofit/>
          </a:bodyPr>
          <a:lstStyle/>
          <a:p>
            <a:pPr algn="just">
              <a:lnSpc>
                <a:spcPct val="130000"/>
              </a:lnSpc>
              <a:spcBef>
                <a:spcPts val="300"/>
              </a:spcBef>
              <a:spcAft>
                <a:spcPts val="300"/>
              </a:spcAft>
              <a:buFont typeface="Wingdings" pitchFamily="2" charset="2"/>
              <a:buChar char="v"/>
            </a:pPr>
            <a:r>
              <a:rPr lang="en-US" sz="2800" smtClean="0">
                <a:solidFill>
                  <a:schemeClr val="tx1">
                    <a:lumMod val="95000"/>
                    <a:lumOff val="5000"/>
                  </a:schemeClr>
                </a:solidFill>
                <a:latin typeface="Arial" pitchFamily="34" charset="0"/>
                <a:cs typeface="Arial" pitchFamily="34" charset="0"/>
              </a:rPr>
              <a:t>Ví dụ xét hàm hoán vị như sau:</a:t>
            </a:r>
          </a:p>
          <a:p>
            <a:pPr algn="just">
              <a:lnSpc>
                <a:spcPct val="130000"/>
              </a:lnSpc>
              <a:spcBef>
                <a:spcPts val="300"/>
              </a:spcBef>
              <a:spcAft>
                <a:spcPts val="300"/>
              </a:spcAft>
              <a:buFont typeface="Wingdings" pitchFamily="2" charset="2"/>
              <a:buChar char="v"/>
            </a:pP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en-US" sz="2800" smtClean="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en-US" sz="2800" smtClean="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en-US" sz="1400" smtClean="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smtClean="0">
                <a:solidFill>
                  <a:schemeClr val="tx1">
                    <a:lumMod val="95000"/>
                    <a:lumOff val="5000"/>
                  </a:schemeClr>
                </a:solidFill>
                <a:latin typeface="Arial" pitchFamily="34" charset="0"/>
                <a:cs typeface="Arial" pitchFamily="34" charset="0"/>
              </a:rPr>
              <a:t>Nếu </a:t>
            </a:r>
            <a:r>
              <a:rPr lang="vi-VN" sz="2800">
                <a:solidFill>
                  <a:schemeClr val="tx1">
                    <a:lumMod val="95000"/>
                    <a:lumOff val="5000"/>
                  </a:schemeClr>
                </a:solidFill>
                <a:latin typeface="Arial" pitchFamily="34" charset="0"/>
                <a:cs typeface="Arial" pitchFamily="34" charset="0"/>
              </a:rPr>
              <a:t>ta muốn thực hiện </a:t>
            </a:r>
            <a:r>
              <a:rPr lang="en-US" sz="2800" smtClean="0">
                <a:solidFill>
                  <a:schemeClr val="tx1">
                    <a:lumMod val="95000"/>
                    <a:lumOff val="5000"/>
                  </a:schemeClr>
                </a:solidFill>
                <a:latin typeface="Arial" pitchFamily="34" charset="0"/>
                <a:cs typeface="Arial" pitchFamily="34" charset="0"/>
              </a:rPr>
              <a:t>công </a:t>
            </a:r>
            <a:r>
              <a:rPr lang="vi-VN" sz="2800" smtClean="0">
                <a:solidFill>
                  <a:schemeClr val="tx1">
                    <a:lumMod val="95000"/>
                    <a:lumOff val="5000"/>
                  </a:schemeClr>
                </a:solidFill>
                <a:latin typeface="Arial" pitchFamily="34" charset="0"/>
                <a:cs typeface="Arial" pitchFamily="34" charset="0"/>
              </a:rPr>
              <a:t>việc </a:t>
            </a:r>
            <a:r>
              <a:rPr lang="vi-VN" sz="2800">
                <a:solidFill>
                  <a:schemeClr val="tx1">
                    <a:lumMod val="95000"/>
                    <a:lumOff val="5000"/>
                  </a:schemeClr>
                </a:solidFill>
                <a:latin typeface="Arial" pitchFamily="34" charset="0"/>
                <a:cs typeface="Arial" pitchFamily="34" charset="0"/>
              </a:rPr>
              <a:t>tương tự cho một kiểu dữ liệu khác, chẳng hạn </a:t>
            </a:r>
            <a:r>
              <a:rPr lang="vi-VN" sz="2800" smtClean="0">
                <a:solidFill>
                  <a:srgbClr val="0000FF"/>
                </a:solidFill>
                <a:latin typeface="Arial" pitchFamily="34" charset="0"/>
                <a:cs typeface="Arial" pitchFamily="34" charset="0"/>
              </a:rPr>
              <a:t>float</a:t>
            </a:r>
            <a:r>
              <a:rPr lang="vi-VN" sz="2800" smtClean="0">
                <a:solidFill>
                  <a:schemeClr val="tx1">
                    <a:lumMod val="95000"/>
                    <a:lumOff val="5000"/>
                  </a:schemeClr>
                </a:solidFill>
                <a:latin typeface="Arial" pitchFamily="34" charset="0"/>
                <a:cs typeface="Arial" pitchFamily="34" charset="0"/>
              </a:rPr>
              <a: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a:t>
            </a:fld>
            <a:endParaRPr lang="en-US"/>
          </a:p>
        </p:txBody>
      </p:sp>
      <p:sp>
        <p:nvSpPr>
          <p:cNvPr id="7" name="Rectangle 3"/>
          <p:cNvSpPr>
            <a:spLocks noChangeArrowheads="1"/>
          </p:cNvSpPr>
          <p:nvPr/>
        </p:nvSpPr>
        <p:spPr bwMode="auto">
          <a:xfrm>
            <a:off x="914400" y="2209800"/>
            <a:ext cx="7924800" cy="2057400"/>
          </a:xfrm>
          <a:prstGeom prst="rect">
            <a:avLst/>
          </a:prstGeom>
          <a:solidFill>
            <a:srgbClr val="CCFFFF"/>
          </a:solidFill>
          <a:ln w="9525">
            <a:noFill/>
            <a:miter lim="800000"/>
            <a:headEnd/>
            <a:tailEnd/>
          </a:ln>
        </p:spPr>
        <p:txBody>
          <a:bodyPr/>
          <a:lstStyle/>
          <a:p>
            <a:pPr marL="342900" indent="-342900">
              <a:spcBef>
                <a:spcPts val="300"/>
              </a:spcBef>
              <a:buFont typeface="Wingdings" pitchFamily="2" charset="2"/>
              <a:buNone/>
            </a:pPr>
            <a:r>
              <a:rPr lang="en-US" sz="2800" b="0">
                <a:solidFill>
                  <a:srgbClr val="0000FF"/>
                </a:solidFill>
              </a:rPr>
              <a:t>void</a:t>
            </a:r>
            <a:r>
              <a:rPr lang="en-US" sz="2800" b="0">
                <a:solidFill>
                  <a:srgbClr val="000000"/>
                </a:solidFill>
              </a:rPr>
              <a:t> </a:t>
            </a:r>
            <a:r>
              <a:rPr lang="en-US" sz="2800" b="0" smtClean="0">
                <a:solidFill>
                  <a:srgbClr val="000000"/>
                </a:solidFill>
              </a:rPr>
              <a:t>swap ( </a:t>
            </a:r>
            <a:r>
              <a:rPr lang="en-US" sz="2800" smtClean="0">
                <a:solidFill>
                  <a:srgbClr val="FF0000"/>
                </a:solidFill>
              </a:rPr>
              <a:t>int</a:t>
            </a:r>
            <a:r>
              <a:rPr lang="en-US" sz="2800">
                <a:solidFill>
                  <a:srgbClr val="FF0000"/>
                </a:solidFill>
              </a:rPr>
              <a:t>&amp;</a:t>
            </a:r>
            <a:r>
              <a:rPr lang="en-US" sz="2800" b="0">
                <a:solidFill>
                  <a:srgbClr val="000000"/>
                </a:solidFill>
              </a:rPr>
              <a:t> a, </a:t>
            </a:r>
            <a:r>
              <a:rPr lang="en-US" sz="2800">
                <a:solidFill>
                  <a:srgbClr val="FF0000"/>
                </a:solidFill>
              </a:rPr>
              <a:t>int&amp;</a:t>
            </a:r>
            <a:r>
              <a:rPr lang="en-US" sz="2800" b="0">
                <a:solidFill>
                  <a:srgbClr val="000000"/>
                </a:solidFill>
              </a:rPr>
              <a:t> b){</a:t>
            </a:r>
          </a:p>
          <a:p>
            <a:pPr marL="342900" indent="-342900">
              <a:spcBef>
                <a:spcPts val="300"/>
              </a:spcBef>
              <a:buFont typeface="Wingdings" pitchFamily="2" charset="2"/>
              <a:buNone/>
            </a:pPr>
            <a:r>
              <a:rPr lang="en-US" sz="2800" b="0">
                <a:solidFill>
                  <a:srgbClr val="000000"/>
                </a:solidFill>
              </a:rPr>
              <a:t>	</a:t>
            </a:r>
            <a:r>
              <a:rPr lang="en-US" sz="2800">
                <a:solidFill>
                  <a:srgbClr val="FF0000"/>
                </a:solidFill>
              </a:rPr>
              <a:t>int</a:t>
            </a:r>
            <a:r>
              <a:rPr lang="en-US" sz="2800" b="0">
                <a:solidFill>
                  <a:srgbClr val="FF0000"/>
                </a:solidFill>
              </a:rPr>
              <a:t> </a:t>
            </a:r>
            <a:r>
              <a:rPr lang="en-US" sz="2800" b="0">
                <a:solidFill>
                  <a:srgbClr val="000000"/>
                </a:solidFill>
              </a:rPr>
              <a:t>temp;</a:t>
            </a:r>
          </a:p>
          <a:p>
            <a:pPr marL="342900" indent="-342900">
              <a:spcBef>
                <a:spcPts val="300"/>
              </a:spcBef>
              <a:buFont typeface="Wingdings" pitchFamily="2" charset="2"/>
              <a:buNone/>
            </a:pPr>
            <a:r>
              <a:rPr lang="en-US" sz="2800" b="0">
                <a:solidFill>
                  <a:srgbClr val="000000"/>
                </a:solidFill>
              </a:rPr>
              <a:t>	temp = a; a = b; b = temp;</a:t>
            </a:r>
          </a:p>
          <a:p>
            <a:pPr marL="342900" indent="-342900">
              <a:spcBef>
                <a:spcPts val="300"/>
              </a:spcBef>
              <a:buFont typeface="Wingdings" pitchFamily="2" charset="2"/>
              <a:buNone/>
            </a:pPr>
            <a:r>
              <a:rPr lang="en-US" sz="28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 calcmode="lin" valueType="num">
                                      <p:cBhvr additive="base">
                                        <p:cTn id="1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smtClean="0">
                <a:effectLst>
                  <a:outerShdw blurRad="38100" dist="38100" dir="2700000" algn="tl">
                    <a:srgbClr val="000000">
                      <a:alpha val="43137"/>
                    </a:srgbClr>
                  </a:outerShdw>
                </a:effectLst>
                <a:latin typeface="Arial" pitchFamily="34" charset="0"/>
                <a:cs typeface="Arial" pitchFamily="34" charset="0"/>
              </a:rPr>
              <a:t>Giới thiệu</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Ví dụ khác: </a:t>
            </a:r>
            <a:r>
              <a:rPr lang="en-US" sz="2800" smtClean="0">
                <a:solidFill>
                  <a:schemeClr val="tx1">
                    <a:lumMod val="95000"/>
                    <a:lumOff val="5000"/>
                  </a:schemeClr>
                </a:solidFill>
                <a:latin typeface="Arial" pitchFamily="34" charset="0"/>
                <a:cs typeface="Arial" pitchFamily="34" charset="0"/>
              </a:rPr>
              <a:t>T</a:t>
            </a:r>
            <a:r>
              <a:rPr lang="vi-VN" sz="2800" smtClean="0">
                <a:solidFill>
                  <a:schemeClr val="tx1">
                    <a:lumMod val="95000"/>
                    <a:lumOff val="5000"/>
                  </a:schemeClr>
                </a:solidFill>
                <a:latin typeface="Arial" pitchFamily="34" charset="0"/>
                <a:cs typeface="Arial" pitchFamily="34" charset="0"/>
              </a:rPr>
              <a:t>a </a:t>
            </a:r>
            <a:r>
              <a:rPr lang="vi-VN" sz="2800">
                <a:solidFill>
                  <a:schemeClr val="tx1">
                    <a:lumMod val="95000"/>
                    <a:lumOff val="5000"/>
                  </a:schemeClr>
                </a:solidFill>
                <a:latin typeface="Arial" pitchFamily="34" charset="0"/>
                <a:cs typeface="Arial" pitchFamily="34" charset="0"/>
              </a:rPr>
              <a:t>định nghĩa một lớp biểu diễn cấu trúc ngăn xếp cho kiểu int</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a:t>
            </a:fld>
            <a:endParaRPr lang="en-US"/>
          </a:p>
        </p:txBody>
      </p:sp>
      <p:sp>
        <p:nvSpPr>
          <p:cNvPr id="7" name="Rectangle 3"/>
          <p:cNvSpPr>
            <a:spLocks noChangeArrowheads="1"/>
          </p:cNvSpPr>
          <p:nvPr/>
        </p:nvSpPr>
        <p:spPr bwMode="auto">
          <a:xfrm>
            <a:off x="914400" y="2667000"/>
            <a:ext cx="7924800" cy="3733800"/>
          </a:xfrm>
          <a:prstGeom prst="rect">
            <a:avLst/>
          </a:prstGeom>
          <a:solidFill>
            <a:srgbClr val="CCFFFF"/>
          </a:solidFill>
          <a:ln w="9525">
            <a:noFill/>
            <a:miter lim="800000"/>
            <a:headEnd/>
            <a:tailEnd/>
          </a:ln>
        </p:spPr>
        <p:txBody>
          <a:bodyPr/>
          <a:lstStyle/>
          <a:p>
            <a:pPr marL="342900" indent="-342900">
              <a:spcBef>
                <a:spcPts val="300"/>
              </a:spcBef>
              <a:buFont typeface="Wingdings" pitchFamily="2" charset="2"/>
              <a:buNone/>
            </a:pPr>
            <a:r>
              <a:rPr lang="en-US" sz="2400" b="0">
                <a:solidFill>
                  <a:srgbClr val="0000FF"/>
                </a:solidFill>
              </a:rPr>
              <a:t>class</a:t>
            </a:r>
            <a:r>
              <a:rPr lang="en-US" sz="2400" b="0">
                <a:solidFill>
                  <a:srgbClr val="000000"/>
                </a:solidFill>
              </a:rPr>
              <a:t> Stack {</a:t>
            </a:r>
          </a:p>
          <a:p>
            <a:pPr marL="342900" indent="-342900">
              <a:spcBef>
                <a:spcPts val="300"/>
              </a:spcBef>
              <a:buFont typeface="Wingdings" pitchFamily="2" charset="2"/>
              <a:buNone/>
            </a:pPr>
            <a:r>
              <a:rPr lang="en-US" sz="2400" b="0">
                <a:solidFill>
                  <a:srgbClr val="000000"/>
                </a:solidFill>
              </a:rPr>
              <a:t>	</a:t>
            </a:r>
            <a:r>
              <a:rPr lang="en-US" sz="2400" b="0">
                <a:solidFill>
                  <a:srgbClr val="0000FF"/>
                </a:solidFill>
              </a:rPr>
              <a:t>public</a:t>
            </a:r>
            <a:r>
              <a:rPr lang="en-US" sz="2400" b="0">
                <a:solidFill>
                  <a:srgbClr val="000000"/>
                </a:solidFill>
              </a:rPr>
              <a:t>:</a:t>
            </a:r>
          </a:p>
          <a:p>
            <a:pPr marL="342900" indent="-342900">
              <a:spcBef>
                <a:spcPts val="300"/>
              </a:spcBef>
              <a:buFont typeface="Wingdings" pitchFamily="2" charset="2"/>
              <a:buNone/>
            </a:pPr>
            <a:r>
              <a:rPr lang="en-US" sz="2400" b="0">
                <a:solidFill>
                  <a:srgbClr val="000000"/>
                </a:solidFill>
              </a:rPr>
              <a:t>		Stack();</a:t>
            </a:r>
          </a:p>
          <a:p>
            <a:pPr marL="342900" indent="-342900">
              <a:spcBef>
                <a:spcPts val="300"/>
              </a:spcBef>
              <a:buFont typeface="Wingdings" pitchFamily="2" charset="2"/>
              <a:buNone/>
            </a:pPr>
            <a:r>
              <a:rPr lang="en-US" sz="2400" b="0">
                <a:solidFill>
                  <a:srgbClr val="000000"/>
                </a:solidFill>
              </a:rPr>
              <a:t>		~Stack();</a:t>
            </a:r>
          </a:p>
          <a:p>
            <a:pPr marL="342900" indent="-342900">
              <a:spcBef>
                <a:spcPts val="3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a:t>
            </a:r>
            <a:r>
              <a:rPr lang="en-US" sz="2400" b="0" smtClean="0">
                <a:solidFill>
                  <a:srgbClr val="000000"/>
                </a:solidFill>
              </a:rPr>
              <a:t>push ( </a:t>
            </a:r>
            <a:r>
              <a:rPr lang="en-US" sz="2400" b="0" smtClean="0">
                <a:solidFill>
                  <a:srgbClr val="0000FF"/>
                </a:solidFill>
              </a:rPr>
              <a:t>const</a:t>
            </a:r>
            <a:r>
              <a:rPr lang="en-US" sz="2400" b="0" smtClean="0">
                <a:solidFill>
                  <a:srgbClr val="000000"/>
                </a:solidFill>
              </a:rPr>
              <a:t> </a:t>
            </a:r>
            <a:r>
              <a:rPr lang="en-US" sz="2400">
                <a:solidFill>
                  <a:srgbClr val="FF0000"/>
                </a:solidFill>
              </a:rPr>
              <a:t>int&amp;</a:t>
            </a:r>
            <a:r>
              <a:rPr lang="en-US" sz="2400" b="0">
                <a:solidFill>
                  <a:srgbClr val="000000"/>
                </a:solidFill>
              </a:rPr>
              <a:t> i);</a:t>
            </a:r>
          </a:p>
          <a:p>
            <a:pPr marL="342900" indent="-342900">
              <a:spcBef>
                <a:spcPts val="3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a:t>
            </a:r>
            <a:r>
              <a:rPr lang="en-US" sz="2400" b="0" smtClean="0">
                <a:solidFill>
                  <a:srgbClr val="000000"/>
                </a:solidFill>
              </a:rPr>
              <a:t>pop ( </a:t>
            </a:r>
            <a:r>
              <a:rPr lang="en-US" sz="2400" smtClean="0">
                <a:solidFill>
                  <a:srgbClr val="FF0000"/>
                </a:solidFill>
              </a:rPr>
              <a:t>int</a:t>
            </a:r>
            <a:r>
              <a:rPr lang="en-US" sz="2400">
                <a:solidFill>
                  <a:srgbClr val="FF0000"/>
                </a:solidFill>
              </a:rPr>
              <a:t>&amp;</a:t>
            </a:r>
            <a:r>
              <a:rPr lang="en-US" sz="2400" b="0">
                <a:solidFill>
                  <a:srgbClr val="000000"/>
                </a:solidFill>
              </a:rPr>
              <a:t> i);</a:t>
            </a:r>
          </a:p>
          <a:p>
            <a:pPr marL="342900" indent="-342900">
              <a:spcBef>
                <a:spcPts val="300"/>
              </a:spcBef>
              <a:buFont typeface="Wingdings" pitchFamily="2" charset="2"/>
              <a:buNone/>
            </a:pPr>
            <a:r>
              <a:rPr lang="en-US" sz="2400" b="0">
                <a:solidFill>
                  <a:srgbClr val="000000"/>
                </a:solidFill>
              </a:rPr>
              <a:t>		</a:t>
            </a:r>
            <a:r>
              <a:rPr lang="en-US" sz="2400" b="0">
                <a:solidFill>
                  <a:srgbClr val="0000FF"/>
                </a:solidFill>
              </a:rPr>
              <a:t>bool</a:t>
            </a:r>
            <a:r>
              <a:rPr lang="en-US" sz="2400" b="0">
                <a:solidFill>
                  <a:srgbClr val="000000"/>
                </a:solidFill>
              </a:rPr>
              <a:t> isEmpty() </a:t>
            </a:r>
            <a:r>
              <a:rPr lang="en-US" sz="2400" b="0">
                <a:solidFill>
                  <a:srgbClr val="0000FF"/>
                </a:solidFill>
              </a:rPr>
              <a:t>const</a:t>
            </a:r>
            <a:r>
              <a:rPr lang="en-US" sz="2400" b="0">
                <a:solidFill>
                  <a:srgbClr val="000000"/>
                </a:solidFill>
              </a:rPr>
              <a:t>;</a:t>
            </a:r>
          </a:p>
          <a:p>
            <a:pPr marL="342900" indent="-342900">
              <a:spcBef>
                <a:spcPts val="300"/>
              </a:spcBef>
              <a:buFont typeface="Wingdings" pitchFamily="2" charset="2"/>
              <a:buNone/>
            </a:pPr>
            <a:r>
              <a:rPr lang="en-US" sz="2400" b="0" smtClean="0">
                <a:solidFill>
                  <a:srgbClr val="000000"/>
                </a:solidFill>
              </a:rPr>
              <a:t>	//...</a:t>
            </a:r>
            <a:endParaRPr lang="en-US" sz="2400" b="0">
              <a:solidFill>
                <a:srgbClr val="000000"/>
              </a:solidFill>
            </a:endParaRPr>
          </a:p>
          <a:p>
            <a:pPr marL="342900" indent="-342900">
              <a:spcBef>
                <a:spcPts val="3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2397400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smtClean="0">
                <a:effectLst>
                  <a:outerShdw blurRad="38100" dist="38100" dir="2700000" algn="tl">
                    <a:srgbClr val="000000">
                      <a:alpha val="43137"/>
                    </a:srgbClr>
                  </a:outerShdw>
                </a:effectLst>
                <a:latin typeface="Arial" pitchFamily="34" charset="0"/>
                <a:cs typeface="Arial" pitchFamily="34" charset="0"/>
              </a:rPr>
              <a:t>Giới thiệu</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smtClean="0">
                <a:solidFill>
                  <a:schemeClr val="tx1">
                    <a:lumMod val="95000"/>
                    <a:lumOff val="5000"/>
                  </a:schemeClr>
                </a:solidFill>
                <a:latin typeface="Arial" pitchFamily="34" charset="0"/>
                <a:cs typeface="Arial" pitchFamily="34" charset="0"/>
              </a:rPr>
              <a:t>K</a:t>
            </a:r>
            <a:r>
              <a:rPr lang="vi-VN" sz="2800" smtClean="0">
                <a:solidFill>
                  <a:schemeClr val="tx1">
                    <a:lumMod val="95000"/>
                    <a:lumOff val="5000"/>
                  </a:schemeClr>
                </a:solidFill>
                <a:latin typeface="Arial" pitchFamily="34" charset="0"/>
                <a:cs typeface="Arial" pitchFamily="34" charset="0"/>
              </a:rPr>
              <a:t>hai </a:t>
            </a:r>
            <a:r>
              <a:rPr lang="vi-VN" sz="2800">
                <a:solidFill>
                  <a:schemeClr val="tx1">
                    <a:lumMod val="95000"/>
                    <a:lumOff val="5000"/>
                  </a:schemeClr>
                </a:solidFill>
                <a:latin typeface="Arial" pitchFamily="34" charset="0"/>
                <a:cs typeface="Arial" pitchFamily="34" charset="0"/>
              </a:rPr>
              <a:t>báo và định nghĩa của Stack </a:t>
            </a:r>
            <a:r>
              <a:rPr lang="vi-VN" sz="2800">
                <a:solidFill>
                  <a:srgbClr val="0000FF"/>
                </a:solidFill>
                <a:latin typeface="Arial" pitchFamily="34" charset="0"/>
                <a:cs typeface="Arial" pitchFamily="34" charset="0"/>
              </a:rPr>
              <a:t>phụ thuộc </a:t>
            </a:r>
            <a:r>
              <a:rPr lang="vi-VN" sz="2800">
                <a:solidFill>
                  <a:schemeClr val="tx1">
                    <a:lumMod val="95000"/>
                    <a:lumOff val="5000"/>
                  </a:schemeClr>
                </a:solidFill>
                <a:latin typeface="Arial" pitchFamily="34" charset="0"/>
                <a:cs typeface="Arial" pitchFamily="34" charset="0"/>
              </a:rPr>
              <a:t>tại một mức độ nào đó vào </a:t>
            </a:r>
            <a:r>
              <a:rPr lang="vi-VN" sz="2800">
                <a:solidFill>
                  <a:srgbClr val="0066FF"/>
                </a:solidFill>
                <a:latin typeface="Arial" pitchFamily="34" charset="0"/>
                <a:cs typeface="Arial" pitchFamily="34" charset="0"/>
              </a:rPr>
              <a:t>kiểu dữ liệu </a:t>
            </a:r>
            <a:r>
              <a:rPr lang="vi-VN" sz="2800" smtClean="0">
                <a:solidFill>
                  <a:srgbClr val="0066FF"/>
                </a:solidFill>
                <a:latin typeface="Arial" pitchFamily="34" charset="0"/>
                <a:cs typeface="Arial" pitchFamily="34" charset="0"/>
              </a:rPr>
              <a:t>int</a:t>
            </a:r>
            <a:r>
              <a:rPr lang="en-US" sz="2800" smtClean="0">
                <a:solidFill>
                  <a:srgbClr val="0066FF"/>
                </a:solidFill>
                <a:latin typeface="Arial" pitchFamily="34" charset="0"/>
                <a:cs typeface="Arial" pitchFamily="34" charset="0"/>
              </a:rPr>
              <a:t>.</a:t>
            </a:r>
            <a:endParaRPr lang="vi-VN" sz="2800">
              <a:solidFill>
                <a:srgbClr val="0066FF"/>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Một số phương thức lấy tham số và trả về kiểu </a:t>
            </a:r>
            <a:r>
              <a:rPr lang="vi-VN" sz="2400">
                <a:solidFill>
                  <a:srgbClr val="0066FF"/>
                </a:solidFill>
                <a:latin typeface="Arial" pitchFamily="34" charset="0"/>
                <a:cs typeface="Arial" pitchFamily="34" charset="0"/>
              </a:rPr>
              <a:t>int</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Nếu ta muốn tạo ngăn xếp cho một kiểu dữ liệu khác thì sao?</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Ta có nên định nghĩa lại hoàn toàn lớp Stack (kết quả sẽ tạo ra nhiều lớp chẳng hạn </a:t>
            </a:r>
            <a:r>
              <a:rPr lang="vi-VN" sz="2400">
                <a:solidFill>
                  <a:srgbClr val="FF0000"/>
                </a:solidFill>
                <a:latin typeface="Arial" pitchFamily="34" charset="0"/>
                <a:cs typeface="Arial" pitchFamily="34" charset="0"/>
              </a:rPr>
              <a:t>IntStack</a:t>
            </a:r>
            <a:r>
              <a:rPr lang="vi-VN" sz="2400">
                <a:solidFill>
                  <a:schemeClr val="tx1">
                    <a:lumMod val="95000"/>
                    <a:lumOff val="5000"/>
                  </a:schemeClr>
                </a:solidFill>
                <a:latin typeface="Arial" pitchFamily="34" charset="0"/>
                <a:cs typeface="Arial" pitchFamily="34" charset="0"/>
              </a:rPr>
              <a:t>, </a:t>
            </a:r>
            <a:r>
              <a:rPr lang="vi-VN" sz="2400">
                <a:solidFill>
                  <a:srgbClr val="FF0000"/>
                </a:solidFill>
                <a:latin typeface="Arial" pitchFamily="34" charset="0"/>
                <a:cs typeface="Arial" pitchFamily="34" charset="0"/>
              </a:rPr>
              <a:t>FloatStack</a:t>
            </a:r>
            <a:r>
              <a:rPr lang="vi-VN" sz="2400" smtClean="0">
                <a:solidFill>
                  <a:schemeClr val="tx1">
                    <a:lumMod val="95000"/>
                    <a:lumOff val="5000"/>
                  </a:schemeClr>
                </a:solidFill>
                <a:latin typeface="Arial" pitchFamily="34" charset="0"/>
                <a:cs typeface="Arial" pitchFamily="34" charset="0"/>
              </a:rPr>
              <a:t>,…) </a:t>
            </a:r>
            <a:r>
              <a:rPr lang="vi-VN" sz="2400">
                <a:solidFill>
                  <a:schemeClr val="tx1">
                    <a:lumMod val="95000"/>
                    <a:lumOff val="5000"/>
                  </a:schemeClr>
                </a:solidFill>
                <a:latin typeface="Arial" pitchFamily="34" charset="0"/>
                <a:cs typeface="Arial" pitchFamily="34" charset="0"/>
              </a:rPr>
              <a:t>hay không?</a:t>
            </a:r>
            <a:endParaRPr lang="vi-VN" sz="24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smtClean="0">
                <a:effectLst>
                  <a:outerShdw blurRad="38100" dist="38100" dir="2700000" algn="tl">
                    <a:srgbClr val="000000">
                      <a:alpha val="43137"/>
                    </a:srgbClr>
                  </a:outerShdw>
                </a:effectLst>
                <a:latin typeface="Arial" pitchFamily="34" charset="0"/>
                <a:cs typeface="Arial" pitchFamily="34" charset="0"/>
              </a:rPr>
              <a:t>Lập trình tổng quát</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Autofit/>
          </a:bodyPr>
          <a:lstStyle/>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Lập trình tổng quát </a:t>
            </a:r>
            <a:r>
              <a:rPr lang="vi-VN" sz="2800">
                <a:solidFill>
                  <a:schemeClr val="tx1">
                    <a:lumMod val="95000"/>
                    <a:lumOff val="5000"/>
                  </a:schemeClr>
                </a:solidFill>
                <a:latin typeface="Arial" pitchFamily="34" charset="0"/>
                <a:cs typeface="Arial" pitchFamily="34" charset="0"/>
              </a:rPr>
              <a:t>là phương pháp lập trình </a:t>
            </a:r>
            <a:r>
              <a:rPr lang="vi-VN" sz="2800">
                <a:solidFill>
                  <a:srgbClr val="FF0000"/>
                </a:solidFill>
                <a:latin typeface="Arial" pitchFamily="34" charset="0"/>
                <a:cs typeface="Arial" pitchFamily="34" charset="0"/>
              </a:rPr>
              <a:t>độc lập </a:t>
            </a:r>
            <a:r>
              <a:rPr lang="vi-VN" sz="2800">
                <a:solidFill>
                  <a:schemeClr val="tx1">
                    <a:lumMod val="95000"/>
                    <a:lumOff val="5000"/>
                  </a:schemeClr>
                </a:solidFill>
                <a:latin typeface="Arial" pitchFamily="34" charset="0"/>
                <a:cs typeface="Arial" pitchFamily="34" charset="0"/>
              </a:rPr>
              <a:t>với chi tiết biểu diễn dữ </a:t>
            </a:r>
            <a:r>
              <a:rPr lang="vi-VN" sz="2800" smtClean="0">
                <a:solidFill>
                  <a:schemeClr val="tx1">
                    <a:lumMod val="95000"/>
                    <a:lumOff val="5000"/>
                  </a:schemeClr>
                </a:solidFill>
                <a:latin typeface="Arial" pitchFamily="34" charset="0"/>
                <a:cs typeface="Arial" pitchFamily="34" charset="0"/>
              </a:rPr>
              <a:t>liệu</a:t>
            </a:r>
            <a:r>
              <a:rPr lang="en-US" sz="2800" smtClean="0">
                <a:solidFill>
                  <a:schemeClr val="tx1">
                    <a:lumMod val="95000"/>
                    <a:lumOff val="5000"/>
                  </a:schemeClr>
                </a:solidFill>
                <a:latin typeface="Arial" pitchFamily="34" charset="0"/>
                <a:cs typeface="Arial" pitchFamily="34" charset="0"/>
              </a:rPr>
              <a:t>.</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Tư tưởng là ta định nghĩa một khái niệm không phụ thuộc một biểu diễn cụ thể nào, và sau đó mới chỉ ra kiểu dữ liệu thích hợp làm tham số</a:t>
            </a:r>
            <a:r>
              <a:rPr lang="en-US" sz="2400" smtClean="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Như vậy trong một số trường hợp, đưa chi tiết về kiểu dữ liệu vào trong định nghĩa hàm hoặc lớp là điều không có </a:t>
            </a:r>
            <a:r>
              <a:rPr lang="vi-VN" sz="2800" smtClean="0">
                <a:solidFill>
                  <a:schemeClr val="tx1">
                    <a:lumMod val="95000"/>
                    <a:lumOff val="5000"/>
                  </a:schemeClr>
                </a:solidFill>
                <a:latin typeface="Arial" pitchFamily="34" charset="0"/>
                <a:cs typeface="Arial" pitchFamily="34" charset="0"/>
              </a:rPr>
              <a:t>lợi</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a:t>
            </a:fld>
            <a:endParaRPr lang="en-US"/>
          </a:p>
        </p:txBody>
      </p:sp>
    </p:spTree>
    <p:extLst>
      <p:ext uri="{BB962C8B-B14F-4D97-AF65-F5344CB8AC3E}">
        <p14:creationId xmlns:p14="http://schemas.microsoft.com/office/powerpoint/2010/main" val="3914231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Lập trình tổng </a:t>
            </a:r>
            <a:r>
              <a:rPr lang="en-US" b="1" smtClean="0">
                <a:effectLst>
                  <a:outerShdw blurRad="38100" dist="38100" dir="2700000" algn="tl">
                    <a:srgbClr val="000000">
                      <a:alpha val="43137"/>
                    </a:srgbClr>
                  </a:outerShdw>
                </a:effectLst>
                <a:latin typeface="Arial" pitchFamily="34" charset="0"/>
                <a:cs typeface="Arial" pitchFamily="34" charset="0"/>
              </a:rPr>
              <a:t>quát trong C</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Sử dụng </a:t>
            </a:r>
            <a:r>
              <a:rPr lang="vi-VN" sz="2800">
                <a:solidFill>
                  <a:srgbClr val="0066FF"/>
                </a:solidFill>
                <a:latin typeface="Arial" pitchFamily="34" charset="0"/>
                <a:cs typeface="Arial" pitchFamily="34" charset="0"/>
              </a:rPr>
              <a:t>trình tiền xử lý của C</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Trình tiền xử lý thực hiện thay thế text trước khi dịch</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Do đó, ta có thể dùng </a:t>
            </a:r>
            <a:r>
              <a:rPr lang="vi-VN" sz="2400">
                <a:solidFill>
                  <a:srgbClr val="0000FF"/>
                </a:solidFill>
                <a:latin typeface="Arial" pitchFamily="34" charset="0"/>
                <a:cs typeface="Arial" pitchFamily="34" charset="0"/>
              </a:rPr>
              <a:t>#define </a:t>
            </a:r>
            <a:r>
              <a:rPr lang="vi-VN" sz="2400">
                <a:solidFill>
                  <a:schemeClr val="tx1">
                    <a:lumMod val="95000"/>
                    <a:lumOff val="5000"/>
                  </a:schemeClr>
                </a:solidFill>
                <a:latin typeface="Arial" pitchFamily="34" charset="0"/>
                <a:cs typeface="Arial" pitchFamily="34" charset="0"/>
              </a:rPr>
              <a:t>để chỉ ra kiểu dữ liệu và thay đổi tại chỗ khi </a:t>
            </a:r>
            <a:r>
              <a:rPr lang="vi-VN" sz="2400" smtClean="0">
                <a:solidFill>
                  <a:schemeClr val="tx1">
                    <a:lumMod val="95000"/>
                    <a:lumOff val="5000"/>
                  </a:schemeClr>
                </a:solidFill>
                <a:latin typeface="Arial" pitchFamily="34" charset="0"/>
                <a:cs typeface="Arial" pitchFamily="34" charset="0"/>
              </a:rPr>
              <a:t>cần</a:t>
            </a:r>
            <a:r>
              <a:rPr lang="en-US" sz="2400" smtClean="0">
                <a:solidFill>
                  <a:schemeClr val="tx1">
                    <a:lumMod val="95000"/>
                    <a:lumOff val="5000"/>
                  </a:schemeClr>
                </a:solidFill>
                <a:latin typeface="Arial" pitchFamily="34" charset="0"/>
                <a:cs typeface="Arial" pitchFamily="34" charset="0"/>
              </a:rPr>
              <a:t>.</a:t>
            </a:r>
            <a:endParaRPr lang="vi-VN" sz="24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a:t>
            </a:fld>
            <a:endParaRPr lang="en-US"/>
          </a:p>
        </p:txBody>
      </p:sp>
      <p:sp>
        <p:nvSpPr>
          <p:cNvPr id="7" name="Rectangle 3"/>
          <p:cNvSpPr>
            <a:spLocks noChangeArrowheads="1"/>
          </p:cNvSpPr>
          <p:nvPr/>
        </p:nvSpPr>
        <p:spPr bwMode="auto">
          <a:xfrm>
            <a:off x="1295400" y="3733800"/>
            <a:ext cx="7467600" cy="2590800"/>
          </a:xfrm>
          <a:prstGeom prst="rect">
            <a:avLst/>
          </a:prstGeom>
          <a:solidFill>
            <a:srgbClr val="CCFFFF"/>
          </a:solidFill>
          <a:ln w="9525">
            <a:noFill/>
            <a:miter lim="800000"/>
            <a:headEnd/>
            <a:tailEnd/>
          </a:ln>
        </p:spPr>
        <p:txBody>
          <a:bodyPr/>
          <a:lstStyle/>
          <a:p>
            <a:pPr marL="342900" indent="-342900">
              <a:lnSpc>
                <a:spcPct val="120000"/>
              </a:lnSpc>
              <a:spcBef>
                <a:spcPts val="300"/>
              </a:spcBef>
              <a:buFont typeface="Wingdings" pitchFamily="2" charset="2"/>
              <a:buNone/>
            </a:pPr>
            <a:r>
              <a:rPr lang="en-US" sz="2400" b="0">
                <a:solidFill>
                  <a:srgbClr val="0000FF"/>
                </a:solidFill>
              </a:rPr>
              <a:t>#define </a:t>
            </a:r>
            <a:r>
              <a:rPr lang="en-US" sz="2400">
                <a:solidFill>
                  <a:srgbClr val="FF3300"/>
                </a:solidFill>
              </a:rPr>
              <a:t>TYPE </a:t>
            </a:r>
            <a:r>
              <a:rPr lang="en-US" sz="2400" smtClean="0">
                <a:solidFill>
                  <a:srgbClr val="FF3300"/>
                </a:solidFill>
              </a:rPr>
              <a:t> int</a:t>
            </a:r>
            <a:endParaRPr lang="en-US" sz="2400">
              <a:solidFill>
                <a:srgbClr val="FF3300"/>
              </a:solidFill>
            </a:endParaRPr>
          </a:p>
          <a:p>
            <a:pPr marL="342900" indent="-342900">
              <a:lnSpc>
                <a:spcPct val="120000"/>
              </a:lnSpc>
              <a:spcBef>
                <a:spcPts val="300"/>
              </a:spcBef>
              <a:buFont typeface="Wingdings" pitchFamily="2" charset="2"/>
              <a:buNone/>
            </a:pPr>
            <a:r>
              <a:rPr lang="en-US" sz="2400" b="0">
                <a:solidFill>
                  <a:srgbClr val="0000FF"/>
                </a:solidFill>
              </a:rPr>
              <a:t>void</a:t>
            </a:r>
            <a:r>
              <a:rPr lang="en-US" sz="2400" b="0">
                <a:solidFill>
                  <a:srgbClr val="000000"/>
                </a:solidFill>
              </a:rPr>
              <a:t> swap(</a:t>
            </a:r>
            <a:r>
              <a:rPr lang="en-US" sz="2400">
                <a:solidFill>
                  <a:srgbClr val="FF3300"/>
                </a:solidFill>
              </a:rPr>
              <a:t>TYPE</a:t>
            </a:r>
            <a:r>
              <a:rPr lang="en-US" sz="2400" b="0">
                <a:solidFill>
                  <a:srgbClr val="000000"/>
                </a:solidFill>
              </a:rPr>
              <a:t> &amp; a, </a:t>
            </a:r>
            <a:r>
              <a:rPr lang="en-US" sz="2400">
                <a:solidFill>
                  <a:srgbClr val="FF3300"/>
                </a:solidFill>
              </a:rPr>
              <a:t>TYPE</a:t>
            </a:r>
            <a:r>
              <a:rPr lang="en-US" sz="2400" b="0">
                <a:solidFill>
                  <a:srgbClr val="000000"/>
                </a:solidFill>
              </a:rPr>
              <a:t> &amp; b) {</a:t>
            </a:r>
          </a:p>
          <a:p>
            <a:pPr marL="342900" indent="-342900">
              <a:lnSpc>
                <a:spcPct val="120000"/>
              </a:lnSpc>
              <a:spcBef>
                <a:spcPts val="300"/>
              </a:spcBef>
              <a:buFont typeface="Wingdings" pitchFamily="2" charset="2"/>
              <a:buNone/>
            </a:pPr>
            <a:r>
              <a:rPr lang="en-US" sz="2400" b="0">
                <a:solidFill>
                  <a:srgbClr val="000000"/>
                </a:solidFill>
              </a:rPr>
              <a:t>		</a:t>
            </a:r>
            <a:r>
              <a:rPr lang="en-US" sz="2400">
                <a:solidFill>
                  <a:srgbClr val="FF3300"/>
                </a:solidFill>
              </a:rPr>
              <a:t>TYPE</a:t>
            </a:r>
            <a:r>
              <a:rPr lang="en-US" sz="2400" b="0">
                <a:solidFill>
                  <a:srgbClr val="000000"/>
                </a:solidFill>
              </a:rPr>
              <a:t> temp;</a:t>
            </a:r>
          </a:p>
          <a:p>
            <a:pPr marL="342900" indent="-342900">
              <a:lnSpc>
                <a:spcPct val="120000"/>
              </a:lnSpc>
              <a:spcBef>
                <a:spcPts val="300"/>
              </a:spcBef>
              <a:buFont typeface="Wingdings" pitchFamily="2" charset="2"/>
              <a:buNone/>
            </a:pPr>
            <a:r>
              <a:rPr lang="en-US" sz="2400" b="0">
                <a:solidFill>
                  <a:srgbClr val="000000"/>
                </a:solidFill>
              </a:rPr>
              <a:t>		temp = a; a = b; b = temp;</a:t>
            </a:r>
          </a:p>
          <a:p>
            <a:pPr marL="342900" indent="-342900">
              <a:lnSpc>
                <a:spcPct val="120000"/>
              </a:lnSpc>
              <a:spcBef>
                <a:spcPts val="3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2303096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Lập trình tổng </a:t>
            </a:r>
            <a:r>
              <a:rPr lang="en-US" b="1" smtClean="0">
                <a:effectLst>
                  <a:outerShdw blurRad="38100" dist="38100" dir="2700000" algn="tl">
                    <a:srgbClr val="000000">
                      <a:alpha val="43137"/>
                    </a:srgbClr>
                  </a:outerShdw>
                </a:effectLst>
                <a:latin typeface="Arial" pitchFamily="34" charset="0"/>
                <a:cs typeface="Arial" pitchFamily="34" charset="0"/>
              </a:rPr>
              <a:t>quát trong C</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endParaRPr lang="en-US" sz="2800" smtClean="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en-US" sz="2800" smtClean="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smtClean="0">
                <a:solidFill>
                  <a:schemeClr val="tx1">
                    <a:lumMod val="95000"/>
                    <a:lumOff val="5000"/>
                  </a:schemeClr>
                </a:solidFill>
                <a:latin typeface="Arial" pitchFamily="34" charset="0"/>
                <a:cs typeface="Arial" pitchFamily="34" charset="0"/>
              </a:rPr>
              <a:t>Sử </a:t>
            </a:r>
            <a:r>
              <a:rPr lang="vi-VN" sz="2800">
                <a:solidFill>
                  <a:schemeClr val="tx1">
                    <a:lumMod val="95000"/>
                    <a:lumOff val="5000"/>
                  </a:schemeClr>
                </a:solidFill>
                <a:latin typeface="Arial" pitchFamily="34" charset="0"/>
                <a:cs typeface="Arial" pitchFamily="34" charset="0"/>
              </a:rPr>
              <a:t>dụng </a:t>
            </a:r>
            <a:r>
              <a:rPr lang="vi-VN" sz="2800">
                <a:solidFill>
                  <a:srgbClr val="0066FF"/>
                </a:solidFill>
                <a:latin typeface="Arial" pitchFamily="34" charset="0"/>
                <a:cs typeface="Arial" pitchFamily="34" charset="0"/>
              </a:rPr>
              <a:t>trình tiền xử lý của C</a:t>
            </a:r>
          </a:p>
          <a:p>
            <a:pPr lvl="1" algn="just">
              <a:lnSpc>
                <a:spcPct val="130000"/>
              </a:lnSpc>
              <a:spcBef>
                <a:spcPts val="300"/>
              </a:spcBef>
              <a:spcAft>
                <a:spcPts val="300"/>
              </a:spcAft>
              <a:buFont typeface="Wingdings" pitchFamily="2" charset="2"/>
              <a:buChar char="v"/>
            </a:pPr>
            <a:r>
              <a:rPr lang="en-US" sz="2400" smtClean="0">
                <a:solidFill>
                  <a:schemeClr val="tx1">
                    <a:lumMod val="95000"/>
                    <a:lumOff val="5000"/>
                  </a:schemeClr>
                </a:solidFill>
                <a:latin typeface="Arial" pitchFamily="34" charset="0"/>
                <a:cs typeface="Arial" pitchFamily="34" charset="0"/>
              </a:rPr>
              <a:t>N</a:t>
            </a:r>
            <a:r>
              <a:rPr lang="vi-VN" sz="2400" smtClean="0">
                <a:solidFill>
                  <a:schemeClr val="tx1">
                    <a:lumMod val="95000"/>
                    <a:lumOff val="5000"/>
                  </a:schemeClr>
                </a:solidFill>
                <a:latin typeface="Arial" pitchFamily="34" charset="0"/>
                <a:cs typeface="Arial" pitchFamily="34" charset="0"/>
              </a:rPr>
              <a:t>hàm </a:t>
            </a:r>
            <a:r>
              <a:rPr lang="vi-VN" sz="2400">
                <a:solidFill>
                  <a:schemeClr val="tx1">
                    <a:lumMod val="95000"/>
                    <a:lumOff val="5000"/>
                  </a:schemeClr>
                </a:solidFill>
                <a:latin typeface="Arial" pitchFamily="34" charset="0"/>
                <a:cs typeface="Arial" pitchFamily="34" charset="0"/>
              </a:rPr>
              <a:t>chán và dễ lỗi</a:t>
            </a:r>
          </a:p>
          <a:p>
            <a:pPr lvl="1" algn="just">
              <a:lnSpc>
                <a:spcPct val="130000"/>
              </a:lnSpc>
              <a:spcBef>
                <a:spcPts val="300"/>
              </a:spcBef>
              <a:spcAft>
                <a:spcPts val="300"/>
              </a:spcAft>
              <a:buFont typeface="Wingdings" pitchFamily="2" charset="2"/>
              <a:buChar char="v"/>
            </a:pPr>
            <a:r>
              <a:rPr lang="en-US" sz="2400" smtClean="0">
                <a:solidFill>
                  <a:schemeClr val="tx1">
                    <a:lumMod val="95000"/>
                    <a:lumOff val="5000"/>
                  </a:schemeClr>
                </a:solidFill>
                <a:latin typeface="Arial" pitchFamily="34" charset="0"/>
                <a:cs typeface="Arial" pitchFamily="34" charset="0"/>
              </a:rPr>
              <a:t>C</a:t>
            </a:r>
            <a:r>
              <a:rPr lang="vi-VN" sz="2400" smtClean="0">
                <a:solidFill>
                  <a:schemeClr val="tx1">
                    <a:lumMod val="95000"/>
                    <a:lumOff val="5000"/>
                  </a:schemeClr>
                </a:solidFill>
                <a:latin typeface="Arial" pitchFamily="34" charset="0"/>
                <a:cs typeface="Arial" pitchFamily="34" charset="0"/>
              </a:rPr>
              <a:t>hỉ </a:t>
            </a:r>
            <a:r>
              <a:rPr lang="vi-VN" sz="2400">
                <a:solidFill>
                  <a:schemeClr val="tx1">
                    <a:lumMod val="95000"/>
                    <a:lumOff val="5000"/>
                  </a:schemeClr>
                </a:solidFill>
                <a:latin typeface="Arial" pitchFamily="34" charset="0"/>
                <a:cs typeface="Arial" pitchFamily="34" charset="0"/>
              </a:rPr>
              <a:t>cho phép đúng một định nghĩa trong một chương </a:t>
            </a:r>
            <a:r>
              <a:rPr lang="vi-VN" sz="2400" smtClean="0">
                <a:solidFill>
                  <a:schemeClr val="tx1">
                    <a:lumMod val="95000"/>
                    <a:lumOff val="5000"/>
                  </a:schemeClr>
                </a:solidFill>
                <a:latin typeface="Arial" pitchFamily="34" charset="0"/>
                <a:cs typeface="Arial" pitchFamily="34" charset="0"/>
              </a:rPr>
              <a:t>trình</a:t>
            </a:r>
            <a:r>
              <a:rPr lang="en-US" sz="2400" smtClean="0">
                <a:solidFill>
                  <a:schemeClr val="tx1">
                    <a:lumMod val="95000"/>
                    <a:lumOff val="5000"/>
                  </a:schemeClr>
                </a:solidFill>
                <a:latin typeface="Arial" pitchFamily="34" charset="0"/>
                <a:cs typeface="Arial" pitchFamily="34" charset="0"/>
              </a:rPr>
              <a: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8</a:t>
            </a:fld>
            <a:endParaRPr lang="en-US"/>
          </a:p>
        </p:txBody>
      </p:sp>
      <p:sp>
        <p:nvSpPr>
          <p:cNvPr id="7" name="Rectangle 3"/>
          <p:cNvSpPr>
            <a:spLocks noChangeArrowheads="1"/>
          </p:cNvSpPr>
          <p:nvPr/>
        </p:nvSpPr>
        <p:spPr bwMode="auto">
          <a:xfrm>
            <a:off x="762000" y="1447800"/>
            <a:ext cx="7924800" cy="2590800"/>
          </a:xfrm>
          <a:prstGeom prst="rect">
            <a:avLst/>
          </a:prstGeom>
          <a:solidFill>
            <a:srgbClr val="CCFFFF"/>
          </a:solidFill>
          <a:ln w="9525">
            <a:noFill/>
            <a:miter lim="800000"/>
            <a:headEnd/>
            <a:tailEnd/>
          </a:ln>
        </p:spPr>
        <p:txBody>
          <a:bodyPr/>
          <a:lstStyle/>
          <a:p>
            <a:pPr marL="342900" indent="-342900">
              <a:lnSpc>
                <a:spcPct val="120000"/>
              </a:lnSpc>
              <a:spcBef>
                <a:spcPts val="300"/>
              </a:spcBef>
              <a:buFont typeface="Wingdings" pitchFamily="2" charset="2"/>
              <a:buNone/>
            </a:pPr>
            <a:r>
              <a:rPr lang="en-US" sz="2400" b="0">
                <a:solidFill>
                  <a:srgbClr val="0000FF"/>
                </a:solidFill>
              </a:rPr>
              <a:t>#define </a:t>
            </a:r>
            <a:r>
              <a:rPr lang="en-US" sz="2400">
                <a:solidFill>
                  <a:srgbClr val="FF3300"/>
                </a:solidFill>
              </a:rPr>
              <a:t>TYPE </a:t>
            </a:r>
            <a:r>
              <a:rPr lang="en-US" sz="2400" smtClean="0">
                <a:solidFill>
                  <a:srgbClr val="FF3300"/>
                </a:solidFill>
              </a:rPr>
              <a:t> int</a:t>
            </a:r>
            <a:endParaRPr lang="en-US" sz="2400">
              <a:solidFill>
                <a:srgbClr val="FF3300"/>
              </a:solidFill>
            </a:endParaRPr>
          </a:p>
          <a:p>
            <a:pPr marL="342900" indent="-342900">
              <a:lnSpc>
                <a:spcPct val="120000"/>
              </a:lnSpc>
              <a:spcBef>
                <a:spcPts val="300"/>
              </a:spcBef>
              <a:buFont typeface="Wingdings" pitchFamily="2" charset="2"/>
              <a:buNone/>
            </a:pPr>
            <a:r>
              <a:rPr lang="en-US" sz="2400" b="0">
                <a:solidFill>
                  <a:srgbClr val="0000FF"/>
                </a:solidFill>
              </a:rPr>
              <a:t>void</a:t>
            </a:r>
            <a:r>
              <a:rPr lang="en-US" sz="2400" b="0">
                <a:solidFill>
                  <a:srgbClr val="000000"/>
                </a:solidFill>
              </a:rPr>
              <a:t> swap(</a:t>
            </a:r>
            <a:r>
              <a:rPr lang="en-US" sz="2400">
                <a:solidFill>
                  <a:srgbClr val="FF3300"/>
                </a:solidFill>
              </a:rPr>
              <a:t>TYPE</a:t>
            </a:r>
            <a:r>
              <a:rPr lang="en-US" sz="2400" b="0">
                <a:solidFill>
                  <a:srgbClr val="000000"/>
                </a:solidFill>
              </a:rPr>
              <a:t> &amp; a, </a:t>
            </a:r>
            <a:r>
              <a:rPr lang="en-US" sz="2400">
                <a:solidFill>
                  <a:srgbClr val="FF3300"/>
                </a:solidFill>
              </a:rPr>
              <a:t>TYPE</a:t>
            </a:r>
            <a:r>
              <a:rPr lang="en-US" sz="2400" b="0">
                <a:solidFill>
                  <a:srgbClr val="000000"/>
                </a:solidFill>
              </a:rPr>
              <a:t> &amp; b) {</a:t>
            </a:r>
          </a:p>
          <a:p>
            <a:pPr marL="342900" indent="-342900">
              <a:lnSpc>
                <a:spcPct val="120000"/>
              </a:lnSpc>
              <a:spcBef>
                <a:spcPts val="300"/>
              </a:spcBef>
              <a:buFont typeface="Wingdings" pitchFamily="2" charset="2"/>
              <a:buNone/>
            </a:pPr>
            <a:r>
              <a:rPr lang="en-US" sz="2400" b="0">
                <a:solidFill>
                  <a:srgbClr val="000000"/>
                </a:solidFill>
              </a:rPr>
              <a:t>		</a:t>
            </a:r>
            <a:r>
              <a:rPr lang="en-US" sz="2400">
                <a:solidFill>
                  <a:srgbClr val="FF3300"/>
                </a:solidFill>
              </a:rPr>
              <a:t>TYPE</a:t>
            </a:r>
            <a:r>
              <a:rPr lang="en-US" sz="2400" b="0">
                <a:solidFill>
                  <a:srgbClr val="000000"/>
                </a:solidFill>
              </a:rPr>
              <a:t> temp;</a:t>
            </a:r>
          </a:p>
          <a:p>
            <a:pPr marL="342900" indent="-342900">
              <a:lnSpc>
                <a:spcPct val="120000"/>
              </a:lnSpc>
              <a:spcBef>
                <a:spcPts val="300"/>
              </a:spcBef>
              <a:buFont typeface="Wingdings" pitchFamily="2" charset="2"/>
              <a:buNone/>
            </a:pPr>
            <a:r>
              <a:rPr lang="en-US" sz="2400" b="0">
                <a:solidFill>
                  <a:srgbClr val="000000"/>
                </a:solidFill>
              </a:rPr>
              <a:t>		temp = a; a = b; b = temp;</a:t>
            </a:r>
          </a:p>
          <a:p>
            <a:pPr marL="342900" indent="-342900">
              <a:lnSpc>
                <a:spcPct val="120000"/>
              </a:lnSpc>
              <a:spcBef>
                <a:spcPts val="3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756004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 </a:t>
            </a:r>
            <a:r>
              <a:rPr lang="en-US" b="1" smtClean="0">
                <a:effectLst>
                  <a:outerShdw blurRad="38100" dist="38100" dir="2700000" algn="tl">
                    <a:srgbClr val="000000">
                      <a:alpha val="43137"/>
                    </a:srgbClr>
                  </a:outerShdw>
                </a:effectLst>
                <a:latin typeface="Arial" pitchFamily="34" charset="0"/>
                <a:cs typeface="Arial" pitchFamily="34" charset="0"/>
              </a:rPr>
              <a:t>Template</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Autofit/>
          </a:bodyPr>
          <a:lstStyle/>
          <a:p>
            <a:pPr algn="just">
              <a:lnSpc>
                <a:spcPct val="130000"/>
              </a:lnSpc>
              <a:spcBef>
                <a:spcPts val="300"/>
              </a:spcBef>
              <a:spcAft>
                <a:spcPts val="300"/>
              </a:spcAft>
              <a:buFont typeface="Wingdings" pitchFamily="2" charset="2"/>
              <a:buChar char="v"/>
            </a:pPr>
            <a:r>
              <a:rPr lang="vi-VN" sz="2800">
                <a:solidFill>
                  <a:srgbClr val="0000FF"/>
                </a:solidFill>
                <a:latin typeface="Arial" pitchFamily="34" charset="0"/>
                <a:cs typeface="Arial" pitchFamily="34" charset="0"/>
              </a:rPr>
              <a:t>Template (khuôn mẫu)</a:t>
            </a:r>
            <a:r>
              <a:rPr lang="vi-VN" sz="2800">
                <a:solidFill>
                  <a:schemeClr val="tx1">
                    <a:lumMod val="95000"/>
                    <a:lumOff val="5000"/>
                  </a:schemeClr>
                </a:solidFill>
                <a:latin typeface="Arial" pitchFamily="34" charset="0"/>
                <a:cs typeface="Arial" pitchFamily="34" charset="0"/>
              </a:rPr>
              <a:t> là một cơ chế thay thế </a:t>
            </a:r>
            <a:r>
              <a:rPr lang="vi-VN" sz="2800" smtClean="0">
                <a:solidFill>
                  <a:schemeClr val="tx1">
                    <a:lumMod val="95000"/>
                    <a:lumOff val="5000"/>
                  </a:schemeClr>
                </a:solidFill>
                <a:latin typeface="Arial" pitchFamily="34" charset="0"/>
                <a:cs typeface="Arial" pitchFamily="34" charset="0"/>
              </a:rPr>
              <a:t>cho </a:t>
            </a:r>
            <a:r>
              <a:rPr lang="vi-VN" sz="2800">
                <a:solidFill>
                  <a:schemeClr val="tx1">
                    <a:lumMod val="95000"/>
                    <a:lumOff val="5000"/>
                  </a:schemeClr>
                </a:solidFill>
                <a:latin typeface="Arial" pitchFamily="34" charset="0"/>
                <a:cs typeface="Arial" pitchFamily="34" charset="0"/>
              </a:rPr>
              <a:t>phép tạo các cấu trúc mà không phải chỉ rõ kiểu dữ </a:t>
            </a:r>
            <a:r>
              <a:rPr lang="vi-VN" sz="2800" smtClean="0">
                <a:solidFill>
                  <a:schemeClr val="tx1">
                    <a:lumMod val="95000"/>
                    <a:lumOff val="5000"/>
                  </a:schemeClr>
                </a:solidFill>
                <a:latin typeface="Arial" pitchFamily="34" charset="0"/>
                <a:cs typeface="Arial" pitchFamily="34" charset="0"/>
              </a:rPr>
              <a:t>liệu</a:t>
            </a:r>
            <a:r>
              <a:rPr lang="en-US" sz="2800" smtClean="0">
                <a:solidFill>
                  <a:schemeClr val="tx1">
                    <a:lumMod val="95000"/>
                    <a:lumOff val="5000"/>
                  </a:schemeClr>
                </a:solidFill>
                <a:latin typeface="Arial" pitchFamily="34" charset="0"/>
                <a:cs typeface="Arial" pitchFamily="34" charset="0"/>
              </a:rPr>
              <a:t> ngay từ đầu.</a:t>
            </a:r>
          </a:p>
          <a:p>
            <a:pPr algn="just">
              <a:lnSpc>
                <a:spcPct val="130000"/>
              </a:lnSpc>
              <a:spcBef>
                <a:spcPts val="300"/>
              </a:spcBef>
              <a:spcAft>
                <a:spcPts val="300"/>
              </a:spcAft>
              <a:buFont typeface="Wingdings" pitchFamily="2" charset="2"/>
              <a:buChar char="v"/>
            </a:pPr>
            <a:endParaRPr lang="vi-VN"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rgbClr val="0000FF"/>
                </a:solidFill>
                <a:latin typeface="Arial" pitchFamily="34" charset="0"/>
                <a:cs typeface="Arial" pitchFamily="34" charset="0"/>
              </a:rPr>
              <a:t>Từ </a:t>
            </a:r>
            <a:r>
              <a:rPr lang="vi-VN" sz="2800" smtClean="0">
                <a:solidFill>
                  <a:srgbClr val="0000FF"/>
                </a:solidFill>
                <a:latin typeface="Arial" pitchFamily="34" charset="0"/>
                <a:cs typeface="Arial" pitchFamily="34" charset="0"/>
              </a:rPr>
              <a:t>kh</a:t>
            </a:r>
            <a:r>
              <a:rPr lang="en-US" sz="2800" smtClean="0">
                <a:solidFill>
                  <a:srgbClr val="0000FF"/>
                </a:solidFill>
                <a:latin typeface="Arial" pitchFamily="34" charset="0"/>
                <a:cs typeface="Arial" pitchFamily="34" charset="0"/>
              </a:rPr>
              <a:t>óa</a:t>
            </a:r>
            <a:r>
              <a:rPr lang="vi-VN" sz="2800" smtClean="0">
                <a:solidFill>
                  <a:srgbClr val="0000FF"/>
                </a:solidFill>
                <a:latin typeface="Arial" pitchFamily="34" charset="0"/>
                <a:cs typeface="Arial" pitchFamily="34" charset="0"/>
              </a:rPr>
              <a:t> </a:t>
            </a:r>
            <a:r>
              <a:rPr lang="vi-VN" sz="2800">
                <a:solidFill>
                  <a:srgbClr val="0000FF"/>
                </a:solidFill>
                <a:latin typeface="Arial" pitchFamily="34" charset="0"/>
                <a:cs typeface="Arial" pitchFamily="34" charset="0"/>
              </a:rPr>
              <a:t>template </a:t>
            </a:r>
            <a:r>
              <a:rPr lang="vi-VN" sz="2800">
                <a:solidFill>
                  <a:schemeClr val="tx1">
                    <a:lumMod val="95000"/>
                    <a:lumOff val="5000"/>
                  </a:schemeClr>
                </a:solidFill>
                <a:latin typeface="Arial" pitchFamily="34" charset="0"/>
                <a:cs typeface="Arial" pitchFamily="34" charset="0"/>
              </a:rPr>
              <a:t>được dùng trong C++ để báo cho trình biên dịch </a:t>
            </a:r>
            <a:r>
              <a:rPr lang="en-US" sz="2800" smtClean="0">
                <a:solidFill>
                  <a:schemeClr val="tx1">
                    <a:lumMod val="95000"/>
                    <a:lumOff val="5000"/>
                  </a:schemeClr>
                </a:solidFill>
                <a:latin typeface="Arial" pitchFamily="34" charset="0"/>
                <a:cs typeface="Arial" pitchFamily="34" charset="0"/>
              </a:rPr>
              <a:t>biết </a:t>
            </a:r>
            <a:r>
              <a:rPr lang="vi-VN" sz="2800" smtClean="0">
                <a:solidFill>
                  <a:schemeClr val="tx1">
                    <a:lumMod val="95000"/>
                    <a:lumOff val="5000"/>
                  </a:schemeClr>
                </a:solidFill>
                <a:latin typeface="Arial" pitchFamily="34" charset="0"/>
                <a:cs typeface="Arial" pitchFamily="34" charset="0"/>
              </a:rPr>
              <a:t>rằng </a:t>
            </a:r>
            <a:r>
              <a:rPr lang="vi-VN" sz="2800">
                <a:solidFill>
                  <a:schemeClr val="tx1">
                    <a:lumMod val="95000"/>
                    <a:lumOff val="5000"/>
                  </a:schemeClr>
                </a:solidFill>
                <a:latin typeface="Arial" pitchFamily="34" charset="0"/>
                <a:cs typeface="Arial" pitchFamily="34" charset="0"/>
              </a:rPr>
              <a:t>đoạn mã theo sau sẽ thao tác một hoặc nhiều kiểu dữ liệu chưa xác </a:t>
            </a:r>
            <a:r>
              <a:rPr lang="vi-VN" sz="2800" smtClean="0">
                <a:solidFill>
                  <a:schemeClr val="tx1">
                    <a:lumMod val="95000"/>
                    <a:lumOff val="5000"/>
                  </a:schemeClr>
                </a:solidFill>
                <a:latin typeface="Arial" pitchFamily="34" charset="0"/>
                <a:cs typeface="Arial" pitchFamily="34" charset="0"/>
              </a:rPr>
              <a:t>định</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9</a:t>
            </a:fld>
            <a:endParaRPr lang="en-US"/>
          </a:p>
        </p:txBody>
      </p:sp>
    </p:spTree>
    <p:extLst>
      <p:ext uri="{BB962C8B-B14F-4D97-AF65-F5344CB8AC3E}">
        <p14:creationId xmlns:p14="http://schemas.microsoft.com/office/powerpoint/2010/main" val="17560043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 </a:t>
            </a:r>
            <a:r>
              <a:rPr lang="en-US" b="1" smtClean="0">
                <a:effectLst>
                  <a:outerShdw blurRad="38100" dist="38100" dir="2700000" algn="tl">
                    <a:srgbClr val="000000">
                      <a:alpha val="43137"/>
                    </a:srgbClr>
                  </a:outerShdw>
                </a:effectLst>
                <a:latin typeface="Arial" pitchFamily="34" charset="0"/>
                <a:cs typeface="Arial" pitchFamily="34" charset="0"/>
              </a:rPr>
              <a:t>Template</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00FF"/>
                </a:solidFill>
                <a:latin typeface="Arial" pitchFamily="34" charset="0"/>
                <a:cs typeface="Arial" pitchFamily="34" charset="0"/>
              </a:rPr>
              <a:t>Từ </a:t>
            </a:r>
            <a:r>
              <a:rPr lang="vi-VN" sz="2800" smtClean="0">
                <a:solidFill>
                  <a:srgbClr val="0000FF"/>
                </a:solidFill>
                <a:latin typeface="Arial" pitchFamily="34" charset="0"/>
                <a:cs typeface="Arial" pitchFamily="34" charset="0"/>
              </a:rPr>
              <a:t>kh</a:t>
            </a:r>
            <a:r>
              <a:rPr lang="en-US" sz="2800" smtClean="0">
                <a:solidFill>
                  <a:srgbClr val="0000FF"/>
                </a:solidFill>
                <a:latin typeface="Arial" pitchFamily="34" charset="0"/>
                <a:cs typeface="Arial" pitchFamily="34" charset="0"/>
              </a:rPr>
              <a:t>óa</a:t>
            </a:r>
            <a:r>
              <a:rPr lang="vi-VN" sz="2800" smtClean="0">
                <a:solidFill>
                  <a:srgbClr val="0000FF"/>
                </a:solidFill>
                <a:latin typeface="Arial" pitchFamily="34" charset="0"/>
                <a:cs typeface="Arial" pitchFamily="34" charset="0"/>
              </a:rPr>
              <a:t> </a:t>
            </a:r>
            <a:r>
              <a:rPr lang="vi-VN" sz="2800">
                <a:solidFill>
                  <a:srgbClr val="0000FF"/>
                </a:solidFill>
                <a:latin typeface="Arial" pitchFamily="34" charset="0"/>
                <a:cs typeface="Arial" pitchFamily="34" charset="0"/>
              </a:rPr>
              <a:t>template </a:t>
            </a:r>
            <a:r>
              <a:rPr lang="vi-VN" sz="2800">
                <a:solidFill>
                  <a:schemeClr val="tx1">
                    <a:lumMod val="95000"/>
                    <a:lumOff val="5000"/>
                  </a:schemeClr>
                </a:solidFill>
                <a:latin typeface="Arial" pitchFamily="34" charset="0"/>
                <a:cs typeface="Arial" pitchFamily="34" charset="0"/>
              </a:rPr>
              <a:t>được theo sau bởi một cặp ngoặc nhọn chứa tên của các kiểu dữ liệu tùy ý được cung cấp.</a:t>
            </a:r>
          </a:p>
          <a:p>
            <a:pPr marL="457200" lvl="1" indent="0" algn="just">
              <a:lnSpc>
                <a:spcPct val="130000"/>
              </a:lnSpc>
              <a:spcBef>
                <a:spcPts val="300"/>
              </a:spcBef>
              <a:spcAft>
                <a:spcPts val="300"/>
              </a:spcAft>
              <a:buNone/>
            </a:pPr>
            <a:r>
              <a:rPr lang="vi-VN">
                <a:solidFill>
                  <a:srgbClr val="0000FF"/>
                </a:solidFill>
                <a:latin typeface="Arial" pitchFamily="34" charset="0"/>
                <a:cs typeface="Arial" pitchFamily="34" charset="0"/>
              </a:rPr>
              <a:t>template</a:t>
            </a:r>
            <a:r>
              <a:rPr lang="vi-VN">
                <a:solidFill>
                  <a:schemeClr val="tx1">
                    <a:lumMod val="95000"/>
                    <a:lumOff val="5000"/>
                  </a:schemeClr>
                </a:solidFill>
                <a:latin typeface="Arial" pitchFamily="34" charset="0"/>
                <a:cs typeface="Arial" pitchFamily="34" charset="0"/>
              </a:rPr>
              <a:t> </a:t>
            </a:r>
            <a:r>
              <a:rPr lang="vi-VN">
                <a:solidFill>
                  <a:srgbClr val="FF3300"/>
                </a:solidFill>
                <a:latin typeface="Arial" pitchFamily="34" charset="0"/>
                <a:cs typeface="Arial" pitchFamily="34" charset="0"/>
              </a:rPr>
              <a:t>&lt;typename T&gt;</a:t>
            </a:r>
          </a:p>
          <a:p>
            <a:pPr marL="457200" lvl="1" indent="0" algn="just">
              <a:lnSpc>
                <a:spcPct val="130000"/>
              </a:lnSpc>
              <a:spcBef>
                <a:spcPts val="300"/>
              </a:spcBef>
              <a:spcAft>
                <a:spcPts val="300"/>
              </a:spcAft>
              <a:buNone/>
            </a:pPr>
            <a:r>
              <a:rPr lang="vi-VN">
                <a:solidFill>
                  <a:srgbClr val="0000FF"/>
                </a:solidFill>
                <a:latin typeface="Arial" pitchFamily="34" charset="0"/>
                <a:cs typeface="Arial" pitchFamily="34" charset="0"/>
              </a:rPr>
              <a:t>template</a:t>
            </a:r>
            <a:r>
              <a:rPr lang="vi-VN">
                <a:solidFill>
                  <a:schemeClr val="tx1">
                    <a:lumMod val="95000"/>
                    <a:lumOff val="5000"/>
                  </a:schemeClr>
                </a:solidFill>
                <a:latin typeface="Arial" pitchFamily="34" charset="0"/>
                <a:cs typeface="Arial" pitchFamily="34" charset="0"/>
              </a:rPr>
              <a:t> </a:t>
            </a:r>
            <a:r>
              <a:rPr lang="vi-VN">
                <a:solidFill>
                  <a:srgbClr val="FF3300"/>
                </a:solidFill>
                <a:latin typeface="Arial" pitchFamily="34" charset="0"/>
                <a:cs typeface="Arial" pitchFamily="34" charset="0"/>
              </a:rPr>
              <a:t>&lt;typename T, typename U&gt;</a:t>
            </a:r>
          </a:p>
          <a:p>
            <a:pPr algn="just">
              <a:lnSpc>
                <a:spcPct val="130000"/>
              </a:lnSpc>
              <a:spcBef>
                <a:spcPts val="300"/>
              </a:spcBef>
              <a:spcAft>
                <a:spcPts val="300"/>
              </a:spcAft>
              <a:buFont typeface="Wingdings" pitchFamily="2" charset="2"/>
              <a:buChar char="v"/>
            </a:pPr>
            <a:endParaRPr lang="en-US" sz="2800" smtClean="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smtClean="0">
                <a:solidFill>
                  <a:schemeClr val="tx1">
                    <a:lumMod val="95000"/>
                    <a:lumOff val="5000"/>
                  </a:schemeClr>
                </a:solidFill>
                <a:latin typeface="Arial" pitchFamily="34" charset="0"/>
                <a:cs typeface="Arial" pitchFamily="34" charset="0"/>
              </a:rPr>
              <a:t>Một </a:t>
            </a:r>
            <a:r>
              <a:rPr lang="vi-VN" sz="2800">
                <a:solidFill>
                  <a:schemeClr val="tx1">
                    <a:lumMod val="95000"/>
                    <a:lumOff val="5000"/>
                  </a:schemeClr>
                </a:solidFill>
                <a:latin typeface="Arial" pitchFamily="34" charset="0"/>
                <a:cs typeface="Arial" pitchFamily="34" charset="0"/>
              </a:rPr>
              <a:t>lệnh template chỉ có hiệu quả đối với khai báo ngay sau nó</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10</a:t>
            </a:fld>
            <a:endParaRPr lang="en-US"/>
          </a:p>
        </p:txBody>
      </p:sp>
    </p:spTree>
    <p:extLst>
      <p:ext uri="{BB962C8B-B14F-4D97-AF65-F5344CB8AC3E}">
        <p14:creationId xmlns:p14="http://schemas.microsoft.com/office/powerpoint/2010/main" val="1823511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 </a:t>
            </a:r>
            <a:r>
              <a:rPr lang="en-US" b="1" smtClean="0">
                <a:effectLst>
                  <a:outerShdw blurRad="38100" dist="38100" dir="2700000" algn="tl">
                    <a:srgbClr val="000000">
                      <a:alpha val="43137"/>
                    </a:srgbClr>
                  </a:outerShdw>
                </a:effectLst>
                <a:latin typeface="Arial" pitchFamily="34" charset="0"/>
                <a:cs typeface="Arial" pitchFamily="34" charset="0"/>
              </a:rPr>
              <a:t>Template</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Hai loại khuôn mẫu cơ bản:</a:t>
            </a:r>
          </a:p>
          <a:p>
            <a:pPr lvl="1" algn="just">
              <a:lnSpc>
                <a:spcPct val="130000"/>
              </a:lnSpc>
              <a:spcBef>
                <a:spcPts val="300"/>
              </a:spcBef>
              <a:spcAft>
                <a:spcPts val="300"/>
              </a:spcAft>
              <a:buFont typeface="Wingdings" pitchFamily="2" charset="2"/>
              <a:buChar char="v"/>
            </a:pPr>
            <a:r>
              <a:rPr lang="vi-VN">
                <a:solidFill>
                  <a:srgbClr val="0066FF"/>
                </a:solidFill>
                <a:latin typeface="Arial" pitchFamily="34" charset="0"/>
                <a:cs typeface="Arial" pitchFamily="34" charset="0"/>
              </a:rPr>
              <a:t>Function template </a:t>
            </a:r>
            <a:r>
              <a:rPr lang="vi-VN">
                <a:solidFill>
                  <a:schemeClr val="tx1">
                    <a:lumMod val="95000"/>
                    <a:lumOff val="5000"/>
                  </a:schemeClr>
                </a:solidFill>
                <a:latin typeface="Arial" pitchFamily="34" charset="0"/>
                <a:cs typeface="Arial" pitchFamily="34" charset="0"/>
              </a:rPr>
              <a:t>– khuôn mẫu hàm cho phép định nghĩa các hàm tổng quát dùng đến các kiểu dữ liệu </a:t>
            </a:r>
            <a:r>
              <a:rPr lang="vi-VN" smtClean="0">
                <a:solidFill>
                  <a:schemeClr val="tx1">
                    <a:lumMod val="95000"/>
                    <a:lumOff val="5000"/>
                  </a:schemeClr>
                </a:solidFill>
                <a:latin typeface="Arial" pitchFamily="34" charset="0"/>
                <a:cs typeface="Arial" pitchFamily="34" charset="0"/>
              </a:rPr>
              <a:t>t</a:t>
            </a:r>
            <a:r>
              <a:rPr lang="en-US" smtClean="0">
                <a:solidFill>
                  <a:schemeClr val="tx1">
                    <a:lumMod val="95000"/>
                    <a:lumOff val="5000"/>
                  </a:schemeClr>
                </a:solidFill>
                <a:latin typeface="Arial" pitchFamily="34" charset="0"/>
                <a:cs typeface="Arial" pitchFamily="34" charset="0"/>
              </a:rPr>
              <a:t>ùy</a:t>
            </a:r>
            <a:r>
              <a:rPr lang="vi-VN" smtClean="0">
                <a:solidFill>
                  <a:schemeClr val="tx1">
                    <a:lumMod val="95000"/>
                    <a:lumOff val="5000"/>
                  </a:schemeClr>
                </a:solidFill>
                <a:latin typeface="Arial" pitchFamily="34" charset="0"/>
                <a:cs typeface="Arial" pitchFamily="34" charset="0"/>
              </a:rPr>
              <a:t> ý</a:t>
            </a:r>
            <a:r>
              <a:rPr lang="en-US" smtClean="0">
                <a:solidFill>
                  <a:schemeClr val="tx1">
                    <a:lumMod val="95000"/>
                    <a:lumOff val="5000"/>
                  </a:schemeClr>
                </a:solidFill>
                <a:latin typeface="Arial" pitchFamily="34" charset="0"/>
                <a:cs typeface="Arial" pitchFamily="34" charset="0"/>
              </a:rPr>
              <a:t>.</a:t>
            </a:r>
            <a:endParaRPr lang="vi-VN">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v"/>
            </a:pPr>
            <a:r>
              <a:rPr lang="vi-VN">
                <a:solidFill>
                  <a:srgbClr val="0066FF"/>
                </a:solidFill>
                <a:latin typeface="Arial" pitchFamily="34" charset="0"/>
                <a:cs typeface="Arial" pitchFamily="34" charset="0"/>
              </a:rPr>
              <a:t>Class template </a:t>
            </a:r>
            <a:r>
              <a:rPr lang="vi-VN">
                <a:solidFill>
                  <a:schemeClr val="tx1">
                    <a:lumMod val="95000"/>
                    <a:lumOff val="5000"/>
                  </a:schemeClr>
                </a:solidFill>
                <a:latin typeface="Arial" pitchFamily="34" charset="0"/>
                <a:cs typeface="Arial" pitchFamily="34" charset="0"/>
              </a:rPr>
              <a:t>– khuôn mẫu lớp cho phép định nghĩa các lớp tổng quát dùng đến các kiểu dữ liệu </a:t>
            </a:r>
            <a:r>
              <a:rPr lang="vi-VN" smtClean="0">
                <a:solidFill>
                  <a:schemeClr val="tx1">
                    <a:lumMod val="95000"/>
                    <a:lumOff val="5000"/>
                  </a:schemeClr>
                </a:solidFill>
                <a:latin typeface="Arial" pitchFamily="34" charset="0"/>
                <a:cs typeface="Arial" pitchFamily="34" charset="0"/>
              </a:rPr>
              <a:t>t</a:t>
            </a:r>
            <a:r>
              <a:rPr lang="en-US" smtClean="0">
                <a:solidFill>
                  <a:schemeClr val="tx1">
                    <a:lumMod val="95000"/>
                    <a:lumOff val="5000"/>
                  </a:schemeClr>
                </a:solidFill>
                <a:latin typeface="Arial" pitchFamily="34" charset="0"/>
                <a:cs typeface="Arial" pitchFamily="34" charset="0"/>
              </a:rPr>
              <a:t>ùy</a:t>
            </a:r>
            <a:r>
              <a:rPr lang="vi-VN" smtClean="0">
                <a:solidFill>
                  <a:schemeClr val="tx1">
                    <a:lumMod val="95000"/>
                    <a:lumOff val="5000"/>
                  </a:schemeClr>
                </a:solidFill>
                <a:latin typeface="Arial" pitchFamily="34" charset="0"/>
                <a:cs typeface="Arial" pitchFamily="34" charset="0"/>
              </a:rPr>
              <a:t> ý</a:t>
            </a:r>
            <a:r>
              <a:rPr lang="en-US" smtClean="0">
                <a:solidFill>
                  <a:schemeClr val="tx1">
                    <a:lumMod val="95000"/>
                    <a:lumOff val="5000"/>
                  </a:schemeClr>
                </a:solidFill>
                <a:latin typeface="Arial" pitchFamily="34" charset="0"/>
                <a:cs typeface="Arial" pitchFamily="34" charset="0"/>
              </a:rPr>
              <a:t>.</a:t>
            </a:r>
            <a:endParaRPr lang="vi-VN"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11</a:t>
            </a:fld>
            <a:endParaRPr lang="en-US"/>
          </a:p>
        </p:txBody>
      </p:sp>
    </p:spTree>
    <p:extLst>
      <p:ext uri="{BB962C8B-B14F-4D97-AF65-F5344CB8AC3E}">
        <p14:creationId xmlns:p14="http://schemas.microsoft.com/office/powerpoint/2010/main" val="1823511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smtClean="0">
                <a:effectLst>
                  <a:outerShdw blurRad="38100" dist="38100" dir="2700000" algn="tl">
                    <a:srgbClr val="000000">
                      <a:alpha val="43137"/>
                    </a:srgbClr>
                  </a:outerShdw>
                </a:effectLst>
                <a:latin typeface="Arial" pitchFamily="34" charset="0"/>
                <a:cs typeface="Arial" pitchFamily="34" charset="0"/>
              </a:rPr>
              <a:t>Khuôn mẫu hàm</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Khuôn mẫu hàm </a:t>
            </a:r>
            <a:r>
              <a:rPr lang="vi-VN" sz="2800">
                <a:solidFill>
                  <a:schemeClr val="tx1">
                    <a:lumMod val="95000"/>
                    <a:lumOff val="5000"/>
                  </a:schemeClr>
                </a:solidFill>
                <a:latin typeface="Arial" pitchFamily="34" charset="0"/>
                <a:cs typeface="Arial" pitchFamily="34" charset="0"/>
              </a:rPr>
              <a:t>là dạng khuôn mẫu đơn giản nhất cho phép ta định nghĩa các hàm dùng đến các kiểu dữ liệu </a:t>
            </a:r>
            <a:r>
              <a:rPr lang="en-US" sz="2800" smtClean="0">
                <a:solidFill>
                  <a:schemeClr val="tx1">
                    <a:lumMod val="95000"/>
                    <a:lumOff val="5000"/>
                  </a:schemeClr>
                </a:solidFill>
                <a:latin typeface="Arial" pitchFamily="34" charset="0"/>
                <a:cs typeface="Arial" pitchFamily="34" charset="0"/>
              </a:rPr>
              <a:t>tùy </a:t>
            </a:r>
            <a:r>
              <a:rPr lang="vi-VN" sz="2800" smtClean="0">
                <a:solidFill>
                  <a:schemeClr val="tx1">
                    <a:lumMod val="95000"/>
                    <a:lumOff val="5000"/>
                  </a:schemeClr>
                </a:solidFill>
                <a:latin typeface="Arial" pitchFamily="34" charset="0"/>
                <a:cs typeface="Arial" pitchFamily="34" charset="0"/>
              </a:rPr>
              <a:t>ý</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sz="2800" smtClean="0">
                <a:solidFill>
                  <a:schemeClr val="tx1">
                    <a:lumMod val="95000"/>
                    <a:lumOff val="5000"/>
                  </a:schemeClr>
                </a:solidFill>
                <a:latin typeface="Arial" pitchFamily="34" charset="0"/>
                <a:cs typeface="Arial" pitchFamily="34" charset="0"/>
              </a:rPr>
              <a:t>Ví dụ sau đ</a:t>
            </a:r>
            <a:r>
              <a:rPr lang="vi-VN" sz="2800" smtClean="0">
                <a:solidFill>
                  <a:schemeClr val="tx1">
                    <a:lumMod val="95000"/>
                    <a:lumOff val="5000"/>
                  </a:schemeClr>
                </a:solidFill>
                <a:latin typeface="Arial" pitchFamily="34" charset="0"/>
                <a:cs typeface="Arial" pitchFamily="34" charset="0"/>
              </a:rPr>
              <a:t>ịnh </a:t>
            </a:r>
            <a:r>
              <a:rPr lang="vi-VN" sz="2800">
                <a:solidFill>
                  <a:schemeClr val="tx1">
                    <a:lumMod val="95000"/>
                    <a:lumOff val="5000"/>
                  </a:schemeClr>
                </a:solidFill>
                <a:latin typeface="Arial" pitchFamily="34" charset="0"/>
                <a:cs typeface="Arial" pitchFamily="34" charset="0"/>
              </a:rPr>
              <a:t>nghĩa hàm swap() bằng khuôn mẫu:</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12</a:t>
            </a:fld>
            <a:endParaRPr lang="en-US"/>
          </a:p>
        </p:txBody>
      </p:sp>
      <p:sp>
        <p:nvSpPr>
          <p:cNvPr id="7" name="Rectangle 3"/>
          <p:cNvSpPr>
            <a:spLocks noChangeArrowheads="1"/>
          </p:cNvSpPr>
          <p:nvPr/>
        </p:nvSpPr>
        <p:spPr bwMode="auto">
          <a:xfrm>
            <a:off x="1905000" y="4038600"/>
            <a:ext cx="6781800" cy="2438400"/>
          </a:xfrm>
          <a:prstGeom prst="rect">
            <a:avLst/>
          </a:prstGeom>
          <a:solidFill>
            <a:srgbClr val="CCFFFF"/>
          </a:solidFill>
          <a:ln w="9525">
            <a:noFill/>
            <a:miter lim="800000"/>
            <a:headEnd/>
            <a:tailEnd/>
          </a:ln>
        </p:spPr>
        <p:txBody>
          <a:bodyPr/>
          <a:lstStyle/>
          <a:p>
            <a:pPr marL="342900" indent="-342900">
              <a:lnSpc>
                <a:spcPct val="120000"/>
              </a:lnSpc>
              <a:spcBef>
                <a:spcPts val="300"/>
              </a:spcBef>
              <a:buFont typeface="Wingdings" pitchFamily="2" charset="2"/>
              <a:buNone/>
            </a:pPr>
            <a:r>
              <a:rPr lang="fr-FR" sz="2400" b="0">
                <a:solidFill>
                  <a:srgbClr val="0000FF"/>
                </a:solidFill>
              </a:rPr>
              <a:t>template</a:t>
            </a:r>
            <a:r>
              <a:rPr lang="fr-FR" sz="2400" b="0">
                <a:solidFill>
                  <a:srgbClr val="000000"/>
                </a:solidFill>
              </a:rPr>
              <a:t> &lt;</a:t>
            </a:r>
            <a:r>
              <a:rPr lang="fr-FR" sz="2400" b="0">
                <a:solidFill>
                  <a:srgbClr val="0000FF"/>
                </a:solidFill>
              </a:rPr>
              <a:t>typename</a:t>
            </a:r>
            <a:r>
              <a:rPr lang="fr-FR" sz="2400" b="0">
                <a:solidFill>
                  <a:srgbClr val="000000"/>
                </a:solidFill>
              </a:rPr>
              <a:t> T&gt;</a:t>
            </a:r>
          </a:p>
          <a:p>
            <a:pPr marL="342900" indent="-342900">
              <a:lnSpc>
                <a:spcPct val="120000"/>
              </a:lnSpc>
              <a:spcBef>
                <a:spcPts val="300"/>
              </a:spcBef>
              <a:buFont typeface="Wingdings" pitchFamily="2" charset="2"/>
              <a:buNone/>
            </a:pPr>
            <a:r>
              <a:rPr lang="fr-FR" sz="2400" b="0">
                <a:solidFill>
                  <a:srgbClr val="0000FF"/>
                </a:solidFill>
              </a:rPr>
              <a:t>void</a:t>
            </a:r>
            <a:r>
              <a:rPr lang="fr-FR" sz="2400" b="0">
                <a:solidFill>
                  <a:srgbClr val="000000"/>
                </a:solidFill>
              </a:rPr>
              <a:t> swap(T &amp; a, T &amp; b) {</a:t>
            </a:r>
          </a:p>
          <a:p>
            <a:pPr marL="342900" indent="-342900">
              <a:lnSpc>
                <a:spcPct val="120000"/>
              </a:lnSpc>
              <a:spcBef>
                <a:spcPts val="300"/>
              </a:spcBef>
              <a:buFont typeface="Wingdings" pitchFamily="2" charset="2"/>
              <a:buNone/>
            </a:pPr>
            <a:r>
              <a:rPr lang="fr-FR" sz="2400" b="0">
                <a:solidFill>
                  <a:srgbClr val="000000"/>
                </a:solidFill>
              </a:rPr>
              <a:t>	T temp;</a:t>
            </a:r>
          </a:p>
          <a:p>
            <a:pPr marL="342900" indent="-342900">
              <a:lnSpc>
                <a:spcPct val="120000"/>
              </a:lnSpc>
              <a:spcBef>
                <a:spcPts val="300"/>
              </a:spcBef>
              <a:buFont typeface="Wingdings" pitchFamily="2" charset="2"/>
              <a:buNone/>
            </a:pPr>
            <a:r>
              <a:rPr lang="fr-FR" sz="2400" b="0">
                <a:solidFill>
                  <a:srgbClr val="000000"/>
                </a:solidFill>
              </a:rPr>
              <a:t>	temp = a; a = b; b = temp;</a:t>
            </a:r>
          </a:p>
          <a:p>
            <a:pPr marL="342900" indent="-342900">
              <a:lnSpc>
                <a:spcPct val="120000"/>
              </a:lnSpc>
              <a:spcBef>
                <a:spcPts val="300"/>
              </a:spcBef>
              <a:buFont typeface="Wingdings" pitchFamily="2" charset="2"/>
              <a:buNone/>
            </a:pPr>
            <a:r>
              <a:rPr lang="fr-FR" sz="2400" b="0">
                <a:solidFill>
                  <a:srgbClr val="000000"/>
                </a:solidFill>
              </a:rPr>
              <a:t>}</a:t>
            </a:r>
            <a:endParaRPr lang="en-US" sz="2400" b="0">
              <a:solidFill>
                <a:srgbClr val="000000"/>
              </a:solidFill>
            </a:endParaRPr>
          </a:p>
        </p:txBody>
      </p:sp>
    </p:spTree>
    <p:extLst>
      <p:ext uri="{BB962C8B-B14F-4D97-AF65-F5344CB8AC3E}">
        <p14:creationId xmlns:p14="http://schemas.microsoft.com/office/powerpoint/2010/main" val="515496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hàm</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Thực chất, khi sử dụng template, ta đã định nghĩa một tập </a:t>
            </a:r>
            <a:r>
              <a:rPr lang="en-US" sz="2800" smtClean="0">
                <a:solidFill>
                  <a:schemeClr val="tx1">
                    <a:lumMod val="95000"/>
                    <a:lumOff val="5000"/>
                  </a:schemeClr>
                </a:solidFill>
                <a:latin typeface="Arial" pitchFamily="34" charset="0"/>
                <a:cs typeface="Arial" pitchFamily="34" charset="0"/>
              </a:rPr>
              <a:t>“</a:t>
            </a:r>
            <a:r>
              <a:rPr lang="vi-VN" sz="2800" smtClean="0">
                <a:solidFill>
                  <a:schemeClr val="tx1">
                    <a:lumMod val="95000"/>
                    <a:lumOff val="5000"/>
                  </a:schemeClr>
                </a:solidFill>
                <a:latin typeface="Arial" pitchFamily="34" charset="0"/>
                <a:cs typeface="Arial" pitchFamily="34" charset="0"/>
              </a:rPr>
              <a:t>vô hạn</a:t>
            </a:r>
            <a:r>
              <a:rPr lang="en-US" sz="2800" smtClean="0">
                <a:solidFill>
                  <a:schemeClr val="tx1">
                    <a:lumMod val="95000"/>
                    <a:lumOff val="5000"/>
                  </a:schemeClr>
                </a:solidFill>
                <a:latin typeface="Arial" pitchFamily="34" charset="0"/>
                <a:cs typeface="Arial" pitchFamily="34" charset="0"/>
              </a:rPr>
              <a:t>”</a:t>
            </a:r>
            <a:r>
              <a:rPr lang="vi-VN" sz="2800" smtClean="0">
                <a:solidFill>
                  <a:schemeClr val="tx1">
                    <a:lumMod val="95000"/>
                    <a:lumOff val="5000"/>
                  </a:schemeClr>
                </a:solidFill>
                <a:latin typeface="Arial" pitchFamily="34" charset="0"/>
                <a:cs typeface="Arial" pitchFamily="34" charset="0"/>
              </a:rPr>
              <a:t> </a:t>
            </a:r>
            <a:r>
              <a:rPr lang="vi-VN" sz="2800">
                <a:solidFill>
                  <a:srgbClr val="0066FF"/>
                </a:solidFill>
                <a:latin typeface="Arial" pitchFamily="34" charset="0"/>
                <a:cs typeface="Arial" pitchFamily="34" charset="0"/>
              </a:rPr>
              <a:t>các hàm chồng nhau </a:t>
            </a:r>
            <a:r>
              <a:rPr lang="vi-VN" sz="2800">
                <a:solidFill>
                  <a:schemeClr val="tx1">
                    <a:lumMod val="95000"/>
                    <a:lumOff val="5000"/>
                  </a:schemeClr>
                </a:solidFill>
                <a:latin typeface="Arial" pitchFamily="34" charset="0"/>
                <a:cs typeface="Arial" pitchFamily="34" charset="0"/>
              </a:rPr>
              <a:t>với tên swap()</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Để gọi một trong các phiên bản này, ta chỉ cần gọi nó với kiểu dữ liệu tương ứng</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13</a:t>
            </a:fld>
            <a:endParaRPr lang="en-US"/>
          </a:p>
        </p:txBody>
      </p:sp>
      <p:sp>
        <p:nvSpPr>
          <p:cNvPr id="7" name="Rectangle 3"/>
          <p:cNvSpPr>
            <a:spLocks noChangeArrowheads="1"/>
          </p:cNvSpPr>
          <p:nvPr/>
        </p:nvSpPr>
        <p:spPr bwMode="auto">
          <a:xfrm>
            <a:off x="914400" y="4419600"/>
            <a:ext cx="7772400" cy="2091560"/>
          </a:xfrm>
          <a:prstGeom prst="rect">
            <a:avLst/>
          </a:prstGeom>
          <a:solidFill>
            <a:srgbClr val="CCFFFF"/>
          </a:solidFill>
          <a:ln w="9525">
            <a:noFill/>
            <a:miter lim="800000"/>
            <a:headEnd/>
            <a:tailEnd/>
          </a:ln>
        </p:spPr>
        <p:txBody>
          <a:bodyPr/>
          <a:lstStyle/>
          <a:p>
            <a:pPr marL="342900" indent="-342900">
              <a:lnSpc>
                <a:spcPct val="120000"/>
              </a:lnSpc>
              <a:spcBef>
                <a:spcPts val="300"/>
              </a:spcBef>
              <a:buFont typeface="Wingdings" pitchFamily="2" charset="2"/>
              <a:buNone/>
            </a:pPr>
            <a:r>
              <a:rPr lang="en-US" sz="2600" b="0">
                <a:solidFill>
                  <a:srgbClr val="0000FF"/>
                </a:solidFill>
              </a:rPr>
              <a:t>int</a:t>
            </a:r>
            <a:r>
              <a:rPr lang="en-US" sz="2600" b="0">
                <a:solidFill>
                  <a:srgbClr val="000000"/>
                </a:solidFill>
              </a:rPr>
              <a:t> x = 1, y = 2;</a:t>
            </a:r>
          </a:p>
          <a:p>
            <a:pPr marL="342900" indent="-342900">
              <a:lnSpc>
                <a:spcPct val="120000"/>
              </a:lnSpc>
              <a:spcBef>
                <a:spcPts val="300"/>
              </a:spcBef>
              <a:buFont typeface="Wingdings" pitchFamily="2" charset="2"/>
              <a:buNone/>
            </a:pPr>
            <a:r>
              <a:rPr lang="en-US" sz="2600" b="0">
                <a:solidFill>
                  <a:srgbClr val="0000FF"/>
                </a:solidFill>
              </a:rPr>
              <a:t>float</a:t>
            </a:r>
            <a:r>
              <a:rPr lang="en-US" sz="2600" b="0">
                <a:solidFill>
                  <a:srgbClr val="000000"/>
                </a:solidFill>
              </a:rPr>
              <a:t> a = 1.1, b = 2.2</a:t>
            </a:r>
            <a:r>
              <a:rPr lang="en-US" sz="2600" b="0" smtClean="0">
                <a:solidFill>
                  <a:srgbClr val="000000"/>
                </a:solidFill>
              </a:rPr>
              <a:t>;</a:t>
            </a:r>
            <a:endParaRPr lang="en-US" sz="2600" b="0">
              <a:solidFill>
                <a:srgbClr val="000000"/>
              </a:solidFill>
            </a:endParaRPr>
          </a:p>
          <a:p>
            <a:pPr marL="342900" indent="-342900">
              <a:lnSpc>
                <a:spcPct val="120000"/>
              </a:lnSpc>
              <a:spcBef>
                <a:spcPts val="300"/>
              </a:spcBef>
              <a:buFont typeface="Wingdings" pitchFamily="2" charset="2"/>
              <a:buNone/>
            </a:pPr>
            <a:r>
              <a:rPr lang="en-US" sz="2600" b="0">
                <a:solidFill>
                  <a:srgbClr val="000000"/>
                </a:solidFill>
              </a:rPr>
              <a:t>swap(x, y); </a:t>
            </a:r>
            <a:r>
              <a:rPr lang="en-US" sz="2600" b="0" smtClean="0">
                <a:solidFill>
                  <a:srgbClr val="009900"/>
                </a:solidFill>
              </a:rPr>
              <a:t>//Gọi </a:t>
            </a:r>
            <a:r>
              <a:rPr lang="en-US" sz="2600" b="0">
                <a:solidFill>
                  <a:srgbClr val="009900"/>
                </a:solidFill>
              </a:rPr>
              <a:t>hàm swap() với kiểu int</a:t>
            </a:r>
          </a:p>
          <a:p>
            <a:pPr marL="342900" indent="-342900">
              <a:lnSpc>
                <a:spcPct val="120000"/>
              </a:lnSpc>
              <a:spcBef>
                <a:spcPts val="300"/>
              </a:spcBef>
              <a:buFont typeface="Wingdings" pitchFamily="2" charset="2"/>
              <a:buNone/>
            </a:pPr>
            <a:r>
              <a:rPr lang="en-US" sz="2600" b="0">
                <a:solidFill>
                  <a:srgbClr val="000000"/>
                </a:solidFill>
              </a:rPr>
              <a:t>swap(a, b); </a:t>
            </a:r>
            <a:r>
              <a:rPr lang="en-US" sz="2600" b="0" smtClean="0">
                <a:solidFill>
                  <a:srgbClr val="009900"/>
                </a:solidFill>
              </a:rPr>
              <a:t>//Gọi </a:t>
            </a:r>
            <a:r>
              <a:rPr lang="en-US" sz="2600" b="0">
                <a:solidFill>
                  <a:srgbClr val="009900"/>
                </a:solidFill>
              </a:rPr>
              <a:t>hàm swap() với kiểu float</a:t>
            </a:r>
          </a:p>
        </p:txBody>
      </p:sp>
    </p:spTree>
    <p:extLst>
      <p:ext uri="{BB962C8B-B14F-4D97-AF65-F5344CB8AC3E}">
        <p14:creationId xmlns:p14="http://schemas.microsoft.com/office/powerpoint/2010/main" val="2383487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hàm</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Chuyện gì xảy ra khi ta biên dịch mã?</a:t>
            </a:r>
          </a:p>
          <a:p>
            <a:pPr lvl="1"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Trước hết, sự thay thế "T" trong khai báo/định nghĩa hàm swap() không phải thay thế text đơn giản và cũng </a:t>
            </a:r>
            <a:r>
              <a:rPr lang="vi-VN">
                <a:solidFill>
                  <a:srgbClr val="0066FF"/>
                </a:solidFill>
                <a:latin typeface="Arial" pitchFamily="34" charset="0"/>
                <a:cs typeface="Arial" pitchFamily="34" charset="0"/>
              </a:rPr>
              <a:t>không được thực hiện bởi trình tiền xử </a:t>
            </a:r>
            <a:r>
              <a:rPr lang="vi-VN" smtClean="0">
                <a:solidFill>
                  <a:srgbClr val="0066FF"/>
                </a:solidFill>
                <a:latin typeface="Arial" pitchFamily="34" charset="0"/>
                <a:cs typeface="Arial" pitchFamily="34" charset="0"/>
              </a:rPr>
              <a:t>lý</a:t>
            </a:r>
            <a:r>
              <a:rPr lang="en-US" smtClean="0">
                <a:solidFill>
                  <a:schemeClr val="tx1">
                    <a:lumMod val="95000"/>
                    <a:lumOff val="5000"/>
                  </a:schemeClr>
                </a:solidFill>
                <a:latin typeface="Arial" pitchFamily="34" charset="0"/>
                <a:cs typeface="Arial" pitchFamily="34" charset="0"/>
              </a:rPr>
              <a:t>.</a:t>
            </a:r>
            <a:endParaRPr lang="vi-VN">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Việc chuyển phiên bản mẫu của swap() thành các cài đặt cụ thể cho int và float </a:t>
            </a:r>
            <a:r>
              <a:rPr lang="vi-VN">
                <a:solidFill>
                  <a:srgbClr val="0066FF"/>
                </a:solidFill>
                <a:latin typeface="Arial" pitchFamily="34" charset="0"/>
                <a:cs typeface="Arial" pitchFamily="34" charset="0"/>
              </a:rPr>
              <a:t>được thực hiện bởi trình biên </a:t>
            </a:r>
            <a:r>
              <a:rPr lang="vi-VN" smtClean="0">
                <a:solidFill>
                  <a:srgbClr val="0066FF"/>
                </a:solidFill>
                <a:latin typeface="Arial" pitchFamily="34" charset="0"/>
                <a:cs typeface="Arial" pitchFamily="34" charset="0"/>
              </a:rPr>
              <a:t>dịch</a:t>
            </a:r>
            <a:r>
              <a:rPr lang="en-US" smtClean="0">
                <a:solidFill>
                  <a:srgbClr val="0066FF"/>
                </a:solidFill>
                <a:latin typeface="Arial" pitchFamily="34" charset="0"/>
                <a:cs typeface="Arial" pitchFamily="34" charset="0"/>
              </a:rPr>
              <a:t>.</a:t>
            </a:r>
            <a:endParaRPr lang="vi-VN" smtClean="0">
              <a:solidFill>
                <a:srgbClr val="0066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14</a:t>
            </a:fld>
            <a:endParaRPr lang="en-US"/>
          </a:p>
        </p:txBody>
      </p:sp>
    </p:spTree>
    <p:extLst>
      <p:ext uri="{BB962C8B-B14F-4D97-AF65-F5344CB8AC3E}">
        <p14:creationId xmlns:p14="http://schemas.microsoft.com/office/powerpoint/2010/main" val="2303096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hàm</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Hãy xem xét hoạt động của trình biên dịch khi gặp lời gọi </a:t>
            </a:r>
            <a:r>
              <a:rPr lang="vi-VN" sz="2800">
                <a:solidFill>
                  <a:srgbClr val="0066FF"/>
                </a:solidFill>
                <a:latin typeface="Arial" pitchFamily="34" charset="0"/>
                <a:cs typeface="Arial" pitchFamily="34" charset="0"/>
              </a:rPr>
              <a:t>swap() thứ nhất (với hai tham số int)</a:t>
            </a:r>
          </a:p>
          <a:p>
            <a:pPr lvl="1"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Trước hết, trình biên dịch tìm xem có một hàm swap() được khai báo với 2 tham số kiểu int hay </a:t>
            </a:r>
            <a:r>
              <a:rPr lang="vi-VN" smtClean="0">
                <a:solidFill>
                  <a:schemeClr val="tx1">
                    <a:lumMod val="95000"/>
                    <a:lumOff val="5000"/>
                  </a:schemeClr>
                </a:solidFill>
                <a:latin typeface="Arial" pitchFamily="34" charset="0"/>
                <a:cs typeface="Arial" pitchFamily="34" charset="0"/>
              </a:rPr>
              <a:t>không</a:t>
            </a:r>
            <a:r>
              <a:rPr lang="en-US" smtClean="0">
                <a:solidFill>
                  <a:schemeClr val="tx1">
                    <a:lumMod val="95000"/>
                    <a:lumOff val="5000"/>
                  </a:schemeClr>
                </a:solidFill>
                <a:latin typeface="Arial" pitchFamily="34" charset="0"/>
                <a:cs typeface="Arial" pitchFamily="34" charset="0"/>
              </a:rPr>
              <a:t>?</a:t>
            </a:r>
            <a:r>
              <a:rPr lang="vi-VN" smtClean="0">
                <a:solidFill>
                  <a:schemeClr val="tx1">
                    <a:lumMod val="95000"/>
                    <a:lumOff val="5000"/>
                  </a:schemeClr>
                </a:solidFill>
                <a:latin typeface="Arial" pitchFamily="34" charset="0"/>
                <a:cs typeface="Arial" pitchFamily="34" charset="0"/>
              </a:rPr>
              <a:t> </a:t>
            </a:r>
            <a:r>
              <a:rPr lang="en-US" smtClean="0">
                <a:solidFill>
                  <a:schemeClr val="tx1">
                    <a:lumMod val="95000"/>
                    <a:lumOff val="5000"/>
                  </a:schemeClr>
                </a:solidFill>
                <a:latin typeface="Arial" pitchFamily="34" charset="0"/>
                <a:cs typeface="Arial" pitchFamily="34" charset="0"/>
                <a:sym typeface="Wingdings" pitchFamily="2" charset="2"/>
              </a:rPr>
              <a:t></a:t>
            </a:r>
            <a:r>
              <a:rPr lang="vi-VN" smtClean="0">
                <a:solidFill>
                  <a:schemeClr val="tx1">
                    <a:lumMod val="95000"/>
                    <a:lumOff val="5000"/>
                  </a:schemeClr>
                </a:solidFill>
                <a:latin typeface="Arial" pitchFamily="34" charset="0"/>
                <a:cs typeface="Arial" pitchFamily="34" charset="0"/>
              </a:rPr>
              <a:t>không </a:t>
            </a:r>
            <a:r>
              <a:rPr lang="vi-VN">
                <a:solidFill>
                  <a:schemeClr val="tx1">
                    <a:lumMod val="95000"/>
                    <a:lumOff val="5000"/>
                  </a:schemeClr>
                </a:solidFill>
                <a:latin typeface="Arial" pitchFamily="34" charset="0"/>
                <a:cs typeface="Arial" pitchFamily="34" charset="0"/>
              </a:rPr>
              <a:t>tìm thấy nhưng tìm thấy một template có thể dùng </a:t>
            </a:r>
            <a:r>
              <a:rPr lang="vi-VN" smtClean="0">
                <a:solidFill>
                  <a:schemeClr val="tx1">
                    <a:lumMod val="95000"/>
                    <a:lumOff val="5000"/>
                  </a:schemeClr>
                </a:solidFill>
                <a:latin typeface="Arial" pitchFamily="34" charset="0"/>
                <a:cs typeface="Arial" pitchFamily="34" charset="0"/>
              </a:rPr>
              <a:t>được</a:t>
            </a:r>
            <a:r>
              <a:rPr lang="en-US" smtClean="0">
                <a:solidFill>
                  <a:schemeClr val="tx1">
                    <a:lumMod val="95000"/>
                    <a:lumOff val="5000"/>
                  </a:schemeClr>
                </a:solidFill>
                <a:latin typeface="Arial" pitchFamily="34" charset="0"/>
                <a:cs typeface="Arial" pitchFamily="34" charset="0"/>
              </a:rPr>
              <a:t>.</a:t>
            </a:r>
            <a:endParaRPr lang="vi-VN">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15</a:t>
            </a:fld>
            <a:endParaRPr lang="en-US"/>
          </a:p>
        </p:txBody>
      </p:sp>
    </p:spTree>
    <p:extLst>
      <p:ext uri="{BB962C8B-B14F-4D97-AF65-F5344CB8AC3E}">
        <p14:creationId xmlns:p14="http://schemas.microsoft.com/office/powerpoint/2010/main" val="5494106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hàm</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smtClean="0">
                <a:solidFill>
                  <a:schemeClr val="tx1">
                    <a:lumMod val="95000"/>
                    <a:lumOff val="5000"/>
                  </a:schemeClr>
                </a:solidFill>
                <a:latin typeface="Arial" pitchFamily="34" charset="0"/>
                <a:cs typeface="Arial" pitchFamily="34" charset="0"/>
              </a:rPr>
              <a:t>Tiếp </a:t>
            </a:r>
            <a:r>
              <a:rPr lang="vi-VN" sz="2800">
                <a:solidFill>
                  <a:schemeClr val="tx1">
                    <a:lumMod val="95000"/>
                    <a:lumOff val="5000"/>
                  </a:schemeClr>
                </a:solidFill>
                <a:latin typeface="Arial" pitchFamily="34" charset="0"/>
                <a:cs typeface="Arial" pitchFamily="34" charset="0"/>
              </a:rPr>
              <a:t>theo, nó </a:t>
            </a:r>
            <a:r>
              <a:rPr lang="vi-VN" sz="2800">
                <a:solidFill>
                  <a:srgbClr val="0066FF"/>
                </a:solidFill>
                <a:latin typeface="Arial" pitchFamily="34" charset="0"/>
                <a:cs typeface="Arial" pitchFamily="34" charset="0"/>
              </a:rPr>
              <a:t>xem xét khai báo của template swap()</a:t>
            </a:r>
            <a:r>
              <a:rPr lang="vi-VN" sz="2800">
                <a:solidFill>
                  <a:schemeClr val="tx1">
                    <a:lumMod val="95000"/>
                    <a:lumOff val="5000"/>
                  </a:schemeClr>
                </a:solidFill>
                <a:latin typeface="Arial" pitchFamily="34" charset="0"/>
                <a:cs typeface="Arial" pitchFamily="34" charset="0"/>
              </a:rPr>
              <a:t> để xem có thể khớp được với lời gọi hàm hay </a:t>
            </a:r>
            <a:r>
              <a:rPr lang="vi-VN" sz="2800" smtClean="0">
                <a:solidFill>
                  <a:schemeClr val="tx1">
                    <a:lumMod val="95000"/>
                    <a:lumOff val="5000"/>
                  </a:schemeClr>
                </a:solidFill>
                <a:latin typeface="Arial" pitchFamily="34" charset="0"/>
                <a:cs typeface="Arial" pitchFamily="34" charset="0"/>
              </a:rPr>
              <a:t>không</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Lời gọi hàm cung cấp hai tham số thuộc cùng một kiểu (int)</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Trình biên dịch thấy template chỉ ra hai tham số thuộc cùng kiểu T, nên nó kết luận rằng T phải là kiểu int</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Do đó, trình biên dịch kết luận rằng template khớp với lời gọi hàm</a:t>
            </a:r>
            <a:endParaRPr lang="vi-VN" sz="24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16</a:t>
            </a:fld>
            <a:endParaRPr lang="en-US"/>
          </a:p>
        </p:txBody>
      </p:sp>
    </p:spTree>
    <p:extLst>
      <p:ext uri="{BB962C8B-B14F-4D97-AF65-F5344CB8AC3E}">
        <p14:creationId xmlns:p14="http://schemas.microsoft.com/office/powerpoint/2010/main" val="42744918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hàm</a:t>
            </a:r>
          </a:p>
        </p:txBody>
      </p:sp>
      <p:sp>
        <p:nvSpPr>
          <p:cNvPr id="3" name="Content Placeholder 2"/>
          <p:cNvSpPr>
            <a:spLocks noGrp="1"/>
          </p:cNvSpPr>
          <p:nvPr>
            <p:ph idx="1"/>
          </p:nvPr>
        </p:nvSpPr>
        <p:spPr>
          <a:xfrm>
            <a:off x="457200" y="1447800"/>
            <a:ext cx="8382000" cy="5029200"/>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Khi đã xác định được </a:t>
            </a:r>
            <a:r>
              <a:rPr lang="vi-VN" sz="2800">
                <a:solidFill>
                  <a:srgbClr val="0066FF"/>
                </a:solidFill>
                <a:latin typeface="Arial" pitchFamily="34" charset="0"/>
                <a:cs typeface="Arial" pitchFamily="34" charset="0"/>
              </a:rPr>
              <a:t>template khớp với lời gọi hàm</a:t>
            </a:r>
            <a:r>
              <a:rPr lang="vi-VN" sz="2800">
                <a:solidFill>
                  <a:schemeClr val="tx1">
                    <a:lumMod val="95000"/>
                    <a:lumOff val="5000"/>
                  </a:schemeClr>
                </a:solidFill>
                <a:latin typeface="Arial" pitchFamily="34" charset="0"/>
                <a:cs typeface="Arial" pitchFamily="34" charset="0"/>
              </a:rPr>
              <a:t>, trình biên dịch kiểm tra xem đã có một phiên bản của swap() với hai tham số kiểu int được sinh ra từ template hay </a:t>
            </a:r>
            <a:r>
              <a:rPr lang="vi-VN" sz="2800" smtClean="0">
                <a:solidFill>
                  <a:schemeClr val="tx1">
                    <a:lumMod val="95000"/>
                    <a:lumOff val="5000"/>
                  </a:schemeClr>
                </a:solidFill>
                <a:latin typeface="Arial" pitchFamily="34" charset="0"/>
                <a:cs typeface="Arial" pitchFamily="34" charset="0"/>
              </a:rPr>
              <a:t>chưa</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Nếu đã có, lời gọi được liên kết (bind) với phiên bản đã được sinh ra</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Nếu không, trình biên dịch sẽ sinh một cài đặt của swap() lấy hai tham số kiểu int </a:t>
            </a:r>
            <a:r>
              <a:rPr lang="en-US" sz="2400">
                <a:solidFill>
                  <a:schemeClr val="tx1">
                    <a:lumMod val="95000"/>
                    <a:lumOff val="5000"/>
                  </a:schemeClr>
                </a:solidFill>
                <a:latin typeface="Arial" pitchFamily="34" charset="0"/>
                <a:cs typeface="Arial" pitchFamily="34" charset="0"/>
              </a:rPr>
              <a:t>-</a:t>
            </a:r>
            <a:r>
              <a:rPr lang="vi-VN" sz="2400" smtClean="0">
                <a:solidFill>
                  <a:schemeClr val="tx1">
                    <a:lumMod val="95000"/>
                    <a:lumOff val="5000"/>
                  </a:schemeClr>
                </a:solidFill>
                <a:latin typeface="Arial" pitchFamily="34" charset="0"/>
                <a:cs typeface="Arial" pitchFamily="34" charset="0"/>
              </a:rPr>
              <a:t> </a:t>
            </a:r>
            <a:r>
              <a:rPr lang="vi-VN" sz="2400">
                <a:solidFill>
                  <a:schemeClr val="tx1">
                    <a:lumMod val="95000"/>
                    <a:lumOff val="5000"/>
                  </a:schemeClr>
                </a:solidFill>
                <a:latin typeface="Arial" pitchFamily="34" charset="0"/>
                <a:cs typeface="Arial" pitchFamily="34" charset="0"/>
              </a:rPr>
              <a:t>và liên kết lời gọi hàm với phiên bản vừa </a:t>
            </a:r>
            <a:r>
              <a:rPr lang="vi-VN" sz="2400" smtClean="0">
                <a:solidFill>
                  <a:schemeClr val="tx1">
                    <a:lumMod val="95000"/>
                    <a:lumOff val="5000"/>
                  </a:schemeClr>
                </a:solidFill>
                <a:latin typeface="Arial" pitchFamily="34" charset="0"/>
                <a:cs typeface="Arial" pitchFamily="34" charset="0"/>
              </a:rPr>
              <a:t>sinh</a:t>
            </a:r>
            <a:r>
              <a:rPr lang="en-US" sz="2400" smtClean="0">
                <a:solidFill>
                  <a:schemeClr val="tx1">
                    <a:lumMod val="95000"/>
                    <a:lumOff val="5000"/>
                  </a:schemeClr>
                </a:solidFill>
                <a:latin typeface="Arial" pitchFamily="34" charset="0"/>
                <a:cs typeface="Arial" pitchFamily="34" charset="0"/>
              </a:rPr>
              <a:t>.</a:t>
            </a:r>
            <a:endParaRPr lang="vi-VN" sz="24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17</a:t>
            </a:fld>
            <a:endParaRPr lang="en-US"/>
          </a:p>
        </p:txBody>
      </p:sp>
    </p:spTree>
    <p:extLst>
      <p:ext uri="{BB962C8B-B14F-4D97-AF65-F5344CB8AC3E}">
        <p14:creationId xmlns:p14="http://schemas.microsoft.com/office/powerpoint/2010/main" val="5494106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hàm</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smtClean="0">
                <a:solidFill>
                  <a:schemeClr val="tx1">
                    <a:lumMod val="95000"/>
                    <a:lumOff val="5000"/>
                  </a:schemeClr>
                </a:solidFill>
                <a:latin typeface="Arial" pitchFamily="34" charset="0"/>
                <a:cs typeface="Arial" pitchFamily="34" charset="0"/>
              </a:rPr>
              <a:t>Như v</a:t>
            </a:r>
            <a:r>
              <a:rPr lang="vi-VN" sz="2800" smtClean="0">
                <a:solidFill>
                  <a:schemeClr val="tx1">
                    <a:lumMod val="95000"/>
                    <a:lumOff val="5000"/>
                  </a:schemeClr>
                </a:solidFill>
                <a:latin typeface="Arial" pitchFamily="34" charset="0"/>
                <a:cs typeface="Arial" pitchFamily="34" charset="0"/>
              </a:rPr>
              <a:t>ậy</a:t>
            </a:r>
            <a:r>
              <a:rPr lang="vi-VN" sz="2800">
                <a:solidFill>
                  <a:schemeClr val="tx1">
                    <a:lumMod val="95000"/>
                    <a:lumOff val="5000"/>
                  </a:schemeClr>
                </a:solidFill>
                <a:latin typeface="Arial" pitchFamily="34" charset="0"/>
                <a:cs typeface="Arial" pitchFamily="34" charset="0"/>
              </a:rPr>
              <a:t>, đến cuối quy trình biên dịch đoạn mã trong ví dụ, </a:t>
            </a:r>
            <a:r>
              <a:rPr lang="vi-VN" sz="2800">
                <a:solidFill>
                  <a:srgbClr val="0066FF"/>
                </a:solidFill>
                <a:latin typeface="Arial" pitchFamily="34" charset="0"/>
                <a:cs typeface="Arial" pitchFamily="34" charset="0"/>
              </a:rPr>
              <a:t>sẽ có hai phiên bản của swap() được </a:t>
            </a:r>
            <a:r>
              <a:rPr lang="vi-VN" sz="2800" smtClean="0">
                <a:solidFill>
                  <a:srgbClr val="0066FF"/>
                </a:solidFill>
                <a:latin typeface="Arial" pitchFamily="34" charset="0"/>
                <a:cs typeface="Arial" pitchFamily="34" charset="0"/>
              </a:rPr>
              <a:t>tạo</a:t>
            </a:r>
            <a:r>
              <a:rPr lang="vi-VN" sz="2800" smtClean="0">
                <a:solidFill>
                  <a:schemeClr val="tx1">
                    <a:lumMod val="95000"/>
                    <a:lumOff val="5000"/>
                  </a:schemeClr>
                </a:solidFill>
                <a:latin typeface="Arial" pitchFamily="34" charset="0"/>
                <a:cs typeface="Arial" pitchFamily="34" charset="0"/>
              </a:rPr>
              <a:t> </a:t>
            </a:r>
            <a:r>
              <a:rPr lang="vi-VN" sz="2800">
                <a:solidFill>
                  <a:schemeClr val="tx1">
                    <a:lumMod val="95000"/>
                    <a:lumOff val="5000"/>
                  </a:schemeClr>
                </a:solidFill>
                <a:latin typeface="Arial" pitchFamily="34" charset="0"/>
                <a:cs typeface="Arial" pitchFamily="34" charset="0"/>
              </a:rPr>
              <a:t>với các lời gọi hàm của ta được liên kết với phiên bản thích </a:t>
            </a:r>
            <a:r>
              <a:rPr lang="vi-VN" sz="2800" smtClean="0">
                <a:solidFill>
                  <a:schemeClr val="tx1">
                    <a:lumMod val="95000"/>
                    <a:lumOff val="5000"/>
                  </a:schemeClr>
                </a:solidFill>
                <a:latin typeface="Arial" pitchFamily="34" charset="0"/>
                <a:cs typeface="Arial" pitchFamily="34" charset="0"/>
              </a:rPr>
              <a:t>hợp</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v"/>
            </a:pPr>
            <a:r>
              <a:rPr lang="en-US" sz="2400" smtClean="0">
                <a:solidFill>
                  <a:schemeClr val="tx1">
                    <a:lumMod val="95000"/>
                    <a:lumOff val="5000"/>
                  </a:schemeClr>
                </a:solidFill>
                <a:latin typeface="Arial" pitchFamily="34" charset="0"/>
                <a:cs typeface="Arial" pitchFamily="34" charset="0"/>
              </a:rPr>
              <a:t>C</a:t>
            </a:r>
            <a:r>
              <a:rPr lang="vi-VN" sz="2400" smtClean="0">
                <a:solidFill>
                  <a:schemeClr val="tx1">
                    <a:lumMod val="95000"/>
                    <a:lumOff val="5000"/>
                  </a:schemeClr>
                </a:solidFill>
                <a:latin typeface="Arial" pitchFamily="34" charset="0"/>
                <a:cs typeface="Arial" pitchFamily="34" charset="0"/>
              </a:rPr>
              <a:t>hi </a:t>
            </a:r>
            <a:r>
              <a:rPr lang="vi-VN" sz="2400">
                <a:solidFill>
                  <a:schemeClr val="tx1">
                    <a:lumMod val="95000"/>
                    <a:lumOff val="5000"/>
                  </a:schemeClr>
                </a:solidFill>
                <a:latin typeface="Arial" pitchFamily="34" charset="0"/>
                <a:cs typeface="Arial" pitchFamily="34" charset="0"/>
              </a:rPr>
              <a:t>phí </a:t>
            </a:r>
            <a:r>
              <a:rPr lang="vi-VN" sz="2400" smtClean="0">
                <a:solidFill>
                  <a:schemeClr val="tx1">
                    <a:lumMod val="95000"/>
                    <a:lumOff val="5000"/>
                  </a:schemeClr>
                </a:solidFill>
                <a:latin typeface="Arial" pitchFamily="34" charset="0"/>
                <a:cs typeface="Arial" pitchFamily="34" charset="0"/>
              </a:rPr>
              <a:t>về </a:t>
            </a:r>
            <a:r>
              <a:rPr lang="vi-VN" sz="2400">
                <a:solidFill>
                  <a:schemeClr val="tx1">
                    <a:lumMod val="95000"/>
                    <a:lumOff val="5000"/>
                  </a:schemeClr>
                </a:solidFill>
                <a:latin typeface="Arial" pitchFamily="34" charset="0"/>
                <a:cs typeface="Arial" pitchFamily="34" charset="0"/>
              </a:rPr>
              <a:t>thời gian biên dịch đối với việc sử dụng </a:t>
            </a:r>
            <a:r>
              <a:rPr lang="vi-VN" sz="2400" smtClean="0">
                <a:solidFill>
                  <a:schemeClr val="tx1">
                    <a:lumMod val="95000"/>
                    <a:lumOff val="5000"/>
                  </a:schemeClr>
                </a:solidFill>
                <a:latin typeface="Arial" pitchFamily="34" charset="0"/>
                <a:cs typeface="Arial" pitchFamily="34" charset="0"/>
              </a:rPr>
              <a:t>template</a:t>
            </a:r>
            <a:r>
              <a:rPr lang="en-US" sz="2400" smtClean="0">
                <a:solidFill>
                  <a:schemeClr val="tx1">
                    <a:lumMod val="95000"/>
                    <a:lumOff val="5000"/>
                  </a:schemeClr>
                </a:solidFill>
                <a:latin typeface="Arial" pitchFamily="34" charset="0"/>
                <a:cs typeface="Arial" pitchFamily="34" charset="0"/>
              </a:rPr>
              <a:t>?</a:t>
            </a:r>
            <a:endParaRPr lang="vi-VN" sz="24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v"/>
            </a:pPr>
            <a:r>
              <a:rPr lang="en-US" sz="2400" smtClean="0">
                <a:solidFill>
                  <a:schemeClr val="tx1">
                    <a:lumMod val="95000"/>
                    <a:lumOff val="5000"/>
                  </a:schemeClr>
                </a:solidFill>
                <a:latin typeface="Arial" pitchFamily="34" charset="0"/>
                <a:cs typeface="Arial" pitchFamily="34" charset="0"/>
              </a:rPr>
              <a:t>C</a:t>
            </a:r>
            <a:r>
              <a:rPr lang="vi-VN" sz="2400" smtClean="0">
                <a:solidFill>
                  <a:schemeClr val="tx1">
                    <a:lumMod val="95000"/>
                    <a:lumOff val="5000"/>
                  </a:schemeClr>
                </a:solidFill>
                <a:latin typeface="Arial" pitchFamily="34" charset="0"/>
                <a:cs typeface="Arial" pitchFamily="34" charset="0"/>
              </a:rPr>
              <a:t>hi </a:t>
            </a:r>
            <a:r>
              <a:rPr lang="vi-VN" sz="2400">
                <a:solidFill>
                  <a:schemeClr val="tx1">
                    <a:lumMod val="95000"/>
                    <a:lumOff val="5000"/>
                  </a:schemeClr>
                </a:solidFill>
                <a:latin typeface="Arial" pitchFamily="34" charset="0"/>
                <a:cs typeface="Arial" pitchFamily="34" charset="0"/>
              </a:rPr>
              <a:t>phí </a:t>
            </a:r>
            <a:r>
              <a:rPr lang="vi-VN" sz="2400" smtClean="0">
                <a:solidFill>
                  <a:schemeClr val="tx1">
                    <a:lumMod val="95000"/>
                    <a:lumOff val="5000"/>
                  </a:schemeClr>
                </a:solidFill>
                <a:latin typeface="Arial" pitchFamily="34" charset="0"/>
                <a:cs typeface="Arial" pitchFamily="34" charset="0"/>
              </a:rPr>
              <a:t>về </a:t>
            </a:r>
            <a:r>
              <a:rPr lang="vi-VN" sz="2400">
                <a:solidFill>
                  <a:schemeClr val="tx1">
                    <a:lumMod val="95000"/>
                    <a:lumOff val="5000"/>
                  </a:schemeClr>
                </a:solidFill>
                <a:latin typeface="Arial" pitchFamily="34" charset="0"/>
                <a:cs typeface="Arial" pitchFamily="34" charset="0"/>
              </a:rPr>
              <a:t>không gian liên quan đến mỗi cài đặt của swap() được tạo trong khi biên </a:t>
            </a:r>
            <a:r>
              <a:rPr lang="vi-VN" sz="2400" smtClean="0">
                <a:solidFill>
                  <a:schemeClr val="tx1">
                    <a:lumMod val="95000"/>
                    <a:lumOff val="5000"/>
                  </a:schemeClr>
                </a:solidFill>
                <a:latin typeface="Arial" pitchFamily="34" charset="0"/>
                <a:cs typeface="Arial" pitchFamily="34" charset="0"/>
              </a:rPr>
              <a:t>dịch</a:t>
            </a:r>
            <a:r>
              <a:rPr lang="en-US" sz="2400" smtClean="0">
                <a:solidFill>
                  <a:schemeClr val="tx1">
                    <a:lumMod val="95000"/>
                    <a:lumOff val="5000"/>
                  </a:schemeClr>
                </a:solidFill>
                <a:latin typeface="Arial" pitchFamily="34" charset="0"/>
                <a:cs typeface="Arial" pitchFamily="34" charset="0"/>
              </a:rPr>
              <a:t>?</a:t>
            </a:r>
            <a:endParaRPr lang="vi-VN" sz="24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18</a:t>
            </a:fld>
            <a:endParaRPr lang="en-US"/>
          </a:p>
        </p:txBody>
      </p:sp>
    </p:spTree>
    <p:extLst>
      <p:ext uri="{BB962C8B-B14F-4D97-AF65-F5344CB8AC3E}">
        <p14:creationId xmlns:p14="http://schemas.microsoft.com/office/powerpoint/2010/main" val="31749015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a:t>
            </a:r>
            <a:r>
              <a:rPr lang="en-US" b="1" smtClean="0">
                <a:effectLst>
                  <a:outerShdw blurRad="38100" dist="38100" dir="2700000" algn="tl">
                    <a:srgbClr val="000000">
                      <a:alpha val="43137"/>
                    </a:srgbClr>
                  </a:outerShdw>
                </a:effectLst>
                <a:latin typeface="Arial" pitchFamily="34" charset="0"/>
                <a:cs typeface="Arial" pitchFamily="34" charset="0"/>
              </a:rPr>
              <a:t>lớp</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Tương tự với khuôn mẫu hàm với tham số thuộc các kiểu </a:t>
            </a:r>
            <a:r>
              <a:rPr lang="en-US" sz="2800" smtClean="0">
                <a:solidFill>
                  <a:schemeClr val="tx1">
                    <a:lumMod val="95000"/>
                    <a:lumOff val="5000"/>
                  </a:schemeClr>
                </a:solidFill>
                <a:latin typeface="Arial" pitchFamily="34" charset="0"/>
                <a:cs typeface="Arial" pitchFamily="34" charset="0"/>
              </a:rPr>
              <a:t>tùy </a:t>
            </a:r>
            <a:r>
              <a:rPr lang="vi-VN" sz="2800" smtClean="0">
                <a:solidFill>
                  <a:schemeClr val="tx1">
                    <a:lumMod val="95000"/>
                    <a:lumOff val="5000"/>
                  </a:schemeClr>
                </a:solidFill>
                <a:latin typeface="Arial" pitchFamily="34" charset="0"/>
                <a:cs typeface="Arial" pitchFamily="34" charset="0"/>
              </a:rPr>
              <a:t>ý</a:t>
            </a:r>
            <a:r>
              <a:rPr lang="vi-VN" sz="2800">
                <a:solidFill>
                  <a:schemeClr val="tx1">
                    <a:lumMod val="95000"/>
                    <a:lumOff val="5000"/>
                  </a:schemeClr>
                </a:solidFill>
                <a:latin typeface="Arial" pitchFamily="34" charset="0"/>
                <a:cs typeface="Arial" pitchFamily="34" charset="0"/>
              </a:rPr>
              <a:t>, ta cũng có thể định nghĩa </a:t>
            </a:r>
            <a:r>
              <a:rPr lang="vi-VN" sz="2800">
                <a:solidFill>
                  <a:srgbClr val="0000FF"/>
                </a:solidFill>
                <a:latin typeface="Arial" pitchFamily="34" charset="0"/>
                <a:cs typeface="Arial" pitchFamily="34" charset="0"/>
              </a:rPr>
              <a:t>khuôn mẫu lớp (class template) </a:t>
            </a:r>
            <a:r>
              <a:rPr lang="vi-VN" sz="2800">
                <a:solidFill>
                  <a:schemeClr val="tx1">
                    <a:lumMod val="95000"/>
                    <a:lumOff val="5000"/>
                  </a:schemeClr>
                </a:solidFill>
                <a:latin typeface="Arial" pitchFamily="34" charset="0"/>
                <a:cs typeface="Arial" pitchFamily="34" charset="0"/>
              </a:rPr>
              <a:t>sử dụng các thể hiện của một hoặc nhiều kiểu dữ liệu </a:t>
            </a:r>
            <a:r>
              <a:rPr lang="vi-VN" sz="2800" smtClean="0">
                <a:solidFill>
                  <a:schemeClr val="tx1">
                    <a:lumMod val="95000"/>
                    <a:lumOff val="5000"/>
                  </a:schemeClr>
                </a:solidFill>
                <a:latin typeface="Arial" pitchFamily="34" charset="0"/>
                <a:cs typeface="Arial" pitchFamily="34" charset="0"/>
              </a:rPr>
              <a:t>t</a:t>
            </a:r>
            <a:r>
              <a:rPr lang="en-US" sz="2800" smtClean="0">
                <a:solidFill>
                  <a:schemeClr val="tx1">
                    <a:lumMod val="95000"/>
                    <a:lumOff val="5000"/>
                  </a:schemeClr>
                </a:solidFill>
                <a:latin typeface="Arial" pitchFamily="34" charset="0"/>
                <a:cs typeface="Arial" pitchFamily="34" charset="0"/>
              </a:rPr>
              <a:t>ùy</a:t>
            </a:r>
            <a:r>
              <a:rPr lang="vi-VN" sz="2800" smtClean="0">
                <a:solidFill>
                  <a:schemeClr val="tx1">
                    <a:lumMod val="95000"/>
                    <a:lumOff val="5000"/>
                  </a:schemeClr>
                </a:solidFill>
                <a:latin typeface="Arial" pitchFamily="34" charset="0"/>
                <a:cs typeface="Arial" pitchFamily="34" charset="0"/>
              </a:rPr>
              <a:t> ý</a:t>
            </a:r>
            <a:r>
              <a:rPr lang="en-US" sz="2800" smtClean="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en-US" sz="2800" smtClean="0">
                <a:solidFill>
                  <a:schemeClr val="tx1">
                    <a:lumMod val="95000"/>
                    <a:lumOff val="5000"/>
                  </a:schemeClr>
                </a:solidFill>
                <a:latin typeface="Arial" pitchFamily="34" charset="0"/>
                <a:cs typeface="Arial" pitchFamily="34" charset="0"/>
              </a:rPr>
              <a:t>Việc k</a:t>
            </a:r>
            <a:r>
              <a:rPr lang="vi-VN" sz="2800" smtClean="0">
                <a:solidFill>
                  <a:schemeClr val="tx1">
                    <a:lumMod val="95000"/>
                    <a:lumOff val="5000"/>
                  </a:schemeClr>
                </a:solidFill>
                <a:latin typeface="Arial" pitchFamily="34" charset="0"/>
                <a:cs typeface="Arial" pitchFamily="34" charset="0"/>
              </a:rPr>
              <a:t>hai </a:t>
            </a:r>
            <a:r>
              <a:rPr lang="vi-VN" sz="2800">
                <a:solidFill>
                  <a:schemeClr val="tx1">
                    <a:lumMod val="95000"/>
                    <a:lumOff val="5000"/>
                  </a:schemeClr>
                </a:solidFill>
                <a:latin typeface="Arial" pitchFamily="34" charset="0"/>
                <a:cs typeface="Arial" pitchFamily="34" charset="0"/>
              </a:rPr>
              <a:t>báo một khuôn mẫu lớp cũng tương tự với khuôn mẫu hàm</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19</a:t>
            </a:fld>
            <a:endParaRPr lang="en-US"/>
          </a:p>
        </p:txBody>
      </p:sp>
      <p:sp>
        <p:nvSpPr>
          <p:cNvPr id="7" name="Rectangle 3"/>
          <p:cNvSpPr>
            <a:spLocks noChangeArrowheads="1"/>
          </p:cNvSpPr>
          <p:nvPr/>
        </p:nvSpPr>
        <p:spPr bwMode="auto">
          <a:xfrm>
            <a:off x="914400" y="4876800"/>
            <a:ext cx="7772400" cy="1600200"/>
          </a:xfrm>
          <a:prstGeom prst="rect">
            <a:avLst/>
          </a:prstGeom>
          <a:solidFill>
            <a:srgbClr val="CCFFFF"/>
          </a:solidFill>
          <a:ln w="9525">
            <a:noFill/>
            <a:miter lim="800000"/>
            <a:headEnd/>
            <a:tailEnd/>
          </a:ln>
        </p:spPr>
        <p:txBody>
          <a:bodyPr/>
          <a:lstStyle/>
          <a:p>
            <a:pPr marL="342900" indent="-342900">
              <a:lnSpc>
                <a:spcPct val="120000"/>
              </a:lnSpc>
              <a:spcBef>
                <a:spcPts val="300"/>
              </a:spcBef>
              <a:buFont typeface="Wingdings" pitchFamily="2" charset="2"/>
              <a:buNone/>
            </a:pPr>
            <a:r>
              <a:rPr lang="en-US" sz="2600" b="0">
                <a:solidFill>
                  <a:srgbClr val="0000FF"/>
                </a:solidFill>
              </a:rPr>
              <a:t>template</a:t>
            </a:r>
            <a:r>
              <a:rPr lang="en-US" sz="2600" b="0">
                <a:solidFill>
                  <a:schemeClr val="tx1">
                    <a:lumMod val="95000"/>
                    <a:lumOff val="5000"/>
                  </a:schemeClr>
                </a:solidFill>
              </a:rPr>
              <a:t> &lt;</a:t>
            </a:r>
            <a:r>
              <a:rPr lang="en-US" sz="2600" b="0">
                <a:solidFill>
                  <a:srgbClr val="0000FF"/>
                </a:solidFill>
              </a:rPr>
              <a:t>class</a:t>
            </a:r>
            <a:r>
              <a:rPr lang="en-US" sz="2600" b="0">
                <a:solidFill>
                  <a:schemeClr val="tx1">
                    <a:lumMod val="95000"/>
                    <a:lumOff val="5000"/>
                  </a:schemeClr>
                </a:solidFill>
              </a:rPr>
              <a:t> T&gt; </a:t>
            </a:r>
            <a:r>
              <a:rPr lang="en-US" sz="2600" b="0">
                <a:solidFill>
                  <a:srgbClr val="0000FF"/>
                </a:solidFill>
              </a:rPr>
              <a:t>class</a:t>
            </a:r>
            <a:r>
              <a:rPr lang="en-US" sz="2600" b="0">
                <a:solidFill>
                  <a:schemeClr val="tx1">
                    <a:lumMod val="95000"/>
                    <a:lumOff val="5000"/>
                  </a:schemeClr>
                </a:solidFill>
              </a:rPr>
              <a:t> ClassName {</a:t>
            </a:r>
          </a:p>
          <a:p>
            <a:pPr marL="342900" indent="-342900">
              <a:lnSpc>
                <a:spcPct val="120000"/>
              </a:lnSpc>
              <a:spcBef>
                <a:spcPts val="300"/>
              </a:spcBef>
              <a:buFont typeface="Wingdings" pitchFamily="2" charset="2"/>
              <a:buNone/>
            </a:pPr>
            <a:r>
              <a:rPr lang="en-US" sz="2600" b="0">
                <a:solidFill>
                  <a:schemeClr val="tx1">
                    <a:lumMod val="95000"/>
                    <a:lumOff val="5000"/>
                  </a:schemeClr>
                </a:solidFill>
              </a:rPr>
              <a:t>   </a:t>
            </a:r>
            <a:r>
              <a:rPr lang="en-US" sz="2600" b="0" smtClean="0">
                <a:solidFill>
                  <a:schemeClr val="tx1">
                    <a:lumMod val="95000"/>
                    <a:lumOff val="5000"/>
                  </a:schemeClr>
                </a:solidFill>
              </a:rPr>
              <a:t>		definition</a:t>
            </a:r>
            <a:endParaRPr lang="en-US" sz="2600" b="0">
              <a:solidFill>
                <a:schemeClr val="tx1">
                  <a:lumMod val="95000"/>
                  <a:lumOff val="5000"/>
                </a:schemeClr>
              </a:solidFill>
            </a:endParaRPr>
          </a:p>
          <a:p>
            <a:pPr marL="342900" indent="-342900">
              <a:lnSpc>
                <a:spcPct val="120000"/>
              </a:lnSpc>
              <a:spcBef>
                <a:spcPts val="300"/>
              </a:spcBef>
              <a:buFont typeface="Wingdings" pitchFamily="2" charset="2"/>
              <a:buNone/>
            </a:pPr>
            <a:r>
              <a:rPr lang="en-US" sz="2600" b="0">
                <a:solidFill>
                  <a:schemeClr val="tx1">
                    <a:lumMod val="95000"/>
                    <a:lumOff val="5000"/>
                  </a:schemeClr>
                </a:solidFill>
              </a:rPr>
              <a:t>}</a:t>
            </a:r>
          </a:p>
        </p:txBody>
      </p:sp>
    </p:spTree>
    <p:extLst>
      <p:ext uri="{BB962C8B-B14F-4D97-AF65-F5344CB8AC3E}">
        <p14:creationId xmlns:p14="http://schemas.microsoft.com/office/powerpoint/2010/main" val="31749015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a:t>
            </a:r>
            <a:r>
              <a:rPr lang="en-US" b="1" smtClean="0">
                <a:effectLst>
                  <a:outerShdw blurRad="38100" dist="38100" dir="2700000" algn="tl">
                    <a:srgbClr val="000000">
                      <a:alpha val="43137"/>
                    </a:srgbClr>
                  </a:outerShdw>
                </a:effectLst>
                <a:latin typeface="Arial" pitchFamily="34" charset="0"/>
                <a:cs typeface="Arial" pitchFamily="34" charset="0"/>
              </a:rPr>
              <a:t>lớp</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Ví dụ: ta sẽ tạo một cấu trúc cặp đôi giữ một cặp giá </a:t>
            </a:r>
            <a:r>
              <a:rPr lang="vi-VN" sz="2800" smtClean="0">
                <a:solidFill>
                  <a:schemeClr val="tx1">
                    <a:lumMod val="95000"/>
                    <a:lumOff val="5000"/>
                  </a:schemeClr>
                </a:solidFill>
                <a:latin typeface="Arial" pitchFamily="34" charset="0"/>
                <a:cs typeface="Arial" pitchFamily="34" charset="0"/>
              </a:rPr>
              <a:t>trị thuộc </a:t>
            </a:r>
            <a:r>
              <a:rPr lang="vi-VN" sz="2800">
                <a:solidFill>
                  <a:schemeClr val="tx1">
                    <a:lumMod val="95000"/>
                    <a:lumOff val="5000"/>
                  </a:schemeClr>
                </a:solidFill>
                <a:latin typeface="Arial" pitchFamily="34" charset="0"/>
                <a:cs typeface="Arial" pitchFamily="34" charset="0"/>
              </a:rPr>
              <a:t>kiểu </a:t>
            </a:r>
            <a:r>
              <a:rPr lang="vi-VN" sz="2800" smtClean="0">
                <a:solidFill>
                  <a:schemeClr val="tx1">
                    <a:lumMod val="95000"/>
                    <a:lumOff val="5000"/>
                  </a:schemeClr>
                </a:solidFill>
                <a:latin typeface="Arial" pitchFamily="34" charset="0"/>
                <a:cs typeface="Arial" pitchFamily="34" charset="0"/>
              </a:rPr>
              <a:t>t</a:t>
            </a:r>
            <a:r>
              <a:rPr lang="en-US" sz="2800" smtClean="0">
                <a:solidFill>
                  <a:schemeClr val="tx1">
                    <a:lumMod val="95000"/>
                    <a:lumOff val="5000"/>
                  </a:schemeClr>
                </a:solidFill>
                <a:latin typeface="Arial" pitchFamily="34" charset="0"/>
                <a:cs typeface="Arial" pitchFamily="34" charset="0"/>
              </a:rPr>
              <a:t>ùy</a:t>
            </a:r>
            <a:r>
              <a:rPr lang="vi-VN" sz="2800" smtClean="0">
                <a:solidFill>
                  <a:schemeClr val="tx1">
                    <a:lumMod val="95000"/>
                    <a:lumOff val="5000"/>
                  </a:schemeClr>
                </a:solidFill>
                <a:latin typeface="Arial" pitchFamily="34" charset="0"/>
                <a:cs typeface="Arial" pitchFamily="34" charset="0"/>
              </a:rPr>
              <a:t> ý</a:t>
            </a:r>
            <a:r>
              <a:rPr lang="en-US" sz="2800" smtClean="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Trước hết, xét khai báo Pair cho một cặp giá trị </a:t>
            </a:r>
            <a:r>
              <a:rPr lang="vi-VN" sz="2800">
                <a:solidFill>
                  <a:srgbClr val="0000FF"/>
                </a:solidFill>
                <a:latin typeface="Arial" pitchFamily="34" charset="0"/>
                <a:cs typeface="Arial" pitchFamily="34" charset="0"/>
              </a:rPr>
              <a:t>kiểu </a:t>
            </a:r>
            <a:r>
              <a:rPr lang="vi-VN" sz="2800" smtClean="0">
                <a:solidFill>
                  <a:srgbClr val="0000FF"/>
                </a:solidFill>
                <a:latin typeface="Arial" pitchFamily="34" charset="0"/>
                <a:cs typeface="Arial" pitchFamily="34" charset="0"/>
              </a:rPr>
              <a:t>int</a:t>
            </a:r>
            <a:r>
              <a:rPr lang="en-US" sz="2800" smtClean="0">
                <a:solidFill>
                  <a:srgbClr val="0000FF"/>
                </a:solidFill>
                <a:latin typeface="Arial" pitchFamily="34" charset="0"/>
                <a:cs typeface="Arial" pitchFamily="34" charset="0"/>
              </a:rPr>
              <a:t> </a:t>
            </a:r>
            <a:r>
              <a:rPr lang="en-US" sz="2800" smtClean="0">
                <a:solidFill>
                  <a:schemeClr val="tx1">
                    <a:lumMod val="95000"/>
                    <a:lumOff val="5000"/>
                  </a:schemeClr>
                </a:solidFill>
                <a:latin typeface="Arial" pitchFamily="34" charset="0"/>
                <a:cs typeface="Arial" pitchFamily="34" charset="0"/>
              </a:rPr>
              <a:t>như sau:</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20</a:t>
            </a:fld>
            <a:endParaRPr lang="en-US"/>
          </a:p>
        </p:txBody>
      </p:sp>
      <p:sp>
        <p:nvSpPr>
          <p:cNvPr id="7" name="Rectangle 3"/>
          <p:cNvSpPr>
            <a:spLocks noChangeArrowheads="1"/>
          </p:cNvSpPr>
          <p:nvPr/>
        </p:nvSpPr>
        <p:spPr bwMode="auto">
          <a:xfrm>
            <a:off x="914400" y="3962400"/>
            <a:ext cx="7772400" cy="2091560"/>
          </a:xfrm>
          <a:prstGeom prst="rect">
            <a:avLst/>
          </a:prstGeom>
          <a:solidFill>
            <a:srgbClr val="CCFFFF"/>
          </a:solidFill>
          <a:ln w="9525">
            <a:noFill/>
            <a:miter lim="800000"/>
            <a:headEnd/>
            <a:tailEnd/>
          </a:ln>
        </p:spPr>
        <p:txBody>
          <a:bodyPr/>
          <a:lstStyle/>
          <a:p>
            <a:pPr marL="342900" indent="-342900">
              <a:lnSpc>
                <a:spcPct val="120000"/>
              </a:lnSpc>
              <a:spcBef>
                <a:spcPts val="300"/>
              </a:spcBef>
              <a:buFont typeface="Wingdings" pitchFamily="2" charset="2"/>
              <a:buNone/>
            </a:pPr>
            <a:r>
              <a:rPr lang="en-US" sz="2600" b="0">
                <a:solidFill>
                  <a:srgbClr val="0000FF"/>
                </a:solidFill>
              </a:rPr>
              <a:t>s</a:t>
            </a:r>
            <a:r>
              <a:rPr lang="en-US" sz="2600" b="0" smtClean="0">
                <a:solidFill>
                  <a:srgbClr val="0000FF"/>
                </a:solidFill>
              </a:rPr>
              <a:t>truct </a:t>
            </a:r>
            <a:r>
              <a:rPr lang="en-US" sz="2600" b="0" smtClean="0">
                <a:solidFill>
                  <a:schemeClr val="tx1">
                    <a:lumMod val="95000"/>
                    <a:lumOff val="5000"/>
                  </a:schemeClr>
                </a:solidFill>
              </a:rPr>
              <a:t>Pair </a:t>
            </a:r>
            <a:r>
              <a:rPr lang="en-US" sz="2600" b="0">
                <a:solidFill>
                  <a:schemeClr val="tx1">
                    <a:lumMod val="95000"/>
                    <a:lumOff val="5000"/>
                  </a:schemeClr>
                </a:solidFill>
              </a:rPr>
              <a:t>{</a:t>
            </a:r>
          </a:p>
          <a:p>
            <a:pPr marL="342900" indent="-342900">
              <a:lnSpc>
                <a:spcPct val="120000"/>
              </a:lnSpc>
              <a:spcBef>
                <a:spcPts val="300"/>
              </a:spcBef>
              <a:buFont typeface="Wingdings" pitchFamily="2" charset="2"/>
              <a:buNone/>
            </a:pPr>
            <a:r>
              <a:rPr lang="en-US" sz="2600" b="0">
                <a:solidFill>
                  <a:schemeClr val="tx1">
                    <a:lumMod val="95000"/>
                    <a:lumOff val="5000"/>
                  </a:schemeClr>
                </a:solidFill>
              </a:rPr>
              <a:t>	</a:t>
            </a:r>
            <a:r>
              <a:rPr lang="en-US" sz="2600" b="0">
                <a:solidFill>
                  <a:srgbClr val="0000FF"/>
                </a:solidFill>
              </a:rPr>
              <a:t>int</a:t>
            </a:r>
            <a:r>
              <a:rPr lang="en-US" sz="2600" b="0">
                <a:solidFill>
                  <a:schemeClr val="tx1">
                    <a:lumMod val="95000"/>
                    <a:lumOff val="5000"/>
                  </a:schemeClr>
                </a:solidFill>
              </a:rPr>
              <a:t> first;</a:t>
            </a:r>
          </a:p>
          <a:p>
            <a:pPr marL="342900" indent="-342900">
              <a:lnSpc>
                <a:spcPct val="120000"/>
              </a:lnSpc>
              <a:spcBef>
                <a:spcPts val="300"/>
              </a:spcBef>
              <a:buFont typeface="Wingdings" pitchFamily="2" charset="2"/>
              <a:buNone/>
            </a:pPr>
            <a:r>
              <a:rPr lang="en-US" sz="2600" b="0">
                <a:solidFill>
                  <a:schemeClr val="tx1">
                    <a:lumMod val="95000"/>
                    <a:lumOff val="5000"/>
                  </a:schemeClr>
                </a:solidFill>
              </a:rPr>
              <a:t>	</a:t>
            </a:r>
            <a:r>
              <a:rPr lang="en-US" sz="2600" b="0">
                <a:solidFill>
                  <a:srgbClr val="0000FF"/>
                </a:solidFill>
              </a:rPr>
              <a:t>int</a:t>
            </a:r>
            <a:r>
              <a:rPr lang="en-US" sz="2600" b="0">
                <a:solidFill>
                  <a:schemeClr val="tx1">
                    <a:lumMod val="95000"/>
                    <a:lumOff val="5000"/>
                  </a:schemeClr>
                </a:solidFill>
              </a:rPr>
              <a:t> second;</a:t>
            </a:r>
          </a:p>
          <a:p>
            <a:pPr marL="342900" indent="-342900">
              <a:lnSpc>
                <a:spcPct val="120000"/>
              </a:lnSpc>
              <a:spcBef>
                <a:spcPts val="300"/>
              </a:spcBef>
              <a:buFont typeface="Wingdings" pitchFamily="2" charset="2"/>
              <a:buNone/>
            </a:pPr>
            <a:r>
              <a:rPr lang="en-US" sz="2600" b="0">
                <a:solidFill>
                  <a:schemeClr val="tx1">
                    <a:lumMod val="95000"/>
                    <a:lumOff val="5000"/>
                  </a:schemeClr>
                </a:solidFill>
              </a:rPr>
              <a:t>};</a:t>
            </a:r>
          </a:p>
        </p:txBody>
      </p:sp>
    </p:spTree>
    <p:extLst>
      <p:ext uri="{BB962C8B-B14F-4D97-AF65-F5344CB8AC3E}">
        <p14:creationId xmlns:p14="http://schemas.microsoft.com/office/powerpoint/2010/main" val="14694081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a:t>
            </a:r>
            <a:r>
              <a:rPr lang="en-US" b="1" smtClean="0">
                <a:effectLst>
                  <a:outerShdw blurRad="38100" dist="38100" dir="2700000" algn="tl">
                    <a:srgbClr val="000000">
                      <a:alpha val="43137"/>
                    </a:srgbClr>
                  </a:outerShdw>
                </a:effectLst>
                <a:latin typeface="Arial" pitchFamily="34" charset="0"/>
                <a:cs typeface="Arial" pitchFamily="34" charset="0"/>
              </a:rPr>
              <a:t>lớp</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Ta có thể sửa khai báo trên thành một khuôn mẫu lấy kiểu </a:t>
            </a:r>
            <a:r>
              <a:rPr lang="vi-VN" sz="2800" smtClean="0">
                <a:solidFill>
                  <a:schemeClr val="tx1">
                    <a:lumMod val="95000"/>
                    <a:lumOff val="5000"/>
                  </a:schemeClr>
                </a:solidFill>
                <a:latin typeface="Arial" pitchFamily="34" charset="0"/>
                <a:cs typeface="Arial" pitchFamily="34" charset="0"/>
              </a:rPr>
              <a:t>t</a:t>
            </a:r>
            <a:r>
              <a:rPr lang="en-US" sz="2800" smtClean="0">
                <a:solidFill>
                  <a:schemeClr val="tx1">
                    <a:lumMod val="95000"/>
                    <a:lumOff val="5000"/>
                  </a:schemeClr>
                </a:solidFill>
                <a:latin typeface="Arial" pitchFamily="34" charset="0"/>
                <a:cs typeface="Arial" pitchFamily="34" charset="0"/>
              </a:rPr>
              <a:t>ùy</a:t>
            </a:r>
            <a:r>
              <a:rPr lang="vi-VN" sz="2800" smtClean="0">
                <a:solidFill>
                  <a:schemeClr val="tx1">
                    <a:lumMod val="95000"/>
                    <a:lumOff val="5000"/>
                  </a:schemeClr>
                </a:solidFill>
                <a:latin typeface="Arial" pitchFamily="34" charset="0"/>
                <a:cs typeface="Arial" pitchFamily="34" charset="0"/>
              </a:rPr>
              <a:t> </a:t>
            </a:r>
            <a:r>
              <a:rPr lang="vi-VN" sz="2800">
                <a:solidFill>
                  <a:schemeClr val="tx1">
                    <a:lumMod val="95000"/>
                    <a:lumOff val="5000"/>
                  </a:schemeClr>
                </a:solidFill>
                <a:latin typeface="Arial" pitchFamily="34" charset="0"/>
                <a:cs typeface="Arial" pitchFamily="34" charset="0"/>
              </a:rPr>
              <a:t>ý</a:t>
            </a:r>
            <a:r>
              <a:rPr lang="vi-VN" sz="2800" smtClean="0">
                <a:solidFill>
                  <a:schemeClr val="tx1">
                    <a:lumMod val="95000"/>
                    <a:lumOff val="5000"/>
                  </a:schemeClr>
                </a:solidFill>
                <a:latin typeface="Arial" pitchFamily="34" charset="0"/>
                <a:cs typeface="Arial" pitchFamily="34" charset="0"/>
              </a:rPr>
              <a:t>:</a:t>
            </a:r>
            <a:endParaRPr lang="en-US" sz="2800" smtClean="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en-US" sz="2800" smtClean="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en-US" sz="2800" smtClean="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en-US" sz="2800" smtClean="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smtClean="0">
                <a:solidFill>
                  <a:schemeClr val="tx1">
                    <a:lumMod val="95000"/>
                    <a:lumOff val="5000"/>
                  </a:schemeClr>
                </a:solidFill>
                <a:latin typeface="Arial" pitchFamily="34" charset="0"/>
                <a:cs typeface="Arial" pitchFamily="34" charset="0"/>
              </a:rPr>
              <a:t>Tuy nhiên </a:t>
            </a:r>
            <a:r>
              <a:rPr lang="vi-VN" sz="2800">
                <a:solidFill>
                  <a:schemeClr val="tx1">
                    <a:lumMod val="95000"/>
                    <a:lumOff val="5000"/>
                  </a:schemeClr>
                </a:solidFill>
                <a:latin typeface="Arial" pitchFamily="34" charset="0"/>
                <a:cs typeface="Arial" pitchFamily="34" charset="0"/>
              </a:rPr>
              <a:t>hai thành viên first và second phải thuộc cùng kiểu</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21</a:t>
            </a:fld>
            <a:endParaRPr lang="en-US"/>
          </a:p>
        </p:txBody>
      </p:sp>
      <p:sp>
        <p:nvSpPr>
          <p:cNvPr id="7" name="Rectangle 3"/>
          <p:cNvSpPr>
            <a:spLocks noChangeArrowheads="1"/>
          </p:cNvSpPr>
          <p:nvPr/>
        </p:nvSpPr>
        <p:spPr bwMode="auto">
          <a:xfrm>
            <a:off x="914400" y="2590800"/>
            <a:ext cx="7772400" cy="2624960"/>
          </a:xfrm>
          <a:prstGeom prst="rect">
            <a:avLst/>
          </a:prstGeom>
          <a:solidFill>
            <a:srgbClr val="CCFFFF"/>
          </a:solidFill>
          <a:ln w="9525">
            <a:noFill/>
            <a:miter lim="800000"/>
            <a:headEnd/>
            <a:tailEnd/>
          </a:ln>
        </p:spPr>
        <p:txBody>
          <a:bodyPr/>
          <a:lstStyle/>
          <a:p>
            <a:pPr marL="342900" indent="-342900">
              <a:lnSpc>
                <a:spcPct val="120000"/>
              </a:lnSpc>
              <a:spcBef>
                <a:spcPts val="300"/>
              </a:spcBef>
              <a:buFont typeface="Wingdings" pitchFamily="2" charset="2"/>
              <a:buNone/>
            </a:pPr>
            <a:r>
              <a:rPr lang="fr-FR" sz="2600" b="0">
                <a:solidFill>
                  <a:srgbClr val="0000FF"/>
                </a:solidFill>
              </a:rPr>
              <a:t>template</a:t>
            </a:r>
            <a:r>
              <a:rPr lang="fr-FR" sz="2600" b="0">
                <a:solidFill>
                  <a:schemeClr val="tx1">
                    <a:lumMod val="95000"/>
                    <a:lumOff val="5000"/>
                  </a:schemeClr>
                </a:solidFill>
              </a:rPr>
              <a:t> </a:t>
            </a:r>
            <a:r>
              <a:rPr lang="fr-FR" sz="2600" b="0" smtClean="0">
                <a:solidFill>
                  <a:schemeClr val="tx1">
                    <a:lumMod val="95000"/>
                    <a:lumOff val="5000"/>
                  </a:schemeClr>
                </a:solidFill>
              </a:rPr>
              <a:t>&lt;</a:t>
            </a:r>
            <a:r>
              <a:rPr lang="fr-FR" sz="2600" b="0" smtClean="0">
                <a:solidFill>
                  <a:srgbClr val="0000FF"/>
                </a:solidFill>
              </a:rPr>
              <a:t>typename</a:t>
            </a:r>
            <a:r>
              <a:rPr lang="fr-FR" sz="2600" b="0" smtClean="0">
                <a:solidFill>
                  <a:schemeClr val="tx1">
                    <a:lumMod val="95000"/>
                    <a:lumOff val="5000"/>
                  </a:schemeClr>
                </a:solidFill>
              </a:rPr>
              <a:t> </a:t>
            </a:r>
            <a:r>
              <a:rPr lang="fr-FR" sz="2600" b="0">
                <a:solidFill>
                  <a:schemeClr val="tx1">
                    <a:lumMod val="95000"/>
                    <a:lumOff val="5000"/>
                  </a:schemeClr>
                </a:solidFill>
              </a:rPr>
              <a:t>T&gt;</a:t>
            </a:r>
          </a:p>
          <a:p>
            <a:pPr marL="342900" indent="-342900">
              <a:lnSpc>
                <a:spcPct val="120000"/>
              </a:lnSpc>
              <a:spcBef>
                <a:spcPts val="300"/>
              </a:spcBef>
              <a:buFont typeface="Wingdings" pitchFamily="2" charset="2"/>
              <a:buNone/>
            </a:pPr>
            <a:r>
              <a:rPr lang="fr-FR" sz="2600" b="0">
                <a:solidFill>
                  <a:srgbClr val="0000FF"/>
                </a:solidFill>
              </a:rPr>
              <a:t>struct</a:t>
            </a:r>
            <a:r>
              <a:rPr lang="fr-FR" sz="2600" b="0">
                <a:solidFill>
                  <a:schemeClr val="tx1">
                    <a:lumMod val="95000"/>
                    <a:lumOff val="5000"/>
                  </a:schemeClr>
                </a:solidFill>
              </a:rPr>
              <a:t> Pair {</a:t>
            </a:r>
          </a:p>
          <a:p>
            <a:pPr marL="342900" indent="-342900">
              <a:lnSpc>
                <a:spcPct val="120000"/>
              </a:lnSpc>
              <a:spcBef>
                <a:spcPts val="300"/>
              </a:spcBef>
              <a:buFont typeface="Wingdings" pitchFamily="2" charset="2"/>
              <a:buNone/>
            </a:pPr>
            <a:r>
              <a:rPr lang="fr-FR" sz="2600" b="0" smtClean="0">
                <a:solidFill>
                  <a:schemeClr val="tx1">
                    <a:lumMod val="95000"/>
                    <a:lumOff val="5000"/>
                  </a:schemeClr>
                </a:solidFill>
              </a:rPr>
              <a:t>	T </a:t>
            </a:r>
            <a:r>
              <a:rPr lang="fr-FR" sz="2600" b="0">
                <a:solidFill>
                  <a:schemeClr val="tx1">
                    <a:lumMod val="95000"/>
                    <a:lumOff val="5000"/>
                  </a:schemeClr>
                </a:solidFill>
              </a:rPr>
              <a:t>first;</a:t>
            </a:r>
          </a:p>
          <a:p>
            <a:pPr marL="342900" indent="-342900">
              <a:lnSpc>
                <a:spcPct val="120000"/>
              </a:lnSpc>
              <a:spcBef>
                <a:spcPts val="300"/>
              </a:spcBef>
              <a:buFont typeface="Wingdings" pitchFamily="2" charset="2"/>
              <a:buNone/>
            </a:pPr>
            <a:r>
              <a:rPr lang="fr-FR" sz="2600" b="0" smtClean="0">
                <a:solidFill>
                  <a:schemeClr val="tx1">
                    <a:lumMod val="95000"/>
                    <a:lumOff val="5000"/>
                  </a:schemeClr>
                </a:solidFill>
              </a:rPr>
              <a:t>	T </a:t>
            </a:r>
            <a:r>
              <a:rPr lang="fr-FR" sz="2600" b="0">
                <a:solidFill>
                  <a:schemeClr val="tx1">
                    <a:lumMod val="95000"/>
                    <a:lumOff val="5000"/>
                  </a:schemeClr>
                </a:solidFill>
              </a:rPr>
              <a:t>second;</a:t>
            </a:r>
          </a:p>
          <a:p>
            <a:pPr marL="342900" indent="-342900">
              <a:lnSpc>
                <a:spcPct val="120000"/>
              </a:lnSpc>
              <a:spcBef>
                <a:spcPts val="300"/>
              </a:spcBef>
              <a:buFont typeface="Wingdings" pitchFamily="2" charset="2"/>
              <a:buNone/>
            </a:pPr>
            <a:r>
              <a:rPr lang="fr-FR" sz="2600" b="0">
                <a:solidFill>
                  <a:schemeClr val="tx1">
                    <a:lumMod val="95000"/>
                    <a:lumOff val="5000"/>
                  </a:schemeClr>
                </a:solidFill>
              </a:rPr>
              <a:t>};</a:t>
            </a:r>
            <a:endParaRPr lang="en-US" sz="2600" b="0">
              <a:solidFill>
                <a:schemeClr val="tx1">
                  <a:lumMod val="95000"/>
                  <a:lumOff val="5000"/>
                </a:schemeClr>
              </a:solidFill>
            </a:endParaRPr>
          </a:p>
        </p:txBody>
      </p:sp>
    </p:spTree>
    <p:extLst>
      <p:ext uri="{BB962C8B-B14F-4D97-AF65-F5344CB8AC3E}">
        <p14:creationId xmlns:p14="http://schemas.microsoft.com/office/powerpoint/2010/main" val="1469408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a:t>
            </a:r>
            <a:r>
              <a:rPr lang="en-US" b="1" smtClean="0">
                <a:effectLst>
                  <a:outerShdw blurRad="38100" dist="38100" dir="2700000" algn="tl">
                    <a:srgbClr val="000000">
                      <a:alpha val="43137"/>
                    </a:srgbClr>
                  </a:outerShdw>
                </a:effectLst>
                <a:latin typeface="Arial" pitchFamily="34" charset="0"/>
                <a:cs typeface="Arial" pitchFamily="34" charset="0"/>
              </a:rPr>
              <a:t>lớp</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smtClean="0">
                <a:solidFill>
                  <a:schemeClr val="tx1">
                    <a:lumMod val="95000"/>
                    <a:lumOff val="5000"/>
                  </a:schemeClr>
                </a:solidFill>
                <a:latin typeface="Arial" pitchFamily="34" charset="0"/>
                <a:cs typeface="Arial" pitchFamily="34" charset="0"/>
              </a:rPr>
              <a:t>T</a:t>
            </a:r>
            <a:r>
              <a:rPr lang="vi-VN" sz="2800" smtClean="0">
                <a:solidFill>
                  <a:schemeClr val="tx1">
                    <a:lumMod val="95000"/>
                    <a:lumOff val="5000"/>
                  </a:schemeClr>
                </a:solidFill>
                <a:latin typeface="Arial" pitchFamily="34" charset="0"/>
                <a:cs typeface="Arial" pitchFamily="34" charset="0"/>
              </a:rPr>
              <a:t>a </a:t>
            </a:r>
            <a:r>
              <a:rPr lang="vi-VN" sz="2800">
                <a:solidFill>
                  <a:schemeClr val="tx1">
                    <a:lumMod val="95000"/>
                    <a:lumOff val="5000"/>
                  </a:schemeClr>
                </a:solidFill>
                <a:latin typeface="Arial" pitchFamily="34" charset="0"/>
                <a:cs typeface="Arial" pitchFamily="34" charset="0"/>
              </a:rPr>
              <a:t>có thể cho phép hai thành viên nhận các kiểu dữ liệu khác nhau:</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22</a:t>
            </a:fld>
            <a:endParaRPr lang="en-US"/>
          </a:p>
        </p:txBody>
      </p:sp>
      <p:sp>
        <p:nvSpPr>
          <p:cNvPr id="7" name="Rectangle 3"/>
          <p:cNvSpPr>
            <a:spLocks noChangeArrowheads="1"/>
          </p:cNvSpPr>
          <p:nvPr/>
        </p:nvSpPr>
        <p:spPr bwMode="auto">
          <a:xfrm>
            <a:off x="914400" y="2743200"/>
            <a:ext cx="7772400" cy="2777360"/>
          </a:xfrm>
          <a:prstGeom prst="rect">
            <a:avLst/>
          </a:prstGeom>
          <a:solidFill>
            <a:srgbClr val="CCFFFF"/>
          </a:solidFill>
          <a:ln w="9525">
            <a:noFill/>
            <a:miter lim="800000"/>
            <a:headEnd/>
            <a:tailEnd/>
          </a:ln>
        </p:spPr>
        <p:txBody>
          <a:bodyPr/>
          <a:lstStyle/>
          <a:p>
            <a:pPr marL="342900" indent="-342900">
              <a:lnSpc>
                <a:spcPct val="120000"/>
              </a:lnSpc>
              <a:spcBef>
                <a:spcPts val="300"/>
              </a:spcBef>
              <a:buFont typeface="Wingdings" pitchFamily="2" charset="2"/>
              <a:buNone/>
            </a:pPr>
            <a:r>
              <a:rPr lang="fr-FR" sz="2600" b="0">
                <a:solidFill>
                  <a:srgbClr val="0000FF"/>
                </a:solidFill>
              </a:rPr>
              <a:t>template</a:t>
            </a:r>
            <a:r>
              <a:rPr lang="fr-FR" sz="2600" b="0">
                <a:solidFill>
                  <a:schemeClr val="tx1">
                    <a:lumMod val="95000"/>
                    <a:lumOff val="5000"/>
                  </a:schemeClr>
                </a:solidFill>
              </a:rPr>
              <a:t> &lt;</a:t>
            </a:r>
            <a:r>
              <a:rPr lang="fr-FR" sz="2600" b="0">
                <a:solidFill>
                  <a:srgbClr val="0000FF"/>
                </a:solidFill>
              </a:rPr>
              <a:t>typename</a:t>
            </a:r>
            <a:r>
              <a:rPr lang="fr-FR" sz="2600" b="0">
                <a:solidFill>
                  <a:schemeClr val="tx1">
                    <a:lumMod val="95000"/>
                    <a:lumOff val="5000"/>
                  </a:schemeClr>
                </a:solidFill>
              </a:rPr>
              <a:t> T, </a:t>
            </a:r>
            <a:r>
              <a:rPr lang="fr-FR" sz="2600">
                <a:solidFill>
                  <a:srgbClr val="0000FF"/>
                </a:solidFill>
              </a:rPr>
              <a:t>typename</a:t>
            </a:r>
            <a:r>
              <a:rPr lang="fr-FR" sz="2600">
                <a:solidFill>
                  <a:schemeClr val="tx1">
                    <a:lumMod val="95000"/>
                    <a:lumOff val="5000"/>
                  </a:schemeClr>
                </a:solidFill>
              </a:rPr>
              <a:t> U</a:t>
            </a:r>
            <a:r>
              <a:rPr lang="fr-FR" sz="2600" b="0">
                <a:solidFill>
                  <a:schemeClr val="tx1">
                    <a:lumMod val="95000"/>
                    <a:lumOff val="5000"/>
                  </a:schemeClr>
                </a:solidFill>
              </a:rPr>
              <a:t>&gt;</a:t>
            </a:r>
          </a:p>
          <a:p>
            <a:pPr marL="342900" indent="-342900">
              <a:lnSpc>
                <a:spcPct val="120000"/>
              </a:lnSpc>
              <a:spcBef>
                <a:spcPts val="300"/>
              </a:spcBef>
              <a:buFont typeface="Wingdings" pitchFamily="2" charset="2"/>
              <a:buNone/>
            </a:pPr>
            <a:r>
              <a:rPr lang="fr-FR" sz="2600" b="0">
                <a:solidFill>
                  <a:srgbClr val="0000FF"/>
                </a:solidFill>
              </a:rPr>
              <a:t>struct</a:t>
            </a:r>
            <a:r>
              <a:rPr lang="fr-FR" sz="2600" b="0">
                <a:solidFill>
                  <a:schemeClr val="tx1">
                    <a:lumMod val="95000"/>
                    <a:lumOff val="5000"/>
                  </a:schemeClr>
                </a:solidFill>
              </a:rPr>
              <a:t> Pair {</a:t>
            </a:r>
          </a:p>
          <a:p>
            <a:pPr marL="342900" indent="-342900">
              <a:lnSpc>
                <a:spcPct val="120000"/>
              </a:lnSpc>
              <a:spcBef>
                <a:spcPts val="300"/>
              </a:spcBef>
              <a:buFont typeface="Wingdings" pitchFamily="2" charset="2"/>
              <a:buNone/>
            </a:pPr>
            <a:r>
              <a:rPr lang="fr-FR" sz="2600" b="0" smtClean="0">
                <a:solidFill>
                  <a:schemeClr val="tx1">
                    <a:lumMod val="95000"/>
                    <a:lumOff val="5000"/>
                  </a:schemeClr>
                </a:solidFill>
              </a:rPr>
              <a:t>	T </a:t>
            </a:r>
            <a:r>
              <a:rPr lang="fr-FR" sz="2600" b="0">
                <a:solidFill>
                  <a:schemeClr val="tx1">
                    <a:lumMod val="95000"/>
                    <a:lumOff val="5000"/>
                  </a:schemeClr>
                </a:solidFill>
              </a:rPr>
              <a:t>first;</a:t>
            </a:r>
          </a:p>
          <a:p>
            <a:pPr marL="342900" indent="-342900">
              <a:lnSpc>
                <a:spcPct val="120000"/>
              </a:lnSpc>
              <a:spcBef>
                <a:spcPts val="300"/>
              </a:spcBef>
              <a:buFont typeface="Wingdings" pitchFamily="2" charset="2"/>
              <a:buNone/>
            </a:pPr>
            <a:r>
              <a:rPr lang="fr-FR" sz="2600" b="0" smtClean="0">
                <a:solidFill>
                  <a:schemeClr val="tx1">
                    <a:lumMod val="95000"/>
                    <a:lumOff val="5000"/>
                  </a:schemeClr>
                </a:solidFill>
              </a:rPr>
              <a:t>	</a:t>
            </a:r>
            <a:r>
              <a:rPr lang="fr-FR" sz="2600" smtClean="0">
                <a:solidFill>
                  <a:schemeClr val="tx1">
                    <a:lumMod val="95000"/>
                    <a:lumOff val="5000"/>
                  </a:schemeClr>
                </a:solidFill>
              </a:rPr>
              <a:t>U </a:t>
            </a:r>
            <a:r>
              <a:rPr lang="fr-FR" sz="2600">
                <a:solidFill>
                  <a:schemeClr val="tx1">
                    <a:lumMod val="95000"/>
                    <a:lumOff val="5000"/>
                  </a:schemeClr>
                </a:solidFill>
              </a:rPr>
              <a:t>second;</a:t>
            </a:r>
          </a:p>
          <a:p>
            <a:pPr marL="342900" indent="-342900">
              <a:lnSpc>
                <a:spcPct val="120000"/>
              </a:lnSpc>
              <a:spcBef>
                <a:spcPts val="300"/>
              </a:spcBef>
              <a:buFont typeface="Wingdings" pitchFamily="2" charset="2"/>
              <a:buNone/>
            </a:pPr>
            <a:r>
              <a:rPr lang="fr-FR" sz="2600" b="0">
                <a:solidFill>
                  <a:schemeClr val="tx1">
                    <a:lumMod val="95000"/>
                    <a:lumOff val="5000"/>
                  </a:schemeClr>
                </a:solidFill>
              </a:rPr>
              <a:t>};</a:t>
            </a:r>
            <a:endParaRPr lang="en-US" sz="2600" b="0">
              <a:solidFill>
                <a:schemeClr val="tx1">
                  <a:lumMod val="95000"/>
                  <a:lumOff val="5000"/>
                </a:schemeClr>
              </a:solidFill>
            </a:endParaRPr>
          </a:p>
        </p:txBody>
      </p:sp>
    </p:spTree>
    <p:extLst>
      <p:ext uri="{BB962C8B-B14F-4D97-AF65-F5344CB8AC3E}">
        <p14:creationId xmlns:p14="http://schemas.microsoft.com/office/powerpoint/2010/main" val="4287788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a:t>
            </a:r>
            <a:r>
              <a:rPr lang="en-US" b="1" smtClean="0">
                <a:effectLst>
                  <a:outerShdw blurRad="38100" dist="38100" dir="2700000" algn="tl">
                    <a:srgbClr val="000000">
                      <a:alpha val="43137"/>
                    </a:srgbClr>
                  </a:outerShdw>
                </a:effectLst>
                <a:latin typeface="Arial" pitchFamily="34" charset="0"/>
                <a:cs typeface="Arial" pitchFamily="34" charset="0"/>
              </a:rPr>
              <a:t>lớp</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Để tạo các thể hiện của template Pair, ta phải dùng ký hiệu cặp ngoặc nhọn (khác với khuôn mẫu hàm)</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23</a:t>
            </a:fld>
            <a:endParaRPr lang="en-US"/>
          </a:p>
        </p:txBody>
      </p:sp>
      <p:sp>
        <p:nvSpPr>
          <p:cNvPr id="7" name="Rectangle 3"/>
          <p:cNvSpPr>
            <a:spLocks noChangeArrowheads="1"/>
          </p:cNvSpPr>
          <p:nvPr/>
        </p:nvSpPr>
        <p:spPr bwMode="auto">
          <a:xfrm>
            <a:off x="914400" y="3242440"/>
            <a:ext cx="7772400" cy="2777360"/>
          </a:xfrm>
          <a:prstGeom prst="rect">
            <a:avLst/>
          </a:prstGeom>
          <a:solidFill>
            <a:srgbClr val="CCFFFF"/>
          </a:solidFill>
          <a:ln w="9525">
            <a:noFill/>
            <a:miter lim="800000"/>
            <a:headEnd/>
            <a:tailEnd/>
          </a:ln>
        </p:spPr>
        <p:txBody>
          <a:bodyPr/>
          <a:lstStyle/>
          <a:p>
            <a:pPr marL="342900" indent="-342900">
              <a:lnSpc>
                <a:spcPct val="150000"/>
              </a:lnSpc>
              <a:spcBef>
                <a:spcPts val="300"/>
              </a:spcBef>
              <a:buFont typeface="Wingdings" pitchFamily="2" charset="2"/>
              <a:buNone/>
            </a:pPr>
            <a:r>
              <a:rPr lang="en-US" sz="2600" b="0">
                <a:solidFill>
                  <a:schemeClr val="tx1">
                    <a:lumMod val="95000"/>
                    <a:lumOff val="5000"/>
                  </a:schemeClr>
                </a:solidFill>
              </a:rPr>
              <a:t>Pair p; </a:t>
            </a:r>
            <a:r>
              <a:rPr lang="en-US" sz="2600" b="0" smtClean="0">
                <a:solidFill>
                  <a:schemeClr val="tx1">
                    <a:lumMod val="95000"/>
                    <a:lumOff val="5000"/>
                  </a:schemeClr>
                </a:solidFill>
              </a:rPr>
              <a:t>		// </a:t>
            </a:r>
            <a:r>
              <a:rPr lang="en-US" sz="2600" b="0">
                <a:solidFill>
                  <a:schemeClr val="tx1">
                    <a:lumMod val="95000"/>
                    <a:lumOff val="5000"/>
                  </a:schemeClr>
                </a:solidFill>
              </a:rPr>
              <a:t>Không được</a:t>
            </a:r>
          </a:p>
          <a:p>
            <a:pPr marL="342900" indent="-342900">
              <a:lnSpc>
                <a:spcPct val="150000"/>
              </a:lnSpc>
              <a:spcBef>
                <a:spcPts val="300"/>
              </a:spcBef>
              <a:buFont typeface="Wingdings" pitchFamily="2" charset="2"/>
              <a:buNone/>
            </a:pPr>
            <a:r>
              <a:rPr lang="en-US" sz="2600" b="0">
                <a:solidFill>
                  <a:schemeClr val="tx1">
                    <a:lumMod val="95000"/>
                    <a:lumOff val="5000"/>
                  </a:schemeClr>
                </a:solidFill>
              </a:rPr>
              <a:t>Pair&lt;int, int&gt; q; </a:t>
            </a:r>
            <a:r>
              <a:rPr lang="en-US" sz="2600" b="0" smtClean="0">
                <a:solidFill>
                  <a:schemeClr val="tx1">
                    <a:lumMod val="95000"/>
                    <a:lumOff val="5000"/>
                  </a:schemeClr>
                </a:solidFill>
              </a:rPr>
              <a:t>	// </a:t>
            </a:r>
            <a:r>
              <a:rPr lang="en-US" sz="2600" b="0">
                <a:solidFill>
                  <a:schemeClr val="tx1">
                    <a:lumMod val="95000"/>
                    <a:lumOff val="5000"/>
                  </a:schemeClr>
                </a:solidFill>
              </a:rPr>
              <a:t>Creates a pair of ints</a:t>
            </a:r>
          </a:p>
          <a:p>
            <a:pPr marL="342900" indent="-342900">
              <a:lnSpc>
                <a:spcPct val="150000"/>
              </a:lnSpc>
              <a:spcBef>
                <a:spcPts val="300"/>
              </a:spcBef>
              <a:buFont typeface="Wingdings" pitchFamily="2" charset="2"/>
              <a:buNone/>
            </a:pPr>
            <a:r>
              <a:rPr lang="en-US" sz="2600" b="0">
                <a:solidFill>
                  <a:schemeClr val="tx1">
                    <a:lumMod val="95000"/>
                    <a:lumOff val="5000"/>
                  </a:schemeClr>
                </a:solidFill>
              </a:rPr>
              <a:t>Pair&lt;int, float&gt; r; </a:t>
            </a:r>
            <a:r>
              <a:rPr lang="en-US" sz="2600" b="0" smtClean="0">
                <a:solidFill>
                  <a:schemeClr val="tx1">
                    <a:lumMod val="95000"/>
                    <a:lumOff val="5000"/>
                  </a:schemeClr>
                </a:solidFill>
              </a:rPr>
              <a:t>	// </a:t>
            </a:r>
            <a:r>
              <a:rPr lang="en-US" sz="2600" b="0">
                <a:solidFill>
                  <a:schemeClr val="tx1">
                    <a:lumMod val="95000"/>
                    <a:lumOff val="5000"/>
                  </a:schemeClr>
                </a:solidFill>
              </a:rPr>
              <a:t>Creates a pair with an int and a float</a:t>
            </a:r>
          </a:p>
        </p:txBody>
      </p:sp>
    </p:spTree>
    <p:extLst>
      <p:ext uri="{BB962C8B-B14F-4D97-AF65-F5344CB8AC3E}">
        <p14:creationId xmlns:p14="http://schemas.microsoft.com/office/powerpoint/2010/main" val="4287788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a:t>
            </a:r>
            <a:r>
              <a:rPr lang="en-US" b="1" smtClean="0">
                <a:effectLst>
                  <a:outerShdw blurRad="38100" dist="38100" dir="2700000" algn="tl">
                    <a:srgbClr val="000000">
                      <a:alpha val="43137"/>
                    </a:srgbClr>
                  </a:outerShdw>
                </a:effectLst>
                <a:latin typeface="Arial" pitchFamily="34" charset="0"/>
                <a:cs typeface="Arial" pitchFamily="34" charset="0"/>
              </a:rPr>
              <a:t>lớp</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Khi thiết kế khuôn mẫu (cho lớp hoặc hàm), thông thường, ta </a:t>
            </a:r>
            <a:r>
              <a:rPr lang="vi-VN" sz="2800">
                <a:solidFill>
                  <a:srgbClr val="0066FF"/>
                </a:solidFill>
                <a:latin typeface="Arial" pitchFamily="34" charset="0"/>
                <a:cs typeface="Arial" pitchFamily="34" charset="0"/>
              </a:rPr>
              <a:t>nên tạo một phiên bản cụ thể trước</a:t>
            </a:r>
            <a:r>
              <a:rPr lang="vi-VN" sz="2800">
                <a:solidFill>
                  <a:schemeClr val="tx1">
                    <a:lumMod val="95000"/>
                    <a:lumOff val="5000"/>
                  </a:schemeClr>
                </a:solidFill>
                <a:latin typeface="Arial" pitchFamily="34" charset="0"/>
                <a:cs typeface="Arial" pitchFamily="34" charset="0"/>
              </a:rPr>
              <a:t>, sau đó mới chuyển nó thành một </a:t>
            </a:r>
            <a:r>
              <a:rPr lang="vi-VN" sz="2800" smtClean="0">
                <a:solidFill>
                  <a:schemeClr val="tx1">
                    <a:lumMod val="95000"/>
                    <a:lumOff val="5000"/>
                  </a:schemeClr>
                </a:solidFill>
                <a:latin typeface="Arial" pitchFamily="34" charset="0"/>
                <a:cs typeface="Arial" pitchFamily="34" charset="0"/>
              </a:rPr>
              <a:t>template</a:t>
            </a:r>
            <a:r>
              <a:rPr lang="en-US" sz="2800" smtClean="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sz="2800" smtClean="0">
                <a:solidFill>
                  <a:schemeClr val="tx1">
                    <a:lumMod val="95000"/>
                    <a:lumOff val="5000"/>
                  </a:schemeClr>
                </a:solidFill>
                <a:latin typeface="Arial" pitchFamily="34" charset="0"/>
                <a:cs typeface="Arial" pitchFamily="34" charset="0"/>
              </a:rPr>
              <a:t>Ví </a:t>
            </a:r>
            <a:r>
              <a:rPr lang="vi-VN" sz="2800">
                <a:solidFill>
                  <a:schemeClr val="tx1">
                    <a:lumMod val="95000"/>
                    <a:lumOff val="5000"/>
                  </a:schemeClr>
                </a:solidFill>
                <a:latin typeface="Arial" pitchFamily="34" charset="0"/>
                <a:cs typeface="Arial" pitchFamily="34" charset="0"/>
              </a:rPr>
              <a:t>dụ, ta sẽ bắt đầu bằng việc cài đặt hoàn chỉnh Stack cho số </a:t>
            </a:r>
            <a:r>
              <a:rPr lang="vi-VN" sz="2800" smtClean="0">
                <a:solidFill>
                  <a:schemeClr val="tx1">
                    <a:lumMod val="95000"/>
                    <a:lumOff val="5000"/>
                  </a:schemeClr>
                </a:solidFill>
                <a:latin typeface="Arial" pitchFamily="34" charset="0"/>
                <a:cs typeface="Arial" pitchFamily="34" charset="0"/>
              </a:rPr>
              <a:t>nguyên</a:t>
            </a:r>
            <a:r>
              <a:rPr lang="en-US" sz="2800" smtClean="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Điều đó cho phép phát hiện các vấn đề về khái niệm trước khi chuyển thành phiên bản cho sử dụng tổng </a:t>
            </a:r>
            <a:r>
              <a:rPr lang="vi-VN" sz="2800" smtClean="0">
                <a:solidFill>
                  <a:schemeClr val="tx1">
                    <a:lumMod val="95000"/>
                    <a:lumOff val="5000"/>
                  </a:schemeClr>
                </a:solidFill>
                <a:latin typeface="Arial" pitchFamily="34" charset="0"/>
                <a:cs typeface="Arial" pitchFamily="34" charset="0"/>
              </a:rPr>
              <a:t>quát</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24</a:t>
            </a:fld>
            <a:endParaRPr lang="en-US"/>
          </a:p>
        </p:txBody>
      </p:sp>
    </p:spTree>
    <p:extLst>
      <p:ext uri="{BB962C8B-B14F-4D97-AF65-F5344CB8AC3E}">
        <p14:creationId xmlns:p14="http://schemas.microsoft.com/office/powerpoint/2010/main" val="16875260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a:t>
            </a:r>
            <a:r>
              <a:rPr lang="en-US" b="1" smtClean="0">
                <a:effectLst>
                  <a:outerShdw blurRad="38100" dist="38100" dir="2700000" algn="tl">
                    <a:srgbClr val="000000">
                      <a:alpha val="43137"/>
                    </a:srgbClr>
                  </a:outerShdw>
                </a:effectLst>
                <a:latin typeface="Arial" pitchFamily="34" charset="0"/>
                <a:cs typeface="Arial" pitchFamily="34" charset="0"/>
              </a:rPr>
              <a:t>lớp – Ví dụ</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838200"/>
          </a:xfrm>
        </p:spPr>
        <p:txBody>
          <a:bodyPr>
            <a:normAutofit/>
          </a:bodyPr>
          <a:lstStyle/>
          <a:p>
            <a:pPr algn="just">
              <a:lnSpc>
                <a:spcPct val="130000"/>
              </a:lnSpc>
              <a:spcBef>
                <a:spcPts val="300"/>
              </a:spcBef>
              <a:spcAft>
                <a:spcPts val="300"/>
              </a:spcAft>
              <a:buFont typeface="Wingdings" pitchFamily="2" charset="2"/>
              <a:buChar char="v"/>
            </a:pPr>
            <a:r>
              <a:rPr lang="en-US" sz="2800" smtClean="0">
                <a:solidFill>
                  <a:schemeClr val="tx1">
                    <a:lumMod val="95000"/>
                    <a:lumOff val="5000"/>
                  </a:schemeClr>
                </a:solidFill>
                <a:latin typeface="Arial" pitchFamily="34" charset="0"/>
                <a:cs typeface="Arial" pitchFamily="34" charset="0"/>
              </a:rPr>
              <a:t>Ví dụ: Xét lớp Stack với số nguyên</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25</a:t>
            </a:fld>
            <a:endParaRPr lang="en-US"/>
          </a:p>
        </p:txBody>
      </p:sp>
      <p:sp>
        <p:nvSpPr>
          <p:cNvPr id="7" name="Rectangle 3"/>
          <p:cNvSpPr>
            <a:spLocks noChangeArrowheads="1"/>
          </p:cNvSpPr>
          <p:nvPr/>
        </p:nvSpPr>
        <p:spPr bwMode="auto">
          <a:xfrm>
            <a:off x="914400" y="2057400"/>
            <a:ext cx="7772400" cy="4495800"/>
          </a:xfrm>
          <a:prstGeom prst="rect">
            <a:avLst/>
          </a:prstGeom>
          <a:solidFill>
            <a:srgbClr val="CCFFFF"/>
          </a:solidFill>
          <a:ln w="9525">
            <a:noFill/>
            <a:miter lim="800000"/>
            <a:headEnd/>
            <a:tailEnd/>
          </a:ln>
        </p:spPr>
        <p:txBody>
          <a:bodyPr/>
          <a:lstStyle/>
          <a:p>
            <a:pPr marL="342900" indent="-342900">
              <a:lnSpc>
                <a:spcPct val="120000"/>
              </a:lnSpc>
              <a:spcBef>
                <a:spcPts val="300"/>
              </a:spcBef>
              <a:buFont typeface="Wingdings" pitchFamily="2" charset="2"/>
              <a:buNone/>
            </a:pPr>
            <a:r>
              <a:rPr lang="fr-FR" b="0">
                <a:solidFill>
                  <a:srgbClr val="0000FF"/>
                </a:solidFill>
              </a:rPr>
              <a:t>class </a:t>
            </a:r>
            <a:r>
              <a:rPr lang="fr-FR" b="0">
                <a:solidFill>
                  <a:schemeClr val="tx1">
                    <a:lumMod val="95000"/>
                    <a:lumOff val="5000"/>
                  </a:schemeClr>
                </a:solidFill>
              </a:rPr>
              <a:t>Stack {</a:t>
            </a:r>
          </a:p>
          <a:p>
            <a:pPr marL="342900" indent="-342900">
              <a:lnSpc>
                <a:spcPct val="120000"/>
              </a:lnSpc>
              <a:spcBef>
                <a:spcPts val="300"/>
              </a:spcBef>
              <a:buFont typeface="Wingdings" pitchFamily="2" charset="2"/>
              <a:buNone/>
            </a:pPr>
            <a:r>
              <a:rPr lang="fr-FR" b="0">
                <a:solidFill>
                  <a:schemeClr val="tx1">
                    <a:lumMod val="95000"/>
                    <a:lumOff val="5000"/>
                  </a:schemeClr>
                </a:solidFill>
              </a:rPr>
              <a:t>	 </a:t>
            </a:r>
            <a:r>
              <a:rPr lang="fr-FR" b="0">
                <a:solidFill>
                  <a:srgbClr val="0000FF"/>
                </a:solidFill>
              </a:rPr>
              <a:t>private</a:t>
            </a:r>
            <a:r>
              <a:rPr lang="fr-FR" b="0">
                <a:solidFill>
                  <a:schemeClr val="tx1">
                    <a:lumMod val="95000"/>
                    <a:lumOff val="5000"/>
                  </a:schemeClr>
                </a:solidFill>
              </a:rPr>
              <a:t>:</a:t>
            </a:r>
          </a:p>
          <a:p>
            <a:pPr marL="342900" indent="-342900">
              <a:lnSpc>
                <a:spcPct val="120000"/>
              </a:lnSpc>
              <a:spcBef>
                <a:spcPts val="300"/>
              </a:spcBef>
              <a:buFont typeface="Wingdings" pitchFamily="2" charset="2"/>
              <a:buNone/>
            </a:pPr>
            <a:r>
              <a:rPr lang="fr-FR" b="0">
                <a:solidFill>
                  <a:schemeClr val="tx1">
                    <a:lumMod val="95000"/>
                    <a:lumOff val="5000"/>
                  </a:schemeClr>
                </a:solidFill>
              </a:rPr>
              <a:t>		</a:t>
            </a:r>
            <a:r>
              <a:rPr lang="fr-FR" b="0">
                <a:solidFill>
                  <a:srgbClr val="0000FF"/>
                </a:solidFill>
              </a:rPr>
              <a:t>static const int </a:t>
            </a:r>
            <a:r>
              <a:rPr lang="fr-FR" b="0">
                <a:solidFill>
                  <a:schemeClr val="tx1">
                    <a:lumMod val="95000"/>
                    <a:lumOff val="5000"/>
                  </a:schemeClr>
                </a:solidFill>
              </a:rPr>
              <a:t>max = 10;</a:t>
            </a:r>
          </a:p>
          <a:p>
            <a:pPr marL="342900" indent="-342900">
              <a:lnSpc>
                <a:spcPct val="120000"/>
              </a:lnSpc>
              <a:spcBef>
                <a:spcPts val="300"/>
              </a:spcBef>
              <a:buFont typeface="Wingdings" pitchFamily="2" charset="2"/>
              <a:buNone/>
            </a:pPr>
            <a:r>
              <a:rPr lang="fr-FR" b="0">
                <a:solidFill>
                  <a:schemeClr val="tx1">
                    <a:lumMod val="95000"/>
                    <a:lumOff val="5000"/>
                  </a:schemeClr>
                </a:solidFill>
              </a:rPr>
              <a:t>		</a:t>
            </a:r>
            <a:r>
              <a:rPr lang="fr-FR" b="0">
                <a:solidFill>
                  <a:srgbClr val="0000FF"/>
                </a:solidFill>
              </a:rPr>
              <a:t>int</a:t>
            </a:r>
            <a:r>
              <a:rPr lang="fr-FR" b="0">
                <a:solidFill>
                  <a:schemeClr val="tx1">
                    <a:lumMod val="95000"/>
                    <a:lumOff val="5000"/>
                  </a:schemeClr>
                </a:solidFill>
              </a:rPr>
              <a:t> contents[max</a:t>
            </a:r>
            <a:r>
              <a:rPr lang="fr-FR" b="0" smtClean="0">
                <a:solidFill>
                  <a:schemeClr val="tx1">
                    <a:lumMod val="95000"/>
                    <a:lumOff val="5000"/>
                  </a:schemeClr>
                </a:solidFill>
              </a:rPr>
              <a:t>], current</a:t>
            </a:r>
            <a:r>
              <a:rPr lang="fr-FR" b="0">
                <a:solidFill>
                  <a:schemeClr val="tx1">
                    <a:lumMod val="95000"/>
                    <a:lumOff val="5000"/>
                  </a:schemeClr>
                </a:solidFill>
              </a:rPr>
              <a:t>;</a:t>
            </a:r>
          </a:p>
          <a:p>
            <a:pPr marL="342900" indent="-342900">
              <a:lnSpc>
                <a:spcPct val="120000"/>
              </a:lnSpc>
              <a:spcBef>
                <a:spcPts val="300"/>
              </a:spcBef>
              <a:buFont typeface="Wingdings" pitchFamily="2" charset="2"/>
              <a:buNone/>
            </a:pPr>
            <a:r>
              <a:rPr lang="fr-FR" b="0">
                <a:solidFill>
                  <a:schemeClr val="tx1">
                    <a:lumMod val="95000"/>
                    <a:lumOff val="5000"/>
                  </a:schemeClr>
                </a:solidFill>
              </a:rPr>
              <a:t>	</a:t>
            </a:r>
            <a:r>
              <a:rPr lang="fr-FR" b="0">
                <a:solidFill>
                  <a:srgbClr val="0000FF"/>
                </a:solidFill>
              </a:rPr>
              <a:t>public</a:t>
            </a:r>
            <a:r>
              <a:rPr lang="fr-FR" b="0">
                <a:solidFill>
                  <a:schemeClr val="tx1">
                    <a:lumMod val="95000"/>
                    <a:lumOff val="5000"/>
                  </a:schemeClr>
                </a:solidFill>
              </a:rPr>
              <a:t>:</a:t>
            </a:r>
          </a:p>
          <a:p>
            <a:pPr marL="342900" indent="-342900">
              <a:lnSpc>
                <a:spcPct val="120000"/>
              </a:lnSpc>
              <a:spcBef>
                <a:spcPts val="300"/>
              </a:spcBef>
              <a:buFont typeface="Wingdings" pitchFamily="2" charset="2"/>
              <a:buNone/>
            </a:pPr>
            <a:r>
              <a:rPr lang="fr-FR" b="0">
                <a:solidFill>
                  <a:schemeClr val="tx1">
                    <a:lumMod val="95000"/>
                    <a:lumOff val="5000"/>
                  </a:schemeClr>
                </a:solidFill>
              </a:rPr>
              <a:t>		Stack</a:t>
            </a:r>
            <a:r>
              <a:rPr lang="fr-FR" b="0" smtClean="0">
                <a:solidFill>
                  <a:schemeClr val="tx1">
                    <a:lumMod val="95000"/>
                    <a:lumOff val="5000"/>
                  </a:schemeClr>
                </a:solidFill>
              </a:rPr>
              <a:t>();</a:t>
            </a:r>
            <a:r>
              <a:rPr lang="fr-FR" b="0">
                <a:solidFill>
                  <a:schemeClr val="tx1">
                    <a:lumMod val="95000"/>
                    <a:lumOff val="5000"/>
                  </a:schemeClr>
                </a:solidFill>
              </a:rPr>
              <a:t>		~Stack();</a:t>
            </a:r>
          </a:p>
          <a:p>
            <a:pPr marL="342900" indent="-342900">
              <a:lnSpc>
                <a:spcPct val="120000"/>
              </a:lnSpc>
              <a:spcBef>
                <a:spcPts val="300"/>
              </a:spcBef>
              <a:buFont typeface="Wingdings" pitchFamily="2" charset="2"/>
              <a:buNone/>
            </a:pPr>
            <a:r>
              <a:rPr lang="fr-FR" b="0">
                <a:solidFill>
                  <a:schemeClr val="tx1">
                    <a:lumMod val="95000"/>
                    <a:lumOff val="5000"/>
                  </a:schemeClr>
                </a:solidFill>
              </a:rPr>
              <a:t>		</a:t>
            </a:r>
            <a:r>
              <a:rPr lang="fr-FR" b="0">
                <a:solidFill>
                  <a:srgbClr val="0000FF"/>
                </a:solidFill>
              </a:rPr>
              <a:t>void</a:t>
            </a:r>
            <a:r>
              <a:rPr lang="fr-FR" b="0">
                <a:solidFill>
                  <a:schemeClr val="tx1">
                    <a:lumMod val="95000"/>
                    <a:lumOff val="5000"/>
                  </a:schemeClr>
                </a:solidFill>
              </a:rPr>
              <a:t> push(</a:t>
            </a:r>
            <a:r>
              <a:rPr lang="fr-FR" b="0">
                <a:solidFill>
                  <a:srgbClr val="0000FF"/>
                </a:solidFill>
              </a:rPr>
              <a:t>const </a:t>
            </a:r>
            <a:r>
              <a:rPr lang="fr-FR">
                <a:solidFill>
                  <a:srgbClr val="0000FF"/>
                </a:solidFill>
              </a:rPr>
              <a:t>int</a:t>
            </a:r>
            <a:r>
              <a:rPr lang="fr-FR" b="0">
                <a:solidFill>
                  <a:schemeClr val="tx1">
                    <a:lumMod val="95000"/>
                    <a:lumOff val="5000"/>
                  </a:schemeClr>
                </a:solidFill>
              </a:rPr>
              <a:t>&amp; i);</a:t>
            </a:r>
          </a:p>
          <a:p>
            <a:pPr marL="342900" indent="-342900">
              <a:lnSpc>
                <a:spcPct val="120000"/>
              </a:lnSpc>
              <a:spcBef>
                <a:spcPts val="300"/>
              </a:spcBef>
              <a:buFont typeface="Wingdings" pitchFamily="2" charset="2"/>
              <a:buNone/>
            </a:pPr>
            <a:r>
              <a:rPr lang="fr-FR" b="0">
                <a:solidFill>
                  <a:schemeClr val="tx1">
                    <a:lumMod val="95000"/>
                    <a:lumOff val="5000"/>
                  </a:schemeClr>
                </a:solidFill>
              </a:rPr>
              <a:t>		</a:t>
            </a:r>
            <a:r>
              <a:rPr lang="fr-FR" b="0">
                <a:solidFill>
                  <a:srgbClr val="0000FF"/>
                </a:solidFill>
              </a:rPr>
              <a:t>void</a:t>
            </a:r>
            <a:r>
              <a:rPr lang="fr-FR" b="0">
                <a:solidFill>
                  <a:schemeClr val="tx1">
                    <a:lumMod val="95000"/>
                    <a:lumOff val="5000"/>
                  </a:schemeClr>
                </a:solidFill>
              </a:rPr>
              <a:t> pop(</a:t>
            </a:r>
            <a:r>
              <a:rPr lang="fr-FR">
                <a:solidFill>
                  <a:srgbClr val="0000FF"/>
                </a:solidFill>
              </a:rPr>
              <a:t>int</a:t>
            </a:r>
            <a:r>
              <a:rPr lang="fr-FR" b="0">
                <a:solidFill>
                  <a:schemeClr val="tx1">
                    <a:lumMod val="95000"/>
                    <a:lumOff val="5000"/>
                  </a:schemeClr>
                </a:solidFill>
              </a:rPr>
              <a:t>&amp; i);</a:t>
            </a:r>
          </a:p>
          <a:p>
            <a:pPr marL="342900" indent="-342900">
              <a:lnSpc>
                <a:spcPct val="120000"/>
              </a:lnSpc>
              <a:spcBef>
                <a:spcPts val="300"/>
              </a:spcBef>
              <a:buFont typeface="Wingdings" pitchFamily="2" charset="2"/>
              <a:buNone/>
            </a:pPr>
            <a:r>
              <a:rPr lang="fr-FR" b="0">
                <a:solidFill>
                  <a:schemeClr val="tx1">
                    <a:lumMod val="95000"/>
                    <a:lumOff val="5000"/>
                  </a:schemeClr>
                </a:solidFill>
              </a:rPr>
              <a:t>		</a:t>
            </a:r>
            <a:r>
              <a:rPr lang="fr-FR" b="0">
                <a:solidFill>
                  <a:srgbClr val="0000FF"/>
                </a:solidFill>
              </a:rPr>
              <a:t>bool</a:t>
            </a:r>
            <a:r>
              <a:rPr lang="fr-FR" b="0">
                <a:solidFill>
                  <a:schemeClr val="tx1">
                    <a:lumMod val="95000"/>
                    <a:lumOff val="5000"/>
                  </a:schemeClr>
                </a:solidFill>
              </a:rPr>
              <a:t> isEmpty() </a:t>
            </a:r>
            <a:r>
              <a:rPr lang="fr-FR" b="0">
                <a:solidFill>
                  <a:srgbClr val="0000FF"/>
                </a:solidFill>
              </a:rPr>
              <a:t>const</a:t>
            </a:r>
            <a:r>
              <a:rPr lang="fr-FR" b="0">
                <a:solidFill>
                  <a:schemeClr val="tx1">
                    <a:lumMod val="95000"/>
                    <a:lumOff val="5000"/>
                  </a:schemeClr>
                </a:solidFill>
              </a:rPr>
              <a:t>;</a:t>
            </a:r>
          </a:p>
          <a:p>
            <a:pPr marL="342900" indent="-342900">
              <a:lnSpc>
                <a:spcPct val="120000"/>
              </a:lnSpc>
              <a:spcBef>
                <a:spcPts val="300"/>
              </a:spcBef>
              <a:buFont typeface="Wingdings" pitchFamily="2" charset="2"/>
              <a:buNone/>
            </a:pPr>
            <a:r>
              <a:rPr lang="fr-FR" b="0">
                <a:solidFill>
                  <a:schemeClr val="tx1">
                    <a:lumMod val="95000"/>
                    <a:lumOff val="5000"/>
                  </a:schemeClr>
                </a:solidFill>
              </a:rPr>
              <a:t>		</a:t>
            </a:r>
            <a:r>
              <a:rPr lang="fr-FR" b="0">
                <a:solidFill>
                  <a:srgbClr val="0000FF"/>
                </a:solidFill>
              </a:rPr>
              <a:t>bool</a:t>
            </a:r>
            <a:r>
              <a:rPr lang="fr-FR" b="0">
                <a:solidFill>
                  <a:schemeClr val="tx1">
                    <a:lumMod val="95000"/>
                    <a:lumOff val="5000"/>
                  </a:schemeClr>
                </a:solidFill>
              </a:rPr>
              <a:t> isFull() </a:t>
            </a:r>
            <a:r>
              <a:rPr lang="fr-FR" b="0">
                <a:solidFill>
                  <a:srgbClr val="0000FF"/>
                </a:solidFill>
              </a:rPr>
              <a:t>const</a:t>
            </a:r>
            <a:r>
              <a:rPr lang="fr-FR" b="0">
                <a:solidFill>
                  <a:schemeClr val="tx1">
                    <a:lumMod val="95000"/>
                    <a:lumOff val="5000"/>
                  </a:schemeClr>
                </a:solidFill>
              </a:rPr>
              <a:t>;	</a:t>
            </a:r>
          </a:p>
          <a:p>
            <a:pPr marL="342900" indent="-342900">
              <a:lnSpc>
                <a:spcPct val="120000"/>
              </a:lnSpc>
              <a:spcBef>
                <a:spcPts val="300"/>
              </a:spcBef>
              <a:buFont typeface="Wingdings" pitchFamily="2" charset="2"/>
              <a:buNone/>
            </a:pPr>
            <a:r>
              <a:rPr lang="fr-FR" b="0">
                <a:solidFill>
                  <a:schemeClr val="tx1">
                    <a:lumMod val="95000"/>
                    <a:lumOff val="5000"/>
                  </a:schemeClr>
                </a:solidFill>
              </a:rPr>
              <a:t>};</a:t>
            </a:r>
            <a:endParaRPr lang="en-US" b="0">
              <a:solidFill>
                <a:schemeClr val="tx1">
                  <a:lumMod val="95000"/>
                  <a:lumOff val="5000"/>
                </a:schemeClr>
              </a:solidFill>
            </a:endParaRPr>
          </a:p>
        </p:txBody>
      </p:sp>
    </p:spTree>
    <p:extLst>
      <p:ext uri="{BB962C8B-B14F-4D97-AF65-F5344CB8AC3E}">
        <p14:creationId xmlns:p14="http://schemas.microsoft.com/office/powerpoint/2010/main" val="1687526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a:t>
            </a:r>
            <a:r>
              <a:rPr lang="en-US" b="1" smtClean="0">
                <a:effectLst>
                  <a:outerShdw blurRad="38100" dist="38100" dir="2700000" algn="tl">
                    <a:srgbClr val="000000">
                      <a:alpha val="43137"/>
                    </a:srgbClr>
                  </a:outerShdw>
                </a:effectLst>
                <a:latin typeface="Arial" pitchFamily="34" charset="0"/>
                <a:cs typeface="Arial" pitchFamily="34" charset="0"/>
              </a:rPr>
              <a:t>lớp – Ví dụ</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26</a:t>
            </a:fld>
            <a:endParaRPr lang="en-US"/>
          </a:p>
        </p:txBody>
      </p:sp>
      <p:sp>
        <p:nvSpPr>
          <p:cNvPr id="8" name="Rectangle 3"/>
          <p:cNvSpPr>
            <a:spLocks noChangeArrowheads="1"/>
          </p:cNvSpPr>
          <p:nvPr/>
        </p:nvSpPr>
        <p:spPr bwMode="auto">
          <a:xfrm>
            <a:off x="533400" y="1447800"/>
            <a:ext cx="8153400" cy="5029200"/>
          </a:xfrm>
          <a:prstGeom prst="rect">
            <a:avLst/>
          </a:prstGeom>
          <a:solidFill>
            <a:srgbClr val="CCFFFF"/>
          </a:solidFill>
          <a:ln w="9525">
            <a:noFill/>
            <a:miter lim="800000"/>
            <a:headEnd/>
            <a:tailEnd/>
          </a:ln>
        </p:spPr>
        <p:txBody>
          <a:bodyPr/>
          <a:lstStyle/>
          <a:p>
            <a:pPr marL="342900" indent="-342900">
              <a:lnSpc>
                <a:spcPct val="120000"/>
              </a:lnSpc>
              <a:spcBef>
                <a:spcPts val="300"/>
              </a:spcBef>
              <a:buFont typeface="Wingdings" pitchFamily="2" charset="2"/>
              <a:buNone/>
            </a:pPr>
            <a:r>
              <a:rPr lang="fr-FR" b="0">
                <a:solidFill>
                  <a:schemeClr val="tx1">
                    <a:lumMod val="95000"/>
                    <a:lumOff val="5000"/>
                  </a:schemeClr>
                </a:solidFill>
              </a:rPr>
              <a:t>Stack::Stack() { </a:t>
            </a:r>
            <a:r>
              <a:rPr lang="fr-FR" b="0" smtClean="0">
                <a:solidFill>
                  <a:srgbClr val="0000FF"/>
                </a:solidFill>
              </a:rPr>
              <a:t>this</a:t>
            </a:r>
            <a:r>
              <a:rPr lang="fr-FR" b="0" smtClean="0">
                <a:solidFill>
                  <a:schemeClr val="tx1">
                    <a:lumMod val="95000"/>
                    <a:lumOff val="5000"/>
                  </a:schemeClr>
                </a:solidFill>
              </a:rPr>
              <a:t>-</a:t>
            </a:r>
            <a:r>
              <a:rPr lang="fr-FR" b="0">
                <a:solidFill>
                  <a:schemeClr val="tx1">
                    <a:lumMod val="95000"/>
                    <a:lumOff val="5000"/>
                  </a:schemeClr>
                </a:solidFill>
              </a:rPr>
              <a:t>&gt;current = 0; </a:t>
            </a:r>
            <a:r>
              <a:rPr lang="fr-FR" b="0" smtClean="0">
                <a:solidFill>
                  <a:schemeClr val="tx1">
                    <a:lumMod val="95000"/>
                    <a:lumOff val="5000"/>
                  </a:schemeClr>
                </a:solidFill>
              </a:rPr>
              <a:t>}</a:t>
            </a:r>
            <a:endParaRPr lang="fr-FR" b="0">
              <a:solidFill>
                <a:schemeClr val="tx1">
                  <a:lumMod val="95000"/>
                  <a:lumOff val="5000"/>
                </a:schemeClr>
              </a:solidFill>
            </a:endParaRPr>
          </a:p>
          <a:p>
            <a:pPr marL="342900" indent="-342900">
              <a:lnSpc>
                <a:spcPct val="120000"/>
              </a:lnSpc>
              <a:spcBef>
                <a:spcPts val="300"/>
              </a:spcBef>
              <a:buFont typeface="Wingdings" pitchFamily="2" charset="2"/>
              <a:buNone/>
            </a:pPr>
            <a:r>
              <a:rPr lang="fr-FR" b="0">
                <a:solidFill>
                  <a:schemeClr val="tx1">
                    <a:lumMod val="95000"/>
                    <a:lumOff val="5000"/>
                  </a:schemeClr>
                </a:solidFill>
              </a:rPr>
              <a:t>Stack::~Stack() {}</a:t>
            </a:r>
          </a:p>
          <a:p>
            <a:pPr marL="342900" indent="-342900">
              <a:lnSpc>
                <a:spcPct val="120000"/>
              </a:lnSpc>
              <a:spcBef>
                <a:spcPts val="300"/>
              </a:spcBef>
              <a:buFont typeface="Wingdings" pitchFamily="2" charset="2"/>
              <a:buNone/>
            </a:pPr>
            <a:r>
              <a:rPr lang="fr-FR" b="0">
                <a:solidFill>
                  <a:srgbClr val="0000FF"/>
                </a:solidFill>
              </a:rPr>
              <a:t>void</a:t>
            </a:r>
            <a:r>
              <a:rPr lang="fr-FR" b="0">
                <a:solidFill>
                  <a:schemeClr val="tx1">
                    <a:lumMod val="95000"/>
                    <a:lumOff val="5000"/>
                  </a:schemeClr>
                </a:solidFill>
              </a:rPr>
              <a:t> Stack::push(</a:t>
            </a:r>
            <a:r>
              <a:rPr lang="fr-FR" b="0">
                <a:solidFill>
                  <a:srgbClr val="0000FF"/>
                </a:solidFill>
              </a:rPr>
              <a:t>const </a:t>
            </a:r>
            <a:r>
              <a:rPr lang="fr-FR">
                <a:solidFill>
                  <a:srgbClr val="0000FF"/>
                </a:solidFill>
              </a:rPr>
              <a:t>int</a:t>
            </a:r>
            <a:r>
              <a:rPr lang="fr-FR" b="0">
                <a:solidFill>
                  <a:schemeClr val="tx1">
                    <a:lumMod val="95000"/>
                    <a:lumOff val="5000"/>
                  </a:schemeClr>
                </a:solidFill>
              </a:rPr>
              <a:t>&amp; i) {</a:t>
            </a:r>
          </a:p>
          <a:p>
            <a:pPr marL="342900" indent="-342900">
              <a:lnSpc>
                <a:spcPct val="120000"/>
              </a:lnSpc>
              <a:spcBef>
                <a:spcPts val="300"/>
              </a:spcBef>
              <a:buFont typeface="Wingdings" pitchFamily="2" charset="2"/>
              <a:buNone/>
            </a:pPr>
            <a:r>
              <a:rPr lang="fr-FR" b="0">
                <a:solidFill>
                  <a:schemeClr val="tx1">
                    <a:lumMod val="95000"/>
                    <a:lumOff val="5000"/>
                  </a:schemeClr>
                </a:solidFill>
              </a:rPr>
              <a:t>	</a:t>
            </a:r>
            <a:r>
              <a:rPr lang="fr-FR" b="0">
                <a:solidFill>
                  <a:srgbClr val="0000FF"/>
                </a:solidFill>
              </a:rPr>
              <a:t>if </a:t>
            </a:r>
            <a:r>
              <a:rPr lang="fr-FR" b="0">
                <a:solidFill>
                  <a:schemeClr val="tx1">
                    <a:lumMod val="95000"/>
                    <a:lumOff val="5000"/>
                  </a:schemeClr>
                </a:solidFill>
              </a:rPr>
              <a:t>(</a:t>
            </a:r>
            <a:r>
              <a:rPr lang="fr-FR" b="0">
                <a:solidFill>
                  <a:srgbClr val="0000FF"/>
                </a:solidFill>
              </a:rPr>
              <a:t>this</a:t>
            </a:r>
            <a:r>
              <a:rPr lang="fr-FR" b="0">
                <a:solidFill>
                  <a:schemeClr val="tx1">
                    <a:lumMod val="95000"/>
                    <a:lumOff val="5000"/>
                  </a:schemeClr>
                </a:solidFill>
              </a:rPr>
              <a:t>-&gt;current &lt; </a:t>
            </a:r>
            <a:r>
              <a:rPr lang="fr-FR" b="0">
                <a:solidFill>
                  <a:srgbClr val="0000FF"/>
                </a:solidFill>
              </a:rPr>
              <a:t>this</a:t>
            </a:r>
            <a:r>
              <a:rPr lang="fr-FR" b="0">
                <a:solidFill>
                  <a:schemeClr val="tx1">
                    <a:lumMod val="95000"/>
                    <a:lumOff val="5000"/>
                  </a:schemeClr>
                </a:solidFill>
              </a:rPr>
              <a:t>-&gt;max)  </a:t>
            </a:r>
            <a:r>
              <a:rPr lang="fr-FR" b="0">
                <a:solidFill>
                  <a:srgbClr val="0000FF"/>
                </a:solidFill>
              </a:rPr>
              <a:t>this</a:t>
            </a:r>
            <a:r>
              <a:rPr lang="fr-FR" b="0">
                <a:solidFill>
                  <a:schemeClr val="tx1">
                    <a:lumMod val="95000"/>
                    <a:lumOff val="5000"/>
                  </a:schemeClr>
                </a:solidFill>
              </a:rPr>
              <a:t>-&gt;contents[</a:t>
            </a:r>
            <a:r>
              <a:rPr lang="fr-FR" b="0">
                <a:solidFill>
                  <a:srgbClr val="0000FF"/>
                </a:solidFill>
              </a:rPr>
              <a:t>this</a:t>
            </a:r>
            <a:r>
              <a:rPr lang="fr-FR" b="0">
                <a:solidFill>
                  <a:schemeClr val="tx1">
                    <a:lumMod val="95000"/>
                    <a:lumOff val="5000"/>
                  </a:schemeClr>
                </a:solidFill>
              </a:rPr>
              <a:t>-&gt;current</a:t>
            </a:r>
            <a:r>
              <a:rPr lang="fr-FR" b="0" smtClean="0">
                <a:solidFill>
                  <a:schemeClr val="tx1">
                    <a:lumMod val="95000"/>
                    <a:lumOff val="5000"/>
                  </a:schemeClr>
                </a:solidFill>
              </a:rPr>
              <a:t>++] = </a:t>
            </a:r>
            <a:r>
              <a:rPr lang="fr-FR" b="0">
                <a:solidFill>
                  <a:schemeClr val="tx1">
                    <a:lumMod val="95000"/>
                    <a:lumOff val="5000"/>
                  </a:schemeClr>
                </a:solidFill>
              </a:rPr>
              <a:t>i;</a:t>
            </a:r>
          </a:p>
          <a:p>
            <a:pPr marL="342900" indent="-342900">
              <a:lnSpc>
                <a:spcPct val="120000"/>
              </a:lnSpc>
              <a:spcBef>
                <a:spcPts val="300"/>
              </a:spcBef>
              <a:buFont typeface="Wingdings" pitchFamily="2" charset="2"/>
              <a:buNone/>
            </a:pPr>
            <a:r>
              <a:rPr lang="fr-FR" b="0">
                <a:solidFill>
                  <a:schemeClr val="tx1">
                    <a:lumMod val="95000"/>
                    <a:lumOff val="5000"/>
                  </a:schemeClr>
                </a:solidFill>
              </a:rPr>
              <a:t>}</a:t>
            </a:r>
          </a:p>
          <a:p>
            <a:pPr marL="342900" indent="-342900">
              <a:lnSpc>
                <a:spcPct val="120000"/>
              </a:lnSpc>
              <a:spcBef>
                <a:spcPts val="300"/>
              </a:spcBef>
              <a:buFont typeface="Wingdings" pitchFamily="2" charset="2"/>
              <a:buNone/>
            </a:pPr>
            <a:r>
              <a:rPr lang="fr-FR" b="0">
                <a:solidFill>
                  <a:srgbClr val="0000FF"/>
                </a:solidFill>
              </a:rPr>
              <a:t>void</a:t>
            </a:r>
            <a:r>
              <a:rPr lang="fr-FR" b="0">
                <a:solidFill>
                  <a:schemeClr val="tx1">
                    <a:lumMod val="95000"/>
                    <a:lumOff val="5000"/>
                  </a:schemeClr>
                </a:solidFill>
              </a:rPr>
              <a:t> Stack::pop(</a:t>
            </a:r>
            <a:r>
              <a:rPr lang="fr-FR">
                <a:solidFill>
                  <a:srgbClr val="0000FF"/>
                </a:solidFill>
              </a:rPr>
              <a:t>int</a:t>
            </a:r>
            <a:r>
              <a:rPr lang="fr-FR" b="0">
                <a:solidFill>
                  <a:schemeClr val="tx1">
                    <a:lumMod val="95000"/>
                    <a:lumOff val="5000"/>
                  </a:schemeClr>
                </a:solidFill>
              </a:rPr>
              <a:t>&amp; i) {</a:t>
            </a:r>
          </a:p>
          <a:p>
            <a:pPr marL="342900" indent="-342900">
              <a:lnSpc>
                <a:spcPct val="120000"/>
              </a:lnSpc>
              <a:spcBef>
                <a:spcPts val="300"/>
              </a:spcBef>
              <a:buFont typeface="Wingdings" pitchFamily="2" charset="2"/>
              <a:buNone/>
            </a:pPr>
            <a:r>
              <a:rPr lang="fr-FR" b="0">
                <a:solidFill>
                  <a:schemeClr val="tx1">
                    <a:lumMod val="95000"/>
                    <a:lumOff val="5000"/>
                  </a:schemeClr>
                </a:solidFill>
              </a:rPr>
              <a:t>	</a:t>
            </a:r>
            <a:r>
              <a:rPr lang="fr-FR" b="0">
                <a:solidFill>
                  <a:srgbClr val="0000FF"/>
                </a:solidFill>
              </a:rPr>
              <a:t>if</a:t>
            </a:r>
            <a:r>
              <a:rPr lang="fr-FR" b="0">
                <a:solidFill>
                  <a:schemeClr val="tx1">
                    <a:lumMod val="95000"/>
                    <a:lumOff val="5000"/>
                  </a:schemeClr>
                </a:solidFill>
              </a:rPr>
              <a:t> (</a:t>
            </a:r>
            <a:r>
              <a:rPr lang="fr-FR" b="0">
                <a:solidFill>
                  <a:srgbClr val="0000FF"/>
                </a:solidFill>
              </a:rPr>
              <a:t>this</a:t>
            </a:r>
            <a:r>
              <a:rPr lang="fr-FR" b="0">
                <a:solidFill>
                  <a:schemeClr val="tx1">
                    <a:lumMod val="95000"/>
                    <a:lumOff val="5000"/>
                  </a:schemeClr>
                </a:solidFill>
              </a:rPr>
              <a:t>-&gt;current &gt; 0) i = </a:t>
            </a:r>
            <a:r>
              <a:rPr lang="fr-FR" b="0">
                <a:solidFill>
                  <a:srgbClr val="0000FF"/>
                </a:solidFill>
              </a:rPr>
              <a:t>this</a:t>
            </a:r>
            <a:r>
              <a:rPr lang="fr-FR" b="0">
                <a:solidFill>
                  <a:schemeClr val="tx1">
                    <a:lumMod val="95000"/>
                    <a:lumOff val="5000"/>
                  </a:schemeClr>
                </a:solidFill>
              </a:rPr>
              <a:t>-&gt;contents[--</a:t>
            </a:r>
            <a:r>
              <a:rPr lang="fr-FR" b="0">
                <a:solidFill>
                  <a:srgbClr val="0000FF"/>
                </a:solidFill>
              </a:rPr>
              <a:t>this</a:t>
            </a:r>
            <a:r>
              <a:rPr lang="fr-FR" b="0">
                <a:solidFill>
                  <a:schemeClr val="tx1">
                    <a:lumMod val="95000"/>
                    <a:lumOff val="5000"/>
                  </a:schemeClr>
                </a:solidFill>
              </a:rPr>
              <a:t>-&gt;current];</a:t>
            </a:r>
          </a:p>
          <a:p>
            <a:pPr marL="342900" indent="-342900">
              <a:lnSpc>
                <a:spcPct val="120000"/>
              </a:lnSpc>
              <a:spcBef>
                <a:spcPts val="300"/>
              </a:spcBef>
              <a:buFont typeface="Wingdings" pitchFamily="2" charset="2"/>
              <a:buNone/>
            </a:pPr>
            <a:r>
              <a:rPr lang="fr-FR" b="0">
                <a:solidFill>
                  <a:schemeClr val="tx1">
                    <a:lumMod val="95000"/>
                    <a:lumOff val="5000"/>
                  </a:schemeClr>
                </a:solidFill>
              </a:rPr>
              <a:t>}</a:t>
            </a:r>
          </a:p>
          <a:p>
            <a:pPr marL="342900" indent="-342900">
              <a:lnSpc>
                <a:spcPct val="120000"/>
              </a:lnSpc>
              <a:spcBef>
                <a:spcPts val="300"/>
              </a:spcBef>
              <a:buFont typeface="Wingdings" pitchFamily="2" charset="2"/>
              <a:buNone/>
            </a:pPr>
            <a:r>
              <a:rPr lang="fr-FR" b="0">
                <a:solidFill>
                  <a:srgbClr val="0000FF"/>
                </a:solidFill>
              </a:rPr>
              <a:t>bool</a:t>
            </a:r>
            <a:r>
              <a:rPr lang="fr-FR" b="0">
                <a:solidFill>
                  <a:schemeClr val="tx1">
                    <a:lumMod val="95000"/>
                    <a:lumOff val="5000"/>
                  </a:schemeClr>
                </a:solidFill>
              </a:rPr>
              <a:t> Stack::isEmpty() </a:t>
            </a:r>
            <a:r>
              <a:rPr lang="fr-FR" b="0">
                <a:solidFill>
                  <a:srgbClr val="0000FF"/>
                </a:solidFill>
              </a:rPr>
              <a:t>const</a:t>
            </a:r>
            <a:r>
              <a:rPr lang="fr-FR" b="0">
                <a:solidFill>
                  <a:schemeClr val="tx1">
                    <a:lumMod val="95000"/>
                    <a:lumOff val="5000"/>
                  </a:schemeClr>
                </a:solidFill>
              </a:rPr>
              <a:t> { </a:t>
            </a:r>
            <a:r>
              <a:rPr lang="fr-FR" b="0">
                <a:solidFill>
                  <a:srgbClr val="0000FF"/>
                </a:solidFill>
              </a:rPr>
              <a:t>return</a:t>
            </a:r>
            <a:r>
              <a:rPr lang="fr-FR" b="0">
                <a:solidFill>
                  <a:schemeClr val="tx1">
                    <a:lumMod val="95000"/>
                    <a:lumOff val="5000"/>
                  </a:schemeClr>
                </a:solidFill>
              </a:rPr>
              <a:t> (</a:t>
            </a:r>
            <a:r>
              <a:rPr lang="fr-FR" b="0">
                <a:solidFill>
                  <a:srgbClr val="0000FF"/>
                </a:solidFill>
              </a:rPr>
              <a:t>this</a:t>
            </a:r>
            <a:r>
              <a:rPr lang="fr-FR" b="0">
                <a:solidFill>
                  <a:schemeClr val="tx1">
                    <a:lumMod val="95000"/>
                    <a:lumOff val="5000"/>
                  </a:schemeClr>
                </a:solidFill>
              </a:rPr>
              <a:t>-&gt;current == 0;) }</a:t>
            </a:r>
          </a:p>
          <a:p>
            <a:pPr marL="342900" indent="-342900">
              <a:lnSpc>
                <a:spcPct val="120000"/>
              </a:lnSpc>
              <a:spcBef>
                <a:spcPts val="300"/>
              </a:spcBef>
              <a:buFont typeface="Wingdings" pitchFamily="2" charset="2"/>
              <a:buNone/>
            </a:pPr>
            <a:r>
              <a:rPr lang="fr-FR" b="0">
                <a:solidFill>
                  <a:srgbClr val="0000FF"/>
                </a:solidFill>
              </a:rPr>
              <a:t>bool</a:t>
            </a:r>
            <a:r>
              <a:rPr lang="fr-FR" b="0">
                <a:solidFill>
                  <a:schemeClr val="tx1">
                    <a:lumMod val="95000"/>
                    <a:lumOff val="5000"/>
                  </a:schemeClr>
                </a:solidFill>
              </a:rPr>
              <a:t> Stack::isFull() </a:t>
            </a:r>
            <a:r>
              <a:rPr lang="fr-FR" b="0">
                <a:solidFill>
                  <a:srgbClr val="0000FF"/>
                </a:solidFill>
              </a:rPr>
              <a:t>const</a:t>
            </a:r>
            <a:r>
              <a:rPr lang="fr-FR" b="0">
                <a:solidFill>
                  <a:schemeClr val="tx1">
                    <a:lumMod val="95000"/>
                    <a:lumOff val="5000"/>
                  </a:schemeClr>
                </a:solidFill>
              </a:rPr>
              <a:t> { </a:t>
            </a:r>
            <a:endParaRPr lang="fr-FR" b="0" smtClean="0">
              <a:solidFill>
                <a:schemeClr val="tx1">
                  <a:lumMod val="95000"/>
                  <a:lumOff val="5000"/>
                </a:schemeClr>
              </a:solidFill>
            </a:endParaRPr>
          </a:p>
          <a:p>
            <a:pPr marL="342900" indent="-342900">
              <a:lnSpc>
                <a:spcPct val="120000"/>
              </a:lnSpc>
              <a:spcBef>
                <a:spcPts val="300"/>
              </a:spcBef>
              <a:buFont typeface="Wingdings" pitchFamily="2" charset="2"/>
              <a:buNone/>
            </a:pPr>
            <a:r>
              <a:rPr lang="fr-FR" b="0">
                <a:solidFill>
                  <a:schemeClr val="tx1">
                    <a:lumMod val="95000"/>
                    <a:lumOff val="5000"/>
                  </a:schemeClr>
                </a:solidFill>
              </a:rPr>
              <a:t>	</a:t>
            </a:r>
            <a:r>
              <a:rPr lang="fr-FR" b="0" smtClean="0">
                <a:solidFill>
                  <a:srgbClr val="0000FF"/>
                </a:solidFill>
              </a:rPr>
              <a:t>return</a:t>
            </a:r>
            <a:r>
              <a:rPr lang="fr-FR" b="0" smtClean="0">
                <a:solidFill>
                  <a:schemeClr val="tx1">
                    <a:lumMod val="95000"/>
                    <a:lumOff val="5000"/>
                  </a:schemeClr>
                </a:solidFill>
              </a:rPr>
              <a:t> </a:t>
            </a:r>
            <a:r>
              <a:rPr lang="fr-FR" b="0">
                <a:solidFill>
                  <a:schemeClr val="tx1">
                    <a:lumMod val="95000"/>
                    <a:lumOff val="5000"/>
                  </a:schemeClr>
                </a:solidFill>
              </a:rPr>
              <a:t>(</a:t>
            </a:r>
            <a:r>
              <a:rPr lang="fr-FR" b="0">
                <a:solidFill>
                  <a:srgbClr val="0000FF"/>
                </a:solidFill>
              </a:rPr>
              <a:t>this</a:t>
            </a:r>
            <a:r>
              <a:rPr lang="fr-FR" b="0">
                <a:solidFill>
                  <a:schemeClr val="tx1">
                    <a:lumMod val="95000"/>
                    <a:lumOff val="5000"/>
                  </a:schemeClr>
                </a:solidFill>
              </a:rPr>
              <a:t>-&gt;current == </a:t>
            </a:r>
            <a:r>
              <a:rPr lang="fr-FR" b="0">
                <a:solidFill>
                  <a:srgbClr val="0000FF"/>
                </a:solidFill>
              </a:rPr>
              <a:t>this</a:t>
            </a:r>
            <a:r>
              <a:rPr lang="fr-FR" b="0">
                <a:solidFill>
                  <a:schemeClr val="tx1">
                    <a:lumMod val="95000"/>
                    <a:lumOff val="5000"/>
                  </a:schemeClr>
                </a:solidFill>
              </a:rPr>
              <a:t>-&gt;max</a:t>
            </a:r>
            <a:r>
              <a:rPr lang="fr-FR" b="0" smtClean="0">
                <a:solidFill>
                  <a:schemeClr val="tx1">
                    <a:lumMod val="95000"/>
                    <a:lumOff val="5000"/>
                  </a:schemeClr>
                </a:solidFill>
              </a:rPr>
              <a:t>);</a:t>
            </a:r>
          </a:p>
          <a:p>
            <a:pPr marL="342900" indent="-342900">
              <a:lnSpc>
                <a:spcPct val="120000"/>
              </a:lnSpc>
              <a:spcBef>
                <a:spcPts val="300"/>
              </a:spcBef>
              <a:buFont typeface="Wingdings" pitchFamily="2" charset="2"/>
              <a:buNone/>
            </a:pPr>
            <a:r>
              <a:rPr lang="fr-FR" b="0" smtClean="0">
                <a:solidFill>
                  <a:schemeClr val="tx1">
                    <a:lumMod val="95000"/>
                    <a:lumOff val="5000"/>
                  </a:schemeClr>
                </a:solidFill>
              </a:rPr>
              <a:t>}</a:t>
            </a:r>
            <a:endParaRPr lang="en-US" b="0">
              <a:solidFill>
                <a:schemeClr val="tx1">
                  <a:lumMod val="95000"/>
                  <a:lumOff val="5000"/>
                </a:schemeClr>
              </a:solidFill>
            </a:endParaRPr>
          </a:p>
        </p:txBody>
      </p:sp>
    </p:spTree>
    <p:extLst>
      <p:ext uri="{BB962C8B-B14F-4D97-AF65-F5344CB8AC3E}">
        <p14:creationId xmlns:p14="http://schemas.microsoft.com/office/powerpoint/2010/main" val="236653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a:t>
            </a:r>
            <a:r>
              <a:rPr lang="en-US" b="1" smtClean="0">
                <a:effectLst>
                  <a:outerShdw blurRad="38100" dist="38100" dir="2700000" algn="tl">
                    <a:srgbClr val="000000">
                      <a:alpha val="43137"/>
                    </a:srgbClr>
                  </a:outerShdw>
                </a:effectLst>
                <a:latin typeface="Arial" pitchFamily="34" charset="0"/>
                <a:cs typeface="Arial" pitchFamily="34" charset="0"/>
              </a:rPr>
              <a:t>lớp – Ví dụ</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27</a:t>
            </a:fld>
            <a:endParaRPr lang="en-US"/>
          </a:p>
        </p:txBody>
      </p:sp>
      <p:sp>
        <p:nvSpPr>
          <p:cNvPr id="8" name="Rectangle 3"/>
          <p:cNvSpPr>
            <a:spLocks noChangeArrowheads="1"/>
          </p:cNvSpPr>
          <p:nvPr/>
        </p:nvSpPr>
        <p:spPr bwMode="auto">
          <a:xfrm>
            <a:off x="533400" y="1447800"/>
            <a:ext cx="8153400" cy="5029200"/>
          </a:xfrm>
          <a:prstGeom prst="rect">
            <a:avLst/>
          </a:prstGeom>
          <a:solidFill>
            <a:srgbClr val="CCFFFF"/>
          </a:solidFill>
          <a:ln w="9525">
            <a:noFill/>
            <a:miter lim="800000"/>
            <a:headEnd/>
            <a:tailEnd/>
          </a:ln>
        </p:spPr>
        <p:txBody>
          <a:bodyPr/>
          <a:lstStyle/>
          <a:p>
            <a:pPr marL="342900" indent="-342900">
              <a:spcBef>
                <a:spcPts val="300"/>
              </a:spcBef>
              <a:buFont typeface="Wingdings" pitchFamily="2" charset="2"/>
              <a:buNone/>
            </a:pPr>
            <a:r>
              <a:rPr lang="en-US">
                <a:solidFill>
                  <a:srgbClr val="0000FF"/>
                </a:solidFill>
              </a:rPr>
              <a:t>template</a:t>
            </a:r>
            <a:r>
              <a:rPr lang="en-US">
                <a:solidFill>
                  <a:schemeClr val="tx1">
                    <a:lumMod val="95000"/>
                    <a:lumOff val="5000"/>
                  </a:schemeClr>
                </a:solidFill>
              </a:rPr>
              <a:t> </a:t>
            </a:r>
            <a:r>
              <a:rPr lang="en-US" smtClean="0">
                <a:solidFill>
                  <a:schemeClr val="tx1">
                    <a:lumMod val="95000"/>
                    <a:lumOff val="5000"/>
                  </a:schemeClr>
                </a:solidFill>
              </a:rPr>
              <a:t>&lt;</a:t>
            </a:r>
            <a:r>
              <a:rPr lang="en-US" smtClean="0">
                <a:solidFill>
                  <a:srgbClr val="0000FF"/>
                </a:solidFill>
              </a:rPr>
              <a:t>class</a:t>
            </a:r>
            <a:r>
              <a:rPr lang="en-US" smtClean="0">
                <a:solidFill>
                  <a:schemeClr val="tx1">
                    <a:lumMod val="95000"/>
                    <a:lumOff val="5000"/>
                  </a:schemeClr>
                </a:solidFill>
              </a:rPr>
              <a:t> </a:t>
            </a:r>
            <a:r>
              <a:rPr lang="en-US">
                <a:solidFill>
                  <a:schemeClr val="tx1">
                    <a:lumMod val="95000"/>
                    <a:lumOff val="5000"/>
                  </a:schemeClr>
                </a:solidFill>
              </a:rPr>
              <a:t>T&gt;</a:t>
            </a:r>
          </a:p>
          <a:p>
            <a:pPr marL="342900" indent="-342900">
              <a:spcBef>
                <a:spcPts val="300"/>
              </a:spcBef>
              <a:buFont typeface="Wingdings" pitchFamily="2" charset="2"/>
              <a:buNone/>
            </a:pPr>
            <a:r>
              <a:rPr lang="en-US" b="0">
                <a:solidFill>
                  <a:srgbClr val="0000FF"/>
                </a:solidFill>
              </a:rPr>
              <a:t>class</a:t>
            </a:r>
            <a:r>
              <a:rPr lang="en-US" b="0">
                <a:solidFill>
                  <a:schemeClr val="tx1">
                    <a:lumMod val="95000"/>
                    <a:lumOff val="5000"/>
                  </a:schemeClr>
                </a:solidFill>
              </a:rPr>
              <a:t> Stack {</a:t>
            </a:r>
          </a:p>
          <a:p>
            <a:pPr marL="342900" indent="-342900">
              <a:lnSpc>
                <a:spcPct val="120000"/>
              </a:lnSpc>
              <a:spcBef>
                <a:spcPts val="300"/>
              </a:spcBef>
              <a:buFont typeface="Wingdings" pitchFamily="2" charset="2"/>
              <a:buNone/>
            </a:pPr>
            <a:r>
              <a:rPr lang="en-US" b="0">
                <a:solidFill>
                  <a:schemeClr val="tx1">
                    <a:lumMod val="95000"/>
                    <a:lumOff val="5000"/>
                  </a:schemeClr>
                </a:solidFill>
              </a:rPr>
              <a:t>	</a:t>
            </a:r>
            <a:r>
              <a:rPr lang="en-US" b="0">
                <a:solidFill>
                  <a:srgbClr val="0000FF"/>
                </a:solidFill>
              </a:rPr>
              <a:t>private</a:t>
            </a:r>
            <a:r>
              <a:rPr lang="en-US" b="0">
                <a:solidFill>
                  <a:schemeClr val="tx1">
                    <a:lumMod val="95000"/>
                    <a:lumOff val="5000"/>
                  </a:schemeClr>
                </a:solidFill>
              </a:rPr>
              <a:t>:</a:t>
            </a:r>
          </a:p>
          <a:p>
            <a:pPr marL="342900" indent="-342900">
              <a:spcBef>
                <a:spcPts val="300"/>
              </a:spcBef>
              <a:buFont typeface="Wingdings" pitchFamily="2" charset="2"/>
              <a:buNone/>
            </a:pPr>
            <a:r>
              <a:rPr lang="en-US" b="0">
                <a:solidFill>
                  <a:schemeClr val="tx1">
                    <a:lumMod val="95000"/>
                    <a:lumOff val="5000"/>
                  </a:schemeClr>
                </a:solidFill>
              </a:rPr>
              <a:t>		</a:t>
            </a:r>
            <a:r>
              <a:rPr lang="en-US" b="0">
                <a:solidFill>
                  <a:srgbClr val="0000FF"/>
                </a:solidFill>
              </a:rPr>
              <a:t>static const int </a:t>
            </a:r>
            <a:r>
              <a:rPr lang="en-US" b="0">
                <a:solidFill>
                  <a:schemeClr val="tx1">
                    <a:lumMod val="95000"/>
                    <a:lumOff val="5000"/>
                  </a:schemeClr>
                </a:solidFill>
              </a:rPr>
              <a:t>max = 10;</a:t>
            </a:r>
          </a:p>
          <a:p>
            <a:pPr marL="342900" indent="-342900">
              <a:spcBef>
                <a:spcPts val="300"/>
              </a:spcBef>
              <a:buFont typeface="Wingdings" pitchFamily="2" charset="2"/>
              <a:buNone/>
            </a:pPr>
            <a:r>
              <a:rPr lang="en-US" b="0">
                <a:solidFill>
                  <a:schemeClr val="tx1">
                    <a:lumMod val="95000"/>
                    <a:lumOff val="5000"/>
                  </a:schemeClr>
                </a:solidFill>
              </a:rPr>
              <a:t>		</a:t>
            </a:r>
            <a:r>
              <a:rPr lang="en-US">
                <a:solidFill>
                  <a:schemeClr val="tx1">
                    <a:lumMod val="95000"/>
                    <a:lumOff val="5000"/>
                  </a:schemeClr>
                </a:solidFill>
              </a:rPr>
              <a:t>T </a:t>
            </a:r>
            <a:r>
              <a:rPr lang="en-US" smtClean="0">
                <a:solidFill>
                  <a:schemeClr val="tx1">
                    <a:lumMod val="95000"/>
                    <a:lumOff val="5000"/>
                  </a:schemeClr>
                </a:solidFill>
              </a:rPr>
              <a:t>contents[max];</a:t>
            </a:r>
          </a:p>
          <a:p>
            <a:pPr marL="342900" indent="-342900">
              <a:spcBef>
                <a:spcPts val="300"/>
              </a:spcBef>
              <a:buFont typeface="Wingdings" pitchFamily="2" charset="2"/>
              <a:buNone/>
            </a:pPr>
            <a:r>
              <a:rPr lang="en-US" b="0">
                <a:solidFill>
                  <a:schemeClr val="tx1">
                    <a:lumMod val="95000"/>
                    <a:lumOff val="5000"/>
                  </a:schemeClr>
                </a:solidFill>
              </a:rPr>
              <a:t>	</a:t>
            </a:r>
            <a:r>
              <a:rPr lang="en-US" b="0" smtClean="0">
                <a:solidFill>
                  <a:schemeClr val="tx1">
                    <a:lumMod val="95000"/>
                    <a:lumOff val="5000"/>
                  </a:schemeClr>
                </a:solidFill>
              </a:rPr>
              <a:t>	</a:t>
            </a:r>
            <a:r>
              <a:rPr lang="en-US" b="0" smtClean="0">
                <a:solidFill>
                  <a:srgbClr val="0000FF"/>
                </a:solidFill>
              </a:rPr>
              <a:t>int</a:t>
            </a:r>
            <a:r>
              <a:rPr lang="en-US" b="0" smtClean="0">
                <a:solidFill>
                  <a:schemeClr val="tx1">
                    <a:lumMod val="95000"/>
                    <a:lumOff val="5000"/>
                  </a:schemeClr>
                </a:solidFill>
              </a:rPr>
              <a:t> current</a:t>
            </a:r>
            <a:r>
              <a:rPr lang="en-US" b="0">
                <a:solidFill>
                  <a:schemeClr val="tx1">
                    <a:lumMod val="95000"/>
                    <a:lumOff val="5000"/>
                  </a:schemeClr>
                </a:solidFill>
              </a:rPr>
              <a:t>;</a:t>
            </a:r>
          </a:p>
          <a:p>
            <a:pPr marL="342900" indent="-342900">
              <a:lnSpc>
                <a:spcPct val="120000"/>
              </a:lnSpc>
              <a:spcBef>
                <a:spcPts val="300"/>
              </a:spcBef>
              <a:buFont typeface="Wingdings" pitchFamily="2" charset="2"/>
              <a:buNone/>
            </a:pPr>
            <a:r>
              <a:rPr lang="en-US" b="0">
                <a:solidFill>
                  <a:schemeClr val="tx1">
                    <a:lumMod val="95000"/>
                    <a:lumOff val="5000"/>
                  </a:schemeClr>
                </a:solidFill>
              </a:rPr>
              <a:t>	</a:t>
            </a:r>
            <a:r>
              <a:rPr lang="en-US" b="0">
                <a:solidFill>
                  <a:srgbClr val="0000FF"/>
                </a:solidFill>
              </a:rPr>
              <a:t>public</a:t>
            </a:r>
            <a:r>
              <a:rPr lang="en-US" b="0">
                <a:solidFill>
                  <a:schemeClr val="tx1">
                    <a:lumMod val="95000"/>
                    <a:lumOff val="5000"/>
                  </a:schemeClr>
                </a:solidFill>
              </a:rPr>
              <a:t>:</a:t>
            </a:r>
          </a:p>
          <a:p>
            <a:pPr marL="342900" indent="-342900">
              <a:lnSpc>
                <a:spcPct val="120000"/>
              </a:lnSpc>
              <a:spcBef>
                <a:spcPts val="300"/>
              </a:spcBef>
              <a:buFont typeface="Wingdings" pitchFamily="2" charset="2"/>
              <a:buNone/>
            </a:pPr>
            <a:r>
              <a:rPr lang="en-US" b="0">
                <a:solidFill>
                  <a:schemeClr val="tx1">
                    <a:lumMod val="95000"/>
                    <a:lumOff val="5000"/>
                  </a:schemeClr>
                </a:solidFill>
              </a:rPr>
              <a:t>		Stack</a:t>
            </a:r>
            <a:r>
              <a:rPr lang="en-US" b="0" smtClean="0">
                <a:solidFill>
                  <a:schemeClr val="tx1">
                    <a:lumMod val="95000"/>
                    <a:lumOff val="5000"/>
                  </a:schemeClr>
                </a:solidFill>
              </a:rPr>
              <a:t>();</a:t>
            </a:r>
            <a:r>
              <a:rPr lang="en-US" b="0">
                <a:solidFill>
                  <a:schemeClr val="tx1">
                    <a:lumMod val="95000"/>
                    <a:lumOff val="5000"/>
                  </a:schemeClr>
                </a:solidFill>
              </a:rPr>
              <a:t>		~Stack();</a:t>
            </a:r>
          </a:p>
          <a:p>
            <a:pPr marL="342900" indent="-342900">
              <a:lnSpc>
                <a:spcPct val="120000"/>
              </a:lnSpc>
              <a:spcBef>
                <a:spcPts val="300"/>
              </a:spcBef>
              <a:buFont typeface="Wingdings" pitchFamily="2" charset="2"/>
              <a:buNone/>
            </a:pPr>
            <a:r>
              <a:rPr lang="en-US" b="0">
                <a:solidFill>
                  <a:schemeClr val="tx1">
                    <a:lumMod val="95000"/>
                    <a:lumOff val="5000"/>
                  </a:schemeClr>
                </a:solidFill>
              </a:rPr>
              <a:t>		</a:t>
            </a:r>
            <a:r>
              <a:rPr lang="en-US" b="0">
                <a:solidFill>
                  <a:srgbClr val="0000FF"/>
                </a:solidFill>
              </a:rPr>
              <a:t>void</a:t>
            </a:r>
            <a:r>
              <a:rPr lang="en-US" b="0">
                <a:solidFill>
                  <a:schemeClr val="tx1">
                    <a:lumMod val="95000"/>
                    <a:lumOff val="5000"/>
                  </a:schemeClr>
                </a:solidFill>
              </a:rPr>
              <a:t> push(</a:t>
            </a:r>
            <a:r>
              <a:rPr lang="en-US" b="0">
                <a:solidFill>
                  <a:srgbClr val="0000FF"/>
                </a:solidFill>
              </a:rPr>
              <a:t>const</a:t>
            </a:r>
            <a:r>
              <a:rPr lang="en-US" b="0">
                <a:solidFill>
                  <a:schemeClr val="tx1">
                    <a:lumMod val="95000"/>
                    <a:lumOff val="5000"/>
                  </a:schemeClr>
                </a:solidFill>
              </a:rPr>
              <a:t> </a:t>
            </a:r>
            <a:r>
              <a:rPr lang="en-US">
                <a:solidFill>
                  <a:schemeClr val="tx1">
                    <a:lumMod val="95000"/>
                    <a:lumOff val="5000"/>
                  </a:schemeClr>
                </a:solidFill>
              </a:rPr>
              <a:t>T</a:t>
            </a:r>
            <a:r>
              <a:rPr lang="en-US" b="0">
                <a:solidFill>
                  <a:schemeClr val="tx1">
                    <a:lumMod val="95000"/>
                    <a:lumOff val="5000"/>
                  </a:schemeClr>
                </a:solidFill>
              </a:rPr>
              <a:t>&amp; i);</a:t>
            </a:r>
          </a:p>
          <a:p>
            <a:pPr marL="342900" indent="-342900">
              <a:lnSpc>
                <a:spcPct val="120000"/>
              </a:lnSpc>
              <a:spcBef>
                <a:spcPts val="300"/>
              </a:spcBef>
              <a:buFont typeface="Wingdings" pitchFamily="2" charset="2"/>
              <a:buNone/>
            </a:pPr>
            <a:r>
              <a:rPr lang="en-US" b="0">
                <a:solidFill>
                  <a:schemeClr val="tx1">
                    <a:lumMod val="95000"/>
                    <a:lumOff val="5000"/>
                  </a:schemeClr>
                </a:solidFill>
              </a:rPr>
              <a:t>		</a:t>
            </a:r>
            <a:r>
              <a:rPr lang="en-US" b="0">
                <a:solidFill>
                  <a:srgbClr val="0000FF"/>
                </a:solidFill>
              </a:rPr>
              <a:t>void</a:t>
            </a:r>
            <a:r>
              <a:rPr lang="en-US" b="0">
                <a:solidFill>
                  <a:schemeClr val="tx1">
                    <a:lumMod val="95000"/>
                    <a:lumOff val="5000"/>
                  </a:schemeClr>
                </a:solidFill>
              </a:rPr>
              <a:t> pop(</a:t>
            </a:r>
            <a:r>
              <a:rPr lang="en-US">
                <a:solidFill>
                  <a:schemeClr val="tx1">
                    <a:lumMod val="95000"/>
                    <a:lumOff val="5000"/>
                  </a:schemeClr>
                </a:solidFill>
              </a:rPr>
              <a:t>T</a:t>
            </a:r>
            <a:r>
              <a:rPr lang="en-US" b="0">
                <a:solidFill>
                  <a:schemeClr val="tx1">
                    <a:lumMod val="95000"/>
                    <a:lumOff val="5000"/>
                  </a:schemeClr>
                </a:solidFill>
              </a:rPr>
              <a:t>&amp; i);</a:t>
            </a:r>
          </a:p>
          <a:p>
            <a:pPr marL="342900" indent="-342900">
              <a:lnSpc>
                <a:spcPct val="120000"/>
              </a:lnSpc>
              <a:spcBef>
                <a:spcPts val="300"/>
              </a:spcBef>
              <a:buFont typeface="Wingdings" pitchFamily="2" charset="2"/>
              <a:buNone/>
            </a:pPr>
            <a:r>
              <a:rPr lang="en-US" b="0">
                <a:solidFill>
                  <a:schemeClr val="tx1">
                    <a:lumMod val="95000"/>
                    <a:lumOff val="5000"/>
                  </a:schemeClr>
                </a:solidFill>
              </a:rPr>
              <a:t>		</a:t>
            </a:r>
            <a:r>
              <a:rPr lang="en-US" b="0">
                <a:solidFill>
                  <a:srgbClr val="0000FF"/>
                </a:solidFill>
              </a:rPr>
              <a:t>bool</a:t>
            </a:r>
            <a:r>
              <a:rPr lang="en-US" b="0">
                <a:solidFill>
                  <a:schemeClr val="tx1">
                    <a:lumMod val="95000"/>
                    <a:lumOff val="5000"/>
                  </a:schemeClr>
                </a:solidFill>
              </a:rPr>
              <a:t> isEmpty() </a:t>
            </a:r>
            <a:r>
              <a:rPr lang="en-US" b="0">
                <a:solidFill>
                  <a:srgbClr val="0000FF"/>
                </a:solidFill>
              </a:rPr>
              <a:t>const</a:t>
            </a:r>
            <a:r>
              <a:rPr lang="en-US" b="0">
                <a:solidFill>
                  <a:schemeClr val="tx1">
                    <a:lumMod val="95000"/>
                    <a:lumOff val="5000"/>
                  </a:schemeClr>
                </a:solidFill>
              </a:rPr>
              <a:t>;</a:t>
            </a:r>
          </a:p>
          <a:p>
            <a:pPr marL="342900" indent="-342900">
              <a:lnSpc>
                <a:spcPct val="120000"/>
              </a:lnSpc>
              <a:spcBef>
                <a:spcPts val="300"/>
              </a:spcBef>
              <a:buFont typeface="Wingdings" pitchFamily="2" charset="2"/>
              <a:buNone/>
            </a:pPr>
            <a:r>
              <a:rPr lang="en-US" b="0">
                <a:solidFill>
                  <a:schemeClr val="tx1">
                    <a:lumMod val="95000"/>
                    <a:lumOff val="5000"/>
                  </a:schemeClr>
                </a:solidFill>
              </a:rPr>
              <a:t>		</a:t>
            </a:r>
            <a:r>
              <a:rPr lang="en-US" b="0">
                <a:solidFill>
                  <a:srgbClr val="0000FF"/>
                </a:solidFill>
              </a:rPr>
              <a:t>bool</a:t>
            </a:r>
            <a:r>
              <a:rPr lang="en-US" b="0">
                <a:solidFill>
                  <a:schemeClr val="tx1">
                    <a:lumMod val="95000"/>
                    <a:lumOff val="5000"/>
                  </a:schemeClr>
                </a:solidFill>
              </a:rPr>
              <a:t> isFull() </a:t>
            </a:r>
            <a:r>
              <a:rPr lang="en-US" b="0">
                <a:solidFill>
                  <a:srgbClr val="0000FF"/>
                </a:solidFill>
              </a:rPr>
              <a:t>const</a:t>
            </a:r>
            <a:r>
              <a:rPr lang="en-US" b="0">
                <a:solidFill>
                  <a:schemeClr val="tx1">
                    <a:lumMod val="95000"/>
                    <a:lumOff val="5000"/>
                  </a:schemeClr>
                </a:solidFill>
              </a:rPr>
              <a:t>;</a:t>
            </a:r>
          </a:p>
          <a:p>
            <a:pPr marL="342900" indent="-342900">
              <a:lnSpc>
                <a:spcPct val="120000"/>
              </a:lnSpc>
              <a:spcBef>
                <a:spcPts val="300"/>
              </a:spcBef>
              <a:buFont typeface="Wingdings" pitchFamily="2" charset="2"/>
              <a:buNone/>
            </a:pPr>
            <a:r>
              <a:rPr lang="en-US" b="0">
                <a:solidFill>
                  <a:schemeClr val="tx1">
                    <a:lumMod val="95000"/>
                    <a:lumOff val="5000"/>
                  </a:schemeClr>
                </a:solidFill>
              </a:rPr>
              <a:t>};</a:t>
            </a:r>
          </a:p>
        </p:txBody>
      </p:sp>
    </p:spTree>
    <p:extLst>
      <p:ext uri="{BB962C8B-B14F-4D97-AF65-F5344CB8AC3E}">
        <p14:creationId xmlns:p14="http://schemas.microsoft.com/office/powerpoint/2010/main" val="236653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lớp –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28</a:t>
            </a:fld>
            <a:endParaRPr lang="en-US"/>
          </a:p>
        </p:txBody>
      </p:sp>
      <p:sp>
        <p:nvSpPr>
          <p:cNvPr id="8" name="Rectangle 3"/>
          <p:cNvSpPr>
            <a:spLocks noChangeArrowheads="1"/>
          </p:cNvSpPr>
          <p:nvPr/>
        </p:nvSpPr>
        <p:spPr bwMode="auto">
          <a:xfrm>
            <a:off x="533400" y="1447800"/>
            <a:ext cx="8153400" cy="5029200"/>
          </a:xfrm>
          <a:prstGeom prst="rect">
            <a:avLst/>
          </a:prstGeom>
          <a:solidFill>
            <a:srgbClr val="CCFFFF"/>
          </a:solidFill>
          <a:ln w="9525">
            <a:noFill/>
            <a:miter lim="800000"/>
            <a:headEnd/>
            <a:tailEnd/>
          </a:ln>
        </p:spPr>
        <p:txBody>
          <a:bodyPr/>
          <a:lstStyle/>
          <a:p>
            <a:pPr marL="342900" indent="-342900">
              <a:lnSpc>
                <a:spcPct val="120000"/>
              </a:lnSpc>
              <a:spcBef>
                <a:spcPts val="300"/>
              </a:spcBef>
              <a:buFont typeface="Wingdings" pitchFamily="2" charset="2"/>
              <a:buNone/>
            </a:pPr>
            <a:r>
              <a:rPr lang="en-US" b="0">
                <a:solidFill>
                  <a:srgbClr val="0000FF"/>
                </a:solidFill>
              </a:rPr>
              <a:t>template</a:t>
            </a:r>
            <a:r>
              <a:rPr lang="en-US" b="0">
                <a:solidFill>
                  <a:schemeClr val="tx1">
                    <a:lumMod val="95000"/>
                    <a:lumOff val="5000"/>
                  </a:schemeClr>
                </a:solidFill>
              </a:rPr>
              <a:t> </a:t>
            </a:r>
            <a:r>
              <a:rPr lang="en-US" b="0" smtClean="0">
                <a:solidFill>
                  <a:schemeClr val="tx1">
                    <a:lumMod val="95000"/>
                    <a:lumOff val="5000"/>
                  </a:schemeClr>
                </a:solidFill>
              </a:rPr>
              <a:t>&lt;</a:t>
            </a:r>
            <a:r>
              <a:rPr lang="en-US" b="0" smtClean="0">
                <a:solidFill>
                  <a:srgbClr val="0000FF"/>
                </a:solidFill>
              </a:rPr>
              <a:t>class</a:t>
            </a:r>
            <a:r>
              <a:rPr lang="en-US" b="0" smtClean="0">
                <a:solidFill>
                  <a:schemeClr val="tx1">
                    <a:lumMod val="95000"/>
                    <a:lumOff val="5000"/>
                  </a:schemeClr>
                </a:solidFill>
              </a:rPr>
              <a:t> </a:t>
            </a:r>
            <a:r>
              <a:rPr lang="en-US" b="0">
                <a:solidFill>
                  <a:schemeClr val="tx1">
                    <a:lumMod val="95000"/>
                    <a:lumOff val="5000"/>
                  </a:schemeClr>
                </a:solidFill>
              </a:rPr>
              <a:t>T&gt;</a:t>
            </a:r>
          </a:p>
          <a:p>
            <a:pPr marL="342900" indent="-342900">
              <a:lnSpc>
                <a:spcPct val="120000"/>
              </a:lnSpc>
              <a:spcBef>
                <a:spcPts val="300"/>
              </a:spcBef>
              <a:buFont typeface="Wingdings" pitchFamily="2" charset="2"/>
              <a:buNone/>
            </a:pPr>
            <a:r>
              <a:rPr lang="en-US" b="0">
                <a:solidFill>
                  <a:schemeClr val="tx1">
                    <a:lumMod val="95000"/>
                    <a:lumOff val="5000"/>
                  </a:schemeClr>
                </a:solidFill>
              </a:rPr>
              <a:t>Stack&lt;T&gt;::Stack() { </a:t>
            </a:r>
            <a:endParaRPr lang="en-US" b="0" smtClean="0">
              <a:solidFill>
                <a:schemeClr val="tx1">
                  <a:lumMod val="95000"/>
                  <a:lumOff val="5000"/>
                </a:schemeClr>
              </a:solidFill>
            </a:endParaRPr>
          </a:p>
          <a:p>
            <a:pPr marL="342900" indent="-342900">
              <a:lnSpc>
                <a:spcPct val="120000"/>
              </a:lnSpc>
              <a:spcBef>
                <a:spcPts val="300"/>
              </a:spcBef>
              <a:buFont typeface="Wingdings" pitchFamily="2" charset="2"/>
              <a:buNone/>
            </a:pPr>
            <a:r>
              <a:rPr lang="en-US" b="0">
                <a:solidFill>
                  <a:schemeClr val="tx1">
                    <a:lumMod val="95000"/>
                    <a:lumOff val="5000"/>
                  </a:schemeClr>
                </a:solidFill>
              </a:rPr>
              <a:t>	</a:t>
            </a:r>
            <a:r>
              <a:rPr lang="en-US" b="0" smtClean="0">
                <a:solidFill>
                  <a:srgbClr val="0000FF"/>
                </a:solidFill>
              </a:rPr>
              <a:t>this</a:t>
            </a:r>
            <a:r>
              <a:rPr lang="en-US" b="0" smtClean="0">
                <a:solidFill>
                  <a:schemeClr val="tx1">
                    <a:lumMod val="95000"/>
                    <a:lumOff val="5000"/>
                  </a:schemeClr>
                </a:solidFill>
              </a:rPr>
              <a:t>-</a:t>
            </a:r>
            <a:r>
              <a:rPr lang="en-US" b="0">
                <a:solidFill>
                  <a:schemeClr val="tx1">
                    <a:lumMod val="95000"/>
                    <a:lumOff val="5000"/>
                  </a:schemeClr>
                </a:solidFill>
              </a:rPr>
              <a:t>&gt;current = 0; </a:t>
            </a:r>
            <a:endParaRPr lang="en-US" b="0" smtClean="0">
              <a:solidFill>
                <a:schemeClr val="tx1">
                  <a:lumMod val="95000"/>
                  <a:lumOff val="5000"/>
                </a:schemeClr>
              </a:solidFill>
            </a:endParaRPr>
          </a:p>
          <a:p>
            <a:pPr marL="342900" indent="-342900">
              <a:lnSpc>
                <a:spcPct val="120000"/>
              </a:lnSpc>
              <a:spcBef>
                <a:spcPts val="300"/>
              </a:spcBef>
              <a:buFont typeface="Wingdings" pitchFamily="2" charset="2"/>
              <a:buNone/>
            </a:pPr>
            <a:r>
              <a:rPr lang="en-US" b="0" smtClean="0">
                <a:solidFill>
                  <a:schemeClr val="tx1">
                    <a:lumMod val="95000"/>
                    <a:lumOff val="5000"/>
                  </a:schemeClr>
                </a:solidFill>
              </a:rPr>
              <a:t>}</a:t>
            </a:r>
            <a:endParaRPr lang="en-US" b="0">
              <a:solidFill>
                <a:schemeClr val="tx1">
                  <a:lumMod val="95000"/>
                  <a:lumOff val="5000"/>
                </a:schemeClr>
              </a:solidFill>
            </a:endParaRPr>
          </a:p>
          <a:p>
            <a:pPr marL="342900" indent="-342900">
              <a:lnSpc>
                <a:spcPct val="120000"/>
              </a:lnSpc>
              <a:spcBef>
                <a:spcPts val="300"/>
              </a:spcBef>
              <a:buFont typeface="Wingdings" pitchFamily="2" charset="2"/>
              <a:buNone/>
            </a:pPr>
            <a:r>
              <a:rPr lang="en-US" b="0">
                <a:solidFill>
                  <a:srgbClr val="0000FF"/>
                </a:solidFill>
              </a:rPr>
              <a:t>template</a:t>
            </a:r>
            <a:r>
              <a:rPr lang="en-US" b="0">
                <a:solidFill>
                  <a:schemeClr val="tx1">
                    <a:lumMod val="95000"/>
                    <a:lumOff val="5000"/>
                  </a:schemeClr>
                </a:solidFill>
              </a:rPr>
              <a:t> </a:t>
            </a:r>
            <a:r>
              <a:rPr lang="en-US" b="0" smtClean="0">
                <a:solidFill>
                  <a:schemeClr val="tx1">
                    <a:lumMod val="95000"/>
                    <a:lumOff val="5000"/>
                  </a:schemeClr>
                </a:solidFill>
              </a:rPr>
              <a:t>&lt;</a:t>
            </a:r>
            <a:r>
              <a:rPr lang="en-US" b="0" smtClean="0">
                <a:solidFill>
                  <a:srgbClr val="0000FF"/>
                </a:solidFill>
              </a:rPr>
              <a:t>class</a:t>
            </a:r>
            <a:r>
              <a:rPr lang="en-US" b="0" smtClean="0">
                <a:solidFill>
                  <a:schemeClr val="tx1">
                    <a:lumMod val="95000"/>
                    <a:lumOff val="5000"/>
                  </a:schemeClr>
                </a:solidFill>
              </a:rPr>
              <a:t> </a:t>
            </a:r>
            <a:r>
              <a:rPr lang="en-US" b="0">
                <a:solidFill>
                  <a:schemeClr val="tx1">
                    <a:lumMod val="95000"/>
                    <a:lumOff val="5000"/>
                  </a:schemeClr>
                </a:solidFill>
              </a:rPr>
              <a:t>T&gt;</a:t>
            </a:r>
          </a:p>
          <a:p>
            <a:pPr marL="342900" indent="-342900">
              <a:lnSpc>
                <a:spcPct val="120000"/>
              </a:lnSpc>
              <a:spcBef>
                <a:spcPts val="300"/>
              </a:spcBef>
              <a:buFont typeface="Wingdings" pitchFamily="2" charset="2"/>
              <a:buNone/>
            </a:pPr>
            <a:r>
              <a:rPr lang="en-US" b="0">
                <a:solidFill>
                  <a:schemeClr val="tx1">
                    <a:lumMod val="95000"/>
                    <a:lumOff val="5000"/>
                  </a:schemeClr>
                </a:solidFill>
              </a:rPr>
              <a:t>Stack&lt;T&gt;::~Stack() </a:t>
            </a:r>
            <a:r>
              <a:rPr lang="en-US" b="0" smtClean="0">
                <a:solidFill>
                  <a:schemeClr val="tx1">
                    <a:lumMod val="95000"/>
                    <a:lumOff val="5000"/>
                  </a:schemeClr>
                </a:solidFill>
              </a:rPr>
              <a:t>{ }</a:t>
            </a:r>
            <a:endParaRPr lang="en-US" b="0">
              <a:solidFill>
                <a:schemeClr val="tx1">
                  <a:lumMod val="95000"/>
                  <a:lumOff val="5000"/>
                </a:schemeClr>
              </a:solidFill>
            </a:endParaRPr>
          </a:p>
          <a:p>
            <a:pPr marL="342900" indent="-342900">
              <a:lnSpc>
                <a:spcPct val="120000"/>
              </a:lnSpc>
              <a:spcBef>
                <a:spcPts val="300"/>
              </a:spcBef>
              <a:buFont typeface="Wingdings" pitchFamily="2" charset="2"/>
              <a:buNone/>
            </a:pPr>
            <a:r>
              <a:rPr lang="en-US" b="0">
                <a:solidFill>
                  <a:srgbClr val="0000FF"/>
                </a:solidFill>
              </a:rPr>
              <a:t>template</a:t>
            </a:r>
            <a:r>
              <a:rPr lang="en-US" b="0">
                <a:solidFill>
                  <a:schemeClr val="tx1">
                    <a:lumMod val="95000"/>
                    <a:lumOff val="5000"/>
                  </a:schemeClr>
                </a:solidFill>
              </a:rPr>
              <a:t> </a:t>
            </a:r>
            <a:r>
              <a:rPr lang="en-US" b="0" smtClean="0">
                <a:solidFill>
                  <a:schemeClr val="tx1">
                    <a:lumMod val="95000"/>
                    <a:lumOff val="5000"/>
                  </a:schemeClr>
                </a:solidFill>
              </a:rPr>
              <a:t>&lt;</a:t>
            </a:r>
            <a:r>
              <a:rPr lang="en-US" b="0" smtClean="0">
                <a:solidFill>
                  <a:srgbClr val="0000FF"/>
                </a:solidFill>
              </a:rPr>
              <a:t>class</a:t>
            </a:r>
            <a:r>
              <a:rPr lang="en-US" b="0" smtClean="0">
                <a:solidFill>
                  <a:schemeClr val="tx1">
                    <a:lumMod val="95000"/>
                    <a:lumOff val="5000"/>
                  </a:schemeClr>
                </a:solidFill>
              </a:rPr>
              <a:t> </a:t>
            </a:r>
            <a:r>
              <a:rPr lang="en-US" b="0">
                <a:solidFill>
                  <a:schemeClr val="tx1">
                    <a:lumMod val="95000"/>
                    <a:lumOff val="5000"/>
                  </a:schemeClr>
                </a:solidFill>
              </a:rPr>
              <a:t>T&gt;</a:t>
            </a:r>
          </a:p>
          <a:p>
            <a:pPr marL="342900" indent="-342900">
              <a:lnSpc>
                <a:spcPct val="120000"/>
              </a:lnSpc>
              <a:spcBef>
                <a:spcPts val="300"/>
              </a:spcBef>
              <a:buFont typeface="Wingdings" pitchFamily="2" charset="2"/>
              <a:buNone/>
            </a:pPr>
            <a:r>
              <a:rPr lang="en-US" b="0">
                <a:solidFill>
                  <a:srgbClr val="0000FF"/>
                </a:solidFill>
              </a:rPr>
              <a:t>void</a:t>
            </a:r>
            <a:r>
              <a:rPr lang="en-US" b="0">
                <a:solidFill>
                  <a:schemeClr val="tx1">
                    <a:lumMod val="95000"/>
                    <a:lumOff val="5000"/>
                  </a:schemeClr>
                </a:solidFill>
              </a:rPr>
              <a:t> Stack&lt;T&gt;::push(</a:t>
            </a:r>
            <a:r>
              <a:rPr lang="en-US" b="0">
                <a:solidFill>
                  <a:srgbClr val="0000FF"/>
                </a:solidFill>
              </a:rPr>
              <a:t>const</a:t>
            </a:r>
            <a:r>
              <a:rPr lang="en-US" b="0">
                <a:solidFill>
                  <a:schemeClr val="tx1">
                    <a:lumMod val="95000"/>
                    <a:lumOff val="5000"/>
                  </a:schemeClr>
                </a:solidFill>
              </a:rPr>
              <a:t> T&amp; i</a:t>
            </a:r>
            <a:r>
              <a:rPr lang="en-US" b="0" smtClean="0">
                <a:solidFill>
                  <a:schemeClr val="tx1">
                    <a:lumMod val="95000"/>
                    <a:lumOff val="5000"/>
                  </a:schemeClr>
                </a:solidFill>
              </a:rPr>
              <a:t>)</a:t>
            </a:r>
          </a:p>
          <a:p>
            <a:pPr marL="342900" indent="-342900">
              <a:lnSpc>
                <a:spcPct val="120000"/>
              </a:lnSpc>
              <a:spcBef>
                <a:spcPts val="300"/>
              </a:spcBef>
              <a:buFont typeface="Wingdings" pitchFamily="2" charset="2"/>
              <a:buNone/>
            </a:pPr>
            <a:r>
              <a:rPr lang="en-US" b="0" smtClean="0">
                <a:solidFill>
                  <a:schemeClr val="tx1">
                    <a:lumMod val="95000"/>
                    <a:lumOff val="5000"/>
                  </a:schemeClr>
                </a:solidFill>
              </a:rPr>
              <a:t>{</a:t>
            </a:r>
            <a:endParaRPr lang="en-US" b="0">
              <a:solidFill>
                <a:schemeClr val="tx1">
                  <a:lumMod val="95000"/>
                  <a:lumOff val="5000"/>
                </a:schemeClr>
              </a:solidFill>
            </a:endParaRPr>
          </a:p>
          <a:p>
            <a:pPr marL="342900" indent="-342900">
              <a:lnSpc>
                <a:spcPct val="120000"/>
              </a:lnSpc>
              <a:spcBef>
                <a:spcPts val="300"/>
              </a:spcBef>
              <a:buFont typeface="Wingdings" pitchFamily="2" charset="2"/>
              <a:buNone/>
            </a:pPr>
            <a:r>
              <a:rPr lang="en-US" b="0">
                <a:solidFill>
                  <a:schemeClr val="tx1">
                    <a:lumMod val="95000"/>
                    <a:lumOff val="5000"/>
                  </a:schemeClr>
                </a:solidFill>
              </a:rPr>
              <a:t>	</a:t>
            </a:r>
            <a:r>
              <a:rPr lang="en-US" b="0">
                <a:solidFill>
                  <a:srgbClr val="0000FF"/>
                </a:solidFill>
              </a:rPr>
              <a:t>if</a:t>
            </a:r>
            <a:r>
              <a:rPr lang="en-US" b="0">
                <a:solidFill>
                  <a:schemeClr val="tx1">
                    <a:lumMod val="95000"/>
                    <a:lumOff val="5000"/>
                  </a:schemeClr>
                </a:solidFill>
              </a:rPr>
              <a:t> (</a:t>
            </a:r>
            <a:r>
              <a:rPr lang="en-US" b="0">
                <a:solidFill>
                  <a:srgbClr val="0000FF"/>
                </a:solidFill>
              </a:rPr>
              <a:t>this</a:t>
            </a:r>
            <a:r>
              <a:rPr lang="en-US" b="0">
                <a:solidFill>
                  <a:schemeClr val="tx1">
                    <a:lumMod val="95000"/>
                    <a:lumOff val="5000"/>
                  </a:schemeClr>
                </a:solidFill>
              </a:rPr>
              <a:t>-&gt;current &lt; </a:t>
            </a:r>
            <a:r>
              <a:rPr lang="en-US" b="0">
                <a:solidFill>
                  <a:srgbClr val="0000FF"/>
                </a:solidFill>
              </a:rPr>
              <a:t>this</a:t>
            </a:r>
            <a:r>
              <a:rPr lang="en-US" b="0">
                <a:solidFill>
                  <a:schemeClr val="tx1">
                    <a:lumMod val="95000"/>
                    <a:lumOff val="5000"/>
                  </a:schemeClr>
                </a:solidFill>
              </a:rPr>
              <a:t>-&gt;max) </a:t>
            </a:r>
            <a:endParaRPr lang="en-US" b="0" smtClean="0">
              <a:solidFill>
                <a:schemeClr val="tx1">
                  <a:lumMod val="95000"/>
                  <a:lumOff val="5000"/>
                </a:schemeClr>
              </a:solidFill>
            </a:endParaRPr>
          </a:p>
          <a:p>
            <a:pPr marL="342900" indent="-342900">
              <a:lnSpc>
                <a:spcPct val="120000"/>
              </a:lnSpc>
              <a:spcBef>
                <a:spcPts val="300"/>
              </a:spcBef>
              <a:buFont typeface="Wingdings" pitchFamily="2" charset="2"/>
              <a:buNone/>
            </a:pPr>
            <a:r>
              <a:rPr lang="en-US" b="0">
                <a:solidFill>
                  <a:schemeClr val="tx1">
                    <a:lumMod val="95000"/>
                    <a:lumOff val="5000"/>
                  </a:schemeClr>
                </a:solidFill>
              </a:rPr>
              <a:t>	</a:t>
            </a:r>
            <a:r>
              <a:rPr lang="en-US" b="0" smtClean="0">
                <a:solidFill>
                  <a:schemeClr val="tx1">
                    <a:lumMod val="95000"/>
                    <a:lumOff val="5000"/>
                  </a:schemeClr>
                </a:solidFill>
              </a:rPr>
              <a:t>	</a:t>
            </a:r>
            <a:r>
              <a:rPr lang="en-US" b="0" smtClean="0">
                <a:solidFill>
                  <a:srgbClr val="0000FF"/>
                </a:solidFill>
              </a:rPr>
              <a:t>this</a:t>
            </a:r>
            <a:r>
              <a:rPr lang="en-US" b="0" smtClean="0">
                <a:solidFill>
                  <a:schemeClr val="tx1">
                    <a:lumMod val="95000"/>
                    <a:lumOff val="5000"/>
                  </a:schemeClr>
                </a:solidFill>
              </a:rPr>
              <a:t>-</a:t>
            </a:r>
            <a:r>
              <a:rPr lang="en-US" b="0">
                <a:solidFill>
                  <a:schemeClr val="tx1">
                    <a:lumMod val="95000"/>
                    <a:lumOff val="5000"/>
                  </a:schemeClr>
                </a:solidFill>
              </a:rPr>
              <a:t>&gt;contents[</a:t>
            </a:r>
            <a:r>
              <a:rPr lang="en-US" b="0">
                <a:solidFill>
                  <a:srgbClr val="0000FF"/>
                </a:solidFill>
              </a:rPr>
              <a:t>this</a:t>
            </a:r>
            <a:r>
              <a:rPr lang="en-US" b="0">
                <a:solidFill>
                  <a:schemeClr val="tx1">
                    <a:lumMod val="95000"/>
                    <a:lumOff val="5000"/>
                  </a:schemeClr>
                </a:solidFill>
              </a:rPr>
              <a:t>-&gt;current++] = i;</a:t>
            </a:r>
          </a:p>
          <a:p>
            <a:pPr marL="342900" indent="-342900">
              <a:lnSpc>
                <a:spcPct val="120000"/>
              </a:lnSpc>
              <a:spcBef>
                <a:spcPts val="300"/>
              </a:spcBef>
              <a:buFont typeface="Wingdings" pitchFamily="2" charset="2"/>
              <a:buNone/>
            </a:pPr>
            <a:r>
              <a:rPr lang="en-US" b="0" smtClean="0">
                <a:solidFill>
                  <a:schemeClr val="tx1">
                    <a:lumMod val="95000"/>
                    <a:lumOff val="5000"/>
                  </a:schemeClr>
                </a:solidFill>
              </a:rPr>
              <a:t>}</a:t>
            </a:r>
            <a:endParaRPr lang="en-US" b="0">
              <a:solidFill>
                <a:schemeClr val="tx1">
                  <a:lumMod val="95000"/>
                  <a:lumOff val="5000"/>
                </a:schemeClr>
              </a:solidFill>
            </a:endParaRPr>
          </a:p>
        </p:txBody>
      </p:sp>
      <p:sp>
        <p:nvSpPr>
          <p:cNvPr id="9" name="Rectangle 8"/>
          <p:cNvSpPr>
            <a:spLocks noChangeArrowheads="1"/>
          </p:cNvSpPr>
          <p:nvPr/>
        </p:nvSpPr>
        <p:spPr bwMode="auto">
          <a:xfrm>
            <a:off x="4953000" y="1567082"/>
            <a:ext cx="3733801" cy="830997"/>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gn="just"/>
            <a:r>
              <a:rPr lang="vi-VN" sz="2400" b="0"/>
              <a:t>Mỗi phương thức cần </a:t>
            </a:r>
            <a:r>
              <a:rPr lang="vi-VN" sz="2400" b="0" smtClean="0"/>
              <a:t>một</a:t>
            </a:r>
            <a:r>
              <a:rPr lang="en-US" sz="2400" b="0" smtClean="0"/>
              <a:t> </a:t>
            </a:r>
            <a:r>
              <a:rPr lang="vi-VN" sz="2400" b="0" smtClean="0"/>
              <a:t>lệnh </a:t>
            </a:r>
            <a:r>
              <a:rPr lang="vi-VN" sz="2400" b="0"/>
              <a:t>template đặt trước</a:t>
            </a:r>
          </a:p>
        </p:txBody>
      </p:sp>
      <p:cxnSp>
        <p:nvCxnSpPr>
          <p:cNvPr id="10" name="Straight Arrow Connector 9"/>
          <p:cNvCxnSpPr/>
          <p:nvPr/>
        </p:nvCxnSpPr>
        <p:spPr>
          <a:xfrm flipH="1">
            <a:off x="3124200" y="1973264"/>
            <a:ext cx="1831758" cy="198913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1" name="Straight Arrow Connector 10"/>
          <p:cNvCxnSpPr/>
          <p:nvPr/>
        </p:nvCxnSpPr>
        <p:spPr>
          <a:xfrm flipH="1" flipV="1">
            <a:off x="3276600" y="1752600"/>
            <a:ext cx="1679358" cy="22066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p:nvPr/>
        </p:nvCxnSpPr>
        <p:spPr>
          <a:xfrm flipH="1">
            <a:off x="3276600" y="1973264"/>
            <a:ext cx="1679358" cy="122713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9" name="Rectangle 18"/>
          <p:cNvSpPr>
            <a:spLocks noChangeArrowheads="1"/>
          </p:cNvSpPr>
          <p:nvPr/>
        </p:nvSpPr>
        <p:spPr bwMode="auto">
          <a:xfrm>
            <a:off x="4757738" y="2895600"/>
            <a:ext cx="3929062" cy="230832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just"/>
            <a:r>
              <a:rPr lang="en-US" sz="2400" b="0">
                <a:solidFill>
                  <a:schemeClr val="tx1">
                    <a:lumMod val="95000"/>
                    <a:lumOff val="5000"/>
                  </a:schemeClr>
                </a:solidFill>
              </a:rPr>
              <a:t>Mỗi khi dùng toán tử phạm vi</a:t>
            </a:r>
            <a:r>
              <a:rPr lang="en-US" sz="2400" b="0" smtClean="0">
                <a:solidFill>
                  <a:schemeClr val="tx1">
                    <a:lumMod val="95000"/>
                    <a:lumOff val="5000"/>
                  </a:schemeClr>
                </a:solidFill>
              </a:rPr>
              <a:t>, cần </a:t>
            </a:r>
            <a:r>
              <a:rPr lang="en-US" sz="2400" b="0">
                <a:solidFill>
                  <a:schemeClr val="tx1">
                    <a:lumMod val="95000"/>
                    <a:lumOff val="5000"/>
                  </a:schemeClr>
                </a:solidFill>
              </a:rPr>
              <a:t>một ký hiệu ngoặc nhọn </a:t>
            </a:r>
            <a:r>
              <a:rPr lang="en-US" sz="2400" b="0" smtClean="0">
                <a:solidFill>
                  <a:schemeClr val="tx1">
                    <a:lumMod val="95000"/>
                    <a:lumOff val="5000"/>
                  </a:schemeClr>
                </a:solidFill>
              </a:rPr>
              <a:t>kèm theo </a:t>
            </a:r>
            <a:r>
              <a:rPr lang="en-US" sz="2400" b="0">
                <a:solidFill>
                  <a:schemeClr val="tx1">
                    <a:lumMod val="95000"/>
                    <a:lumOff val="5000"/>
                  </a:schemeClr>
                </a:solidFill>
              </a:rPr>
              <a:t>tên </a:t>
            </a:r>
            <a:r>
              <a:rPr lang="en-US" sz="2400" b="0" smtClean="0">
                <a:solidFill>
                  <a:schemeClr val="tx1">
                    <a:lumMod val="95000"/>
                    <a:lumOff val="5000"/>
                  </a:schemeClr>
                </a:solidFill>
              </a:rPr>
              <a:t>kiểu.</a:t>
            </a:r>
            <a:endParaRPr lang="en-US" sz="2400" b="0">
              <a:solidFill>
                <a:schemeClr val="tx1">
                  <a:lumMod val="95000"/>
                  <a:lumOff val="5000"/>
                </a:schemeClr>
              </a:solidFill>
            </a:endParaRPr>
          </a:p>
          <a:p>
            <a:pPr algn="just"/>
            <a:r>
              <a:rPr lang="vi-VN" sz="2400" b="0">
                <a:solidFill>
                  <a:schemeClr val="tx1">
                    <a:lumMod val="95000"/>
                    <a:lumOff val="5000"/>
                  </a:schemeClr>
                </a:solidFill>
              </a:rPr>
              <a:t>Ta đang định nghĩa một </a:t>
            </a:r>
            <a:r>
              <a:rPr lang="vi-VN" sz="2400" b="0" smtClean="0">
                <a:solidFill>
                  <a:schemeClr val="tx1">
                    <a:lumMod val="95000"/>
                    <a:lumOff val="5000"/>
                  </a:schemeClr>
                </a:solidFill>
              </a:rPr>
              <a:t>lớp</a:t>
            </a:r>
            <a:r>
              <a:rPr lang="en-US" sz="2400" b="0" smtClean="0">
                <a:solidFill>
                  <a:schemeClr val="tx1">
                    <a:lumMod val="95000"/>
                    <a:lumOff val="5000"/>
                  </a:schemeClr>
                </a:solidFill>
              </a:rPr>
              <a:t> </a:t>
            </a:r>
            <a:r>
              <a:rPr lang="vi-VN" sz="2400" b="0" smtClean="0">
                <a:solidFill>
                  <a:schemeClr val="tx1">
                    <a:lumMod val="95000"/>
                    <a:lumOff val="5000"/>
                  </a:schemeClr>
                </a:solidFill>
              </a:rPr>
              <a:t>Stack&lt;type</a:t>
            </a:r>
            <a:r>
              <a:rPr lang="vi-VN" sz="2400" b="0">
                <a:solidFill>
                  <a:schemeClr val="tx1">
                    <a:lumMod val="95000"/>
                    <a:lumOff val="5000"/>
                  </a:schemeClr>
                </a:solidFill>
              </a:rPr>
              <a:t>&gt;, chứ không </a:t>
            </a:r>
            <a:r>
              <a:rPr lang="en-US" sz="2400" b="0" smtClean="0">
                <a:solidFill>
                  <a:schemeClr val="tx1">
                    <a:lumMod val="95000"/>
                    <a:lumOff val="5000"/>
                  </a:schemeClr>
                </a:solidFill>
              </a:rPr>
              <a:t>phải </a:t>
            </a:r>
            <a:r>
              <a:rPr lang="vi-VN" sz="2400" b="0" smtClean="0">
                <a:solidFill>
                  <a:schemeClr val="tx1">
                    <a:lumMod val="95000"/>
                    <a:lumOff val="5000"/>
                  </a:schemeClr>
                </a:solidFill>
              </a:rPr>
              <a:t>định</a:t>
            </a:r>
            <a:r>
              <a:rPr lang="en-US" sz="2400" b="0" smtClean="0">
                <a:solidFill>
                  <a:schemeClr val="tx1">
                    <a:lumMod val="95000"/>
                    <a:lumOff val="5000"/>
                  </a:schemeClr>
                </a:solidFill>
              </a:rPr>
              <a:t> nghĩa </a:t>
            </a:r>
            <a:r>
              <a:rPr lang="en-US" sz="2400" b="0">
                <a:solidFill>
                  <a:schemeClr val="tx1">
                    <a:lumMod val="95000"/>
                    <a:lumOff val="5000"/>
                  </a:schemeClr>
                </a:solidFill>
              </a:rPr>
              <a:t>lớp Stack</a:t>
            </a:r>
          </a:p>
        </p:txBody>
      </p:sp>
      <p:cxnSp>
        <p:nvCxnSpPr>
          <p:cNvPr id="20" name="Straight Arrow Connector 19"/>
          <p:cNvCxnSpPr>
            <a:stCxn id="19" idx="1"/>
          </p:cNvCxnSpPr>
          <p:nvPr/>
        </p:nvCxnSpPr>
        <p:spPr>
          <a:xfrm flipH="1">
            <a:off x="2133600" y="4049762"/>
            <a:ext cx="2624138" cy="29363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p:nvPr/>
        </p:nvCxnSpPr>
        <p:spPr>
          <a:xfrm flipH="1" flipV="1">
            <a:off x="1295400" y="2209801"/>
            <a:ext cx="3462338" cy="183996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28" name="Straight Arrow Connector 27"/>
          <p:cNvCxnSpPr/>
          <p:nvPr/>
        </p:nvCxnSpPr>
        <p:spPr>
          <a:xfrm flipH="1" flipV="1">
            <a:off x="1447800" y="3810000"/>
            <a:ext cx="3309938" cy="23976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980180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up)">
                                      <p:cBhvr>
                                        <p:cTn id="20" dur="500"/>
                                        <p:tgtEl>
                                          <p:spTgt spid="12"/>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up)">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9"/>
                                        </p:tgtEl>
                                      </p:cBhvr>
                                    </p:animEffect>
                                    <p:set>
                                      <p:cBhvr>
                                        <p:cTn id="29" dur="1" fill="hold">
                                          <p:stCondLst>
                                            <p:cond delay="499"/>
                                          </p:stCondLst>
                                        </p:cTn>
                                        <p:tgtEl>
                                          <p:spTgt spid="9"/>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11"/>
                                        </p:tgtEl>
                                      </p:cBhvr>
                                    </p:animEffect>
                                    <p:set>
                                      <p:cBhvr>
                                        <p:cTn id="32" dur="1" fill="hold">
                                          <p:stCondLst>
                                            <p:cond delay="499"/>
                                          </p:stCondLst>
                                        </p:cTn>
                                        <p:tgtEl>
                                          <p:spTgt spid="11"/>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500"/>
                                        <p:tgtEl>
                                          <p:spTgt spid="12"/>
                                        </p:tgtEl>
                                      </p:cBhvr>
                                    </p:animEffect>
                                    <p:set>
                                      <p:cBhvr>
                                        <p:cTn id="35" dur="1" fill="hold">
                                          <p:stCondLst>
                                            <p:cond delay="499"/>
                                          </p:stCondLst>
                                        </p:cTn>
                                        <p:tgtEl>
                                          <p:spTgt spid="12"/>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500"/>
                                        <p:tgtEl>
                                          <p:spTgt spid="10"/>
                                        </p:tgtEl>
                                      </p:cBhvr>
                                    </p:animEffect>
                                    <p:set>
                                      <p:cBhvr>
                                        <p:cTn id="38" dur="1" fill="hold">
                                          <p:stCondLst>
                                            <p:cond delay="499"/>
                                          </p:stCondLst>
                                        </p:cTn>
                                        <p:tgtEl>
                                          <p:spTgt spid="10"/>
                                        </p:tgtEl>
                                        <p:attrNameLst>
                                          <p:attrName>style.visibility</p:attrName>
                                        </p:attrNameLst>
                                      </p:cBhvr>
                                      <p:to>
                                        <p:strVal val="hidden"/>
                                      </p:to>
                                    </p:set>
                                  </p:childTnLst>
                                </p:cTn>
                              </p:par>
                            </p:childTnLst>
                          </p:cTn>
                        </p:par>
                        <p:par>
                          <p:cTn id="39" fill="hold">
                            <p:stCondLst>
                              <p:cond delay="500"/>
                            </p:stCondLst>
                            <p:childTnLst>
                              <p:par>
                                <p:cTn id="40" presetID="1" presetClass="entr" presetSubtype="0" fill="hold" grpId="0" nodeType="afterEffect">
                                  <p:stCondLst>
                                    <p:cond delay="0"/>
                                  </p:stCondLst>
                                  <p:childTnLst>
                                    <p:set>
                                      <p:cBhvr>
                                        <p:cTn id="41" dur="1" fill="hold">
                                          <p:stCondLst>
                                            <p:cond delay="0"/>
                                          </p:stCondLst>
                                        </p:cTn>
                                        <p:tgtEl>
                                          <p:spTgt spid="19"/>
                                        </p:tgtEl>
                                        <p:attrNameLst>
                                          <p:attrName>style.visibility</p:attrName>
                                        </p:attrNameLst>
                                      </p:cBhvr>
                                      <p:to>
                                        <p:strVal val="visible"/>
                                      </p:to>
                                    </p:set>
                                  </p:childTnLst>
                                </p:cTn>
                              </p:par>
                            </p:childTnLst>
                          </p:cTn>
                        </p:par>
                        <p:par>
                          <p:cTn id="42" fill="hold">
                            <p:stCondLst>
                              <p:cond delay="500"/>
                            </p:stCondLst>
                            <p:childTnLst>
                              <p:par>
                                <p:cTn id="43" presetID="22" presetClass="entr" presetSubtype="1" fill="hold" nodeType="after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up)">
                                      <p:cBhvr>
                                        <p:cTn id="45" dur="500"/>
                                        <p:tgtEl>
                                          <p:spTgt spid="20"/>
                                        </p:tgtEl>
                                      </p:cBhvr>
                                    </p:animEffect>
                                  </p:childTnLst>
                                </p:cTn>
                              </p:par>
                            </p:childTnLst>
                          </p:cTn>
                        </p:par>
                        <p:par>
                          <p:cTn id="46" fill="hold">
                            <p:stCondLst>
                              <p:cond delay="1000"/>
                            </p:stCondLst>
                            <p:childTnLst>
                              <p:par>
                                <p:cTn id="47" presetID="22" presetClass="entr" presetSubtype="1" fill="hold" nodeType="after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ipe(up)">
                                      <p:cBhvr>
                                        <p:cTn id="49" dur="500"/>
                                        <p:tgtEl>
                                          <p:spTgt spid="25"/>
                                        </p:tgtEl>
                                      </p:cBhvr>
                                    </p:animEffect>
                                  </p:childTnLst>
                                </p:cTn>
                              </p:par>
                            </p:childTnLst>
                          </p:cTn>
                        </p:par>
                        <p:par>
                          <p:cTn id="50" fill="hold">
                            <p:stCondLst>
                              <p:cond delay="1500"/>
                            </p:stCondLst>
                            <p:childTnLst>
                              <p:par>
                                <p:cTn id="51" presetID="22" presetClass="entr" presetSubtype="1" fill="hold" nodeType="after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wipe(up)">
                                      <p:cBhvr>
                                        <p:cTn id="5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9" grpId="1" animBg="1"/>
      <p:bldP spid="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lớp –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29</a:t>
            </a:fld>
            <a:endParaRPr lang="en-US"/>
          </a:p>
        </p:txBody>
      </p:sp>
      <p:sp>
        <p:nvSpPr>
          <p:cNvPr id="8" name="Rectangle 3"/>
          <p:cNvSpPr>
            <a:spLocks noChangeArrowheads="1"/>
          </p:cNvSpPr>
          <p:nvPr/>
        </p:nvSpPr>
        <p:spPr bwMode="auto">
          <a:xfrm>
            <a:off x="533400" y="1447800"/>
            <a:ext cx="8153400" cy="5029200"/>
          </a:xfrm>
          <a:prstGeom prst="rect">
            <a:avLst/>
          </a:prstGeom>
          <a:solidFill>
            <a:srgbClr val="CCFFFF"/>
          </a:solidFill>
          <a:ln w="9525">
            <a:noFill/>
            <a:miter lim="800000"/>
            <a:headEnd/>
            <a:tailEnd/>
          </a:ln>
        </p:spPr>
        <p:txBody>
          <a:bodyPr/>
          <a:lstStyle/>
          <a:p>
            <a:pPr marL="342900" indent="-342900">
              <a:lnSpc>
                <a:spcPct val="120000"/>
              </a:lnSpc>
              <a:spcBef>
                <a:spcPts val="300"/>
              </a:spcBef>
              <a:buFont typeface="Wingdings" pitchFamily="2" charset="2"/>
              <a:buNone/>
            </a:pPr>
            <a:r>
              <a:rPr lang="en-US" b="0" smtClean="0">
                <a:solidFill>
                  <a:srgbClr val="0000FF"/>
                </a:solidFill>
              </a:rPr>
              <a:t>template</a:t>
            </a:r>
            <a:r>
              <a:rPr lang="en-US" b="0" smtClean="0">
                <a:solidFill>
                  <a:schemeClr val="tx1">
                    <a:lumMod val="95000"/>
                    <a:lumOff val="5000"/>
                  </a:schemeClr>
                </a:solidFill>
              </a:rPr>
              <a:t> &lt;</a:t>
            </a:r>
            <a:r>
              <a:rPr lang="en-US" b="0" smtClean="0">
                <a:solidFill>
                  <a:srgbClr val="0000FF"/>
                </a:solidFill>
              </a:rPr>
              <a:t>class</a:t>
            </a:r>
            <a:r>
              <a:rPr lang="en-US" b="0" smtClean="0">
                <a:solidFill>
                  <a:schemeClr val="tx1">
                    <a:lumMod val="95000"/>
                    <a:lumOff val="5000"/>
                  </a:schemeClr>
                </a:solidFill>
              </a:rPr>
              <a:t> </a:t>
            </a:r>
            <a:r>
              <a:rPr lang="en-US" b="0">
                <a:solidFill>
                  <a:schemeClr val="tx1">
                    <a:lumMod val="95000"/>
                    <a:lumOff val="5000"/>
                  </a:schemeClr>
                </a:solidFill>
              </a:rPr>
              <a:t>T&gt;</a:t>
            </a:r>
          </a:p>
          <a:p>
            <a:pPr marL="342900" indent="-342900">
              <a:spcBef>
                <a:spcPts val="300"/>
              </a:spcBef>
              <a:buFont typeface="Wingdings" pitchFamily="2" charset="2"/>
              <a:buNone/>
            </a:pPr>
            <a:r>
              <a:rPr lang="en-US" b="0">
                <a:solidFill>
                  <a:srgbClr val="0000FF"/>
                </a:solidFill>
              </a:rPr>
              <a:t>void</a:t>
            </a:r>
            <a:r>
              <a:rPr lang="en-US" b="0">
                <a:solidFill>
                  <a:schemeClr val="tx1">
                    <a:lumMod val="95000"/>
                    <a:lumOff val="5000"/>
                  </a:schemeClr>
                </a:solidFill>
              </a:rPr>
              <a:t> Stack&lt;T&gt;::pop(T&amp; i) {</a:t>
            </a:r>
          </a:p>
          <a:p>
            <a:pPr marL="342900" indent="-342900">
              <a:spcBef>
                <a:spcPts val="300"/>
              </a:spcBef>
              <a:buFont typeface="Wingdings" pitchFamily="2" charset="2"/>
              <a:buNone/>
            </a:pPr>
            <a:r>
              <a:rPr lang="en-US" b="0">
                <a:solidFill>
                  <a:schemeClr val="tx1">
                    <a:lumMod val="95000"/>
                    <a:lumOff val="5000"/>
                  </a:schemeClr>
                </a:solidFill>
              </a:rPr>
              <a:t>	</a:t>
            </a:r>
            <a:r>
              <a:rPr lang="en-US" b="0">
                <a:solidFill>
                  <a:srgbClr val="0000FF"/>
                </a:solidFill>
              </a:rPr>
              <a:t>if</a:t>
            </a:r>
            <a:r>
              <a:rPr lang="en-US" b="0">
                <a:solidFill>
                  <a:schemeClr val="tx1">
                    <a:lumMod val="95000"/>
                    <a:lumOff val="5000"/>
                  </a:schemeClr>
                </a:solidFill>
              </a:rPr>
              <a:t> (</a:t>
            </a:r>
            <a:r>
              <a:rPr lang="en-US" b="0">
                <a:solidFill>
                  <a:srgbClr val="0000FF"/>
                </a:solidFill>
              </a:rPr>
              <a:t>this</a:t>
            </a:r>
            <a:r>
              <a:rPr lang="en-US" b="0">
                <a:solidFill>
                  <a:schemeClr val="tx1">
                    <a:lumMod val="95000"/>
                    <a:lumOff val="5000"/>
                  </a:schemeClr>
                </a:solidFill>
              </a:rPr>
              <a:t>-&gt;current &gt; 0)  </a:t>
            </a:r>
            <a:endParaRPr lang="en-US" b="0" smtClean="0">
              <a:solidFill>
                <a:schemeClr val="tx1">
                  <a:lumMod val="95000"/>
                  <a:lumOff val="5000"/>
                </a:schemeClr>
              </a:solidFill>
            </a:endParaRPr>
          </a:p>
          <a:p>
            <a:pPr marL="342900" indent="-342900">
              <a:spcBef>
                <a:spcPts val="300"/>
              </a:spcBef>
              <a:buFont typeface="Wingdings" pitchFamily="2" charset="2"/>
              <a:buNone/>
            </a:pPr>
            <a:r>
              <a:rPr lang="en-US" b="0">
                <a:solidFill>
                  <a:schemeClr val="tx1">
                    <a:lumMod val="95000"/>
                    <a:lumOff val="5000"/>
                  </a:schemeClr>
                </a:solidFill>
              </a:rPr>
              <a:t>	</a:t>
            </a:r>
            <a:r>
              <a:rPr lang="en-US" b="0" smtClean="0">
                <a:solidFill>
                  <a:schemeClr val="tx1">
                    <a:lumMod val="95000"/>
                    <a:lumOff val="5000"/>
                  </a:schemeClr>
                </a:solidFill>
              </a:rPr>
              <a:t>	i </a:t>
            </a:r>
            <a:r>
              <a:rPr lang="en-US" b="0">
                <a:solidFill>
                  <a:schemeClr val="tx1">
                    <a:lumMod val="95000"/>
                    <a:lumOff val="5000"/>
                  </a:schemeClr>
                </a:solidFill>
              </a:rPr>
              <a:t>= </a:t>
            </a:r>
            <a:r>
              <a:rPr lang="en-US" b="0">
                <a:solidFill>
                  <a:srgbClr val="0000FF"/>
                </a:solidFill>
              </a:rPr>
              <a:t>this</a:t>
            </a:r>
            <a:r>
              <a:rPr lang="en-US" b="0">
                <a:solidFill>
                  <a:schemeClr val="tx1">
                    <a:lumMod val="95000"/>
                    <a:lumOff val="5000"/>
                  </a:schemeClr>
                </a:solidFill>
              </a:rPr>
              <a:t>-&gt;contents[--</a:t>
            </a:r>
            <a:r>
              <a:rPr lang="en-US" b="0">
                <a:solidFill>
                  <a:srgbClr val="0000FF"/>
                </a:solidFill>
              </a:rPr>
              <a:t>this</a:t>
            </a:r>
            <a:r>
              <a:rPr lang="en-US" b="0">
                <a:solidFill>
                  <a:schemeClr val="tx1">
                    <a:lumMod val="95000"/>
                    <a:lumOff val="5000"/>
                  </a:schemeClr>
                </a:solidFill>
              </a:rPr>
              <a:t>-&gt;current];</a:t>
            </a:r>
          </a:p>
          <a:p>
            <a:pPr marL="342900" indent="-342900">
              <a:spcBef>
                <a:spcPts val="300"/>
              </a:spcBef>
              <a:buFont typeface="Wingdings" pitchFamily="2" charset="2"/>
              <a:buNone/>
            </a:pPr>
            <a:r>
              <a:rPr lang="en-US" b="0">
                <a:solidFill>
                  <a:schemeClr val="tx1">
                    <a:lumMod val="95000"/>
                    <a:lumOff val="5000"/>
                  </a:schemeClr>
                </a:solidFill>
              </a:rPr>
              <a:t>}</a:t>
            </a:r>
          </a:p>
          <a:p>
            <a:pPr marL="342900" indent="-342900">
              <a:lnSpc>
                <a:spcPct val="120000"/>
              </a:lnSpc>
              <a:spcBef>
                <a:spcPts val="300"/>
              </a:spcBef>
              <a:buFont typeface="Wingdings" pitchFamily="2" charset="2"/>
              <a:buNone/>
            </a:pPr>
            <a:r>
              <a:rPr lang="en-US" b="0">
                <a:solidFill>
                  <a:srgbClr val="0000FF"/>
                </a:solidFill>
              </a:rPr>
              <a:t>template</a:t>
            </a:r>
            <a:r>
              <a:rPr lang="en-US" b="0">
                <a:solidFill>
                  <a:schemeClr val="tx1">
                    <a:lumMod val="95000"/>
                    <a:lumOff val="5000"/>
                  </a:schemeClr>
                </a:solidFill>
              </a:rPr>
              <a:t> </a:t>
            </a:r>
            <a:r>
              <a:rPr lang="en-US" b="0" smtClean="0">
                <a:solidFill>
                  <a:schemeClr val="tx1">
                    <a:lumMod val="95000"/>
                    <a:lumOff val="5000"/>
                  </a:schemeClr>
                </a:solidFill>
              </a:rPr>
              <a:t>&lt;</a:t>
            </a:r>
            <a:r>
              <a:rPr lang="en-US" b="0" smtClean="0">
                <a:solidFill>
                  <a:srgbClr val="0000FF"/>
                </a:solidFill>
              </a:rPr>
              <a:t>class</a:t>
            </a:r>
            <a:r>
              <a:rPr lang="en-US" b="0" smtClean="0">
                <a:solidFill>
                  <a:schemeClr val="tx1">
                    <a:lumMod val="95000"/>
                    <a:lumOff val="5000"/>
                  </a:schemeClr>
                </a:solidFill>
              </a:rPr>
              <a:t> </a:t>
            </a:r>
            <a:r>
              <a:rPr lang="en-US" b="0">
                <a:solidFill>
                  <a:schemeClr val="tx1">
                    <a:lumMod val="95000"/>
                    <a:lumOff val="5000"/>
                  </a:schemeClr>
                </a:solidFill>
              </a:rPr>
              <a:t>T&gt;</a:t>
            </a:r>
          </a:p>
          <a:p>
            <a:pPr marL="342900" indent="-342900">
              <a:lnSpc>
                <a:spcPct val="120000"/>
              </a:lnSpc>
              <a:spcBef>
                <a:spcPts val="300"/>
              </a:spcBef>
              <a:buFont typeface="Wingdings" pitchFamily="2" charset="2"/>
              <a:buNone/>
            </a:pPr>
            <a:r>
              <a:rPr lang="en-US" b="0">
                <a:solidFill>
                  <a:srgbClr val="0000FF"/>
                </a:solidFill>
              </a:rPr>
              <a:t>bool</a:t>
            </a:r>
            <a:r>
              <a:rPr lang="en-US" b="0">
                <a:solidFill>
                  <a:schemeClr val="tx1">
                    <a:lumMod val="95000"/>
                    <a:lumOff val="5000"/>
                  </a:schemeClr>
                </a:solidFill>
              </a:rPr>
              <a:t> Stack&lt;T&gt;::isEmpty() </a:t>
            </a:r>
            <a:r>
              <a:rPr lang="en-US" b="0">
                <a:solidFill>
                  <a:srgbClr val="0000FF"/>
                </a:solidFill>
              </a:rPr>
              <a:t>const</a:t>
            </a:r>
            <a:r>
              <a:rPr lang="en-US" b="0">
                <a:solidFill>
                  <a:schemeClr val="tx1">
                    <a:lumMod val="95000"/>
                    <a:lumOff val="5000"/>
                  </a:schemeClr>
                </a:solidFill>
              </a:rPr>
              <a:t> { </a:t>
            </a:r>
            <a:endParaRPr lang="en-US" b="0" smtClean="0">
              <a:solidFill>
                <a:schemeClr val="tx1">
                  <a:lumMod val="95000"/>
                  <a:lumOff val="5000"/>
                </a:schemeClr>
              </a:solidFill>
            </a:endParaRPr>
          </a:p>
          <a:p>
            <a:pPr marL="342900" indent="-342900">
              <a:lnSpc>
                <a:spcPct val="120000"/>
              </a:lnSpc>
              <a:spcBef>
                <a:spcPts val="300"/>
              </a:spcBef>
              <a:buFont typeface="Wingdings" pitchFamily="2" charset="2"/>
              <a:buNone/>
            </a:pPr>
            <a:r>
              <a:rPr lang="en-US" b="0">
                <a:solidFill>
                  <a:schemeClr val="tx1">
                    <a:lumMod val="95000"/>
                    <a:lumOff val="5000"/>
                  </a:schemeClr>
                </a:solidFill>
              </a:rPr>
              <a:t>	</a:t>
            </a:r>
            <a:r>
              <a:rPr lang="en-US" b="0" smtClean="0">
                <a:solidFill>
                  <a:srgbClr val="0000FF"/>
                </a:solidFill>
              </a:rPr>
              <a:t>return</a:t>
            </a:r>
            <a:r>
              <a:rPr lang="en-US" b="0" smtClean="0">
                <a:solidFill>
                  <a:schemeClr val="tx1">
                    <a:lumMod val="95000"/>
                    <a:lumOff val="5000"/>
                  </a:schemeClr>
                </a:solidFill>
              </a:rPr>
              <a:t> </a:t>
            </a:r>
            <a:r>
              <a:rPr lang="en-US" b="0">
                <a:solidFill>
                  <a:schemeClr val="tx1">
                    <a:lumMod val="95000"/>
                    <a:lumOff val="5000"/>
                  </a:schemeClr>
                </a:solidFill>
              </a:rPr>
              <a:t>(</a:t>
            </a:r>
            <a:r>
              <a:rPr lang="en-US" b="0">
                <a:solidFill>
                  <a:srgbClr val="0000FF"/>
                </a:solidFill>
              </a:rPr>
              <a:t>this</a:t>
            </a:r>
            <a:r>
              <a:rPr lang="en-US" b="0">
                <a:solidFill>
                  <a:schemeClr val="tx1">
                    <a:lumMod val="95000"/>
                    <a:lumOff val="5000"/>
                  </a:schemeClr>
                </a:solidFill>
              </a:rPr>
              <a:t>-&gt;current == 0;) </a:t>
            </a:r>
            <a:endParaRPr lang="en-US" b="0" smtClean="0">
              <a:solidFill>
                <a:schemeClr val="tx1">
                  <a:lumMod val="95000"/>
                  <a:lumOff val="5000"/>
                </a:schemeClr>
              </a:solidFill>
            </a:endParaRPr>
          </a:p>
          <a:p>
            <a:pPr marL="342900" indent="-342900">
              <a:lnSpc>
                <a:spcPct val="120000"/>
              </a:lnSpc>
              <a:spcBef>
                <a:spcPts val="300"/>
              </a:spcBef>
              <a:buFont typeface="Wingdings" pitchFamily="2" charset="2"/>
              <a:buNone/>
            </a:pPr>
            <a:r>
              <a:rPr lang="en-US" b="0" smtClean="0">
                <a:solidFill>
                  <a:schemeClr val="tx1">
                    <a:lumMod val="95000"/>
                    <a:lumOff val="5000"/>
                  </a:schemeClr>
                </a:solidFill>
              </a:rPr>
              <a:t>}</a:t>
            </a:r>
            <a:endParaRPr lang="en-US" b="0">
              <a:solidFill>
                <a:schemeClr val="tx1">
                  <a:lumMod val="95000"/>
                  <a:lumOff val="5000"/>
                </a:schemeClr>
              </a:solidFill>
            </a:endParaRPr>
          </a:p>
          <a:p>
            <a:pPr marL="342900" indent="-342900">
              <a:lnSpc>
                <a:spcPct val="120000"/>
              </a:lnSpc>
              <a:spcBef>
                <a:spcPts val="300"/>
              </a:spcBef>
              <a:buFont typeface="Wingdings" pitchFamily="2" charset="2"/>
              <a:buNone/>
            </a:pPr>
            <a:r>
              <a:rPr lang="en-US" b="0">
                <a:solidFill>
                  <a:srgbClr val="0000FF"/>
                </a:solidFill>
              </a:rPr>
              <a:t>template</a:t>
            </a:r>
            <a:r>
              <a:rPr lang="en-US" b="0">
                <a:solidFill>
                  <a:schemeClr val="tx1">
                    <a:lumMod val="95000"/>
                    <a:lumOff val="5000"/>
                  </a:schemeClr>
                </a:solidFill>
              </a:rPr>
              <a:t> </a:t>
            </a:r>
            <a:r>
              <a:rPr lang="en-US" b="0" smtClean="0">
                <a:solidFill>
                  <a:schemeClr val="tx1">
                    <a:lumMod val="95000"/>
                    <a:lumOff val="5000"/>
                  </a:schemeClr>
                </a:solidFill>
              </a:rPr>
              <a:t>&lt;</a:t>
            </a:r>
            <a:r>
              <a:rPr lang="en-US" b="0" smtClean="0">
                <a:solidFill>
                  <a:srgbClr val="0000FF"/>
                </a:solidFill>
              </a:rPr>
              <a:t>class</a:t>
            </a:r>
            <a:r>
              <a:rPr lang="en-US" b="0" smtClean="0">
                <a:solidFill>
                  <a:schemeClr val="tx1">
                    <a:lumMod val="95000"/>
                    <a:lumOff val="5000"/>
                  </a:schemeClr>
                </a:solidFill>
              </a:rPr>
              <a:t> </a:t>
            </a:r>
            <a:r>
              <a:rPr lang="en-US" b="0">
                <a:solidFill>
                  <a:schemeClr val="tx1">
                    <a:lumMod val="95000"/>
                    <a:lumOff val="5000"/>
                  </a:schemeClr>
                </a:solidFill>
              </a:rPr>
              <a:t>T&gt;</a:t>
            </a:r>
          </a:p>
          <a:p>
            <a:pPr marL="342900" indent="-342900">
              <a:lnSpc>
                <a:spcPct val="120000"/>
              </a:lnSpc>
              <a:spcBef>
                <a:spcPts val="300"/>
              </a:spcBef>
              <a:buFont typeface="Wingdings" pitchFamily="2" charset="2"/>
              <a:buNone/>
            </a:pPr>
            <a:r>
              <a:rPr lang="en-US" b="0">
                <a:solidFill>
                  <a:srgbClr val="0000FF"/>
                </a:solidFill>
              </a:rPr>
              <a:t>bool</a:t>
            </a:r>
            <a:r>
              <a:rPr lang="en-US" b="0">
                <a:solidFill>
                  <a:schemeClr val="tx1">
                    <a:lumMod val="95000"/>
                    <a:lumOff val="5000"/>
                  </a:schemeClr>
                </a:solidFill>
              </a:rPr>
              <a:t> Stack&lt;T&gt;::isFull() </a:t>
            </a:r>
            <a:r>
              <a:rPr lang="en-US" b="0">
                <a:solidFill>
                  <a:srgbClr val="0000FF"/>
                </a:solidFill>
              </a:rPr>
              <a:t>const</a:t>
            </a:r>
            <a:r>
              <a:rPr lang="en-US" b="0">
                <a:solidFill>
                  <a:schemeClr val="tx1">
                    <a:lumMod val="95000"/>
                    <a:lumOff val="5000"/>
                  </a:schemeClr>
                </a:solidFill>
              </a:rPr>
              <a:t> { </a:t>
            </a:r>
            <a:endParaRPr lang="en-US" b="0" smtClean="0">
              <a:solidFill>
                <a:schemeClr val="tx1">
                  <a:lumMod val="95000"/>
                  <a:lumOff val="5000"/>
                </a:schemeClr>
              </a:solidFill>
            </a:endParaRPr>
          </a:p>
          <a:p>
            <a:pPr marL="342900" indent="-342900">
              <a:lnSpc>
                <a:spcPct val="120000"/>
              </a:lnSpc>
              <a:spcBef>
                <a:spcPts val="300"/>
              </a:spcBef>
              <a:buFont typeface="Wingdings" pitchFamily="2" charset="2"/>
              <a:buNone/>
            </a:pPr>
            <a:r>
              <a:rPr lang="en-US" b="0">
                <a:solidFill>
                  <a:schemeClr val="tx1">
                    <a:lumMod val="95000"/>
                    <a:lumOff val="5000"/>
                  </a:schemeClr>
                </a:solidFill>
              </a:rPr>
              <a:t>	</a:t>
            </a:r>
            <a:r>
              <a:rPr lang="en-US" b="0" smtClean="0">
                <a:solidFill>
                  <a:srgbClr val="0000FF"/>
                </a:solidFill>
              </a:rPr>
              <a:t>return</a:t>
            </a:r>
            <a:r>
              <a:rPr lang="en-US" b="0" smtClean="0">
                <a:solidFill>
                  <a:schemeClr val="tx1">
                    <a:lumMod val="95000"/>
                    <a:lumOff val="5000"/>
                  </a:schemeClr>
                </a:solidFill>
              </a:rPr>
              <a:t> </a:t>
            </a:r>
            <a:r>
              <a:rPr lang="en-US" b="0">
                <a:solidFill>
                  <a:schemeClr val="tx1">
                    <a:lumMod val="95000"/>
                    <a:lumOff val="5000"/>
                  </a:schemeClr>
                </a:solidFill>
              </a:rPr>
              <a:t>(</a:t>
            </a:r>
            <a:r>
              <a:rPr lang="en-US" b="0">
                <a:solidFill>
                  <a:srgbClr val="0000FF"/>
                </a:solidFill>
              </a:rPr>
              <a:t>this</a:t>
            </a:r>
            <a:r>
              <a:rPr lang="en-US" b="0">
                <a:solidFill>
                  <a:schemeClr val="tx1">
                    <a:lumMod val="95000"/>
                    <a:lumOff val="5000"/>
                  </a:schemeClr>
                </a:solidFill>
              </a:rPr>
              <a:t>-&gt;current == </a:t>
            </a:r>
            <a:r>
              <a:rPr lang="en-US" b="0">
                <a:solidFill>
                  <a:srgbClr val="0000FF"/>
                </a:solidFill>
              </a:rPr>
              <a:t>this</a:t>
            </a:r>
            <a:r>
              <a:rPr lang="en-US" b="0">
                <a:solidFill>
                  <a:schemeClr val="tx1">
                    <a:lumMod val="95000"/>
                    <a:lumOff val="5000"/>
                  </a:schemeClr>
                </a:solidFill>
              </a:rPr>
              <a:t>-&gt;max); </a:t>
            </a:r>
            <a:endParaRPr lang="en-US" b="0" smtClean="0">
              <a:solidFill>
                <a:schemeClr val="tx1">
                  <a:lumMod val="95000"/>
                  <a:lumOff val="5000"/>
                </a:schemeClr>
              </a:solidFill>
            </a:endParaRPr>
          </a:p>
          <a:p>
            <a:pPr marL="342900" indent="-342900">
              <a:lnSpc>
                <a:spcPct val="120000"/>
              </a:lnSpc>
              <a:spcBef>
                <a:spcPts val="300"/>
              </a:spcBef>
              <a:buFont typeface="Wingdings" pitchFamily="2" charset="2"/>
              <a:buNone/>
            </a:pPr>
            <a:r>
              <a:rPr lang="en-US" b="0" smtClean="0">
                <a:solidFill>
                  <a:schemeClr val="tx1">
                    <a:lumMod val="95000"/>
                    <a:lumOff val="5000"/>
                  </a:schemeClr>
                </a:solidFill>
              </a:rPr>
              <a:t>}</a:t>
            </a:r>
            <a:endParaRPr lang="en-US" b="0">
              <a:solidFill>
                <a:schemeClr val="tx1">
                  <a:lumMod val="95000"/>
                  <a:lumOff val="5000"/>
                </a:schemeClr>
              </a:solidFill>
            </a:endParaRPr>
          </a:p>
        </p:txBody>
      </p:sp>
      <p:sp>
        <p:nvSpPr>
          <p:cNvPr id="7" name="Rectangle 6"/>
          <p:cNvSpPr>
            <a:spLocks noChangeArrowheads="1"/>
          </p:cNvSpPr>
          <p:nvPr/>
        </p:nvSpPr>
        <p:spPr bwMode="auto">
          <a:xfrm>
            <a:off x="4686300" y="4343400"/>
            <a:ext cx="4000500" cy="1016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just"/>
            <a:r>
              <a:rPr lang="vi-VN" sz="2000" b="0">
                <a:solidFill>
                  <a:schemeClr val="tx1">
                    <a:lumMod val="95000"/>
                    <a:lumOff val="5000"/>
                  </a:schemeClr>
                </a:solidFill>
              </a:rPr>
              <a:t>Thay thế kiểu của đối </a:t>
            </a:r>
            <a:r>
              <a:rPr lang="vi-VN" sz="2000" b="0" smtClean="0">
                <a:solidFill>
                  <a:schemeClr val="tx1">
                    <a:lumMod val="95000"/>
                    <a:lumOff val="5000"/>
                  </a:schemeClr>
                </a:solidFill>
              </a:rPr>
              <a:t>tượng</a:t>
            </a:r>
            <a:r>
              <a:rPr lang="en-US" sz="2000" b="0" smtClean="0">
                <a:solidFill>
                  <a:schemeClr val="tx1">
                    <a:lumMod val="95000"/>
                    <a:lumOff val="5000"/>
                  </a:schemeClr>
                </a:solidFill>
              </a:rPr>
              <a:t> </a:t>
            </a:r>
            <a:r>
              <a:rPr lang="vi-VN" sz="2000" b="0" smtClean="0">
                <a:solidFill>
                  <a:schemeClr val="tx1">
                    <a:lumMod val="95000"/>
                    <a:lumOff val="5000"/>
                  </a:schemeClr>
                </a:solidFill>
              </a:rPr>
              <a:t>được </a:t>
            </a:r>
            <a:r>
              <a:rPr lang="vi-VN" sz="2000" b="0">
                <a:solidFill>
                  <a:schemeClr val="tx1">
                    <a:lumMod val="95000"/>
                    <a:lumOff val="5000"/>
                  </a:schemeClr>
                </a:solidFill>
              </a:rPr>
              <a:t>lưu trong ngăn xếp (trước là int) bằng </a:t>
            </a:r>
            <a:r>
              <a:rPr lang="vi-VN" sz="2000">
                <a:solidFill>
                  <a:schemeClr val="tx1">
                    <a:lumMod val="95000"/>
                    <a:lumOff val="5000"/>
                  </a:schemeClr>
                </a:solidFill>
              </a:rPr>
              <a:t>kiểu </a:t>
            </a:r>
            <a:r>
              <a:rPr lang="vi-VN" sz="2000" smtClean="0">
                <a:solidFill>
                  <a:schemeClr val="tx1">
                    <a:lumMod val="95000"/>
                    <a:lumOff val="5000"/>
                  </a:schemeClr>
                </a:solidFill>
              </a:rPr>
              <a:t>t</a:t>
            </a:r>
            <a:r>
              <a:rPr lang="en-US" smtClean="0">
                <a:solidFill>
                  <a:schemeClr val="tx1">
                    <a:lumMod val="95000"/>
                    <a:lumOff val="5000"/>
                  </a:schemeClr>
                </a:solidFill>
              </a:rPr>
              <a:t>ùy</a:t>
            </a:r>
            <a:r>
              <a:rPr lang="vi-VN" sz="2000" smtClean="0">
                <a:solidFill>
                  <a:schemeClr val="tx1">
                    <a:lumMod val="95000"/>
                    <a:lumOff val="5000"/>
                  </a:schemeClr>
                </a:solidFill>
              </a:rPr>
              <a:t> </a:t>
            </a:r>
            <a:r>
              <a:rPr lang="en-US" sz="2000">
                <a:solidFill>
                  <a:schemeClr val="tx1">
                    <a:lumMod val="95000"/>
                    <a:lumOff val="5000"/>
                  </a:schemeClr>
                </a:solidFill>
              </a:rPr>
              <a:t>ý T</a:t>
            </a:r>
          </a:p>
        </p:txBody>
      </p:sp>
      <p:cxnSp>
        <p:nvCxnSpPr>
          <p:cNvPr id="9" name="Straight Arrow Connector 8"/>
          <p:cNvCxnSpPr>
            <a:stCxn id="7" idx="0"/>
          </p:cNvCxnSpPr>
          <p:nvPr/>
        </p:nvCxnSpPr>
        <p:spPr>
          <a:xfrm flipH="1" flipV="1">
            <a:off x="2971800" y="2209800"/>
            <a:ext cx="3714750" cy="21336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35561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par>
                          <p:cTn id="12" fill="hold">
                            <p:stCondLst>
                              <p:cond delay="0"/>
                            </p:stCondLst>
                            <p:childTnLst>
                              <p:par>
                                <p:cTn id="13" presetID="22" presetClass="entr" presetSubtype="4"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Khuôn mẫu lớp –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30</a:t>
            </a:fld>
            <a:endParaRPr lang="en-US"/>
          </a:p>
        </p:txBody>
      </p:sp>
      <p:sp>
        <p:nvSpPr>
          <p:cNvPr id="8" name="Rectangle 3"/>
          <p:cNvSpPr>
            <a:spLocks noChangeArrowheads="1"/>
          </p:cNvSpPr>
          <p:nvPr/>
        </p:nvSpPr>
        <p:spPr bwMode="auto">
          <a:xfrm>
            <a:off x="533400" y="1447800"/>
            <a:ext cx="8153400" cy="5029200"/>
          </a:xfrm>
          <a:prstGeom prst="rect">
            <a:avLst/>
          </a:prstGeom>
          <a:solidFill>
            <a:srgbClr val="CCFFFF"/>
          </a:solidFill>
          <a:ln w="9525">
            <a:noFill/>
            <a:miter lim="800000"/>
            <a:headEnd/>
            <a:tailEnd/>
          </a:ln>
        </p:spPr>
        <p:txBody>
          <a:bodyPr/>
          <a:lstStyle/>
          <a:p>
            <a:pPr marL="342900" indent="-342900">
              <a:lnSpc>
                <a:spcPct val="150000"/>
              </a:lnSpc>
              <a:spcBef>
                <a:spcPts val="300"/>
              </a:spcBef>
              <a:buFont typeface="Wingdings" pitchFamily="2" charset="2"/>
              <a:buNone/>
            </a:pPr>
            <a:r>
              <a:rPr lang="en-US" sz="2400" b="0">
                <a:solidFill>
                  <a:srgbClr val="0000FF"/>
                </a:solidFill>
              </a:rPr>
              <a:t>int</a:t>
            </a:r>
            <a:r>
              <a:rPr lang="en-US" sz="2400" b="0">
                <a:solidFill>
                  <a:schemeClr val="tx1">
                    <a:lumMod val="95000"/>
                    <a:lumOff val="5000"/>
                  </a:schemeClr>
                </a:solidFill>
              </a:rPr>
              <a:t> x = 5,</a:t>
            </a:r>
          </a:p>
          <a:p>
            <a:pPr marL="342900" indent="-342900">
              <a:lnSpc>
                <a:spcPct val="150000"/>
              </a:lnSpc>
              <a:spcBef>
                <a:spcPts val="300"/>
              </a:spcBef>
              <a:buFont typeface="Wingdings" pitchFamily="2" charset="2"/>
              <a:buNone/>
            </a:pPr>
            <a:r>
              <a:rPr lang="en-US" sz="2400" b="0">
                <a:solidFill>
                  <a:srgbClr val="0000FF"/>
                </a:solidFill>
              </a:rPr>
              <a:t>char</a:t>
            </a:r>
            <a:r>
              <a:rPr lang="en-US" sz="2400" b="0">
                <a:solidFill>
                  <a:schemeClr val="tx1">
                    <a:lumMod val="95000"/>
                    <a:lumOff val="5000"/>
                  </a:schemeClr>
                </a:solidFill>
              </a:rPr>
              <a:t> c = 'a',</a:t>
            </a:r>
          </a:p>
          <a:p>
            <a:pPr marL="342900" indent="-342900">
              <a:lnSpc>
                <a:spcPct val="150000"/>
              </a:lnSpc>
              <a:spcBef>
                <a:spcPts val="300"/>
              </a:spcBef>
              <a:buFont typeface="Wingdings" pitchFamily="2" charset="2"/>
              <a:buNone/>
            </a:pPr>
            <a:r>
              <a:rPr lang="en-US" sz="2400" b="0">
                <a:solidFill>
                  <a:schemeClr val="tx1">
                    <a:lumMod val="95000"/>
                    <a:lumOff val="5000"/>
                  </a:schemeClr>
                </a:solidFill>
              </a:rPr>
              <a:t>Stack&lt;</a:t>
            </a:r>
            <a:r>
              <a:rPr lang="en-US" sz="2400" b="0">
                <a:solidFill>
                  <a:srgbClr val="0000FF"/>
                </a:solidFill>
              </a:rPr>
              <a:t>int</a:t>
            </a:r>
            <a:r>
              <a:rPr lang="en-US" sz="2400" b="0">
                <a:solidFill>
                  <a:schemeClr val="tx1">
                    <a:lumMod val="95000"/>
                    <a:lumOff val="5000"/>
                  </a:schemeClr>
                </a:solidFill>
              </a:rPr>
              <a:t>&gt;</a:t>
            </a:r>
          </a:p>
          <a:p>
            <a:pPr marL="342900" indent="-342900">
              <a:lnSpc>
                <a:spcPct val="150000"/>
              </a:lnSpc>
              <a:spcBef>
                <a:spcPts val="300"/>
              </a:spcBef>
              <a:buFont typeface="Wingdings" pitchFamily="2" charset="2"/>
              <a:buNone/>
            </a:pPr>
            <a:r>
              <a:rPr lang="en-US" sz="2400" b="0">
                <a:solidFill>
                  <a:schemeClr val="tx1">
                    <a:lumMod val="95000"/>
                    <a:lumOff val="5000"/>
                  </a:schemeClr>
                </a:solidFill>
              </a:rPr>
              <a:t>Stack&lt;</a:t>
            </a:r>
            <a:r>
              <a:rPr lang="en-US" sz="2400" b="0">
                <a:solidFill>
                  <a:srgbClr val="0000FF"/>
                </a:solidFill>
              </a:rPr>
              <a:t>char</a:t>
            </a:r>
            <a:r>
              <a:rPr lang="en-US" sz="2400" b="0">
                <a:solidFill>
                  <a:schemeClr val="tx1">
                    <a:lumMod val="95000"/>
                    <a:lumOff val="5000"/>
                  </a:schemeClr>
                </a:solidFill>
              </a:rPr>
              <a:t>&gt;</a:t>
            </a:r>
          </a:p>
          <a:p>
            <a:pPr marL="342900" indent="-342900">
              <a:lnSpc>
                <a:spcPct val="150000"/>
              </a:lnSpc>
              <a:spcBef>
                <a:spcPts val="300"/>
              </a:spcBef>
              <a:buFont typeface="Wingdings" pitchFamily="2" charset="2"/>
              <a:buNone/>
            </a:pPr>
            <a:r>
              <a:rPr lang="en-US" sz="2400" b="0">
                <a:solidFill>
                  <a:schemeClr val="tx1">
                    <a:lumMod val="95000"/>
                    <a:lumOff val="5000"/>
                  </a:schemeClr>
                </a:solidFill>
              </a:rPr>
              <a:t>s.push(x);</a:t>
            </a:r>
          </a:p>
          <a:p>
            <a:pPr marL="342900" indent="-342900">
              <a:lnSpc>
                <a:spcPct val="150000"/>
              </a:lnSpc>
              <a:spcBef>
                <a:spcPts val="300"/>
              </a:spcBef>
              <a:buFont typeface="Wingdings" pitchFamily="2" charset="2"/>
              <a:buNone/>
            </a:pPr>
            <a:r>
              <a:rPr lang="en-US" sz="2400" b="0">
                <a:solidFill>
                  <a:schemeClr val="tx1">
                    <a:lumMod val="95000"/>
                    <a:lumOff val="5000"/>
                  </a:schemeClr>
                </a:solidFill>
              </a:rPr>
              <a:t>t.push(c);</a:t>
            </a:r>
          </a:p>
          <a:p>
            <a:pPr marL="342900" indent="-342900">
              <a:lnSpc>
                <a:spcPct val="150000"/>
              </a:lnSpc>
              <a:spcBef>
                <a:spcPts val="300"/>
              </a:spcBef>
              <a:buFont typeface="Wingdings" pitchFamily="2" charset="2"/>
              <a:buNone/>
            </a:pPr>
            <a:r>
              <a:rPr lang="en-US" sz="2400" b="0">
                <a:solidFill>
                  <a:schemeClr val="tx1">
                    <a:lumMod val="95000"/>
                    <a:lumOff val="5000"/>
                  </a:schemeClr>
                </a:solidFill>
              </a:rPr>
              <a:t>s.pop(y);</a:t>
            </a:r>
          </a:p>
          <a:p>
            <a:pPr marL="342900" indent="-342900">
              <a:lnSpc>
                <a:spcPct val="150000"/>
              </a:lnSpc>
              <a:spcBef>
                <a:spcPts val="300"/>
              </a:spcBef>
              <a:buFont typeface="Wingdings" pitchFamily="2" charset="2"/>
              <a:buNone/>
            </a:pPr>
            <a:r>
              <a:rPr lang="en-US" sz="2400" b="0">
                <a:solidFill>
                  <a:schemeClr val="tx1">
                    <a:lumMod val="95000"/>
                    <a:lumOff val="5000"/>
                  </a:schemeClr>
                </a:solidFill>
              </a:rPr>
              <a:t>t.pop(d);</a:t>
            </a:r>
          </a:p>
        </p:txBody>
      </p:sp>
    </p:spTree>
    <p:extLst>
      <p:ext uri="{BB962C8B-B14F-4D97-AF65-F5344CB8AC3E}">
        <p14:creationId xmlns:p14="http://schemas.microsoft.com/office/powerpoint/2010/main" val="751548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Các tham số khuôn mẫu khác</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smtClean="0">
                <a:solidFill>
                  <a:schemeClr val="tx1">
                    <a:lumMod val="95000"/>
                    <a:lumOff val="5000"/>
                  </a:schemeClr>
                </a:solidFill>
                <a:latin typeface="Arial" pitchFamily="34" charset="0"/>
                <a:cs typeface="Arial" pitchFamily="34" charset="0"/>
              </a:rPr>
              <a:t>Phần trước chúng ta chỉ </a:t>
            </a:r>
            <a:r>
              <a:rPr lang="vi-VN" sz="2800" smtClean="0">
                <a:solidFill>
                  <a:schemeClr val="tx1">
                    <a:lumMod val="95000"/>
                    <a:lumOff val="5000"/>
                  </a:schemeClr>
                </a:solidFill>
                <a:latin typeface="Arial" pitchFamily="34" charset="0"/>
                <a:cs typeface="Arial" pitchFamily="34" charset="0"/>
              </a:rPr>
              <a:t>mới </a:t>
            </a:r>
            <a:r>
              <a:rPr lang="vi-VN" sz="2800">
                <a:solidFill>
                  <a:schemeClr val="tx1">
                    <a:lumMod val="95000"/>
                    <a:lumOff val="5000"/>
                  </a:schemeClr>
                </a:solidFill>
                <a:latin typeface="Arial" pitchFamily="34" charset="0"/>
                <a:cs typeface="Arial" pitchFamily="34" charset="0"/>
              </a:rPr>
              <a:t>nói đến các lệnh template với tham số thuộc "kiểu" </a:t>
            </a:r>
            <a:r>
              <a:rPr lang="en-US" sz="2800" smtClean="0">
                <a:solidFill>
                  <a:srgbClr val="0000FF"/>
                </a:solidFill>
                <a:latin typeface="Arial" pitchFamily="34" charset="0"/>
                <a:cs typeface="Arial" pitchFamily="34" charset="0"/>
              </a:rPr>
              <a:t>class</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Tuy nhiên, </a:t>
            </a:r>
            <a:r>
              <a:rPr lang="en-US" sz="2800" smtClean="0">
                <a:solidFill>
                  <a:schemeClr val="tx1">
                    <a:lumMod val="95000"/>
                    <a:lumOff val="5000"/>
                  </a:schemeClr>
                </a:solidFill>
                <a:latin typeface="Arial" pitchFamily="34" charset="0"/>
                <a:cs typeface="Arial" pitchFamily="34" charset="0"/>
              </a:rPr>
              <a:t>chúng ta c</a:t>
            </a:r>
            <a:r>
              <a:rPr lang="vi-VN" sz="2800" smtClean="0">
                <a:solidFill>
                  <a:schemeClr val="tx1">
                    <a:lumMod val="95000"/>
                    <a:lumOff val="5000"/>
                  </a:schemeClr>
                </a:solidFill>
                <a:latin typeface="Arial" pitchFamily="34" charset="0"/>
                <a:cs typeface="Arial" pitchFamily="34" charset="0"/>
              </a:rPr>
              <a:t>ó </a:t>
            </a:r>
            <a:r>
              <a:rPr lang="vi-VN" sz="2800">
                <a:solidFill>
                  <a:schemeClr val="tx1">
                    <a:lumMod val="95000"/>
                    <a:lumOff val="5000"/>
                  </a:schemeClr>
                </a:solidFill>
                <a:latin typeface="Arial" pitchFamily="34" charset="0"/>
                <a:cs typeface="Arial" pitchFamily="34" charset="0"/>
              </a:rPr>
              <a:t>thể sử dụng các tham số kiểu và tham số biểu thức trong khuôn mẫu </a:t>
            </a:r>
            <a:r>
              <a:rPr lang="vi-VN" sz="2800" smtClean="0">
                <a:solidFill>
                  <a:schemeClr val="tx1">
                    <a:lumMod val="95000"/>
                    <a:lumOff val="5000"/>
                  </a:schemeClr>
                </a:solidFill>
                <a:latin typeface="Arial" pitchFamily="34" charset="0"/>
                <a:cs typeface="Arial" pitchFamily="34" charset="0"/>
              </a:rPr>
              <a:t>lớp</a:t>
            </a:r>
            <a:endParaRPr lang="en-US" sz="2800" smtClean="0">
              <a:solidFill>
                <a:schemeClr val="tx1">
                  <a:lumMod val="95000"/>
                  <a:lumOff val="5000"/>
                </a:schemeClr>
              </a:solidFill>
              <a:latin typeface="Arial" pitchFamily="34" charset="0"/>
              <a:cs typeface="Arial" pitchFamily="34" charset="0"/>
            </a:endParaRPr>
          </a:p>
          <a:p>
            <a:pPr marL="0" indent="0" algn="just">
              <a:lnSpc>
                <a:spcPct val="130000"/>
              </a:lnSpc>
              <a:spcBef>
                <a:spcPts val="300"/>
              </a:spcBef>
              <a:spcAft>
                <a:spcPts val="300"/>
              </a:spcAft>
              <a:buNone/>
            </a:pPr>
            <a:r>
              <a:rPr lang="en-US" sz="2800">
                <a:solidFill>
                  <a:schemeClr val="tx1">
                    <a:lumMod val="95000"/>
                    <a:lumOff val="5000"/>
                  </a:schemeClr>
                </a:solidFill>
                <a:latin typeface="Arial" pitchFamily="34" charset="0"/>
                <a:cs typeface="Arial" pitchFamily="34" charset="0"/>
              </a:rPr>
              <a:t>	</a:t>
            </a:r>
            <a:r>
              <a:rPr lang="en-US" sz="2800">
                <a:solidFill>
                  <a:srgbClr val="0066FF"/>
                </a:solidFill>
                <a:latin typeface="Arial" pitchFamily="34" charset="0"/>
                <a:cs typeface="Arial" pitchFamily="34" charset="0"/>
              </a:rPr>
              <a:t>template </a:t>
            </a:r>
            <a:r>
              <a:rPr lang="en-US" sz="2800" smtClean="0">
                <a:solidFill>
                  <a:srgbClr val="0066FF"/>
                </a:solidFill>
                <a:latin typeface="Arial" pitchFamily="34" charset="0"/>
                <a:cs typeface="Arial" pitchFamily="34" charset="0"/>
              </a:rPr>
              <a:t>&lt;class </a:t>
            </a:r>
            <a:r>
              <a:rPr lang="en-US" sz="2800">
                <a:solidFill>
                  <a:srgbClr val="0066FF"/>
                </a:solidFill>
                <a:latin typeface="Arial" pitchFamily="34" charset="0"/>
                <a:cs typeface="Arial" pitchFamily="34" charset="0"/>
              </a:rPr>
              <a:t>T, </a:t>
            </a:r>
            <a:r>
              <a:rPr lang="en-US" sz="2800">
                <a:solidFill>
                  <a:srgbClr val="FF3300"/>
                </a:solidFill>
                <a:latin typeface="Arial" pitchFamily="34" charset="0"/>
                <a:cs typeface="Arial" pitchFamily="34" charset="0"/>
              </a:rPr>
              <a:t>int </a:t>
            </a:r>
            <a:r>
              <a:rPr lang="en-US" sz="2800" smtClean="0">
                <a:solidFill>
                  <a:srgbClr val="FF3300"/>
                </a:solidFill>
                <a:latin typeface="Arial" pitchFamily="34" charset="0"/>
                <a:cs typeface="Arial" pitchFamily="34" charset="0"/>
              </a:rPr>
              <a:t>elements</a:t>
            </a:r>
            <a:r>
              <a:rPr lang="en-US" sz="2800" smtClean="0">
                <a:solidFill>
                  <a:srgbClr val="0066FF"/>
                </a:solidFill>
                <a:latin typeface="Arial" pitchFamily="34" charset="0"/>
                <a:cs typeface="Arial" pitchFamily="34" charset="0"/>
              </a:rPr>
              <a:t>&gt; </a:t>
            </a:r>
            <a:endParaRPr lang="en-US" sz="2800">
              <a:solidFill>
                <a:srgbClr val="0066FF"/>
              </a:solidFill>
              <a:latin typeface="Arial" pitchFamily="34" charset="0"/>
              <a:cs typeface="Arial" pitchFamily="34" charset="0"/>
            </a:endParaRPr>
          </a:p>
          <a:p>
            <a:pPr marL="0" indent="0" algn="just">
              <a:lnSpc>
                <a:spcPct val="130000"/>
              </a:lnSpc>
              <a:spcBef>
                <a:spcPts val="300"/>
              </a:spcBef>
              <a:spcAft>
                <a:spcPts val="300"/>
              </a:spcAft>
              <a:buNone/>
            </a:pPr>
            <a:r>
              <a:rPr lang="en-US" sz="2800" smtClean="0">
                <a:solidFill>
                  <a:srgbClr val="0066FF"/>
                </a:solidFill>
                <a:latin typeface="Arial" pitchFamily="34" charset="0"/>
                <a:cs typeface="Arial" pitchFamily="34" charset="0"/>
              </a:rPr>
              <a:t>	Stack &lt;double</a:t>
            </a:r>
            <a:r>
              <a:rPr lang="en-US" sz="2800">
                <a:solidFill>
                  <a:srgbClr val="0066FF"/>
                </a:solidFill>
                <a:latin typeface="Arial" pitchFamily="34" charset="0"/>
                <a:cs typeface="Arial" pitchFamily="34" charset="0"/>
              </a:rPr>
              <a:t>, </a:t>
            </a:r>
            <a:r>
              <a:rPr lang="en-US" sz="2800" smtClean="0">
                <a:solidFill>
                  <a:srgbClr val="0066FF"/>
                </a:solidFill>
                <a:latin typeface="Arial" pitchFamily="34" charset="0"/>
                <a:cs typeface="Arial" pitchFamily="34" charset="0"/>
              </a:rPr>
              <a:t>100&gt; </a:t>
            </a:r>
            <a:r>
              <a:rPr lang="en-US" sz="2800">
                <a:solidFill>
                  <a:srgbClr val="0066FF"/>
                </a:solidFill>
                <a:latin typeface="Arial" pitchFamily="34" charset="0"/>
                <a:cs typeface="Arial" pitchFamily="34" charset="0"/>
              </a:rPr>
              <a:t>s; </a:t>
            </a:r>
            <a:endParaRPr lang="vi-VN" sz="2800">
              <a:solidFill>
                <a:srgbClr val="0066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31</a:t>
            </a:fld>
            <a:endParaRPr lang="en-US"/>
          </a:p>
        </p:txBody>
      </p:sp>
    </p:spTree>
    <p:extLst>
      <p:ext uri="{BB962C8B-B14F-4D97-AF65-F5344CB8AC3E}">
        <p14:creationId xmlns:p14="http://schemas.microsoft.com/office/powerpoint/2010/main" val="344401063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Các tham số khuôn mẫu khác</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Trong cài đặt </a:t>
            </a:r>
            <a:r>
              <a:rPr lang="vi-VN" sz="2800">
                <a:solidFill>
                  <a:srgbClr val="0000FF"/>
                </a:solidFill>
                <a:latin typeface="Arial" pitchFamily="34" charset="0"/>
                <a:cs typeface="Arial" pitchFamily="34" charset="0"/>
              </a:rPr>
              <a:t>Stack</a:t>
            </a:r>
            <a:r>
              <a:rPr lang="vi-VN" sz="2800">
                <a:solidFill>
                  <a:schemeClr val="tx1">
                    <a:lumMod val="95000"/>
                    <a:lumOff val="5000"/>
                  </a:schemeClr>
                </a:solidFill>
                <a:latin typeface="Arial" pitchFamily="34" charset="0"/>
                <a:cs typeface="Arial" pitchFamily="34" charset="0"/>
              </a:rPr>
              <a:t>, ta có một hằng max quy định số lượng tối đa các đối tượng mà ngăn xếp có thể </a:t>
            </a:r>
            <a:r>
              <a:rPr lang="vi-VN" sz="2800" smtClean="0">
                <a:solidFill>
                  <a:schemeClr val="tx1">
                    <a:lumMod val="95000"/>
                    <a:lumOff val="5000"/>
                  </a:schemeClr>
                </a:solidFill>
                <a:latin typeface="Arial" pitchFamily="34" charset="0"/>
                <a:cs typeface="Arial" pitchFamily="34" charset="0"/>
              </a:rPr>
              <a:t>chứa</a:t>
            </a:r>
            <a:r>
              <a:rPr lang="en-US" sz="2800" smtClean="0">
                <a:solidFill>
                  <a:schemeClr val="tx1">
                    <a:lumMod val="95000"/>
                    <a:lumOff val="5000"/>
                  </a:schemeClr>
                </a:solidFill>
                <a:latin typeface="Arial" pitchFamily="34" charset="0"/>
                <a:cs typeface="Arial" pitchFamily="34" charset="0"/>
              </a:rPr>
              <a:t> </a:t>
            </a:r>
            <a:r>
              <a:rPr lang="en-US" sz="2800" smtClean="0">
                <a:solidFill>
                  <a:schemeClr val="tx1">
                    <a:lumMod val="95000"/>
                    <a:lumOff val="5000"/>
                  </a:schemeClr>
                </a:solidFill>
                <a:latin typeface="Arial" pitchFamily="34" charset="0"/>
                <a:cs typeface="Arial" pitchFamily="34" charset="0"/>
                <a:sym typeface="Wingdings" pitchFamily="2" charset="2"/>
              </a:rPr>
              <a:t></a:t>
            </a:r>
            <a:r>
              <a:rPr lang="vi-VN" sz="2800" smtClean="0">
                <a:solidFill>
                  <a:schemeClr val="tx1">
                    <a:lumMod val="95000"/>
                    <a:lumOff val="5000"/>
                  </a:schemeClr>
                </a:solidFill>
                <a:latin typeface="Arial" pitchFamily="34" charset="0"/>
                <a:cs typeface="Arial" pitchFamily="34" charset="0"/>
              </a:rPr>
              <a:t>mỗi </a:t>
            </a:r>
            <a:r>
              <a:rPr lang="vi-VN" sz="2800">
                <a:solidFill>
                  <a:schemeClr val="tx1">
                    <a:lumMod val="95000"/>
                    <a:lumOff val="5000"/>
                  </a:schemeClr>
                </a:solidFill>
                <a:latin typeface="Arial" pitchFamily="34" charset="0"/>
                <a:cs typeface="Arial" pitchFamily="34" charset="0"/>
              </a:rPr>
              <a:t>thể hiện sẽ có cùng kích thước đối với mọi kiểu của đối tượng được </a:t>
            </a:r>
            <a:r>
              <a:rPr lang="vi-VN" sz="2800" smtClean="0">
                <a:solidFill>
                  <a:schemeClr val="tx1">
                    <a:lumMod val="95000"/>
                    <a:lumOff val="5000"/>
                  </a:schemeClr>
                </a:solidFill>
                <a:latin typeface="Arial" pitchFamily="34" charset="0"/>
                <a:cs typeface="Arial" pitchFamily="34" charset="0"/>
              </a:rPr>
              <a:t>chứa</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Ta </a:t>
            </a:r>
            <a:r>
              <a:rPr lang="vi-VN" sz="2800">
                <a:solidFill>
                  <a:srgbClr val="0066FF"/>
                </a:solidFill>
                <a:latin typeface="Arial" pitchFamily="34" charset="0"/>
                <a:cs typeface="Arial" pitchFamily="34" charset="0"/>
              </a:rPr>
              <a:t>không muốn mọi Stack đều có kích thước tối đa như </a:t>
            </a:r>
            <a:r>
              <a:rPr lang="vi-VN" sz="2800" smtClean="0">
                <a:solidFill>
                  <a:srgbClr val="0066FF"/>
                </a:solidFill>
                <a:latin typeface="Arial" pitchFamily="34" charset="0"/>
                <a:cs typeface="Arial" pitchFamily="34" charset="0"/>
              </a:rPr>
              <a:t>nhau</a:t>
            </a:r>
            <a:r>
              <a:rPr lang="en-US" sz="2800">
                <a:solidFill>
                  <a:srgbClr val="0066FF"/>
                </a:solidFill>
                <a:latin typeface="Arial" pitchFamily="34" charset="0"/>
                <a:cs typeface="Arial" pitchFamily="34" charset="0"/>
              </a:rPr>
              <a:t> </a:t>
            </a:r>
            <a:r>
              <a:rPr lang="en-US" sz="2800" smtClean="0">
                <a:solidFill>
                  <a:schemeClr val="tx1">
                    <a:lumMod val="95000"/>
                    <a:lumOff val="5000"/>
                  </a:schemeClr>
                </a:solidFill>
                <a:latin typeface="Arial" pitchFamily="34" charset="0"/>
                <a:cs typeface="Arial" pitchFamily="34" charset="0"/>
                <a:sym typeface="Wingdings" pitchFamily="2" charset="2"/>
              </a:rPr>
              <a:t>C</a:t>
            </a:r>
            <a:r>
              <a:rPr lang="vi-VN" sz="2800" smtClean="0">
                <a:solidFill>
                  <a:schemeClr val="tx1">
                    <a:lumMod val="95000"/>
                    <a:lumOff val="5000"/>
                  </a:schemeClr>
                </a:solidFill>
                <a:latin typeface="Arial" pitchFamily="34" charset="0"/>
                <a:cs typeface="Arial" pitchFamily="34" charset="0"/>
              </a:rPr>
              <a:t>ó </a:t>
            </a:r>
            <a:r>
              <a:rPr lang="vi-VN" sz="2800">
                <a:solidFill>
                  <a:schemeClr val="tx1">
                    <a:lumMod val="95000"/>
                    <a:lumOff val="5000"/>
                  </a:schemeClr>
                </a:solidFill>
                <a:latin typeface="Arial" pitchFamily="34" charset="0"/>
                <a:cs typeface="Arial" pitchFamily="34" charset="0"/>
              </a:rPr>
              <a:t>thể thêm một tham số vào lệnh template chỉ ra một số int (giá trị này sẽ được dùng để xác định giá trị cho max)</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32</a:t>
            </a:fld>
            <a:endParaRPr lang="en-US"/>
          </a:p>
        </p:txBody>
      </p:sp>
      <p:sp>
        <p:nvSpPr>
          <p:cNvPr id="7" name="Rectangle 6"/>
          <p:cNvSpPr/>
          <p:nvPr/>
        </p:nvSpPr>
        <p:spPr>
          <a:xfrm>
            <a:off x="2475940" y="6000750"/>
            <a:ext cx="4686860" cy="523220"/>
          </a:xfrm>
          <a:prstGeom prst="rect">
            <a:avLst/>
          </a:prstGeom>
          <a:solidFill>
            <a:schemeClr val="accent3">
              <a:lumMod val="85000"/>
            </a:schemeClr>
          </a:solidFill>
        </p:spPr>
        <p:txBody>
          <a:bodyPr wrap="none">
            <a:spAutoFit/>
          </a:bodyPr>
          <a:lstStyle/>
          <a:p>
            <a:pPr fontAlgn="auto">
              <a:spcBef>
                <a:spcPts val="0"/>
              </a:spcBef>
              <a:spcAft>
                <a:spcPts val="0"/>
              </a:spcAft>
              <a:defRPr/>
            </a:pPr>
            <a:r>
              <a:rPr lang="en-US" sz="2800" dirty="0">
                <a:latin typeface="+mn-lt"/>
                <a:cs typeface="+mn-cs"/>
              </a:rPr>
              <a:t>template &lt;</a:t>
            </a:r>
            <a:r>
              <a:rPr lang="en-US" sz="2800" dirty="0" err="1">
                <a:latin typeface="+mn-lt"/>
                <a:cs typeface="+mn-cs"/>
              </a:rPr>
              <a:t>typename</a:t>
            </a:r>
            <a:r>
              <a:rPr lang="en-US" sz="2800" dirty="0">
                <a:latin typeface="+mn-lt"/>
                <a:cs typeface="+mn-cs"/>
              </a:rPr>
              <a:t> T, </a:t>
            </a:r>
            <a:r>
              <a:rPr lang="en-US" sz="2800" dirty="0" err="1">
                <a:solidFill>
                  <a:srgbClr val="FF3300"/>
                </a:solidFill>
                <a:latin typeface="+mn-lt"/>
                <a:cs typeface="+mn-cs"/>
              </a:rPr>
              <a:t>int</a:t>
            </a:r>
            <a:r>
              <a:rPr lang="en-US" sz="2800" dirty="0">
                <a:solidFill>
                  <a:srgbClr val="FF3300"/>
                </a:solidFill>
                <a:latin typeface="+mn-lt"/>
                <a:cs typeface="+mn-cs"/>
              </a:rPr>
              <a:t> M</a:t>
            </a:r>
            <a:r>
              <a:rPr lang="en-US" sz="2800" dirty="0">
                <a:latin typeface="+mn-lt"/>
                <a:cs typeface="+mn-cs"/>
              </a:rPr>
              <a:t>&gt;</a:t>
            </a:r>
          </a:p>
        </p:txBody>
      </p:sp>
    </p:spTree>
    <p:extLst>
      <p:ext uri="{BB962C8B-B14F-4D97-AF65-F5344CB8AC3E}">
        <p14:creationId xmlns:p14="http://schemas.microsoft.com/office/powerpoint/2010/main" val="34440106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Các tham số khuôn mẫu khác</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33</a:t>
            </a:fld>
            <a:endParaRPr lang="en-US"/>
          </a:p>
        </p:txBody>
      </p:sp>
      <p:sp>
        <p:nvSpPr>
          <p:cNvPr id="9" name="Rectangle 3"/>
          <p:cNvSpPr>
            <a:spLocks noChangeArrowheads="1"/>
          </p:cNvSpPr>
          <p:nvPr/>
        </p:nvSpPr>
        <p:spPr bwMode="auto">
          <a:xfrm>
            <a:off x="533400" y="1447800"/>
            <a:ext cx="8153400" cy="5029200"/>
          </a:xfrm>
          <a:prstGeom prst="rect">
            <a:avLst/>
          </a:prstGeom>
          <a:solidFill>
            <a:srgbClr val="CCFFFF"/>
          </a:solidFill>
          <a:ln w="9525">
            <a:noFill/>
            <a:miter lim="800000"/>
            <a:headEnd/>
            <a:tailEnd/>
          </a:ln>
        </p:spPr>
        <p:txBody>
          <a:bodyPr/>
          <a:lstStyle/>
          <a:p>
            <a:pPr fontAlgn="auto">
              <a:spcBef>
                <a:spcPts val="0"/>
              </a:spcBef>
              <a:spcAft>
                <a:spcPts val="0"/>
              </a:spcAft>
              <a:defRPr/>
            </a:pPr>
            <a:r>
              <a:rPr lang="en-US" sz="2400" b="0">
                <a:solidFill>
                  <a:srgbClr val="0000FF"/>
                </a:solidFill>
              </a:rPr>
              <a:t>template</a:t>
            </a:r>
            <a:r>
              <a:rPr lang="en-US" sz="2400" b="0"/>
              <a:t> &lt;</a:t>
            </a:r>
            <a:r>
              <a:rPr lang="en-US" sz="2400" b="0">
                <a:solidFill>
                  <a:srgbClr val="0000FF"/>
                </a:solidFill>
              </a:rPr>
              <a:t>typename</a:t>
            </a:r>
            <a:r>
              <a:rPr lang="en-US" sz="2400" b="0"/>
              <a:t> </a:t>
            </a:r>
            <a:r>
              <a:rPr lang="en-US" sz="2400"/>
              <a:t>T</a:t>
            </a:r>
            <a:r>
              <a:rPr lang="en-US" sz="2400" b="0"/>
              <a:t>, </a:t>
            </a:r>
            <a:r>
              <a:rPr lang="en-US" sz="2400" b="0">
                <a:solidFill>
                  <a:srgbClr val="0000FF"/>
                </a:solidFill>
              </a:rPr>
              <a:t>int</a:t>
            </a:r>
            <a:r>
              <a:rPr lang="en-US" sz="2400" b="0"/>
              <a:t> M&gt;</a:t>
            </a:r>
          </a:p>
          <a:p>
            <a:pPr fontAlgn="auto">
              <a:spcBef>
                <a:spcPts val="0"/>
              </a:spcBef>
              <a:spcAft>
                <a:spcPts val="0"/>
              </a:spcAft>
              <a:defRPr/>
            </a:pPr>
            <a:r>
              <a:rPr lang="en-US" sz="2400" b="0">
                <a:solidFill>
                  <a:srgbClr val="0000FF"/>
                </a:solidFill>
              </a:rPr>
              <a:t>class</a:t>
            </a:r>
            <a:r>
              <a:rPr lang="en-US" sz="2400" b="0"/>
              <a:t> Stack {</a:t>
            </a:r>
          </a:p>
          <a:p>
            <a:pPr fontAlgn="auto">
              <a:spcBef>
                <a:spcPts val="0"/>
              </a:spcBef>
              <a:spcAft>
                <a:spcPts val="0"/>
              </a:spcAft>
              <a:defRPr/>
            </a:pPr>
            <a:r>
              <a:rPr lang="en-US" sz="2400" b="0"/>
              <a:t>	</a:t>
            </a:r>
            <a:r>
              <a:rPr lang="en-US" sz="2400" b="0">
                <a:solidFill>
                  <a:srgbClr val="0000FF"/>
                </a:solidFill>
              </a:rPr>
              <a:t>public</a:t>
            </a:r>
            <a:r>
              <a:rPr lang="en-US" sz="2400" b="0"/>
              <a:t>:</a:t>
            </a:r>
          </a:p>
          <a:p>
            <a:pPr fontAlgn="auto">
              <a:spcBef>
                <a:spcPts val="0"/>
              </a:spcBef>
              <a:spcAft>
                <a:spcPts val="0"/>
              </a:spcAft>
              <a:defRPr/>
            </a:pPr>
            <a:r>
              <a:rPr lang="en-US" sz="2400" b="0"/>
              <a:t>		Stack();</a:t>
            </a:r>
          </a:p>
          <a:p>
            <a:pPr fontAlgn="auto">
              <a:spcBef>
                <a:spcPts val="0"/>
              </a:spcBef>
              <a:spcAft>
                <a:spcPts val="0"/>
              </a:spcAft>
              <a:defRPr/>
            </a:pPr>
            <a:r>
              <a:rPr lang="en-US" sz="2400" b="0"/>
              <a:t>		~Stack();</a:t>
            </a:r>
          </a:p>
          <a:p>
            <a:pPr fontAlgn="auto">
              <a:spcBef>
                <a:spcPts val="0"/>
              </a:spcBef>
              <a:spcAft>
                <a:spcPts val="0"/>
              </a:spcAft>
              <a:defRPr/>
            </a:pPr>
            <a:r>
              <a:rPr lang="en-US" sz="2400" b="0"/>
              <a:t>		</a:t>
            </a:r>
            <a:r>
              <a:rPr lang="en-US" sz="2400" b="0">
                <a:solidFill>
                  <a:srgbClr val="0000FF"/>
                </a:solidFill>
              </a:rPr>
              <a:t>void</a:t>
            </a:r>
            <a:r>
              <a:rPr lang="en-US" sz="2400" b="0"/>
              <a:t> push(const </a:t>
            </a:r>
            <a:r>
              <a:rPr lang="en-US" sz="2400"/>
              <a:t>T</a:t>
            </a:r>
            <a:r>
              <a:rPr lang="en-US" sz="2400" b="0"/>
              <a:t>&amp; i);</a:t>
            </a:r>
          </a:p>
          <a:p>
            <a:pPr fontAlgn="auto">
              <a:spcBef>
                <a:spcPts val="0"/>
              </a:spcBef>
              <a:spcAft>
                <a:spcPts val="0"/>
              </a:spcAft>
              <a:defRPr/>
            </a:pPr>
            <a:r>
              <a:rPr lang="en-US" sz="2400" b="0"/>
              <a:t>		</a:t>
            </a:r>
            <a:r>
              <a:rPr lang="en-US" sz="2400" b="0">
                <a:solidFill>
                  <a:srgbClr val="0000FF"/>
                </a:solidFill>
              </a:rPr>
              <a:t>void</a:t>
            </a:r>
            <a:r>
              <a:rPr lang="en-US" sz="2400" b="0"/>
              <a:t> pop(</a:t>
            </a:r>
            <a:r>
              <a:rPr lang="en-US" sz="2400"/>
              <a:t>T</a:t>
            </a:r>
            <a:r>
              <a:rPr lang="en-US" sz="2400" b="0"/>
              <a:t>&amp; i);</a:t>
            </a:r>
          </a:p>
          <a:p>
            <a:pPr fontAlgn="auto">
              <a:spcBef>
                <a:spcPts val="0"/>
              </a:spcBef>
              <a:spcAft>
                <a:spcPts val="0"/>
              </a:spcAft>
              <a:defRPr/>
            </a:pPr>
            <a:r>
              <a:rPr lang="en-US" sz="2400" b="0"/>
              <a:t>		</a:t>
            </a:r>
            <a:r>
              <a:rPr lang="en-US" sz="2400" b="0">
                <a:solidFill>
                  <a:srgbClr val="0000FF"/>
                </a:solidFill>
              </a:rPr>
              <a:t>bool</a:t>
            </a:r>
            <a:r>
              <a:rPr lang="en-US" sz="2400" b="0"/>
              <a:t> isEmpty() const;</a:t>
            </a:r>
          </a:p>
          <a:p>
            <a:pPr fontAlgn="auto">
              <a:spcBef>
                <a:spcPts val="0"/>
              </a:spcBef>
              <a:spcAft>
                <a:spcPts val="0"/>
              </a:spcAft>
              <a:defRPr/>
            </a:pPr>
            <a:r>
              <a:rPr lang="en-US" sz="2400" b="0"/>
              <a:t>		</a:t>
            </a:r>
            <a:r>
              <a:rPr lang="en-US" sz="2400" b="0">
                <a:solidFill>
                  <a:srgbClr val="0000FF"/>
                </a:solidFill>
              </a:rPr>
              <a:t>bool</a:t>
            </a:r>
            <a:r>
              <a:rPr lang="en-US" sz="2400" b="0"/>
              <a:t> isFull() const;</a:t>
            </a:r>
          </a:p>
          <a:p>
            <a:pPr fontAlgn="auto">
              <a:lnSpc>
                <a:spcPct val="50000"/>
              </a:lnSpc>
              <a:spcBef>
                <a:spcPts val="0"/>
              </a:spcBef>
              <a:spcAft>
                <a:spcPts val="0"/>
              </a:spcAft>
              <a:defRPr/>
            </a:pPr>
            <a:r>
              <a:rPr lang="en-US" sz="2400" b="0"/>
              <a:t>	</a:t>
            </a:r>
            <a:r>
              <a:rPr lang="en-US" sz="2400" b="0">
                <a:solidFill>
                  <a:srgbClr val="0000FF"/>
                </a:solidFill>
              </a:rPr>
              <a:t>private</a:t>
            </a:r>
            <a:r>
              <a:rPr lang="en-US" sz="2400" b="0"/>
              <a:t>:</a:t>
            </a:r>
          </a:p>
          <a:p>
            <a:pPr fontAlgn="auto">
              <a:spcBef>
                <a:spcPts val="0"/>
              </a:spcBef>
              <a:spcAft>
                <a:spcPts val="0"/>
              </a:spcAft>
              <a:defRPr/>
            </a:pPr>
            <a:r>
              <a:rPr lang="en-US" sz="2400" b="0"/>
              <a:t>		</a:t>
            </a:r>
            <a:r>
              <a:rPr lang="en-US" sz="2400" b="0">
                <a:solidFill>
                  <a:srgbClr val="0000FF"/>
                </a:solidFill>
              </a:rPr>
              <a:t>static</a:t>
            </a:r>
            <a:r>
              <a:rPr lang="en-US" sz="2400" b="0"/>
              <a:t> </a:t>
            </a:r>
            <a:r>
              <a:rPr lang="en-US" sz="2400" b="0">
                <a:solidFill>
                  <a:srgbClr val="0000FF"/>
                </a:solidFill>
              </a:rPr>
              <a:t>const</a:t>
            </a:r>
            <a:r>
              <a:rPr lang="en-US" sz="2400" b="0"/>
              <a:t> </a:t>
            </a:r>
            <a:r>
              <a:rPr lang="en-US" sz="2400" b="0">
                <a:solidFill>
                  <a:srgbClr val="0000FF"/>
                </a:solidFill>
              </a:rPr>
              <a:t>int</a:t>
            </a:r>
            <a:r>
              <a:rPr lang="en-US" sz="2400" b="0"/>
              <a:t> max = M;</a:t>
            </a:r>
          </a:p>
          <a:p>
            <a:pPr fontAlgn="auto">
              <a:spcBef>
                <a:spcPts val="0"/>
              </a:spcBef>
              <a:spcAft>
                <a:spcPts val="0"/>
              </a:spcAft>
              <a:defRPr/>
            </a:pPr>
            <a:r>
              <a:rPr lang="en-US" sz="2400" b="0"/>
              <a:t>		</a:t>
            </a:r>
            <a:r>
              <a:rPr lang="en-US" sz="2400"/>
              <a:t>T</a:t>
            </a:r>
            <a:r>
              <a:rPr lang="en-US" sz="2400" b="0"/>
              <a:t> contents[max];</a:t>
            </a:r>
          </a:p>
          <a:p>
            <a:pPr fontAlgn="auto">
              <a:spcBef>
                <a:spcPts val="0"/>
              </a:spcBef>
              <a:spcAft>
                <a:spcPts val="0"/>
              </a:spcAft>
              <a:defRPr/>
            </a:pPr>
            <a:r>
              <a:rPr lang="en-US" sz="2400" b="0"/>
              <a:t>		</a:t>
            </a:r>
            <a:r>
              <a:rPr lang="en-US" sz="2400" b="0">
                <a:solidFill>
                  <a:srgbClr val="0000FF"/>
                </a:solidFill>
              </a:rPr>
              <a:t>int</a:t>
            </a:r>
            <a:r>
              <a:rPr lang="en-US" sz="2400" b="0"/>
              <a:t> current;</a:t>
            </a:r>
          </a:p>
          <a:p>
            <a:pPr fontAlgn="auto">
              <a:spcBef>
                <a:spcPts val="0"/>
              </a:spcBef>
              <a:spcAft>
                <a:spcPts val="0"/>
              </a:spcAft>
              <a:defRPr/>
            </a:pPr>
            <a:r>
              <a:rPr lang="en-US" sz="2400" b="0"/>
              <a:t>};</a:t>
            </a:r>
            <a:endParaRPr lang="en-US" sz="2400" b="0" dirty="0"/>
          </a:p>
        </p:txBody>
      </p:sp>
      <p:sp>
        <p:nvSpPr>
          <p:cNvPr id="10" name="Rectangle 9"/>
          <p:cNvSpPr>
            <a:spLocks noChangeArrowheads="1"/>
          </p:cNvSpPr>
          <p:nvPr/>
        </p:nvSpPr>
        <p:spPr bwMode="auto">
          <a:xfrm>
            <a:off x="5497512" y="2286000"/>
            <a:ext cx="3189288" cy="4619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r>
              <a:rPr lang="en-US" sz="2400" b="0"/>
              <a:t>Khai báo tham số mới</a:t>
            </a:r>
          </a:p>
        </p:txBody>
      </p:sp>
      <p:sp>
        <p:nvSpPr>
          <p:cNvPr id="11" name="Rectangle 10"/>
          <p:cNvSpPr>
            <a:spLocks noChangeArrowheads="1"/>
          </p:cNvSpPr>
          <p:nvPr/>
        </p:nvSpPr>
        <p:spPr bwMode="auto">
          <a:xfrm>
            <a:off x="5481637" y="3048000"/>
            <a:ext cx="3205163" cy="1570038"/>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gn="just"/>
            <a:r>
              <a:rPr lang="vi-VN" sz="2400" b="0"/>
              <a:t>Sử dụng tham số mới để xác định giá trị max của </a:t>
            </a:r>
            <a:r>
              <a:rPr lang="en-US" sz="2400" b="0"/>
              <a:t>một lớp thuộc một kiểu </a:t>
            </a:r>
            <a:r>
              <a:rPr lang="vi-VN" sz="2400" b="0"/>
              <a:t>nào đó</a:t>
            </a:r>
          </a:p>
        </p:txBody>
      </p:sp>
      <p:cxnSp>
        <p:nvCxnSpPr>
          <p:cNvPr id="12" name="Straight Arrow Connector 11"/>
          <p:cNvCxnSpPr>
            <a:stCxn id="10" idx="1"/>
          </p:cNvCxnSpPr>
          <p:nvPr/>
        </p:nvCxnSpPr>
        <p:spPr>
          <a:xfrm flipH="1" flipV="1">
            <a:off x="4191000" y="1857376"/>
            <a:ext cx="1306512" cy="65960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a:stCxn id="11" idx="1"/>
          </p:cNvCxnSpPr>
          <p:nvPr/>
        </p:nvCxnSpPr>
        <p:spPr>
          <a:xfrm flipH="1">
            <a:off x="4981575" y="3833019"/>
            <a:ext cx="500062" cy="1196181"/>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444010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Các tham số khuôn mẫu khác</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34</a:t>
            </a:fld>
            <a:endParaRPr lang="en-US"/>
          </a:p>
        </p:txBody>
      </p:sp>
      <p:sp>
        <p:nvSpPr>
          <p:cNvPr id="8" name="Rectangle 3"/>
          <p:cNvSpPr>
            <a:spLocks noChangeArrowheads="1"/>
          </p:cNvSpPr>
          <p:nvPr/>
        </p:nvSpPr>
        <p:spPr bwMode="auto">
          <a:xfrm>
            <a:off x="533400" y="1447800"/>
            <a:ext cx="8153400" cy="5029200"/>
          </a:xfrm>
          <a:prstGeom prst="rect">
            <a:avLst/>
          </a:prstGeom>
          <a:solidFill>
            <a:srgbClr val="CCFFFF"/>
          </a:solidFill>
          <a:ln w="9525">
            <a:noFill/>
            <a:miter lim="800000"/>
            <a:headEnd/>
            <a:tailEnd/>
          </a:ln>
        </p:spPr>
        <p:txBody>
          <a:bodyPr/>
          <a:lstStyle/>
          <a:p>
            <a:pPr fontAlgn="auto">
              <a:lnSpc>
                <a:spcPct val="150000"/>
              </a:lnSpc>
              <a:spcBef>
                <a:spcPts val="0"/>
              </a:spcBef>
              <a:spcAft>
                <a:spcPts val="0"/>
              </a:spcAft>
              <a:defRPr/>
            </a:pPr>
            <a:r>
              <a:rPr lang="en-US" sz="2400" b="0">
                <a:solidFill>
                  <a:srgbClr val="0000FF"/>
                </a:solidFill>
              </a:rPr>
              <a:t>template</a:t>
            </a:r>
            <a:r>
              <a:rPr lang="en-US" sz="2400" b="0"/>
              <a:t> &lt;</a:t>
            </a:r>
            <a:r>
              <a:rPr lang="en-US" sz="2400" b="0">
                <a:solidFill>
                  <a:srgbClr val="0000FF"/>
                </a:solidFill>
              </a:rPr>
              <a:t>typename</a:t>
            </a:r>
            <a:r>
              <a:rPr lang="en-US" sz="2400" b="0"/>
              <a:t> T, </a:t>
            </a:r>
            <a:r>
              <a:rPr lang="en-US" sz="2400" b="0">
                <a:solidFill>
                  <a:srgbClr val="0000FF"/>
                </a:solidFill>
              </a:rPr>
              <a:t>int</a:t>
            </a:r>
            <a:r>
              <a:rPr lang="en-US" sz="2400" b="0"/>
              <a:t> I&gt;</a:t>
            </a:r>
          </a:p>
          <a:p>
            <a:pPr fontAlgn="auto">
              <a:lnSpc>
                <a:spcPct val="150000"/>
              </a:lnSpc>
              <a:spcBef>
                <a:spcPts val="0"/>
              </a:spcBef>
              <a:spcAft>
                <a:spcPts val="0"/>
              </a:spcAft>
              <a:defRPr/>
            </a:pPr>
            <a:r>
              <a:rPr lang="en-US" sz="2400" b="0"/>
              <a:t>Stack&lt;T, I&gt;::Stack() { </a:t>
            </a:r>
            <a:r>
              <a:rPr lang="en-US" sz="2400" b="0">
                <a:solidFill>
                  <a:srgbClr val="0000FF"/>
                </a:solidFill>
              </a:rPr>
              <a:t>this</a:t>
            </a:r>
            <a:r>
              <a:rPr lang="en-US" sz="2400" b="0"/>
              <a:t>-&gt;current = 0; }</a:t>
            </a:r>
          </a:p>
          <a:p>
            <a:pPr fontAlgn="auto">
              <a:lnSpc>
                <a:spcPct val="150000"/>
              </a:lnSpc>
              <a:spcBef>
                <a:spcPts val="0"/>
              </a:spcBef>
              <a:spcAft>
                <a:spcPts val="0"/>
              </a:spcAft>
              <a:defRPr/>
            </a:pPr>
            <a:r>
              <a:rPr lang="en-US" sz="2400" b="0">
                <a:solidFill>
                  <a:srgbClr val="0000FF"/>
                </a:solidFill>
              </a:rPr>
              <a:t>template</a:t>
            </a:r>
            <a:r>
              <a:rPr lang="en-US" sz="2400" b="0"/>
              <a:t> &lt;</a:t>
            </a:r>
            <a:r>
              <a:rPr lang="en-US" sz="2400" b="0">
                <a:solidFill>
                  <a:srgbClr val="0000FF"/>
                </a:solidFill>
              </a:rPr>
              <a:t>typename</a:t>
            </a:r>
            <a:r>
              <a:rPr lang="en-US" sz="2400" b="0"/>
              <a:t> T, </a:t>
            </a:r>
            <a:r>
              <a:rPr lang="en-US" sz="2400" b="0">
                <a:solidFill>
                  <a:srgbClr val="0000FF"/>
                </a:solidFill>
              </a:rPr>
              <a:t>int</a:t>
            </a:r>
            <a:r>
              <a:rPr lang="en-US" sz="2400" b="0"/>
              <a:t> I&gt;</a:t>
            </a:r>
          </a:p>
          <a:p>
            <a:pPr fontAlgn="auto">
              <a:lnSpc>
                <a:spcPct val="150000"/>
              </a:lnSpc>
              <a:spcBef>
                <a:spcPts val="0"/>
              </a:spcBef>
              <a:spcAft>
                <a:spcPts val="0"/>
              </a:spcAft>
              <a:defRPr/>
            </a:pPr>
            <a:r>
              <a:rPr lang="en-US" sz="2400" b="0"/>
              <a:t>Stack&lt;T, I&gt;::~Stack() {}</a:t>
            </a:r>
          </a:p>
          <a:p>
            <a:pPr fontAlgn="auto">
              <a:lnSpc>
                <a:spcPct val="150000"/>
              </a:lnSpc>
              <a:spcBef>
                <a:spcPts val="0"/>
              </a:spcBef>
              <a:spcAft>
                <a:spcPts val="0"/>
              </a:spcAft>
              <a:defRPr/>
            </a:pPr>
            <a:r>
              <a:rPr lang="en-US" sz="2400" b="0">
                <a:solidFill>
                  <a:srgbClr val="0000FF"/>
                </a:solidFill>
              </a:rPr>
              <a:t>template</a:t>
            </a:r>
            <a:r>
              <a:rPr lang="en-US" sz="2400" b="0"/>
              <a:t> &lt;</a:t>
            </a:r>
            <a:r>
              <a:rPr lang="en-US" sz="2400" b="0">
                <a:solidFill>
                  <a:srgbClr val="0000FF"/>
                </a:solidFill>
              </a:rPr>
              <a:t>typename</a:t>
            </a:r>
            <a:r>
              <a:rPr lang="en-US" sz="2400" b="0"/>
              <a:t> T, </a:t>
            </a:r>
            <a:r>
              <a:rPr lang="en-US" sz="2400" b="0">
                <a:solidFill>
                  <a:srgbClr val="0000FF"/>
                </a:solidFill>
              </a:rPr>
              <a:t>int</a:t>
            </a:r>
            <a:r>
              <a:rPr lang="en-US" sz="2400" b="0"/>
              <a:t> I&gt;</a:t>
            </a:r>
          </a:p>
          <a:p>
            <a:pPr fontAlgn="auto">
              <a:lnSpc>
                <a:spcPct val="150000"/>
              </a:lnSpc>
              <a:spcBef>
                <a:spcPts val="0"/>
              </a:spcBef>
              <a:spcAft>
                <a:spcPts val="0"/>
              </a:spcAft>
              <a:defRPr/>
            </a:pPr>
            <a:r>
              <a:rPr lang="en-US" sz="2400" b="0">
                <a:solidFill>
                  <a:srgbClr val="0000FF"/>
                </a:solidFill>
              </a:rPr>
              <a:t>void </a:t>
            </a:r>
            <a:r>
              <a:rPr lang="en-US" sz="2400" b="0"/>
              <a:t>Stack&lt;T, I&gt;::push(</a:t>
            </a:r>
            <a:r>
              <a:rPr lang="en-US" sz="2400" b="0">
                <a:solidFill>
                  <a:srgbClr val="0000FF"/>
                </a:solidFill>
              </a:rPr>
              <a:t>const</a:t>
            </a:r>
            <a:r>
              <a:rPr lang="en-US" sz="2400" b="0"/>
              <a:t> T&amp; i) {</a:t>
            </a:r>
          </a:p>
          <a:p>
            <a:pPr fontAlgn="auto">
              <a:lnSpc>
                <a:spcPct val="150000"/>
              </a:lnSpc>
              <a:spcBef>
                <a:spcPts val="0"/>
              </a:spcBef>
              <a:spcAft>
                <a:spcPts val="0"/>
              </a:spcAft>
              <a:defRPr/>
            </a:pPr>
            <a:r>
              <a:rPr lang="en-US" sz="2400" b="0"/>
              <a:t>	</a:t>
            </a:r>
            <a:r>
              <a:rPr lang="en-US" sz="2400" b="0">
                <a:solidFill>
                  <a:srgbClr val="0000FF"/>
                </a:solidFill>
              </a:rPr>
              <a:t>if </a:t>
            </a:r>
            <a:r>
              <a:rPr lang="en-US" sz="2400" b="0"/>
              <a:t>(</a:t>
            </a:r>
            <a:r>
              <a:rPr lang="en-US" sz="2400" b="0">
                <a:solidFill>
                  <a:srgbClr val="0000FF"/>
                </a:solidFill>
              </a:rPr>
              <a:t>this</a:t>
            </a:r>
            <a:r>
              <a:rPr lang="en-US" sz="2400" b="0"/>
              <a:t>-&gt;current </a:t>
            </a:r>
            <a:r>
              <a:rPr lang="en-US" sz="2400" b="0">
                <a:solidFill>
                  <a:schemeClr val="tx1">
                    <a:lumMod val="95000"/>
                    <a:lumOff val="5000"/>
                  </a:schemeClr>
                </a:solidFill>
              </a:rPr>
              <a:t>&lt;</a:t>
            </a:r>
            <a:r>
              <a:rPr lang="en-US" sz="2400" b="0">
                <a:solidFill>
                  <a:srgbClr val="0000FF"/>
                </a:solidFill>
              </a:rPr>
              <a:t> this-</a:t>
            </a:r>
            <a:r>
              <a:rPr lang="en-US" sz="2400" b="0"/>
              <a:t>&gt;max)</a:t>
            </a:r>
          </a:p>
          <a:p>
            <a:pPr fontAlgn="auto">
              <a:lnSpc>
                <a:spcPct val="150000"/>
              </a:lnSpc>
              <a:spcBef>
                <a:spcPts val="0"/>
              </a:spcBef>
              <a:spcAft>
                <a:spcPts val="0"/>
              </a:spcAft>
              <a:defRPr/>
            </a:pPr>
            <a:r>
              <a:rPr lang="en-US" sz="2400" b="0"/>
              <a:t>		</a:t>
            </a:r>
            <a:r>
              <a:rPr lang="en-US" sz="2400" b="0">
                <a:solidFill>
                  <a:srgbClr val="0000FF"/>
                </a:solidFill>
              </a:rPr>
              <a:t>this</a:t>
            </a:r>
            <a:r>
              <a:rPr lang="en-US" sz="2400" b="0"/>
              <a:t>-&gt;contents[</a:t>
            </a:r>
            <a:r>
              <a:rPr lang="en-US" sz="2400" b="0">
                <a:solidFill>
                  <a:srgbClr val="0000FF"/>
                </a:solidFill>
              </a:rPr>
              <a:t>this</a:t>
            </a:r>
            <a:r>
              <a:rPr lang="en-US" sz="2400" b="0"/>
              <a:t>-&gt;current++] = i;</a:t>
            </a:r>
          </a:p>
          <a:p>
            <a:pPr fontAlgn="auto">
              <a:lnSpc>
                <a:spcPct val="150000"/>
              </a:lnSpc>
              <a:spcBef>
                <a:spcPts val="0"/>
              </a:spcBef>
              <a:spcAft>
                <a:spcPts val="0"/>
              </a:spcAft>
              <a:defRPr/>
            </a:pPr>
            <a:r>
              <a:rPr lang="en-US" sz="2400" b="0"/>
              <a:t>}</a:t>
            </a:r>
            <a:endParaRPr lang="en-US" sz="2400" b="0" dirty="0"/>
          </a:p>
        </p:txBody>
      </p:sp>
      <p:sp>
        <p:nvSpPr>
          <p:cNvPr id="9" name="Rectangle 8"/>
          <p:cNvSpPr>
            <a:spLocks noChangeArrowheads="1"/>
          </p:cNvSpPr>
          <p:nvPr/>
        </p:nvSpPr>
        <p:spPr bwMode="auto">
          <a:xfrm>
            <a:off x="6543675" y="1857376"/>
            <a:ext cx="2143125" cy="830262"/>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just"/>
            <a:r>
              <a:rPr lang="en-US" sz="2400" b="0"/>
              <a:t>Sửa các lệnh template</a:t>
            </a:r>
          </a:p>
        </p:txBody>
      </p:sp>
      <p:cxnSp>
        <p:nvCxnSpPr>
          <p:cNvPr id="10" name="Straight Arrow Connector 9"/>
          <p:cNvCxnSpPr>
            <a:stCxn id="9" idx="1"/>
          </p:cNvCxnSpPr>
          <p:nvPr/>
        </p:nvCxnSpPr>
        <p:spPr>
          <a:xfrm flipH="1" flipV="1">
            <a:off x="4495800" y="1857376"/>
            <a:ext cx="2047875" cy="415131"/>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1" name="Straight Arrow Connector 10"/>
          <p:cNvCxnSpPr>
            <a:stCxn id="9" idx="1"/>
          </p:cNvCxnSpPr>
          <p:nvPr/>
        </p:nvCxnSpPr>
        <p:spPr>
          <a:xfrm flipH="1">
            <a:off x="4495800" y="2272507"/>
            <a:ext cx="2047875" cy="542924"/>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a:stCxn id="9" idx="1"/>
          </p:cNvCxnSpPr>
          <p:nvPr/>
        </p:nvCxnSpPr>
        <p:spPr>
          <a:xfrm flipH="1">
            <a:off x="4233863" y="2272507"/>
            <a:ext cx="2309812" cy="1537493"/>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6" name="Rectangle 15"/>
          <p:cNvSpPr>
            <a:spLocks noChangeArrowheads="1"/>
          </p:cNvSpPr>
          <p:nvPr/>
        </p:nvSpPr>
        <p:spPr bwMode="auto">
          <a:xfrm>
            <a:off x="6257926" y="4039175"/>
            <a:ext cx="2428874" cy="1200329"/>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gn="just"/>
            <a:r>
              <a:rPr lang="en-US" sz="2400" b="0"/>
              <a:t>Sửa tên </a:t>
            </a:r>
            <a:r>
              <a:rPr lang="en-US" sz="2400" b="0" smtClean="0"/>
              <a:t>lớp dùng </a:t>
            </a:r>
            <a:r>
              <a:rPr lang="en-US" sz="2400" b="0"/>
              <a:t>cho </a:t>
            </a:r>
            <a:r>
              <a:rPr lang="en-US" sz="2400" b="0" smtClean="0"/>
              <a:t>các toán </a:t>
            </a:r>
            <a:r>
              <a:rPr lang="en-US" sz="2400" b="0"/>
              <a:t>tử phạm vi</a:t>
            </a:r>
          </a:p>
        </p:txBody>
      </p:sp>
      <p:cxnSp>
        <p:nvCxnSpPr>
          <p:cNvPr id="17" name="Straight Arrow Connector 16"/>
          <p:cNvCxnSpPr/>
          <p:nvPr/>
        </p:nvCxnSpPr>
        <p:spPr>
          <a:xfrm flipH="1" flipV="1">
            <a:off x="1447802" y="2543970"/>
            <a:ext cx="4810124" cy="266400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p:nvPr/>
        </p:nvCxnSpPr>
        <p:spPr>
          <a:xfrm flipH="1" flipV="1">
            <a:off x="1752602" y="3650457"/>
            <a:ext cx="4505324" cy="155751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9" name="Straight Arrow Connector 18"/>
          <p:cNvCxnSpPr/>
          <p:nvPr/>
        </p:nvCxnSpPr>
        <p:spPr>
          <a:xfrm flipH="1" flipV="1">
            <a:off x="2209802" y="4627849"/>
            <a:ext cx="4048124" cy="580123"/>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50242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Các tham số khuôn mẫu khác</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Giờ ta có thể tạo các thể hiện của các lớp Stack với các kiểu dữ liệu và kích thước đa dạng</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35</a:t>
            </a:fld>
            <a:endParaRPr lang="en-US"/>
          </a:p>
        </p:txBody>
      </p:sp>
      <p:sp>
        <p:nvSpPr>
          <p:cNvPr id="8" name="Rectangle 3"/>
          <p:cNvSpPr>
            <a:spLocks noChangeArrowheads="1"/>
          </p:cNvSpPr>
          <p:nvPr/>
        </p:nvSpPr>
        <p:spPr bwMode="auto">
          <a:xfrm>
            <a:off x="914400" y="2743200"/>
            <a:ext cx="7772400" cy="1981200"/>
          </a:xfrm>
          <a:prstGeom prst="rect">
            <a:avLst/>
          </a:prstGeom>
          <a:solidFill>
            <a:srgbClr val="CCFFFF"/>
          </a:solidFill>
          <a:ln w="9525">
            <a:noFill/>
            <a:miter lim="800000"/>
            <a:headEnd/>
            <a:tailEnd/>
          </a:ln>
        </p:spPr>
        <p:txBody>
          <a:bodyPr/>
          <a:lstStyle/>
          <a:p>
            <a:pPr marL="342900" indent="-342900">
              <a:lnSpc>
                <a:spcPct val="150000"/>
              </a:lnSpc>
              <a:spcBef>
                <a:spcPts val="300"/>
              </a:spcBef>
              <a:buFont typeface="Wingdings" pitchFamily="2" charset="2"/>
              <a:buNone/>
            </a:pPr>
            <a:r>
              <a:rPr lang="fr-FR" sz="2600" b="0">
                <a:solidFill>
                  <a:schemeClr val="tx1">
                    <a:lumMod val="95000"/>
                    <a:lumOff val="5000"/>
                  </a:schemeClr>
                </a:solidFill>
              </a:rPr>
              <a:t>Stack&lt;</a:t>
            </a:r>
            <a:r>
              <a:rPr lang="fr-FR" sz="2600" b="0">
                <a:solidFill>
                  <a:srgbClr val="0000FF"/>
                </a:solidFill>
              </a:rPr>
              <a:t>int</a:t>
            </a:r>
            <a:r>
              <a:rPr lang="fr-FR" sz="2600" b="0">
                <a:solidFill>
                  <a:schemeClr val="tx1">
                    <a:lumMod val="95000"/>
                    <a:lumOff val="5000"/>
                  </a:schemeClr>
                </a:solidFill>
              </a:rPr>
              <a:t>, 5&gt; s; </a:t>
            </a:r>
          </a:p>
          <a:p>
            <a:pPr marL="342900" indent="-342900">
              <a:lnSpc>
                <a:spcPct val="150000"/>
              </a:lnSpc>
              <a:spcBef>
                <a:spcPts val="300"/>
              </a:spcBef>
              <a:buFont typeface="Wingdings" pitchFamily="2" charset="2"/>
              <a:buNone/>
            </a:pPr>
            <a:r>
              <a:rPr lang="fr-FR" sz="2600" b="0" smtClean="0">
                <a:solidFill>
                  <a:schemeClr val="tx1">
                    <a:lumMod val="95000"/>
                    <a:lumOff val="5000"/>
                  </a:schemeClr>
                </a:solidFill>
              </a:rPr>
              <a:t>Stack&lt;</a:t>
            </a:r>
            <a:r>
              <a:rPr lang="fr-FR" sz="2600" b="0" smtClean="0">
                <a:solidFill>
                  <a:srgbClr val="0000FF"/>
                </a:solidFill>
              </a:rPr>
              <a:t>int</a:t>
            </a:r>
            <a:r>
              <a:rPr lang="fr-FR" sz="2600" b="0">
                <a:solidFill>
                  <a:schemeClr val="tx1">
                    <a:lumMod val="95000"/>
                    <a:lumOff val="5000"/>
                  </a:schemeClr>
                </a:solidFill>
              </a:rPr>
              <a:t>, 10&gt; t; </a:t>
            </a:r>
          </a:p>
          <a:p>
            <a:pPr marL="342900" indent="-342900">
              <a:lnSpc>
                <a:spcPct val="150000"/>
              </a:lnSpc>
              <a:spcBef>
                <a:spcPts val="300"/>
              </a:spcBef>
              <a:buFont typeface="Wingdings" pitchFamily="2" charset="2"/>
              <a:buNone/>
            </a:pPr>
            <a:r>
              <a:rPr lang="fr-FR" sz="2600" b="0" smtClean="0">
                <a:solidFill>
                  <a:schemeClr val="tx1">
                    <a:lumMod val="95000"/>
                    <a:lumOff val="5000"/>
                  </a:schemeClr>
                </a:solidFill>
              </a:rPr>
              <a:t>Stack&lt;</a:t>
            </a:r>
            <a:r>
              <a:rPr lang="fr-FR" sz="2600" b="0" smtClean="0">
                <a:solidFill>
                  <a:srgbClr val="0000FF"/>
                </a:solidFill>
              </a:rPr>
              <a:t>char</a:t>
            </a:r>
            <a:r>
              <a:rPr lang="fr-FR" sz="2600" b="0">
                <a:solidFill>
                  <a:schemeClr val="tx1">
                    <a:lumMod val="95000"/>
                    <a:lumOff val="5000"/>
                  </a:schemeClr>
                </a:solidFill>
              </a:rPr>
              <a:t>, 5&gt; u; </a:t>
            </a:r>
            <a:endParaRPr lang="en-US" sz="2600" b="0">
              <a:solidFill>
                <a:schemeClr val="tx1">
                  <a:lumMod val="95000"/>
                  <a:lumOff val="5000"/>
                </a:schemeClr>
              </a:solidFill>
            </a:endParaRPr>
          </a:p>
        </p:txBody>
      </p:sp>
    </p:spTree>
    <p:extLst>
      <p:ext uri="{BB962C8B-B14F-4D97-AF65-F5344CB8AC3E}">
        <p14:creationId xmlns:p14="http://schemas.microsoft.com/office/powerpoint/2010/main" val="350242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smtClean="0">
                <a:effectLst>
                  <a:outerShdw blurRad="38100" dist="38100" dir="2700000" algn="tl">
                    <a:srgbClr val="000000">
                      <a:alpha val="43137"/>
                    </a:srgbClr>
                  </a:outerShdw>
                </a:effectLst>
                <a:latin typeface="Arial" pitchFamily="34" charset="0"/>
                <a:cs typeface="Arial" pitchFamily="34" charset="0"/>
              </a:rPr>
              <a:t>Ngoại lệ (Exception)</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p:txBody>
          <a:bodyPr/>
          <a:lstStyle/>
          <a:p>
            <a:pPr>
              <a:defRPr/>
            </a:pPr>
            <a:fld id="{B6C9ACEC-4E53-4F9E-B036-FFA4F9C8A670}" type="datetime1">
              <a:rPr lang="en-US" smtClean="0">
                <a:latin typeface="Times New Roman" pitchFamily="18" charset="0"/>
                <a:cs typeface="Times New Roman" pitchFamily="18" charset="0"/>
              </a:rPr>
              <a:pPr>
                <a:defRPr/>
              </a:pPr>
              <a:t>12/21/2015</a:t>
            </a:fld>
            <a:endParaRPr lang="en-US">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pPr>
              <a:defRPr/>
            </a:pPr>
            <a:fld id="{688F6725-D91E-415D-8720-601CB0D1C024}" type="slidenum">
              <a:rPr lang="en-US" smtClean="0">
                <a:latin typeface="Times New Roman" pitchFamily="18" charset="0"/>
                <a:cs typeface="Times New Roman" pitchFamily="18" charset="0"/>
              </a:rPr>
              <a:pPr>
                <a:defRPr/>
              </a:pPr>
              <a:t>36</a:t>
            </a:fld>
            <a:endParaRPr lang="en-US">
              <a:latin typeface="Times New Roman" pitchFamily="18" charset="0"/>
              <a:cs typeface="Times New Roman" pitchFamily="18" charset="0"/>
            </a:endParaRPr>
          </a:p>
        </p:txBody>
      </p:sp>
      <p:grpSp>
        <p:nvGrpSpPr>
          <p:cNvPr id="11" name="Group 10"/>
          <p:cNvGrpSpPr/>
          <p:nvPr/>
        </p:nvGrpSpPr>
        <p:grpSpPr>
          <a:xfrm>
            <a:off x="1828800" y="1665516"/>
            <a:ext cx="5410200" cy="665163"/>
            <a:chOff x="1828800" y="1665516"/>
            <a:chExt cx="5410200" cy="665163"/>
          </a:xfrm>
        </p:grpSpPr>
        <p:grpSp>
          <p:nvGrpSpPr>
            <p:cNvPr id="3" name="Group 3"/>
            <p:cNvGrpSpPr>
              <a:grpSpLocks/>
            </p:cNvGrpSpPr>
            <p:nvPr/>
          </p:nvGrpSpPr>
          <p:grpSpPr bwMode="auto">
            <a:xfrm>
              <a:off x="1828800" y="1665516"/>
              <a:ext cx="762000" cy="665163"/>
              <a:chOff x="1110" y="2656"/>
              <a:chExt cx="1549" cy="1351"/>
            </a:xfrm>
          </p:grpSpPr>
          <p:sp>
            <p:nvSpPr>
              <p:cNvPr id="43"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4"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5"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0" name="Line 11"/>
            <p:cNvSpPr>
              <a:spLocks noChangeShapeType="1"/>
            </p:cNvSpPr>
            <p:nvPr/>
          </p:nvSpPr>
          <p:spPr bwMode="auto">
            <a:xfrm>
              <a:off x="2438400" y="2275116"/>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1" name="Text Box 12"/>
            <p:cNvSpPr txBox="1">
              <a:spLocks noChangeArrowheads="1"/>
            </p:cNvSpPr>
            <p:nvPr/>
          </p:nvSpPr>
          <p:spPr bwMode="auto">
            <a:xfrm>
              <a:off x="2743200" y="1741716"/>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smtClean="0">
                  <a:latin typeface="Times New Roman" pitchFamily="18" charset="0"/>
                  <a:cs typeface="Times New Roman" pitchFamily="18" charset="0"/>
                </a:rPr>
                <a:t>Giới thiệu</a:t>
              </a:r>
              <a:endParaRPr lang="en-US" sz="2800" dirty="0">
                <a:latin typeface="Times New Roman" pitchFamily="18" charset="0"/>
                <a:cs typeface="Times New Roman" pitchFamily="18" charset="0"/>
              </a:endParaRPr>
            </a:p>
          </p:txBody>
        </p:sp>
        <p:sp>
          <p:nvSpPr>
            <p:cNvPr id="52" name="Text Box 13"/>
            <p:cNvSpPr txBox="1">
              <a:spLocks noChangeArrowheads="1"/>
            </p:cNvSpPr>
            <p:nvPr/>
          </p:nvSpPr>
          <p:spPr bwMode="gray">
            <a:xfrm>
              <a:off x="2025650" y="1763941"/>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1</a:t>
              </a:r>
            </a:p>
          </p:txBody>
        </p:sp>
      </p:grpSp>
      <p:grpSp>
        <p:nvGrpSpPr>
          <p:cNvPr id="12" name="Group 11"/>
          <p:cNvGrpSpPr/>
          <p:nvPr/>
        </p:nvGrpSpPr>
        <p:grpSpPr>
          <a:xfrm>
            <a:off x="1828800" y="2605314"/>
            <a:ext cx="5791200" cy="665163"/>
            <a:chOff x="1828800" y="2605314"/>
            <a:chExt cx="5791200" cy="665163"/>
          </a:xfrm>
        </p:grpSpPr>
        <p:grpSp>
          <p:nvGrpSpPr>
            <p:cNvPr id="7" name="Group 7"/>
            <p:cNvGrpSpPr>
              <a:grpSpLocks/>
            </p:cNvGrpSpPr>
            <p:nvPr/>
          </p:nvGrpSpPr>
          <p:grpSpPr bwMode="auto">
            <a:xfrm>
              <a:off x="1828800" y="2605314"/>
              <a:ext cx="762000" cy="665163"/>
              <a:chOff x="3174" y="2656"/>
              <a:chExt cx="1549" cy="1351"/>
            </a:xfrm>
          </p:grpSpPr>
          <p:sp>
            <p:nvSpPr>
              <p:cNvPr id="47"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8"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9"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3" name="Line 14"/>
            <p:cNvSpPr>
              <a:spLocks noChangeShapeType="1"/>
            </p:cNvSpPr>
            <p:nvPr/>
          </p:nvSpPr>
          <p:spPr bwMode="auto">
            <a:xfrm>
              <a:off x="2438400" y="3189516"/>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4" name="Text Box 15"/>
            <p:cNvSpPr txBox="1">
              <a:spLocks noChangeArrowheads="1"/>
            </p:cNvSpPr>
            <p:nvPr/>
          </p:nvSpPr>
          <p:spPr bwMode="auto">
            <a:xfrm>
              <a:off x="2743200" y="2656116"/>
              <a:ext cx="4876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smtClean="0">
                  <a:latin typeface="Times New Roman" pitchFamily="18" charset="0"/>
                  <a:cs typeface="Times New Roman" pitchFamily="18" charset="0"/>
                </a:rPr>
                <a:t>Cách xử lý lỗi truyền thống</a:t>
              </a:r>
              <a:endParaRPr lang="en-US" sz="2800" dirty="0">
                <a:latin typeface="Times New Roman" pitchFamily="18" charset="0"/>
                <a:cs typeface="Times New Roman" pitchFamily="18" charset="0"/>
              </a:endParaRPr>
            </a:p>
          </p:txBody>
        </p:sp>
        <p:sp>
          <p:nvSpPr>
            <p:cNvPr id="55" name="Text Box 16"/>
            <p:cNvSpPr txBox="1">
              <a:spLocks noChangeArrowheads="1"/>
            </p:cNvSpPr>
            <p:nvPr/>
          </p:nvSpPr>
          <p:spPr bwMode="gray">
            <a:xfrm>
              <a:off x="2025650" y="2775858"/>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2</a:t>
              </a:r>
            </a:p>
          </p:txBody>
        </p:sp>
      </p:grpSp>
      <p:grpSp>
        <p:nvGrpSpPr>
          <p:cNvPr id="13" name="Group 12"/>
          <p:cNvGrpSpPr/>
          <p:nvPr/>
        </p:nvGrpSpPr>
        <p:grpSpPr>
          <a:xfrm>
            <a:off x="1828800" y="3472091"/>
            <a:ext cx="5410200" cy="665163"/>
            <a:chOff x="1828800" y="3472091"/>
            <a:chExt cx="5410200" cy="665163"/>
          </a:xfrm>
        </p:grpSpPr>
        <p:grpSp>
          <p:nvGrpSpPr>
            <p:cNvPr id="8" name="Group 17"/>
            <p:cNvGrpSpPr>
              <a:grpSpLocks/>
            </p:cNvGrpSpPr>
            <p:nvPr/>
          </p:nvGrpSpPr>
          <p:grpSpPr bwMode="auto">
            <a:xfrm>
              <a:off x="1828800" y="3472091"/>
              <a:ext cx="762000" cy="665163"/>
              <a:chOff x="1110" y="2656"/>
              <a:chExt cx="1549" cy="1351"/>
            </a:xfrm>
          </p:grpSpPr>
          <p:sp>
            <p:nvSpPr>
              <p:cNvPr id="5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4" name="Line 25"/>
            <p:cNvSpPr>
              <a:spLocks noChangeShapeType="1"/>
            </p:cNvSpPr>
            <p:nvPr/>
          </p:nvSpPr>
          <p:spPr bwMode="auto">
            <a:xfrm>
              <a:off x="2438400" y="40816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5" name="Text Box 26"/>
            <p:cNvSpPr txBox="1">
              <a:spLocks noChangeArrowheads="1"/>
            </p:cNvSpPr>
            <p:nvPr/>
          </p:nvSpPr>
          <p:spPr bwMode="auto">
            <a:xfrm>
              <a:off x="2743200" y="35482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smtClean="0">
                  <a:latin typeface="Times New Roman" pitchFamily="18" charset="0"/>
                  <a:cs typeface="Times New Roman" pitchFamily="18" charset="0"/>
                </a:rPr>
                <a:t>Ngoại lệ trong C++</a:t>
              </a:r>
              <a:endParaRPr lang="en-US" sz="2800" dirty="0">
                <a:latin typeface="Times New Roman" pitchFamily="18" charset="0"/>
                <a:cs typeface="Times New Roman" pitchFamily="18" charset="0"/>
              </a:endParaRPr>
            </a:p>
          </p:txBody>
        </p:sp>
        <p:sp>
          <p:nvSpPr>
            <p:cNvPr id="66" name="Text Box 27"/>
            <p:cNvSpPr txBox="1">
              <a:spLocks noChangeArrowheads="1"/>
            </p:cNvSpPr>
            <p:nvPr/>
          </p:nvSpPr>
          <p:spPr bwMode="gray">
            <a:xfrm>
              <a:off x="2025650" y="35705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3</a:t>
              </a:r>
            </a:p>
          </p:txBody>
        </p:sp>
      </p:grpSp>
      <p:grpSp>
        <p:nvGrpSpPr>
          <p:cNvPr id="14" name="Group 13"/>
          <p:cNvGrpSpPr/>
          <p:nvPr/>
        </p:nvGrpSpPr>
        <p:grpSpPr>
          <a:xfrm>
            <a:off x="1828800" y="4386491"/>
            <a:ext cx="5410200" cy="665163"/>
            <a:chOff x="1828800" y="4386491"/>
            <a:chExt cx="5410200" cy="665163"/>
          </a:xfrm>
        </p:grpSpPr>
        <p:grpSp>
          <p:nvGrpSpPr>
            <p:cNvPr id="9" name="Group 21"/>
            <p:cNvGrpSpPr>
              <a:grpSpLocks/>
            </p:cNvGrpSpPr>
            <p:nvPr/>
          </p:nvGrpSpPr>
          <p:grpSpPr bwMode="auto">
            <a:xfrm>
              <a:off x="1828800" y="4386491"/>
              <a:ext cx="762000" cy="665163"/>
              <a:chOff x="3174" y="2656"/>
              <a:chExt cx="1549" cy="1351"/>
            </a:xfrm>
          </p:grpSpPr>
          <p:sp>
            <p:nvSpPr>
              <p:cNvPr id="61"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2"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3"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7" name="Line 28"/>
            <p:cNvSpPr>
              <a:spLocks noChangeShapeType="1"/>
            </p:cNvSpPr>
            <p:nvPr/>
          </p:nvSpPr>
          <p:spPr bwMode="auto">
            <a:xfrm>
              <a:off x="2438400" y="49960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8" name="Text Box 29"/>
            <p:cNvSpPr txBox="1">
              <a:spLocks noChangeArrowheads="1"/>
            </p:cNvSpPr>
            <p:nvPr/>
          </p:nvSpPr>
          <p:spPr bwMode="auto">
            <a:xfrm>
              <a:off x="2743200" y="44626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smtClean="0">
                  <a:latin typeface="Times New Roman" pitchFamily="18" charset="0"/>
                  <a:cs typeface="Times New Roman" pitchFamily="18" charset="0"/>
                </a:rPr>
                <a:t>Kiểm soát ngoại lệ</a:t>
              </a:r>
              <a:endParaRPr lang="en-US" sz="2800" dirty="0">
                <a:latin typeface="Times New Roman" pitchFamily="18" charset="0"/>
                <a:cs typeface="Times New Roman" pitchFamily="18" charset="0"/>
              </a:endParaRPr>
            </a:p>
          </p:txBody>
        </p:sp>
        <p:sp>
          <p:nvSpPr>
            <p:cNvPr id="69" name="Text Box 30"/>
            <p:cNvSpPr txBox="1">
              <a:spLocks noChangeArrowheads="1"/>
            </p:cNvSpPr>
            <p:nvPr/>
          </p:nvSpPr>
          <p:spPr bwMode="gray">
            <a:xfrm>
              <a:off x="2025650" y="44849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4</a:t>
              </a:r>
            </a:p>
          </p:txBody>
        </p:sp>
      </p:grpSp>
      <p:grpSp>
        <p:nvGrpSpPr>
          <p:cNvPr id="15" name="Group 14"/>
          <p:cNvGrpSpPr/>
          <p:nvPr/>
        </p:nvGrpSpPr>
        <p:grpSpPr>
          <a:xfrm>
            <a:off x="1828800" y="5323116"/>
            <a:ext cx="5413775" cy="665163"/>
            <a:chOff x="1828800" y="5323116"/>
            <a:chExt cx="5413775" cy="665163"/>
          </a:xfrm>
        </p:grpSpPr>
        <p:sp>
          <p:nvSpPr>
            <p:cNvPr id="70" name="Line 28"/>
            <p:cNvSpPr>
              <a:spLocks noChangeShapeType="1"/>
            </p:cNvSpPr>
            <p:nvPr/>
          </p:nvSpPr>
          <p:spPr bwMode="auto">
            <a:xfrm>
              <a:off x="2441975" y="5912079"/>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1" name="Text Box 29"/>
            <p:cNvSpPr txBox="1">
              <a:spLocks noChangeArrowheads="1"/>
            </p:cNvSpPr>
            <p:nvPr/>
          </p:nvSpPr>
          <p:spPr bwMode="auto">
            <a:xfrm>
              <a:off x="2746775" y="5378679"/>
              <a:ext cx="44922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smtClean="0">
                  <a:latin typeface="Times New Roman" pitchFamily="18" charset="0"/>
                  <a:cs typeface="Times New Roman" pitchFamily="18" charset="0"/>
                </a:rPr>
                <a:t>Lớp ngoại lệ exception</a:t>
              </a:r>
              <a:endParaRPr lang="en-US" sz="2800" dirty="0">
                <a:latin typeface="Times New Roman" pitchFamily="18" charset="0"/>
                <a:cs typeface="Times New Roman" pitchFamily="18" charset="0"/>
              </a:endParaRPr>
            </a:p>
          </p:txBody>
        </p:sp>
        <p:sp>
          <p:nvSpPr>
            <p:cNvPr id="72" name="Text Box 30"/>
            <p:cNvSpPr txBox="1">
              <a:spLocks noChangeArrowheads="1"/>
            </p:cNvSpPr>
            <p:nvPr/>
          </p:nvSpPr>
          <p:spPr bwMode="gray">
            <a:xfrm>
              <a:off x="2028138" y="5400904"/>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smtClean="0">
                  <a:solidFill>
                    <a:schemeClr val="bg1"/>
                  </a:solidFill>
                  <a:latin typeface="Times New Roman" pitchFamily="18" charset="0"/>
                  <a:cs typeface="Times New Roman" pitchFamily="18" charset="0"/>
                </a:rPr>
                <a:t>5</a:t>
              </a:r>
              <a:endParaRPr lang="en-US" sz="2400" b="1" dirty="0">
                <a:solidFill>
                  <a:schemeClr val="bg1"/>
                </a:solidFill>
                <a:latin typeface="Times New Roman" pitchFamily="18" charset="0"/>
                <a:cs typeface="Times New Roman" pitchFamily="18" charset="0"/>
              </a:endParaRPr>
            </a:p>
          </p:txBody>
        </p:sp>
        <p:grpSp>
          <p:nvGrpSpPr>
            <p:cNvPr id="10" name="Group 17"/>
            <p:cNvGrpSpPr>
              <a:grpSpLocks/>
            </p:cNvGrpSpPr>
            <p:nvPr/>
          </p:nvGrpSpPr>
          <p:grpSpPr bwMode="auto">
            <a:xfrm>
              <a:off x="1828800" y="5323116"/>
              <a:ext cx="762000" cy="665163"/>
              <a:chOff x="1110" y="2656"/>
              <a:chExt cx="1549" cy="1351"/>
            </a:xfrm>
          </p:grpSpPr>
          <p:sp>
            <p:nvSpPr>
              <p:cNvPr id="74"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5"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6"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000" dirty="0" smtClean="0">
                    <a:solidFill>
                      <a:schemeClr val="bg1"/>
                    </a:solidFill>
                    <a:latin typeface="Times New Roman" pitchFamily="18" charset="0"/>
                    <a:cs typeface="Times New Roman" pitchFamily="18" charset="0"/>
                  </a:rPr>
                  <a:t> </a:t>
                </a:r>
                <a:r>
                  <a:rPr lang="en-US" sz="2400" dirty="0" smtClean="0">
                    <a:solidFill>
                      <a:schemeClr val="bg1"/>
                    </a:solidFill>
                    <a:latin typeface="Times New Roman" pitchFamily="18" charset="0"/>
                    <a:cs typeface="Times New Roman" pitchFamily="18" charset="0"/>
                  </a:rPr>
                  <a:t>5</a:t>
                </a:r>
                <a:endParaRPr lang="en-US" sz="2400" dirty="0">
                  <a:solidFill>
                    <a:schemeClr val="bg1"/>
                  </a:solidFill>
                  <a:latin typeface="Times New Roman" pitchFamily="18" charset="0"/>
                  <a:cs typeface="Times New Roman" pitchFamily="18" charset="0"/>
                </a:endParaRPr>
              </a:p>
            </p:txBody>
          </p:sp>
        </p:grpSp>
      </p:grpSp>
    </p:spTree>
    <p:extLst>
      <p:ext uri="{BB962C8B-B14F-4D97-AF65-F5344CB8AC3E}">
        <p14:creationId xmlns:p14="http://schemas.microsoft.com/office/powerpoint/2010/main" val="2016889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smtClean="0">
                <a:effectLst>
                  <a:outerShdw blurRad="38100" dist="38100" dir="2700000" algn="tl">
                    <a:srgbClr val="000000">
                      <a:alpha val="43137"/>
                    </a:srgbClr>
                  </a:outerShdw>
                </a:effectLst>
                <a:latin typeface="Arial" pitchFamily="34" charset="0"/>
                <a:cs typeface="Arial" pitchFamily="34" charset="0"/>
              </a:rPr>
              <a:t>Giới thiệu</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Mọi đoạn chương trình đều </a:t>
            </a:r>
            <a:r>
              <a:rPr lang="vi-VN" sz="2800">
                <a:solidFill>
                  <a:srgbClr val="FF3300"/>
                </a:solidFill>
                <a:latin typeface="Arial" pitchFamily="34" charset="0"/>
                <a:cs typeface="Arial" pitchFamily="34" charset="0"/>
              </a:rPr>
              <a:t>tiềm ẩn khả năng sinh lỗi</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Lỗi chủ quan: do lập trình sai</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Lỗi khách quan: do dữ liệu, do trạng thái của hệ thống</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Lỗi có 2 </a:t>
            </a:r>
            <a:r>
              <a:rPr lang="vi-VN" sz="2800" smtClean="0">
                <a:solidFill>
                  <a:schemeClr val="tx1">
                    <a:lumMod val="95000"/>
                    <a:lumOff val="5000"/>
                  </a:schemeClr>
                </a:solidFill>
                <a:latin typeface="Arial" pitchFamily="34" charset="0"/>
                <a:cs typeface="Arial" pitchFamily="34" charset="0"/>
              </a:rPr>
              <a:t>loại</a:t>
            </a:r>
            <a:r>
              <a:rPr lang="en-US" sz="2800">
                <a:solidFill>
                  <a:schemeClr val="tx1">
                    <a:lumMod val="95000"/>
                    <a:lumOff val="5000"/>
                  </a:schemeClr>
                </a:solidFill>
                <a:latin typeface="Arial" pitchFamily="34" charset="0"/>
                <a:cs typeface="Arial" pitchFamily="34" charset="0"/>
              </a:rPr>
              <a:t>?</a:t>
            </a:r>
            <a:endParaRPr lang="vi-VN" sz="24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Ngoại lệ (Exception)</a:t>
            </a:r>
            <a:r>
              <a:rPr lang="vi-VN" sz="2800">
                <a:solidFill>
                  <a:schemeClr val="tx1">
                    <a:lumMod val="95000"/>
                    <a:lumOff val="5000"/>
                  </a:schemeClr>
                </a:solidFill>
                <a:latin typeface="Arial" pitchFamily="34" charset="0"/>
                <a:cs typeface="Arial" pitchFamily="34" charset="0"/>
              </a:rPr>
              <a:t>: các trường hợp hoạt động không bình thường</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37</a:t>
            </a:fld>
            <a:endParaRPr lang="en-US"/>
          </a:p>
        </p:txBody>
      </p:sp>
    </p:spTree>
    <p:extLst>
      <p:ext uri="{BB962C8B-B14F-4D97-AF65-F5344CB8AC3E}">
        <p14:creationId xmlns:p14="http://schemas.microsoft.com/office/powerpoint/2010/main" val="2223724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Cách xử lý lỗi truyền thống</a:t>
            </a:r>
          </a:p>
        </p:txBody>
      </p:sp>
      <p:sp>
        <p:nvSpPr>
          <p:cNvPr id="3" name="Content Placeholder 2"/>
          <p:cNvSpPr>
            <a:spLocks noGrp="1"/>
          </p:cNvSpPr>
          <p:nvPr>
            <p:ph idx="1"/>
          </p:nvPr>
        </p:nvSpPr>
        <p:spPr>
          <a:xfrm>
            <a:off x="457200" y="1447800"/>
            <a:ext cx="8382000" cy="5105400"/>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Cài đặt mã xử lý tại nơi phát sinh ra lỗi</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Làm cho chương trình trở nên khó hiểu</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Không phải lúc nào cũng đầy đủ thông tin để xử lý</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Không nhất thiết phải xử lý</a:t>
            </a:r>
          </a:p>
          <a:p>
            <a:pPr algn="just">
              <a:lnSpc>
                <a:spcPct val="130000"/>
              </a:lnSpc>
              <a:spcBef>
                <a:spcPts val="300"/>
              </a:spcBef>
              <a:spcAft>
                <a:spcPts val="300"/>
              </a:spcAft>
              <a:buFont typeface="Wingdings" pitchFamily="2" charset="2"/>
              <a:buChar char="v"/>
            </a:pPr>
            <a:r>
              <a:rPr lang="vi-VN" sz="2800">
                <a:solidFill>
                  <a:srgbClr val="FF3300"/>
                </a:solidFill>
                <a:latin typeface="Arial" pitchFamily="34" charset="0"/>
                <a:cs typeface="Arial" pitchFamily="34" charset="0"/>
              </a:rPr>
              <a:t>Truyền trạng thái lên mức trên</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Thông qua tham số, giá trị trả lại hoặc biến tổng thể (flag) </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Dễ nhầm</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Khó hiểu</a:t>
            </a:r>
            <a:endParaRPr lang="vi-VN" sz="24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38</a:t>
            </a:fld>
            <a:endParaRPr lang="en-US"/>
          </a:p>
        </p:txBody>
      </p:sp>
    </p:spTree>
    <p:extLst>
      <p:ext uri="{BB962C8B-B14F-4D97-AF65-F5344CB8AC3E}">
        <p14:creationId xmlns:p14="http://schemas.microsoft.com/office/powerpoint/2010/main" val="2366364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Cách xử lý lỗi truyền thống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39</a:t>
            </a:fld>
            <a:endParaRPr lang="en-US"/>
          </a:p>
        </p:txBody>
      </p:sp>
      <p:sp>
        <p:nvSpPr>
          <p:cNvPr id="8" name="Rectangle 5"/>
          <p:cNvSpPr>
            <a:spLocks noChangeArrowheads="1"/>
          </p:cNvSpPr>
          <p:nvPr/>
        </p:nvSpPr>
        <p:spPr bwMode="auto">
          <a:xfrm>
            <a:off x="762000" y="1447800"/>
            <a:ext cx="7772400" cy="4953000"/>
          </a:xfrm>
          <a:prstGeom prst="rect">
            <a:avLst/>
          </a:prstGeom>
          <a:gradFill rotWithShape="0">
            <a:gsLst>
              <a:gs pos="0">
                <a:srgbClr val="CCFFFF"/>
              </a:gs>
              <a:gs pos="50000">
                <a:schemeClr val="bg1"/>
              </a:gs>
              <a:gs pos="100000">
                <a:srgbClr val="CCFFFF"/>
              </a:gs>
            </a:gsLst>
            <a:lin ang="5400000" scaled="1"/>
          </a:gradFill>
          <a:ln w="9525">
            <a:noFill/>
            <a:miter lim="800000"/>
            <a:headEnd/>
            <a:tailEnd/>
          </a:ln>
          <a:effectLst/>
        </p:spPr>
        <p:txBody>
          <a:bodyPr wrap="none" anchor="ctr"/>
          <a:lstStyle/>
          <a:p>
            <a:pPr>
              <a:defRPr/>
            </a:pPr>
            <a:endParaRPr lang="en-US"/>
          </a:p>
        </p:txBody>
      </p:sp>
      <p:sp>
        <p:nvSpPr>
          <p:cNvPr id="9" name="Rectangle 2"/>
          <p:cNvSpPr txBox="1">
            <a:spLocks noChangeArrowheads="1"/>
          </p:cNvSpPr>
          <p:nvPr/>
        </p:nvSpPr>
        <p:spPr>
          <a:xfrm>
            <a:off x="990600" y="1600200"/>
            <a:ext cx="7696200" cy="4953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lang="en-US" sz="2800" b="0" smtClean="0">
                <a:solidFill>
                  <a:srgbClr val="0000FF"/>
                </a:solidFill>
                <a:latin typeface="Comic Sans MS" pitchFamily="66" charset="0"/>
              </a:rPr>
              <a:t>int</a:t>
            </a:r>
            <a:r>
              <a:rPr lang="en-US" sz="2800" b="0" smtClean="0">
                <a:latin typeface="Comic Sans MS" pitchFamily="66" charset="0"/>
              </a:rPr>
              <a:t> devide(</a:t>
            </a:r>
            <a:r>
              <a:rPr lang="en-US" sz="2800" b="0" smtClean="0">
                <a:solidFill>
                  <a:srgbClr val="0000FF"/>
                </a:solidFill>
                <a:latin typeface="Comic Sans MS" pitchFamily="66" charset="0"/>
              </a:rPr>
              <a:t>int</a:t>
            </a:r>
            <a:r>
              <a:rPr lang="en-US" sz="2800" b="0" smtClean="0">
                <a:latin typeface="Comic Sans MS" pitchFamily="66" charset="0"/>
              </a:rPr>
              <a:t> num, </a:t>
            </a:r>
            <a:r>
              <a:rPr lang="en-US" sz="2800" b="0" smtClean="0">
                <a:solidFill>
                  <a:srgbClr val="0000FF"/>
                </a:solidFill>
                <a:latin typeface="Comic Sans MS" pitchFamily="66" charset="0"/>
              </a:rPr>
              <a:t>int</a:t>
            </a:r>
            <a:r>
              <a:rPr lang="en-US" sz="2800" b="0" smtClean="0">
                <a:latin typeface="Comic Sans MS" pitchFamily="66" charset="0"/>
              </a:rPr>
              <a:t> denom,  </a:t>
            </a:r>
            <a:r>
              <a:rPr lang="en-US" sz="2800" b="0" smtClean="0">
                <a:solidFill>
                  <a:srgbClr val="0000FF"/>
                </a:solidFill>
                <a:latin typeface="Comic Sans MS" pitchFamily="66" charset="0"/>
              </a:rPr>
              <a:t>int</a:t>
            </a:r>
            <a:r>
              <a:rPr lang="en-US" sz="2800" b="0" smtClean="0">
                <a:latin typeface="Comic Sans MS" pitchFamily="66" charset="0"/>
              </a:rPr>
              <a:t>&amp; error){</a:t>
            </a:r>
          </a:p>
          <a:p>
            <a:pPr>
              <a:buFont typeface="Wingdings" pitchFamily="2" charset="2"/>
              <a:buNone/>
            </a:pPr>
            <a:r>
              <a:rPr lang="en-US" sz="2800" b="0" smtClean="0">
                <a:latin typeface="Comic Sans MS" pitchFamily="66" charset="0"/>
              </a:rPr>
              <a:t>	</a:t>
            </a:r>
            <a:r>
              <a:rPr lang="en-US" sz="2800" b="0" smtClean="0">
                <a:solidFill>
                  <a:srgbClr val="0000FF"/>
                </a:solidFill>
                <a:latin typeface="Comic Sans MS" pitchFamily="66" charset="0"/>
              </a:rPr>
              <a:t>if</a:t>
            </a:r>
            <a:r>
              <a:rPr lang="en-US" sz="2800" b="0" smtClean="0">
                <a:latin typeface="Comic Sans MS" pitchFamily="66" charset="0"/>
              </a:rPr>
              <a:t> (0 != denom){</a:t>
            </a:r>
          </a:p>
          <a:p>
            <a:pPr>
              <a:buFont typeface="Wingdings" pitchFamily="2" charset="2"/>
              <a:buNone/>
            </a:pPr>
            <a:r>
              <a:rPr lang="en-US" sz="2800" b="0" smtClean="0">
                <a:latin typeface="Comic Sans MS" pitchFamily="66" charset="0"/>
              </a:rPr>
              <a:t>		</a:t>
            </a:r>
            <a:r>
              <a:rPr lang="en-US" sz="2800" b="0" smtClean="0">
                <a:solidFill>
                  <a:srgbClr val="FF0000"/>
                </a:solidFill>
                <a:latin typeface="Comic Sans MS" pitchFamily="66" charset="0"/>
              </a:rPr>
              <a:t>error = 0;</a:t>
            </a:r>
          </a:p>
          <a:p>
            <a:pPr>
              <a:buFont typeface="Wingdings" pitchFamily="2" charset="2"/>
              <a:buNone/>
            </a:pPr>
            <a:r>
              <a:rPr lang="en-US" sz="2800" b="0" smtClean="0">
                <a:latin typeface="Comic Sans MS" pitchFamily="66" charset="0"/>
              </a:rPr>
              <a:t>		return num/denom;</a:t>
            </a:r>
          </a:p>
          <a:p>
            <a:pPr>
              <a:buFont typeface="Wingdings" pitchFamily="2" charset="2"/>
              <a:buNone/>
            </a:pPr>
            <a:r>
              <a:rPr lang="en-US" sz="2800" b="0" smtClean="0">
                <a:latin typeface="Comic Sans MS" pitchFamily="66" charset="0"/>
              </a:rPr>
              <a:t>	} </a:t>
            </a:r>
            <a:r>
              <a:rPr lang="en-US" sz="2800" b="0" smtClean="0">
                <a:solidFill>
                  <a:srgbClr val="0000FF"/>
                </a:solidFill>
                <a:latin typeface="Comic Sans MS" pitchFamily="66" charset="0"/>
              </a:rPr>
              <a:t>else</a:t>
            </a:r>
            <a:r>
              <a:rPr lang="en-US" sz="2800" b="0" smtClean="0">
                <a:latin typeface="Comic Sans MS" pitchFamily="66" charset="0"/>
              </a:rPr>
              <a:t> {</a:t>
            </a:r>
          </a:p>
          <a:p>
            <a:pPr>
              <a:buFont typeface="Wingdings" pitchFamily="2" charset="2"/>
              <a:buNone/>
            </a:pPr>
            <a:r>
              <a:rPr lang="en-US" sz="2800" b="0" smtClean="0">
                <a:latin typeface="Comic Sans MS" pitchFamily="66" charset="0"/>
              </a:rPr>
              <a:t>		</a:t>
            </a:r>
            <a:r>
              <a:rPr lang="en-US" sz="2800" b="0" smtClean="0">
                <a:solidFill>
                  <a:srgbClr val="FF0000"/>
                </a:solidFill>
                <a:latin typeface="Comic Sans MS" pitchFamily="66" charset="0"/>
              </a:rPr>
              <a:t>error = 1;</a:t>
            </a:r>
          </a:p>
          <a:p>
            <a:pPr>
              <a:buFont typeface="Wingdings" pitchFamily="2" charset="2"/>
              <a:buNone/>
            </a:pPr>
            <a:r>
              <a:rPr lang="en-US" sz="2800" b="0" smtClean="0">
                <a:latin typeface="Comic Sans MS" pitchFamily="66" charset="0"/>
              </a:rPr>
              <a:t>		</a:t>
            </a:r>
            <a:r>
              <a:rPr lang="en-US" sz="2800" b="0" smtClean="0">
                <a:solidFill>
                  <a:srgbClr val="0000FF"/>
                </a:solidFill>
                <a:latin typeface="Comic Sans MS" pitchFamily="66" charset="0"/>
              </a:rPr>
              <a:t>return</a:t>
            </a:r>
            <a:r>
              <a:rPr lang="en-US" sz="2800" b="0" smtClean="0">
                <a:latin typeface="Comic Sans MS" pitchFamily="66" charset="0"/>
              </a:rPr>
              <a:t> 0;</a:t>
            </a:r>
          </a:p>
          <a:p>
            <a:pPr>
              <a:buFont typeface="Wingdings" pitchFamily="2" charset="2"/>
              <a:buNone/>
            </a:pPr>
            <a:r>
              <a:rPr lang="en-US" sz="2800" b="0" smtClean="0">
                <a:latin typeface="Comic Sans MS" pitchFamily="66" charset="0"/>
              </a:rPr>
              <a:t>	}</a:t>
            </a:r>
          </a:p>
          <a:p>
            <a:pPr>
              <a:buFont typeface="Wingdings" pitchFamily="2" charset="2"/>
              <a:buNone/>
            </a:pPr>
            <a:r>
              <a:rPr lang="en-US" sz="2800" b="0" smtClean="0">
                <a:latin typeface="Comic Sans MS" pitchFamily="66" charset="0"/>
              </a:rPr>
              <a:t>}</a:t>
            </a:r>
          </a:p>
          <a:p>
            <a:pPr>
              <a:buFont typeface="Wingdings" pitchFamily="2" charset="2"/>
              <a:buNone/>
            </a:pPr>
            <a:endParaRPr lang="en-US" sz="2800" b="0" smtClean="0">
              <a:latin typeface="Comic Sans MS" pitchFamily="66" charset="0"/>
            </a:endParaRPr>
          </a:p>
        </p:txBody>
      </p:sp>
    </p:spTree>
    <p:extLst>
      <p:ext uri="{BB962C8B-B14F-4D97-AF65-F5344CB8AC3E}">
        <p14:creationId xmlns:p14="http://schemas.microsoft.com/office/powerpoint/2010/main" val="236636457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Cách xử lý lỗi truyền thống</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Khó kiểm soát được hết các trường hợp</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Lỗi số học</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Lỗi bộ nhớ</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Lập trình viên thường quên không xử lý lỗi</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Bản chất con người</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Thiếu kinh nghiệm, cố tình bỏ qua</a:t>
            </a:r>
            <a:endParaRPr lang="vi-VN" sz="24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40</a:t>
            </a:fld>
            <a:endParaRPr lang="en-US"/>
          </a:p>
        </p:txBody>
      </p:sp>
    </p:spTree>
    <p:extLst>
      <p:ext uri="{BB962C8B-B14F-4D97-AF65-F5344CB8AC3E}">
        <p14:creationId xmlns:p14="http://schemas.microsoft.com/office/powerpoint/2010/main" val="2366364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 </a:t>
            </a:r>
            <a:r>
              <a:rPr lang="en-US" b="1" smtClean="0">
                <a:effectLst>
                  <a:outerShdw blurRad="38100" dist="38100" dir="2700000" algn="tl">
                    <a:srgbClr val="000000">
                      <a:alpha val="43137"/>
                    </a:srgbClr>
                  </a:outerShdw>
                </a:effectLst>
                <a:latin typeface="Arial" pitchFamily="34" charset="0"/>
                <a:cs typeface="Arial" pitchFamily="34" charset="0"/>
              </a:rPr>
              <a:t>Exception</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Exception – </a:t>
            </a:r>
            <a:r>
              <a:rPr lang="en-US" sz="2800" smtClean="0">
                <a:solidFill>
                  <a:srgbClr val="0066FF"/>
                </a:solidFill>
                <a:latin typeface="Arial" pitchFamily="34" charset="0"/>
                <a:cs typeface="Arial" pitchFamily="34" charset="0"/>
              </a:rPr>
              <a:t>N</a:t>
            </a:r>
            <a:r>
              <a:rPr lang="vi-VN" sz="2800" smtClean="0">
                <a:solidFill>
                  <a:srgbClr val="0066FF"/>
                </a:solidFill>
                <a:latin typeface="Arial" pitchFamily="34" charset="0"/>
                <a:cs typeface="Arial" pitchFamily="34" charset="0"/>
              </a:rPr>
              <a:t>goại </a:t>
            </a:r>
            <a:r>
              <a:rPr lang="vi-VN" sz="2800">
                <a:solidFill>
                  <a:srgbClr val="0066FF"/>
                </a:solidFill>
                <a:latin typeface="Arial" pitchFamily="34" charset="0"/>
                <a:cs typeface="Arial" pitchFamily="34" charset="0"/>
              </a:rPr>
              <a:t>lệ </a:t>
            </a:r>
            <a:r>
              <a:rPr lang="vi-VN" sz="2800">
                <a:solidFill>
                  <a:schemeClr val="tx1">
                    <a:lumMod val="95000"/>
                    <a:lumOff val="5000"/>
                  </a:schemeClr>
                </a:solidFill>
                <a:latin typeface="Arial" pitchFamily="34" charset="0"/>
                <a:cs typeface="Arial" pitchFamily="34" charset="0"/>
              </a:rPr>
              <a:t>là cơ chế thông báo và xử lý lỗi giải quyết được các vấn đề </a:t>
            </a:r>
            <a:r>
              <a:rPr lang="en-US" sz="2800" smtClean="0">
                <a:solidFill>
                  <a:schemeClr val="tx1">
                    <a:lumMod val="95000"/>
                    <a:lumOff val="5000"/>
                  </a:schemeClr>
                </a:solidFill>
                <a:latin typeface="Arial" pitchFamily="34" charset="0"/>
                <a:cs typeface="Arial" pitchFamily="34" charset="0"/>
              </a:rPr>
              <a:t>gặp phải ở trên.</a:t>
            </a:r>
            <a:endParaRPr lang="vi-VN"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Tách được phần xử lý lỗi ra khỏi phần thuật toán </a:t>
            </a:r>
            <a:r>
              <a:rPr lang="vi-VN" sz="2800" smtClean="0">
                <a:solidFill>
                  <a:schemeClr val="tx1">
                    <a:lumMod val="95000"/>
                    <a:lumOff val="5000"/>
                  </a:schemeClr>
                </a:solidFill>
                <a:latin typeface="Arial" pitchFamily="34" charset="0"/>
                <a:cs typeface="Arial" pitchFamily="34" charset="0"/>
              </a:rPr>
              <a:t>chính</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sz="2800" smtClean="0">
                <a:solidFill>
                  <a:schemeClr val="tx1">
                    <a:lumMod val="95000"/>
                    <a:lumOff val="5000"/>
                  </a:schemeClr>
                </a:solidFill>
                <a:latin typeface="Arial" pitchFamily="34" charset="0"/>
                <a:cs typeface="Arial" pitchFamily="34" charset="0"/>
              </a:rPr>
              <a:t>C</a:t>
            </a:r>
            <a:r>
              <a:rPr lang="vi-VN" sz="2800" smtClean="0">
                <a:solidFill>
                  <a:schemeClr val="tx1">
                    <a:lumMod val="95000"/>
                    <a:lumOff val="5000"/>
                  </a:schemeClr>
                </a:solidFill>
                <a:latin typeface="Arial" pitchFamily="34" charset="0"/>
                <a:cs typeface="Arial" pitchFamily="34" charset="0"/>
              </a:rPr>
              <a:t>ho </a:t>
            </a:r>
            <a:r>
              <a:rPr lang="vi-VN" sz="2800">
                <a:solidFill>
                  <a:schemeClr val="tx1">
                    <a:lumMod val="95000"/>
                    <a:lumOff val="5000"/>
                  </a:schemeClr>
                </a:solidFill>
                <a:latin typeface="Arial" pitchFamily="34" charset="0"/>
                <a:cs typeface="Arial" pitchFamily="34" charset="0"/>
              </a:rPr>
              <a:t>phép </a:t>
            </a:r>
            <a:r>
              <a:rPr lang="en-US" sz="2800" smtClean="0">
                <a:solidFill>
                  <a:schemeClr val="tx1">
                    <a:lumMod val="95000"/>
                    <a:lumOff val="5000"/>
                  </a:schemeClr>
                </a:solidFill>
                <a:latin typeface="Arial" pitchFamily="34" charset="0"/>
                <a:cs typeface="Arial" pitchFamily="34" charset="0"/>
              </a:rPr>
              <a:t>một</a:t>
            </a:r>
            <a:r>
              <a:rPr lang="vi-VN" sz="2800" smtClean="0">
                <a:solidFill>
                  <a:schemeClr val="tx1">
                    <a:lumMod val="95000"/>
                    <a:lumOff val="5000"/>
                  </a:schemeClr>
                </a:solidFill>
                <a:latin typeface="Arial" pitchFamily="34" charset="0"/>
                <a:cs typeface="Arial" pitchFamily="34" charset="0"/>
              </a:rPr>
              <a:t> </a:t>
            </a:r>
            <a:r>
              <a:rPr lang="vi-VN" sz="2800">
                <a:solidFill>
                  <a:schemeClr val="tx1">
                    <a:lumMod val="95000"/>
                    <a:lumOff val="5000"/>
                  </a:schemeClr>
                </a:solidFill>
                <a:latin typeface="Arial" pitchFamily="34" charset="0"/>
                <a:cs typeface="Arial" pitchFamily="34" charset="0"/>
              </a:rPr>
              <a:t>hàm </a:t>
            </a:r>
            <a:r>
              <a:rPr lang="en-US" sz="2800" smtClean="0">
                <a:solidFill>
                  <a:schemeClr val="tx1">
                    <a:lumMod val="95000"/>
                    <a:lumOff val="5000"/>
                  </a:schemeClr>
                </a:solidFill>
                <a:latin typeface="Arial" pitchFamily="34" charset="0"/>
                <a:cs typeface="Arial" pitchFamily="34" charset="0"/>
              </a:rPr>
              <a:t>có thể </a:t>
            </a:r>
            <a:r>
              <a:rPr lang="vi-VN" sz="2800" smtClean="0">
                <a:solidFill>
                  <a:schemeClr val="tx1">
                    <a:lumMod val="95000"/>
                    <a:lumOff val="5000"/>
                  </a:schemeClr>
                </a:solidFill>
                <a:latin typeface="Arial" pitchFamily="34" charset="0"/>
                <a:cs typeface="Arial" pitchFamily="34" charset="0"/>
              </a:rPr>
              <a:t>thông </a:t>
            </a:r>
            <a:r>
              <a:rPr lang="vi-VN" sz="2800">
                <a:solidFill>
                  <a:schemeClr val="tx1">
                    <a:lumMod val="95000"/>
                    <a:lumOff val="5000"/>
                  </a:schemeClr>
                </a:solidFill>
                <a:latin typeface="Arial" pitchFamily="34" charset="0"/>
                <a:cs typeface="Arial" pitchFamily="34" charset="0"/>
              </a:rPr>
              <a:t>báo về nhiều loại ngoại lệ</a:t>
            </a:r>
          </a:p>
          <a:p>
            <a:pPr algn="just">
              <a:lnSpc>
                <a:spcPct val="130000"/>
              </a:lnSpc>
              <a:spcBef>
                <a:spcPts val="300"/>
              </a:spcBef>
              <a:spcAft>
                <a:spcPts val="300"/>
              </a:spcAft>
              <a:buFont typeface="Wingdings" pitchFamily="2" charset="2"/>
              <a:buChar char="v"/>
            </a:pPr>
            <a:r>
              <a:rPr lang="en-US" sz="2800" smtClean="0">
                <a:solidFill>
                  <a:schemeClr val="tx1">
                    <a:lumMod val="95000"/>
                    <a:lumOff val="5000"/>
                  </a:schemeClr>
                </a:solidFill>
                <a:latin typeface="Arial" pitchFamily="34" charset="0"/>
                <a:cs typeface="Arial" pitchFamily="34" charset="0"/>
              </a:rPr>
              <a:t>C</a:t>
            </a:r>
            <a:r>
              <a:rPr lang="vi-VN" sz="2800" smtClean="0">
                <a:solidFill>
                  <a:schemeClr val="tx1">
                    <a:lumMod val="95000"/>
                    <a:lumOff val="5000"/>
                  </a:schemeClr>
                </a:solidFill>
                <a:latin typeface="Arial" pitchFamily="34" charset="0"/>
                <a:cs typeface="Arial" pitchFamily="34" charset="0"/>
              </a:rPr>
              <a:t>ơ </a:t>
            </a:r>
            <a:r>
              <a:rPr lang="vi-VN" sz="2800">
                <a:solidFill>
                  <a:schemeClr val="tx1">
                    <a:lumMod val="95000"/>
                    <a:lumOff val="5000"/>
                  </a:schemeClr>
                </a:solidFill>
                <a:latin typeface="Arial" pitchFamily="34" charset="0"/>
                <a:cs typeface="Arial" pitchFamily="34" charset="0"/>
              </a:rPr>
              <a:t>chế ngoại lệ mềm dẻo hơn kiểu xử lý lỗi truyền thống</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41</a:t>
            </a:fld>
            <a:endParaRPr lang="en-US"/>
          </a:p>
        </p:txBody>
      </p:sp>
    </p:spTree>
    <p:extLst>
      <p:ext uri="{BB962C8B-B14F-4D97-AF65-F5344CB8AC3E}">
        <p14:creationId xmlns:p14="http://schemas.microsoft.com/office/powerpoint/2010/main" val="8652677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Các kiểu ngoại lệ</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Một </a:t>
            </a:r>
            <a:r>
              <a:rPr lang="vi-VN" sz="2800">
                <a:solidFill>
                  <a:srgbClr val="FF3300"/>
                </a:solidFill>
                <a:latin typeface="Arial" pitchFamily="34" charset="0"/>
                <a:cs typeface="Arial" pitchFamily="34" charset="0"/>
              </a:rPr>
              <a:t>ngoại lệ </a:t>
            </a:r>
            <a:r>
              <a:rPr lang="vi-VN" sz="2800">
                <a:solidFill>
                  <a:schemeClr val="tx1">
                    <a:lumMod val="95000"/>
                    <a:lumOff val="5000"/>
                  </a:schemeClr>
                </a:solidFill>
                <a:latin typeface="Arial" pitchFamily="34" charset="0"/>
                <a:cs typeface="Arial" pitchFamily="34" charset="0"/>
              </a:rPr>
              <a:t>là một </a:t>
            </a:r>
            <a:r>
              <a:rPr lang="vi-VN" sz="2800">
                <a:solidFill>
                  <a:srgbClr val="0066FF"/>
                </a:solidFill>
                <a:latin typeface="Arial" pitchFamily="34" charset="0"/>
                <a:cs typeface="Arial" pitchFamily="34" charset="0"/>
              </a:rPr>
              <a:t>đối tượng chứa thông tin về một lỗi</a:t>
            </a:r>
            <a:r>
              <a:rPr lang="vi-VN" sz="2800">
                <a:solidFill>
                  <a:schemeClr val="tx1">
                    <a:lumMod val="95000"/>
                    <a:lumOff val="5000"/>
                  </a:schemeClr>
                </a:solidFill>
                <a:latin typeface="Arial" pitchFamily="34" charset="0"/>
                <a:cs typeface="Arial" pitchFamily="34" charset="0"/>
              </a:rPr>
              <a:t> và được dùng để truyền thông tin đó tới cấp thực thi cao </a:t>
            </a:r>
            <a:r>
              <a:rPr lang="vi-VN" sz="2800" smtClean="0">
                <a:solidFill>
                  <a:schemeClr val="tx1">
                    <a:lumMod val="95000"/>
                    <a:lumOff val="5000"/>
                  </a:schemeClr>
                </a:solidFill>
                <a:latin typeface="Arial" pitchFamily="34" charset="0"/>
                <a:cs typeface="Arial" pitchFamily="34" charset="0"/>
              </a:rPr>
              <a:t>hơn</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Ngoại lệ có thể thuộc kiểu dữ liệu bất kỳ của C++</a:t>
            </a:r>
          </a:p>
          <a:p>
            <a:pPr lvl="1" algn="just">
              <a:lnSpc>
                <a:spcPct val="130000"/>
              </a:lnSpc>
              <a:spcBef>
                <a:spcPts val="300"/>
              </a:spcBef>
              <a:spcAft>
                <a:spcPts val="300"/>
              </a:spcAft>
              <a:buFont typeface="Wingdings" pitchFamily="2" charset="2"/>
              <a:buChar char="v"/>
            </a:pPr>
            <a:r>
              <a:rPr lang="en-US" sz="2400" smtClean="0">
                <a:solidFill>
                  <a:schemeClr val="tx1">
                    <a:lumMod val="95000"/>
                    <a:lumOff val="5000"/>
                  </a:schemeClr>
                </a:solidFill>
                <a:latin typeface="Arial" pitchFamily="34" charset="0"/>
                <a:cs typeface="Arial" pitchFamily="34" charset="0"/>
              </a:rPr>
              <a:t>C</a:t>
            </a:r>
            <a:r>
              <a:rPr lang="vi-VN" sz="2400" smtClean="0">
                <a:solidFill>
                  <a:schemeClr val="tx1">
                    <a:lumMod val="95000"/>
                    <a:lumOff val="5000"/>
                  </a:schemeClr>
                </a:solidFill>
                <a:latin typeface="Arial" pitchFamily="34" charset="0"/>
                <a:cs typeface="Arial" pitchFamily="34" charset="0"/>
              </a:rPr>
              <a:t>ó </a:t>
            </a:r>
            <a:r>
              <a:rPr lang="vi-VN" sz="2400">
                <a:solidFill>
                  <a:schemeClr val="tx1">
                    <a:lumMod val="95000"/>
                    <a:lumOff val="5000"/>
                  </a:schemeClr>
                </a:solidFill>
                <a:latin typeface="Arial" pitchFamily="34" charset="0"/>
                <a:cs typeface="Arial" pitchFamily="34" charset="0"/>
              </a:rPr>
              <a:t>sẵn, chẳng hạn int, char*, …</a:t>
            </a:r>
          </a:p>
          <a:p>
            <a:pPr lvl="1" algn="just">
              <a:lnSpc>
                <a:spcPct val="130000"/>
              </a:lnSpc>
              <a:spcBef>
                <a:spcPts val="300"/>
              </a:spcBef>
              <a:spcAft>
                <a:spcPts val="300"/>
              </a:spcAft>
              <a:buFont typeface="Wingdings" pitchFamily="2" charset="2"/>
              <a:buChar char="v"/>
            </a:pPr>
            <a:r>
              <a:rPr lang="en-US" sz="2400" smtClean="0">
                <a:solidFill>
                  <a:schemeClr val="tx1">
                    <a:lumMod val="95000"/>
                    <a:lumOff val="5000"/>
                  </a:schemeClr>
                </a:solidFill>
                <a:latin typeface="Arial" pitchFamily="34" charset="0"/>
                <a:cs typeface="Arial" pitchFamily="34" charset="0"/>
              </a:rPr>
              <a:t>H</a:t>
            </a:r>
            <a:r>
              <a:rPr lang="vi-VN" sz="2400" smtClean="0">
                <a:solidFill>
                  <a:schemeClr val="tx1">
                    <a:lumMod val="95000"/>
                    <a:lumOff val="5000"/>
                  </a:schemeClr>
                </a:solidFill>
                <a:latin typeface="Arial" pitchFamily="34" charset="0"/>
                <a:cs typeface="Arial" pitchFamily="34" charset="0"/>
              </a:rPr>
              <a:t>oặc </a:t>
            </a:r>
            <a:r>
              <a:rPr lang="vi-VN" sz="2400">
                <a:solidFill>
                  <a:schemeClr val="tx1">
                    <a:lumMod val="95000"/>
                    <a:lumOff val="5000"/>
                  </a:schemeClr>
                </a:solidFill>
                <a:latin typeface="Arial" pitchFamily="34" charset="0"/>
                <a:cs typeface="Arial" pitchFamily="34" charset="0"/>
              </a:rPr>
              <a:t>kiểu người dùng tự định nghĩa (thường dùng)</a:t>
            </a:r>
          </a:p>
          <a:p>
            <a:pPr lvl="1" algn="just">
              <a:lnSpc>
                <a:spcPct val="130000"/>
              </a:lnSpc>
              <a:spcBef>
                <a:spcPts val="300"/>
              </a:spcBef>
              <a:spcAft>
                <a:spcPts val="300"/>
              </a:spcAft>
              <a:buFont typeface="Wingdings" pitchFamily="2" charset="2"/>
              <a:buChar char="v"/>
            </a:pPr>
            <a:r>
              <a:rPr lang="en-US" sz="2400" smtClean="0">
                <a:solidFill>
                  <a:schemeClr val="tx1">
                    <a:lumMod val="95000"/>
                    <a:lumOff val="5000"/>
                  </a:schemeClr>
                </a:solidFill>
                <a:latin typeface="Arial" pitchFamily="34" charset="0"/>
                <a:cs typeface="Arial" pitchFamily="34" charset="0"/>
              </a:rPr>
              <a:t>C</a:t>
            </a:r>
            <a:r>
              <a:rPr lang="vi-VN" sz="2400" smtClean="0">
                <a:solidFill>
                  <a:schemeClr val="tx1">
                    <a:lumMod val="95000"/>
                    <a:lumOff val="5000"/>
                  </a:schemeClr>
                </a:solidFill>
                <a:latin typeface="Arial" pitchFamily="34" charset="0"/>
                <a:cs typeface="Arial" pitchFamily="34" charset="0"/>
              </a:rPr>
              <a:t>ác </a:t>
            </a:r>
            <a:r>
              <a:rPr lang="vi-VN" sz="2400">
                <a:solidFill>
                  <a:schemeClr val="tx1">
                    <a:lumMod val="95000"/>
                    <a:lumOff val="5000"/>
                  </a:schemeClr>
                </a:solidFill>
                <a:latin typeface="Arial" pitchFamily="34" charset="0"/>
                <a:cs typeface="Arial" pitchFamily="34" charset="0"/>
              </a:rPr>
              <a:t>lớp ngoại lệ trong thư viện &lt;exception&gt;</a:t>
            </a:r>
            <a:endParaRPr lang="vi-VN" sz="24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42</a:t>
            </a:fld>
            <a:endParaRPr lang="en-US"/>
          </a:p>
        </p:txBody>
      </p:sp>
    </p:spTree>
    <p:extLst>
      <p:ext uri="{BB962C8B-B14F-4D97-AF65-F5344CB8AC3E}">
        <p14:creationId xmlns:p14="http://schemas.microsoft.com/office/powerpoint/2010/main" val="86526775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Cơ chế ngoại lệ</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Quá trình </a:t>
            </a:r>
            <a:r>
              <a:rPr lang="vi-VN" sz="2800">
                <a:solidFill>
                  <a:srgbClr val="0066FF"/>
                </a:solidFill>
                <a:latin typeface="Arial" pitchFamily="34" charset="0"/>
                <a:cs typeface="Arial" pitchFamily="34" charset="0"/>
              </a:rPr>
              <a:t>truyền ngoại lệ từ ngữ cảnh thực thi hiện hành tới mức thực thi cao hơn</a:t>
            </a:r>
            <a:r>
              <a:rPr lang="vi-VN" sz="2800">
                <a:solidFill>
                  <a:schemeClr val="tx1">
                    <a:lumMod val="95000"/>
                    <a:lumOff val="5000"/>
                  </a:schemeClr>
                </a:solidFill>
                <a:latin typeface="Arial" pitchFamily="34" charset="0"/>
                <a:cs typeface="Arial" pitchFamily="34" charset="0"/>
              </a:rPr>
              <a:t> gọi là </a:t>
            </a:r>
            <a:r>
              <a:rPr lang="vi-VN" sz="2800">
                <a:solidFill>
                  <a:srgbClr val="FF3300"/>
                </a:solidFill>
                <a:latin typeface="Arial" pitchFamily="34" charset="0"/>
                <a:cs typeface="Arial" pitchFamily="34" charset="0"/>
              </a:rPr>
              <a:t>ném một ngoại lệ </a:t>
            </a:r>
            <a:r>
              <a:rPr lang="vi-VN" sz="2800">
                <a:solidFill>
                  <a:schemeClr val="tx1">
                    <a:lumMod val="95000"/>
                    <a:lumOff val="5000"/>
                  </a:schemeClr>
                </a:solidFill>
                <a:latin typeface="Arial" pitchFamily="34" charset="0"/>
                <a:cs typeface="Arial" pitchFamily="34" charset="0"/>
              </a:rPr>
              <a:t>(throw an exception</a:t>
            </a:r>
            <a:r>
              <a:rPr lang="vi-VN" sz="2800" smtClean="0">
                <a:solidFill>
                  <a:schemeClr val="tx1">
                    <a:lumMod val="95000"/>
                    <a:lumOff val="5000"/>
                  </a:schemeClr>
                </a:solidFill>
                <a:latin typeface="Arial" pitchFamily="34" charset="0"/>
                <a:cs typeface="Arial" pitchFamily="34" charset="0"/>
              </a:rPr>
              <a:t>)</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v"/>
            </a:pPr>
            <a:r>
              <a:rPr lang="en-US" sz="2400" smtClean="0">
                <a:solidFill>
                  <a:schemeClr val="tx1">
                    <a:lumMod val="95000"/>
                    <a:lumOff val="5000"/>
                  </a:schemeClr>
                </a:solidFill>
                <a:latin typeface="Arial" pitchFamily="34" charset="0"/>
                <a:cs typeface="Arial" pitchFamily="34" charset="0"/>
              </a:rPr>
              <a:t>V</a:t>
            </a:r>
            <a:r>
              <a:rPr lang="vi-VN" sz="2400" smtClean="0">
                <a:solidFill>
                  <a:schemeClr val="tx1">
                    <a:lumMod val="95000"/>
                    <a:lumOff val="5000"/>
                  </a:schemeClr>
                </a:solidFill>
                <a:latin typeface="Arial" pitchFamily="34" charset="0"/>
                <a:cs typeface="Arial" pitchFamily="34" charset="0"/>
              </a:rPr>
              <a:t>ị </a:t>
            </a:r>
            <a:r>
              <a:rPr lang="vi-VN" sz="2400">
                <a:solidFill>
                  <a:schemeClr val="tx1">
                    <a:lumMod val="95000"/>
                    <a:lumOff val="5000"/>
                  </a:schemeClr>
                </a:solidFill>
                <a:latin typeface="Arial" pitchFamily="34" charset="0"/>
                <a:cs typeface="Arial" pitchFamily="34" charset="0"/>
              </a:rPr>
              <a:t>trí trong mã của hàm nơi ngoại lệ được ném được gọi là điểm ném (throw point)</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Khi một ngữ cảnh thực thi tiếp nhận và truy nhập một ngoại lệ, nó được coi là </a:t>
            </a:r>
            <a:r>
              <a:rPr lang="vi-VN" sz="2800">
                <a:solidFill>
                  <a:srgbClr val="FF3300"/>
                </a:solidFill>
                <a:latin typeface="Arial" pitchFamily="34" charset="0"/>
                <a:cs typeface="Arial" pitchFamily="34" charset="0"/>
              </a:rPr>
              <a:t>bắt ngoại lệ </a:t>
            </a:r>
            <a:r>
              <a:rPr lang="vi-VN" sz="2800">
                <a:solidFill>
                  <a:schemeClr val="tx1">
                    <a:lumMod val="95000"/>
                    <a:lumOff val="5000"/>
                  </a:schemeClr>
                </a:solidFill>
                <a:latin typeface="Arial" pitchFamily="34" charset="0"/>
                <a:cs typeface="Arial" pitchFamily="34" charset="0"/>
              </a:rPr>
              <a:t>(catch the exception)</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43</a:t>
            </a:fld>
            <a:endParaRPr lang="en-US"/>
          </a:p>
        </p:txBody>
      </p:sp>
    </p:spTree>
    <p:extLst>
      <p:ext uri="{BB962C8B-B14F-4D97-AF65-F5344CB8AC3E}">
        <p14:creationId xmlns:p14="http://schemas.microsoft.com/office/powerpoint/2010/main" val="331969533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Cơ chế ngoại lệ</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Quy trình gọi hàm và trả về trong trường hợp bình </a:t>
            </a:r>
            <a:r>
              <a:rPr lang="vi-VN" sz="2800" smtClean="0">
                <a:solidFill>
                  <a:schemeClr val="tx1">
                    <a:lumMod val="95000"/>
                    <a:lumOff val="5000"/>
                  </a:schemeClr>
                </a:solidFill>
                <a:latin typeface="Arial" pitchFamily="34" charset="0"/>
                <a:cs typeface="Arial" pitchFamily="34" charset="0"/>
              </a:rPr>
              <a:t>thường</a:t>
            </a:r>
            <a:r>
              <a:rPr lang="en-US" sz="2800" smtClean="0">
                <a:solidFill>
                  <a:schemeClr val="tx1">
                    <a:lumMod val="95000"/>
                    <a:lumOff val="5000"/>
                  </a:schemeClr>
                </a:solidFill>
                <a:latin typeface="Arial" pitchFamily="34" charset="0"/>
                <a:cs typeface="Arial" pitchFamily="34" charset="0"/>
              </a:rPr>
              <a:t>:</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44</a:t>
            </a:fld>
            <a:endParaRPr 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667000"/>
            <a:ext cx="2757487"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3"/>
          <p:cNvSpPr>
            <a:spLocks noChangeArrowheads="1"/>
          </p:cNvSpPr>
          <p:nvPr/>
        </p:nvSpPr>
        <p:spPr bwMode="auto">
          <a:xfrm>
            <a:off x="838200" y="2667000"/>
            <a:ext cx="5029200" cy="3657600"/>
          </a:xfrm>
          <a:prstGeom prst="rect">
            <a:avLst/>
          </a:prstGeom>
          <a:solidFill>
            <a:srgbClr val="CCFFFF"/>
          </a:solidFill>
          <a:ln w="9525">
            <a:noFill/>
            <a:miter lim="800000"/>
            <a:headEnd/>
            <a:tailEnd/>
          </a:ln>
        </p:spPr>
        <p:txBody>
          <a:bodyPr/>
          <a:lstStyle/>
          <a:p>
            <a:pPr marL="342900" indent="-342900">
              <a:lnSpc>
                <a:spcPct val="120000"/>
              </a:lnSpc>
              <a:spcBef>
                <a:spcPts val="300"/>
              </a:spcBef>
              <a:buFont typeface="Wingdings" pitchFamily="2" charset="2"/>
              <a:buNone/>
            </a:pPr>
            <a:r>
              <a:rPr lang="en-US" sz="2600" b="0">
                <a:solidFill>
                  <a:srgbClr val="0000FF"/>
                </a:solidFill>
              </a:rPr>
              <a:t>v</a:t>
            </a:r>
            <a:r>
              <a:rPr lang="en-US" sz="2600" b="0" smtClean="0">
                <a:solidFill>
                  <a:srgbClr val="0000FF"/>
                </a:solidFill>
              </a:rPr>
              <a:t>oid</a:t>
            </a:r>
            <a:r>
              <a:rPr lang="en-US" sz="2600" b="0" smtClean="0">
                <a:solidFill>
                  <a:schemeClr val="tx1">
                    <a:lumMod val="95000"/>
                    <a:lumOff val="5000"/>
                  </a:schemeClr>
                </a:solidFill>
              </a:rPr>
              <a:t> main</a:t>
            </a:r>
            <a:r>
              <a:rPr lang="en-US" sz="2600" b="0">
                <a:solidFill>
                  <a:schemeClr val="tx1">
                    <a:lumMod val="95000"/>
                    <a:lumOff val="5000"/>
                  </a:schemeClr>
                </a:solidFill>
              </a:rPr>
              <a:t>() {</a:t>
            </a:r>
          </a:p>
          <a:p>
            <a:pPr marL="342900" indent="-342900">
              <a:lnSpc>
                <a:spcPct val="120000"/>
              </a:lnSpc>
              <a:spcBef>
                <a:spcPts val="300"/>
              </a:spcBef>
              <a:buFont typeface="Wingdings" pitchFamily="2" charset="2"/>
              <a:buNone/>
            </a:pPr>
            <a:r>
              <a:rPr lang="en-US" sz="2600" b="0">
                <a:solidFill>
                  <a:srgbClr val="0000FF"/>
                </a:solidFill>
              </a:rPr>
              <a:t>int</a:t>
            </a:r>
            <a:r>
              <a:rPr lang="en-US" sz="2600" b="0">
                <a:solidFill>
                  <a:schemeClr val="tx1">
                    <a:lumMod val="95000"/>
                    <a:lumOff val="5000"/>
                  </a:schemeClr>
                </a:solidFill>
              </a:rPr>
              <a:t> x, y;</a:t>
            </a:r>
          </a:p>
          <a:p>
            <a:pPr marL="342900" indent="-342900">
              <a:lnSpc>
                <a:spcPct val="120000"/>
              </a:lnSpc>
              <a:spcBef>
                <a:spcPts val="300"/>
              </a:spcBef>
              <a:buFont typeface="Wingdings" pitchFamily="2" charset="2"/>
              <a:buNone/>
            </a:pPr>
            <a:r>
              <a:rPr lang="en-US" sz="2600" b="0">
                <a:solidFill>
                  <a:schemeClr val="tx1">
                    <a:lumMod val="95000"/>
                    <a:lumOff val="5000"/>
                  </a:schemeClr>
                </a:solidFill>
              </a:rPr>
              <a:t>cout &lt;&lt; “Nhập 2 số: ”;</a:t>
            </a:r>
          </a:p>
          <a:p>
            <a:pPr marL="342900" indent="-342900">
              <a:lnSpc>
                <a:spcPct val="120000"/>
              </a:lnSpc>
              <a:spcBef>
                <a:spcPts val="300"/>
              </a:spcBef>
              <a:buFont typeface="Wingdings" pitchFamily="2" charset="2"/>
              <a:buNone/>
            </a:pPr>
            <a:r>
              <a:rPr lang="en-US" sz="2600" b="0">
                <a:solidFill>
                  <a:schemeClr val="tx1">
                    <a:lumMod val="95000"/>
                    <a:lumOff val="5000"/>
                  </a:schemeClr>
                </a:solidFill>
              </a:rPr>
              <a:t>cin &gt;&gt; x &gt;&gt; y;</a:t>
            </a:r>
          </a:p>
          <a:p>
            <a:pPr marL="342900" indent="-342900">
              <a:lnSpc>
                <a:spcPct val="120000"/>
              </a:lnSpc>
              <a:spcBef>
                <a:spcPts val="300"/>
              </a:spcBef>
              <a:buFont typeface="Wingdings" pitchFamily="2" charset="2"/>
              <a:buNone/>
            </a:pPr>
            <a:r>
              <a:rPr lang="en-US" sz="2600" b="0">
                <a:solidFill>
                  <a:schemeClr val="tx1">
                    <a:lumMod val="95000"/>
                    <a:lumOff val="5000"/>
                  </a:schemeClr>
                </a:solidFill>
              </a:rPr>
              <a:t>cout &lt;&lt; “Kết quả </a:t>
            </a:r>
            <a:r>
              <a:rPr lang="en-US" sz="2600" b="0" smtClean="0">
                <a:solidFill>
                  <a:schemeClr val="tx1">
                    <a:lumMod val="95000"/>
                    <a:lumOff val="5000"/>
                  </a:schemeClr>
                </a:solidFill>
              </a:rPr>
              <a:t>x/y=”;</a:t>
            </a:r>
            <a:endParaRPr lang="en-US" sz="2600" b="0">
              <a:solidFill>
                <a:schemeClr val="tx1">
                  <a:lumMod val="95000"/>
                  <a:lumOff val="5000"/>
                </a:schemeClr>
              </a:solidFill>
            </a:endParaRPr>
          </a:p>
          <a:p>
            <a:pPr marL="342900" indent="-342900">
              <a:lnSpc>
                <a:spcPct val="120000"/>
              </a:lnSpc>
              <a:spcBef>
                <a:spcPts val="300"/>
              </a:spcBef>
              <a:buFont typeface="Wingdings" pitchFamily="2" charset="2"/>
              <a:buNone/>
            </a:pPr>
            <a:r>
              <a:rPr lang="en-US" sz="2600" b="0">
                <a:solidFill>
                  <a:schemeClr val="tx1">
                    <a:lumMod val="95000"/>
                    <a:lumOff val="5000"/>
                  </a:schemeClr>
                </a:solidFill>
              </a:rPr>
              <a:t>cout&lt;&lt; </a:t>
            </a:r>
            <a:r>
              <a:rPr lang="en-US" sz="2600">
                <a:solidFill>
                  <a:schemeClr val="tx1">
                    <a:lumMod val="95000"/>
                    <a:lumOff val="5000"/>
                  </a:schemeClr>
                </a:solidFill>
              </a:rPr>
              <a:t>MyDivide(x, y) </a:t>
            </a:r>
            <a:r>
              <a:rPr lang="en-US" sz="2600" b="0">
                <a:solidFill>
                  <a:schemeClr val="tx1">
                    <a:lumMod val="95000"/>
                    <a:lumOff val="5000"/>
                  </a:schemeClr>
                </a:solidFill>
              </a:rPr>
              <a:t>&lt;&lt; “\n”;</a:t>
            </a:r>
          </a:p>
          <a:p>
            <a:pPr marL="342900" indent="-342900">
              <a:lnSpc>
                <a:spcPct val="120000"/>
              </a:lnSpc>
              <a:spcBef>
                <a:spcPts val="300"/>
              </a:spcBef>
              <a:buFont typeface="Wingdings" pitchFamily="2" charset="2"/>
              <a:buNone/>
            </a:pPr>
            <a:r>
              <a:rPr lang="en-US" sz="2600" b="0">
                <a:solidFill>
                  <a:schemeClr val="tx1">
                    <a:lumMod val="95000"/>
                    <a:lumOff val="5000"/>
                  </a:schemeClr>
                </a:solidFill>
              </a:rPr>
              <a:t>}</a:t>
            </a:r>
          </a:p>
        </p:txBody>
      </p:sp>
    </p:spTree>
    <p:extLst>
      <p:ext uri="{BB962C8B-B14F-4D97-AF65-F5344CB8AC3E}">
        <p14:creationId xmlns:p14="http://schemas.microsoft.com/office/powerpoint/2010/main" val="216350384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Cơ chế ngoại lệ</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Quy trình ném và bắt ngoại lệ</a:t>
            </a:r>
            <a:r>
              <a:rPr lang="vi-VN" sz="2800" smtClean="0">
                <a:solidFill>
                  <a:srgbClr val="0066FF"/>
                </a:solidFill>
                <a:latin typeface="Arial" pitchFamily="34" charset="0"/>
                <a:cs typeface="Arial" pitchFamily="34" charset="0"/>
              </a:rPr>
              <a:t>:</a:t>
            </a:r>
            <a:endParaRPr lang="vi-VN" sz="2800">
              <a:solidFill>
                <a:srgbClr val="0066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45</a:t>
            </a:fld>
            <a:endParaRPr 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2675" y="2128337"/>
            <a:ext cx="2447925" cy="358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4"/>
          <p:cNvSpPr>
            <a:spLocks noChangeArrowheads="1"/>
          </p:cNvSpPr>
          <p:nvPr/>
        </p:nvSpPr>
        <p:spPr bwMode="auto">
          <a:xfrm>
            <a:off x="4814887" y="5443538"/>
            <a:ext cx="17383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400"/>
              <a:t>throws</a:t>
            </a:r>
          </a:p>
          <a:p>
            <a:r>
              <a:rPr lang="en-US" sz="2400"/>
              <a:t>exception</a:t>
            </a:r>
          </a:p>
        </p:txBody>
      </p:sp>
      <p:cxnSp>
        <p:nvCxnSpPr>
          <p:cNvPr id="9" name="Elbow Connector 8"/>
          <p:cNvCxnSpPr/>
          <p:nvPr/>
        </p:nvCxnSpPr>
        <p:spPr>
          <a:xfrm rot="16200000" flipH="1">
            <a:off x="4098925" y="5156200"/>
            <a:ext cx="288925" cy="1285875"/>
          </a:xfrm>
          <a:prstGeom prst="bentConnector2">
            <a:avLst/>
          </a:prstGeom>
          <a:ln>
            <a:tailEnd type="arrow"/>
          </a:ln>
        </p:spPr>
        <p:style>
          <a:lnRef idx="2">
            <a:schemeClr val="accent2"/>
          </a:lnRef>
          <a:fillRef idx="0">
            <a:schemeClr val="accent2"/>
          </a:fillRef>
          <a:effectRef idx="1">
            <a:schemeClr val="accent2"/>
          </a:effectRef>
          <a:fontRef idx="minor">
            <a:schemeClr val="tx1"/>
          </a:fontRef>
        </p:style>
      </p:cxnSp>
      <p:sp>
        <p:nvSpPr>
          <p:cNvPr id="10" name="TextBox 12"/>
          <p:cNvSpPr txBox="1">
            <a:spLocks noChangeArrowheads="1"/>
          </p:cNvSpPr>
          <p:nvPr/>
        </p:nvSpPr>
        <p:spPr bwMode="auto">
          <a:xfrm>
            <a:off x="4839027" y="3581400"/>
            <a:ext cx="16668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vi-VN" sz="2400"/>
              <a:t>catches </a:t>
            </a:r>
            <a:br>
              <a:rPr lang="vi-VN" sz="2400"/>
            </a:br>
            <a:r>
              <a:rPr lang="vi-VN" sz="2400"/>
              <a:t>exeption</a:t>
            </a:r>
            <a:endParaRPr lang="en-US" sz="2400"/>
          </a:p>
        </p:txBody>
      </p:sp>
      <p:cxnSp>
        <p:nvCxnSpPr>
          <p:cNvPr id="11" name="Straight Arrow Connector 10"/>
          <p:cNvCxnSpPr>
            <a:stCxn id="8" idx="0"/>
            <a:endCxn id="10" idx="2"/>
          </p:cNvCxnSpPr>
          <p:nvPr/>
        </p:nvCxnSpPr>
        <p:spPr>
          <a:xfrm flipH="1" flipV="1">
            <a:off x="5672465" y="4412397"/>
            <a:ext cx="11579" cy="1031141"/>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31969533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Cú pháp xử lý ngoại lệ</a:t>
            </a:r>
          </a:p>
        </p:txBody>
      </p:sp>
      <p:sp>
        <p:nvSpPr>
          <p:cNvPr id="3" name="Content Placeholder 2"/>
          <p:cNvSpPr>
            <a:spLocks noGrp="1"/>
          </p:cNvSpPr>
          <p:nvPr>
            <p:ph idx="1"/>
          </p:nvPr>
        </p:nvSpPr>
        <p:spPr>
          <a:xfrm>
            <a:off x="457200" y="1447800"/>
            <a:ext cx="8382000" cy="4800600"/>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Cơ chế xử lý ngoại lệ của C++ có 3 tính năng </a:t>
            </a:r>
            <a:r>
              <a:rPr lang="vi-VN" sz="2800" smtClean="0">
                <a:solidFill>
                  <a:schemeClr val="tx1">
                    <a:lumMod val="95000"/>
                    <a:lumOff val="5000"/>
                  </a:schemeClr>
                </a:solidFill>
                <a:latin typeface="Arial" pitchFamily="34" charset="0"/>
                <a:cs typeface="Arial" pitchFamily="34" charset="0"/>
              </a:rPr>
              <a:t>chính</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v"/>
            </a:pPr>
            <a:r>
              <a:rPr lang="en-US" sz="2600" smtClean="0">
                <a:solidFill>
                  <a:schemeClr val="tx1">
                    <a:lumMod val="95000"/>
                    <a:lumOff val="5000"/>
                  </a:schemeClr>
                </a:solidFill>
                <a:latin typeface="Arial" pitchFamily="34" charset="0"/>
                <a:cs typeface="Arial" pitchFamily="34" charset="0"/>
              </a:rPr>
              <a:t>K</a:t>
            </a:r>
            <a:r>
              <a:rPr lang="vi-VN" sz="2600" smtClean="0">
                <a:solidFill>
                  <a:schemeClr val="tx1">
                    <a:lumMod val="95000"/>
                    <a:lumOff val="5000"/>
                  </a:schemeClr>
                </a:solidFill>
                <a:latin typeface="Arial" pitchFamily="34" charset="0"/>
                <a:cs typeface="Arial" pitchFamily="34" charset="0"/>
              </a:rPr>
              <a:t>hả </a:t>
            </a:r>
            <a:r>
              <a:rPr lang="vi-VN" sz="2600">
                <a:solidFill>
                  <a:schemeClr val="tx1">
                    <a:lumMod val="95000"/>
                    <a:lumOff val="5000"/>
                  </a:schemeClr>
                </a:solidFill>
                <a:latin typeface="Arial" pitchFamily="34" charset="0"/>
                <a:cs typeface="Arial" pitchFamily="34" charset="0"/>
              </a:rPr>
              <a:t>năng tạo và ném ngoại lệ (sử dụng từ khoá </a:t>
            </a:r>
            <a:r>
              <a:rPr lang="vi-VN" sz="2600">
                <a:solidFill>
                  <a:srgbClr val="0000FF"/>
                </a:solidFill>
                <a:latin typeface="Arial" pitchFamily="34" charset="0"/>
                <a:cs typeface="Arial" pitchFamily="34" charset="0"/>
              </a:rPr>
              <a:t>throw</a:t>
            </a:r>
            <a:r>
              <a:rPr lang="vi-VN" sz="2600">
                <a:solidFill>
                  <a:schemeClr val="tx1">
                    <a:lumMod val="95000"/>
                    <a:lumOff val="5000"/>
                  </a:schemeClr>
                </a:solidFill>
                <a:latin typeface="Arial" pitchFamily="34" charset="0"/>
                <a:cs typeface="Arial" pitchFamily="34" charset="0"/>
              </a:rPr>
              <a:t>)</a:t>
            </a:r>
          </a:p>
          <a:p>
            <a:pPr lvl="1" algn="just">
              <a:lnSpc>
                <a:spcPct val="130000"/>
              </a:lnSpc>
              <a:spcBef>
                <a:spcPts val="300"/>
              </a:spcBef>
              <a:spcAft>
                <a:spcPts val="300"/>
              </a:spcAft>
              <a:buFont typeface="Wingdings" pitchFamily="2" charset="2"/>
              <a:buChar char="v"/>
            </a:pPr>
            <a:r>
              <a:rPr lang="en-US" sz="2600" smtClean="0">
                <a:solidFill>
                  <a:schemeClr val="tx1">
                    <a:lumMod val="95000"/>
                    <a:lumOff val="5000"/>
                  </a:schemeClr>
                </a:solidFill>
                <a:latin typeface="Arial" pitchFamily="34" charset="0"/>
                <a:cs typeface="Arial" pitchFamily="34" charset="0"/>
              </a:rPr>
              <a:t>K</a:t>
            </a:r>
            <a:r>
              <a:rPr lang="vi-VN" sz="2600" smtClean="0">
                <a:solidFill>
                  <a:schemeClr val="tx1">
                    <a:lumMod val="95000"/>
                    <a:lumOff val="5000"/>
                  </a:schemeClr>
                </a:solidFill>
                <a:latin typeface="Arial" pitchFamily="34" charset="0"/>
                <a:cs typeface="Arial" pitchFamily="34" charset="0"/>
              </a:rPr>
              <a:t>hả </a:t>
            </a:r>
            <a:r>
              <a:rPr lang="vi-VN" sz="2600">
                <a:solidFill>
                  <a:schemeClr val="tx1">
                    <a:lumMod val="95000"/>
                    <a:lumOff val="5000"/>
                  </a:schemeClr>
                </a:solidFill>
                <a:latin typeface="Arial" pitchFamily="34" charset="0"/>
                <a:cs typeface="Arial" pitchFamily="34" charset="0"/>
              </a:rPr>
              <a:t>năng bắt và giải quyết ngoại lệ (sử dụng từ khoá </a:t>
            </a:r>
            <a:r>
              <a:rPr lang="vi-VN" sz="2600">
                <a:solidFill>
                  <a:srgbClr val="0000FF"/>
                </a:solidFill>
                <a:latin typeface="Arial" pitchFamily="34" charset="0"/>
                <a:cs typeface="Arial" pitchFamily="34" charset="0"/>
              </a:rPr>
              <a:t>catch</a:t>
            </a:r>
            <a:r>
              <a:rPr lang="vi-VN" sz="2600">
                <a:solidFill>
                  <a:schemeClr val="tx1">
                    <a:lumMod val="95000"/>
                    <a:lumOff val="5000"/>
                  </a:schemeClr>
                </a:solidFill>
                <a:latin typeface="Arial" pitchFamily="34" charset="0"/>
                <a:cs typeface="Arial" pitchFamily="34" charset="0"/>
              </a:rPr>
              <a:t>)</a:t>
            </a:r>
          </a:p>
          <a:p>
            <a:pPr lvl="1" algn="just">
              <a:lnSpc>
                <a:spcPct val="130000"/>
              </a:lnSpc>
              <a:spcBef>
                <a:spcPts val="300"/>
              </a:spcBef>
              <a:spcAft>
                <a:spcPts val="300"/>
              </a:spcAft>
              <a:buFont typeface="Wingdings" pitchFamily="2" charset="2"/>
              <a:buChar char="v"/>
            </a:pPr>
            <a:r>
              <a:rPr lang="en-US" sz="2600" smtClean="0">
                <a:solidFill>
                  <a:schemeClr val="tx1">
                    <a:lumMod val="95000"/>
                    <a:lumOff val="5000"/>
                  </a:schemeClr>
                </a:solidFill>
                <a:latin typeface="Arial" pitchFamily="34" charset="0"/>
                <a:cs typeface="Arial" pitchFamily="34" charset="0"/>
              </a:rPr>
              <a:t>K</a:t>
            </a:r>
            <a:r>
              <a:rPr lang="vi-VN" sz="2600" smtClean="0">
                <a:solidFill>
                  <a:schemeClr val="tx1">
                    <a:lumMod val="95000"/>
                    <a:lumOff val="5000"/>
                  </a:schemeClr>
                </a:solidFill>
                <a:latin typeface="Arial" pitchFamily="34" charset="0"/>
                <a:cs typeface="Arial" pitchFamily="34" charset="0"/>
              </a:rPr>
              <a:t>hả </a:t>
            </a:r>
            <a:r>
              <a:rPr lang="vi-VN" sz="2600">
                <a:solidFill>
                  <a:schemeClr val="tx1">
                    <a:lumMod val="95000"/>
                    <a:lumOff val="5000"/>
                  </a:schemeClr>
                </a:solidFill>
                <a:latin typeface="Arial" pitchFamily="34" charset="0"/>
                <a:cs typeface="Arial" pitchFamily="34" charset="0"/>
              </a:rPr>
              <a:t>năng tách </a:t>
            </a:r>
            <a:r>
              <a:rPr lang="vi-VN" sz="2600" smtClean="0">
                <a:solidFill>
                  <a:schemeClr val="tx1">
                    <a:lumMod val="95000"/>
                    <a:lumOff val="5000"/>
                  </a:schemeClr>
                </a:solidFill>
                <a:latin typeface="Arial" pitchFamily="34" charset="0"/>
                <a:cs typeface="Arial" pitchFamily="34" charset="0"/>
              </a:rPr>
              <a:t>l</a:t>
            </a:r>
            <a:r>
              <a:rPr lang="en-US" sz="2600" smtClean="0">
                <a:solidFill>
                  <a:schemeClr val="tx1">
                    <a:lumMod val="95000"/>
                    <a:lumOff val="5000"/>
                  </a:schemeClr>
                </a:solidFill>
                <a:latin typeface="Arial" pitchFamily="34" charset="0"/>
                <a:cs typeface="Arial" pitchFamily="34" charset="0"/>
              </a:rPr>
              <a:t>o</a:t>
            </a:r>
            <a:r>
              <a:rPr lang="vi-VN" sz="2600" smtClean="0">
                <a:solidFill>
                  <a:schemeClr val="tx1">
                    <a:lumMod val="95000"/>
                    <a:lumOff val="5000"/>
                  </a:schemeClr>
                </a:solidFill>
                <a:latin typeface="Arial" pitchFamily="34" charset="0"/>
                <a:cs typeface="Arial" pitchFamily="34" charset="0"/>
              </a:rPr>
              <a:t>gic </a:t>
            </a:r>
            <a:r>
              <a:rPr lang="vi-VN" sz="2600">
                <a:solidFill>
                  <a:schemeClr val="tx1">
                    <a:lumMod val="95000"/>
                    <a:lumOff val="5000"/>
                  </a:schemeClr>
                </a:solidFill>
                <a:latin typeface="Arial" pitchFamily="34" charset="0"/>
                <a:cs typeface="Arial" pitchFamily="34" charset="0"/>
              </a:rPr>
              <a:t>xử lý ngoại lệ trong một hàm ra khỏi phần còn lại của hàm (sử dụng từ khoá </a:t>
            </a:r>
            <a:r>
              <a:rPr lang="vi-VN" sz="2600">
                <a:solidFill>
                  <a:srgbClr val="0000FF"/>
                </a:solidFill>
                <a:latin typeface="Arial" pitchFamily="34" charset="0"/>
                <a:cs typeface="Arial" pitchFamily="34" charset="0"/>
              </a:rPr>
              <a:t>try</a:t>
            </a:r>
            <a:r>
              <a:rPr lang="vi-VN" sz="2600">
                <a:solidFill>
                  <a:schemeClr val="tx1">
                    <a:lumMod val="95000"/>
                    <a:lumOff val="5000"/>
                  </a:schemeClr>
                </a:solidFill>
                <a:latin typeface="Arial" pitchFamily="34" charset="0"/>
                <a:cs typeface="Arial" pitchFamily="34" charset="0"/>
              </a:rPr>
              <a:t>)</a:t>
            </a:r>
            <a:endParaRPr lang="vi-VN" sz="26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46</a:t>
            </a:fld>
            <a:endParaRPr lang="en-US"/>
          </a:p>
        </p:txBody>
      </p:sp>
    </p:spTree>
    <p:extLst>
      <p:ext uri="{BB962C8B-B14F-4D97-AF65-F5344CB8AC3E}">
        <p14:creationId xmlns:p14="http://schemas.microsoft.com/office/powerpoint/2010/main" val="164261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smtClean="0">
                <a:effectLst>
                  <a:outerShdw blurRad="38100" dist="38100" dir="2700000" algn="tl">
                    <a:srgbClr val="000000">
                      <a:alpha val="43137"/>
                    </a:srgbClr>
                  </a:outerShdw>
                </a:effectLst>
                <a:latin typeface="Arial" pitchFamily="34" charset="0"/>
                <a:cs typeface="Arial" pitchFamily="34" charset="0"/>
              </a:rPr>
              <a:t>Ném </a:t>
            </a:r>
            <a:r>
              <a:rPr lang="en-US" b="1">
                <a:effectLst>
                  <a:outerShdw blurRad="38100" dist="38100" dir="2700000" algn="tl">
                    <a:srgbClr val="000000">
                      <a:alpha val="43137"/>
                    </a:srgbClr>
                  </a:outerShdw>
                </a:effectLst>
                <a:latin typeface="Arial" pitchFamily="34" charset="0"/>
                <a:cs typeface="Arial" pitchFamily="34" charset="0"/>
              </a:rPr>
              <a:t>ngoại lệ – throw</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Để </a:t>
            </a:r>
            <a:r>
              <a:rPr lang="vi-VN" sz="2800">
                <a:solidFill>
                  <a:srgbClr val="0000FF"/>
                </a:solidFill>
                <a:latin typeface="Arial" pitchFamily="34" charset="0"/>
                <a:cs typeface="Arial" pitchFamily="34" charset="0"/>
              </a:rPr>
              <a:t>ném một ngoại lệ</a:t>
            </a:r>
            <a:r>
              <a:rPr lang="vi-VN" sz="2800">
                <a:solidFill>
                  <a:schemeClr val="tx1">
                    <a:lumMod val="95000"/>
                    <a:lumOff val="5000"/>
                  </a:schemeClr>
                </a:solidFill>
                <a:latin typeface="Arial" pitchFamily="34" charset="0"/>
                <a:cs typeface="Arial" pitchFamily="34" charset="0"/>
              </a:rPr>
              <a:t>, ta dùng </a:t>
            </a:r>
            <a:r>
              <a:rPr lang="vi-VN" sz="2800">
                <a:solidFill>
                  <a:srgbClr val="0000FF"/>
                </a:solidFill>
                <a:latin typeface="Arial" pitchFamily="34" charset="0"/>
                <a:cs typeface="Arial" pitchFamily="34" charset="0"/>
              </a:rPr>
              <a:t>từ </a:t>
            </a:r>
            <a:r>
              <a:rPr lang="vi-VN" sz="2800" smtClean="0">
                <a:solidFill>
                  <a:srgbClr val="0000FF"/>
                </a:solidFill>
                <a:latin typeface="Arial" pitchFamily="34" charset="0"/>
                <a:cs typeface="Arial" pitchFamily="34" charset="0"/>
              </a:rPr>
              <a:t>kh</a:t>
            </a:r>
            <a:r>
              <a:rPr lang="en-US" sz="2800" smtClean="0">
                <a:solidFill>
                  <a:srgbClr val="0000FF"/>
                </a:solidFill>
                <a:latin typeface="Arial" pitchFamily="34" charset="0"/>
                <a:cs typeface="Arial" pitchFamily="34" charset="0"/>
              </a:rPr>
              <a:t>óa</a:t>
            </a:r>
            <a:r>
              <a:rPr lang="vi-VN" sz="2800" smtClean="0">
                <a:solidFill>
                  <a:srgbClr val="0000FF"/>
                </a:solidFill>
                <a:latin typeface="Arial" pitchFamily="34" charset="0"/>
                <a:cs typeface="Arial" pitchFamily="34" charset="0"/>
              </a:rPr>
              <a:t> </a:t>
            </a:r>
            <a:r>
              <a:rPr lang="vi-VN" sz="2800">
                <a:solidFill>
                  <a:srgbClr val="0000FF"/>
                </a:solidFill>
                <a:latin typeface="Arial" pitchFamily="34" charset="0"/>
                <a:cs typeface="Arial" pitchFamily="34" charset="0"/>
              </a:rPr>
              <a:t>throw</a:t>
            </a:r>
            <a:r>
              <a:rPr lang="vi-VN" sz="2800">
                <a:solidFill>
                  <a:schemeClr val="tx1">
                    <a:lumMod val="95000"/>
                    <a:lumOff val="5000"/>
                  </a:schemeClr>
                </a:solidFill>
                <a:latin typeface="Arial" pitchFamily="34" charset="0"/>
                <a:cs typeface="Arial" pitchFamily="34" charset="0"/>
              </a:rPr>
              <a:t>, kèm theo đối tượng mà ta định </a:t>
            </a:r>
            <a:r>
              <a:rPr lang="vi-VN" sz="2800" smtClean="0">
                <a:solidFill>
                  <a:schemeClr val="tx1">
                    <a:lumMod val="95000"/>
                    <a:lumOff val="5000"/>
                  </a:schemeClr>
                </a:solidFill>
                <a:latin typeface="Arial" pitchFamily="34" charset="0"/>
                <a:cs typeface="Arial" pitchFamily="34" charset="0"/>
              </a:rPr>
              <a:t>ném</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algn="just">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Ta có thể dùng mọi thứ làm ngoại lệ, kể cả giá trị thuộc kiểu có </a:t>
            </a:r>
            <a:r>
              <a:rPr lang="vi-VN" sz="2800" smtClean="0">
                <a:solidFill>
                  <a:schemeClr val="tx1">
                    <a:lumMod val="95000"/>
                    <a:lumOff val="5000"/>
                  </a:schemeClr>
                </a:solidFill>
                <a:latin typeface="Arial" pitchFamily="34" charset="0"/>
                <a:cs typeface="Arial" pitchFamily="34" charset="0"/>
              </a:rPr>
              <a:t>sẵn</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47</a:t>
            </a:fld>
            <a:endParaRPr lang="en-US"/>
          </a:p>
        </p:txBody>
      </p:sp>
      <p:sp>
        <p:nvSpPr>
          <p:cNvPr id="7" name="Rectangle 3"/>
          <p:cNvSpPr>
            <a:spLocks noChangeArrowheads="1"/>
          </p:cNvSpPr>
          <p:nvPr/>
        </p:nvSpPr>
        <p:spPr bwMode="auto">
          <a:xfrm>
            <a:off x="762000" y="3612932"/>
            <a:ext cx="8077200" cy="2895600"/>
          </a:xfrm>
          <a:prstGeom prst="rect">
            <a:avLst/>
          </a:prstGeom>
          <a:solidFill>
            <a:srgbClr val="CCFFFF"/>
          </a:solidFill>
          <a:ln w="9525">
            <a:noFill/>
            <a:miter lim="800000"/>
            <a:headEnd/>
            <a:tailEnd/>
          </a:ln>
        </p:spPr>
        <p:txBody>
          <a:bodyPr/>
          <a:lstStyle/>
          <a:p>
            <a:pPr marL="342900" indent="-342900">
              <a:spcBef>
                <a:spcPts val="300"/>
              </a:spcBef>
              <a:buFont typeface="Wingdings" pitchFamily="2" charset="2"/>
              <a:buNone/>
            </a:pPr>
            <a:r>
              <a:rPr lang="en-US" sz="2400" b="0">
                <a:solidFill>
                  <a:srgbClr val="0000FF"/>
                </a:solidFill>
              </a:rPr>
              <a:t>double</a:t>
            </a:r>
            <a:r>
              <a:rPr lang="en-US" sz="2400" b="0">
                <a:solidFill>
                  <a:schemeClr val="tx1">
                    <a:lumMod val="95000"/>
                    <a:lumOff val="5000"/>
                  </a:schemeClr>
                </a:solidFill>
              </a:rPr>
              <a:t> MyDivide(</a:t>
            </a:r>
            <a:r>
              <a:rPr lang="en-US" sz="2400" b="0">
                <a:solidFill>
                  <a:srgbClr val="0000FF"/>
                </a:solidFill>
              </a:rPr>
              <a:t>double</a:t>
            </a:r>
            <a:r>
              <a:rPr lang="en-US" sz="2400" b="0">
                <a:solidFill>
                  <a:schemeClr val="tx1">
                    <a:lumMod val="95000"/>
                    <a:lumOff val="5000"/>
                  </a:schemeClr>
                </a:solidFill>
              </a:rPr>
              <a:t> numerator, </a:t>
            </a:r>
            <a:r>
              <a:rPr lang="en-US" sz="2400" b="0">
                <a:solidFill>
                  <a:srgbClr val="0000FF"/>
                </a:solidFill>
              </a:rPr>
              <a:t>double</a:t>
            </a:r>
            <a:r>
              <a:rPr lang="en-US" sz="2400" b="0">
                <a:solidFill>
                  <a:schemeClr val="tx1">
                    <a:lumMod val="95000"/>
                    <a:lumOff val="5000"/>
                  </a:schemeClr>
                </a:solidFill>
              </a:rPr>
              <a:t> denominator</a:t>
            </a:r>
            <a:r>
              <a:rPr lang="en-US" sz="2400" b="0" smtClean="0">
                <a:solidFill>
                  <a:schemeClr val="tx1">
                    <a:lumMod val="95000"/>
                    <a:lumOff val="5000"/>
                  </a:schemeClr>
                </a:solidFill>
              </a:rPr>
              <a:t>){</a:t>
            </a:r>
            <a:endParaRPr lang="en-US" sz="2400" b="0">
              <a:solidFill>
                <a:schemeClr val="tx1">
                  <a:lumMod val="95000"/>
                  <a:lumOff val="5000"/>
                </a:schemeClr>
              </a:solidFill>
            </a:endParaRPr>
          </a:p>
          <a:p>
            <a:pPr marL="342900" indent="-342900">
              <a:spcBef>
                <a:spcPts val="300"/>
              </a:spcBef>
              <a:buFont typeface="Wingdings" pitchFamily="2" charset="2"/>
              <a:buNone/>
            </a:pPr>
            <a:r>
              <a:rPr lang="en-US" sz="2400" b="0">
                <a:solidFill>
                  <a:schemeClr val="tx1">
                    <a:lumMod val="95000"/>
                    <a:lumOff val="5000"/>
                  </a:schemeClr>
                </a:solidFill>
              </a:rPr>
              <a:t>	</a:t>
            </a:r>
            <a:r>
              <a:rPr lang="en-US" sz="2400" b="0">
                <a:solidFill>
                  <a:srgbClr val="0000FF"/>
                </a:solidFill>
              </a:rPr>
              <a:t>if</a:t>
            </a:r>
            <a:r>
              <a:rPr lang="en-US" sz="2400" b="0">
                <a:solidFill>
                  <a:schemeClr val="tx1">
                    <a:lumMod val="95000"/>
                    <a:lumOff val="5000"/>
                  </a:schemeClr>
                </a:solidFill>
              </a:rPr>
              <a:t> (denominator == 0.0) {</a:t>
            </a:r>
          </a:p>
          <a:p>
            <a:pPr marL="342900" indent="-342900">
              <a:spcBef>
                <a:spcPts val="300"/>
              </a:spcBef>
              <a:buFont typeface="Wingdings" pitchFamily="2" charset="2"/>
              <a:buNone/>
            </a:pPr>
            <a:r>
              <a:rPr lang="en-US" sz="2400" b="0">
                <a:solidFill>
                  <a:schemeClr val="tx1">
                    <a:lumMod val="95000"/>
                    <a:lumOff val="5000"/>
                  </a:schemeClr>
                </a:solidFill>
              </a:rPr>
              <a:t>		</a:t>
            </a:r>
            <a:r>
              <a:rPr lang="en-US" sz="2400" b="0">
                <a:solidFill>
                  <a:srgbClr val="FF0000"/>
                </a:solidFill>
              </a:rPr>
              <a:t>throw</a:t>
            </a:r>
            <a:r>
              <a:rPr lang="en-US" sz="2400" b="0">
                <a:solidFill>
                  <a:schemeClr val="tx1">
                    <a:lumMod val="95000"/>
                    <a:lumOff val="5000"/>
                  </a:schemeClr>
                </a:solidFill>
              </a:rPr>
              <a:t> string(“The denominator cannot be 0.”);</a:t>
            </a:r>
          </a:p>
          <a:p>
            <a:pPr marL="342900" indent="-342900">
              <a:spcBef>
                <a:spcPts val="300"/>
              </a:spcBef>
              <a:buFont typeface="Wingdings" pitchFamily="2" charset="2"/>
              <a:buNone/>
            </a:pPr>
            <a:r>
              <a:rPr lang="en-US" sz="2400" b="0">
                <a:solidFill>
                  <a:schemeClr val="tx1">
                    <a:lumMod val="95000"/>
                    <a:lumOff val="5000"/>
                  </a:schemeClr>
                </a:solidFill>
              </a:rPr>
              <a:t>	} </a:t>
            </a:r>
            <a:r>
              <a:rPr lang="en-US" sz="2400" b="0">
                <a:solidFill>
                  <a:srgbClr val="0000FF"/>
                </a:solidFill>
              </a:rPr>
              <a:t>else</a:t>
            </a:r>
            <a:r>
              <a:rPr lang="en-US" sz="2400" b="0">
                <a:solidFill>
                  <a:schemeClr val="tx1">
                    <a:lumMod val="95000"/>
                    <a:lumOff val="5000"/>
                  </a:schemeClr>
                </a:solidFill>
              </a:rPr>
              <a:t> {</a:t>
            </a:r>
          </a:p>
          <a:p>
            <a:pPr marL="342900" indent="-342900">
              <a:spcBef>
                <a:spcPts val="300"/>
              </a:spcBef>
              <a:buFont typeface="Wingdings" pitchFamily="2" charset="2"/>
              <a:buNone/>
            </a:pPr>
            <a:r>
              <a:rPr lang="en-US" sz="2400" b="0">
                <a:solidFill>
                  <a:schemeClr val="tx1">
                    <a:lumMod val="95000"/>
                    <a:lumOff val="5000"/>
                  </a:schemeClr>
                </a:solidFill>
              </a:rPr>
              <a:t>		</a:t>
            </a:r>
            <a:r>
              <a:rPr lang="en-US" sz="2400" b="0">
                <a:solidFill>
                  <a:srgbClr val="0000FF"/>
                </a:solidFill>
              </a:rPr>
              <a:t>return</a:t>
            </a:r>
            <a:r>
              <a:rPr lang="en-US" sz="2400" b="0">
                <a:solidFill>
                  <a:schemeClr val="tx1">
                    <a:lumMod val="95000"/>
                    <a:lumOff val="5000"/>
                  </a:schemeClr>
                </a:solidFill>
              </a:rPr>
              <a:t> numerator / denominator;</a:t>
            </a:r>
          </a:p>
          <a:p>
            <a:pPr marL="342900" indent="-342900">
              <a:spcBef>
                <a:spcPts val="300"/>
              </a:spcBef>
              <a:buFont typeface="Wingdings" pitchFamily="2" charset="2"/>
              <a:buNone/>
            </a:pPr>
            <a:r>
              <a:rPr lang="en-US" sz="2400" b="0">
                <a:solidFill>
                  <a:schemeClr val="tx1">
                    <a:lumMod val="95000"/>
                    <a:lumOff val="5000"/>
                  </a:schemeClr>
                </a:solidFill>
              </a:rPr>
              <a:t>	}</a:t>
            </a:r>
          </a:p>
          <a:p>
            <a:pPr marL="342900" indent="-342900">
              <a:spcBef>
                <a:spcPts val="300"/>
              </a:spcBef>
              <a:buFont typeface="Wingdings" pitchFamily="2" charset="2"/>
              <a:buNone/>
            </a:pPr>
            <a:r>
              <a:rPr lang="en-US" sz="2400" b="0">
                <a:solidFill>
                  <a:schemeClr val="tx1">
                    <a:lumMod val="95000"/>
                    <a:lumOff val="5000"/>
                  </a:schemeClr>
                </a:solidFill>
              </a:rPr>
              <a:t>}</a:t>
            </a:r>
          </a:p>
        </p:txBody>
      </p:sp>
    </p:spTree>
    <p:extLst>
      <p:ext uri="{BB962C8B-B14F-4D97-AF65-F5344CB8AC3E}">
        <p14:creationId xmlns:p14="http://schemas.microsoft.com/office/powerpoint/2010/main" val="164261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Kiểm soát ngoại lệ</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Khối </a:t>
            </a:r>
            <a:r>
              <a:rPr lang="vi-VN" sz="2800">
                <a:solidFill>
                  <a:srgbClr val="0000FF"/>
                </a:solidFill>
                <a:latin typeface="Arial" pitchFamily="34" charset="0"/>
                <a:cs typeface="Arial" pitchFamily="34" charset="0"/>
              </a:rPr>
              <a:t>try – catch </a:t>
            </a:r>
            <a:r>
              <a:rPr lang="vi-VN" sz="2800">
                <a:solidFill>
                  <a:schemeClr val="tx1">
                    <a:lumMod val="95000"/>
                    <a:lumOff val="5000"/>
                  </a:schemeClr>
                </a:solidFill>
                <a:latin typeface="Arial" pitchFamily="34" charset="0"/>
                <a:cs typeface="Arial" pitchFamily="34" charset="0"/>
              </a:rPr>
              <a:t>dùng để:</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Tách phần giải quyết lỗi ra khỏi phần có thể sinh lỗi</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Quy định các loại ngoại lệ được bắt tại mức thực thi hiện hành</a:t>
            </a:r>
            <a:endParaRPr lang="vi-VN" sz="24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48</a:t>
            </a:fld>
            <a:endParaRPr lang="en-US"/>
          </a:p>
        </p:txBody>
      </p:sp>
      <p:sp>
        <p:nvSpPr>
          <p:cNvPr id="7" name="Rectangle 3"/>
          <p:cNvSpPr>
            <a:spLocks noChangeArrowheads="1"/>
          </p:cNvSpPr>
          <p:nvPr/>
        </p:nvSpPr>
        <p:spPr bwMode="auto">
          <a:xfrm>
            <a:off x="990600" y="3810000"/>
            <a:ext cx="7772400" cy="2483068"/>
          </a:xfrm>
          <a:prstGeom prst="rect">
            <a:avLst/>
          </a:prstGeom>
          <a:solidFill>
            <a:srgbClr val="CCFFFF"/>
          </a:solidFill>
          <a:ln w="9525">
            <a:noFill/>
            <a:miter lim="800000"/>
            <a:headEnd/>
            <a:tailEnd/>
          </a:ln>
        </p:spPr>
        <p:txBody>
          <a:bodyPr/>
          <a:lstStyle/>
          <a:p>
            <a:pPr marL="342900" indent="-342900">
              <a:spcBef>
                <a:spcPts val="300"/>
              </a:spcBef>
              <a:buFont typeface="Wingdings" pitchFamily="2" charset="2"/>
              <a:buNone/>
            </a:pPr>
            <a:r>
              <a:rPr lang="en-US" sz="2400" b="0">
                <a:solidFill>
                  <a:srgbClr val="0000FF"/>
                </a:solidFill>
              </a:rPr>
              <a:t>try</a:t>
            </a:r>
            <a:r>
              <a:rPr lang="en-US" sz="2400" b="0">
                <a:solidFill>
                  <a:schemeClr val="tx1">
                    <a:lumMod val="95000"/>
                    <a:lumOff val="5000"/>
                  </a:schemeClr>
                </a:solidFill>
              </a:rPr>
              <a:t> {</a:t>
            </a:r>
          </a:p>
          <a:p>
            <a:pPr marL="342900" indent="-342900">
              <a:spcBef>
                <a:spcPts val="300"/>
              </a:spcBef>
              <a:buFont typeface="Wingdings" pitchFamily="2" charset="2"/>
              <a:buNone/>
            </a:pPr>
            <a:r>
              <a:rPr lang="en-US" sz="2400" b="0" smtClean="0">
                <a:solidFill>
                  <a:schemeClr val="tx1">
                    <a:lumMod val="95000"/>
                    <a:lumOff val="5000"/>
                  </a:schemeClr>
                </a:solidFill>
              </a:rPr>
              <a:t>	// </a:t>
            </a:r>
            <a:r>
              <a:rPr lang="en-US" sz="2400" b="0">
                <a:solidFill>
                  <a:schemeClr val="tx1">
                    <a:lumMod val="95000"/>
                    <a:lumOff val="5000"/>
                  </a:schemeClr>
                </a:solidFill>
              </a:rPr>
              <a:t>Code that could generate an exception</a:t>
            </a:r>
          </a:p>
          <a:p>
            <a:pPr marL="342900" indent="-342900">
              <a:spcBef>
                <a:spcPts val="300"/>
              </a:spcBef>
              <a:buFont typeface="Wingdings" pitchFamily="2" charset="2"/>
              <a:buNone/>
            </a:pPr>
            <a:r>
              <a:rPr lang="en-US" sz="2400" b="0">
                <a:solidFill>
                  <a:schemeClr val="tx1">
                    <a:lumMod val="95000"/>
                    <a:lumOff val="5000"/>
                  </a:schemeClr>
                </a:solidFill>
              </a:rPr>
              <a:t>}</a:t>
            </a:r>
          </a:p>
          <a:p>
            <a:pPr marL="342900" indent="-342900">
              <a:spcBef>
                <a:spcPts val="300"/>
              </a:spcBef>
              <a:buFont typeface="Wingdings" pitchFamily="2" charset="2"/>
              <a:buNone/>
            </a:pPr>
            <a:r>
              <a:rPr lang="en-US" sz="2400" b="0">
                <a:solidFill>
                  <a:srgbClr val="0000FF"/>
                </a:solidFill>
              </a:rPr>
              <a:t>catch</a:t>
            </a:r>
            <a:r>
              <a:rPr lang="en-US" sz="2400" b="0">
                <a:solidFill>
                  <a:schemeClr val="tx1">
                    <a:lumMod val="95000"/>
                    <a:lumOff val="5000"/>
                  </a:schemeClr>
                </a:solidFill>
              </a:rPr>
              <a:t> (&lt;Type of exception&gt;) {</a:t>
            </a:r>
          </a:p>
          <a:p>
            <a:pPr marL="342900" indent="-342900">
              <a:spcBef>
                <a:spcPts val="300"/>
              </a:spcBef>
              <a:buFont typeface="Wingdings" pitchFamily="2" charset="2"/>
              <a:buNone/>
            </a:pPr>
            <a:r>
              <a:rPr lang="en-US" sz="2400" b="0" smtClean="0">
                <a:solidFill>
                  <a:schemeClr val="tx1">
                    <a:lumMod val="95000"/>
                    <a:lumOff val="5000"/>
                  </a:schemeClr>
                </a:solidFill>
              </a:rPr>
              <a:t>	// </a:t>
            </a:r>
            <a:r>
              <a:rPr lang="en-US" sz="2400" b="0">
                <a:solidFill>
                  <a:schemeClr val="tx1">
                    <a:lumMod val="95000"/>
                    <a:lumOff val="5000"/>
                  </a:schemeClr>
                </a:solidFill>
              </a:rPr>
              <a:t>Code that resolves an exception of that type</a:t>
            </a:r>
          </a:p>
          <a:p>
            <a:pPr marL="342900" indent="-342900">
              <a:spcBef>
                <a:spcPts val="300"/>
              </a:spcBef>
              <a:buFont typeface="Wingdings" pitchFamily="2" charset="2"/>
              <a:buNone/>
            </a:pPr>
            <a:r>
              <a:rPr lang="en-US" sz="2400" b="0">
                <a:solidFill>
                  <a:schemeClr val="tx1">
                    <a:lumMod val="95000"/>
                    <a:lumOff val="5000"/>
                  </a:schemeClr>
                </a:solidFill>
              </a:rPr>
              <a:t>};</a:t>
            </a:r>
          </a:p>
        </p:txBody>
      </p:sp>
    </p:spTree>
    <p:extLst>
      <p:ext uri="{BB962C8B-B14F-4D97-AF65-F5344CB8AC3E}">
        <p14:creationId xmlns:p14="http://schemas.microsoft.com/office/powerpoint/2010/main" val="1583850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Kiểm soát ngoại lệ</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00FF"/>
                </a:solidFill>
                <a:latin typeface="Arial" pitchFamily="34" charset="0"/>
                <a:cs typeface="Arial" pitchFamily="34" charset="0"/>
              </a:rPr>
              <a:t>Có thể có nhiều khối catch</a:t>
            </a:r>
            <a:r>
              <a:rPr lang="vi-VN" sz="2800">
                <a:solidFill>
                  <a:schemeClr val="tx1">
                    <a:lumMod val="95000"/>
                    <a:lumOff val="5000"/>
                  </a:schemeClr>
                </a:solidFill>
                <a:latin typeface="Arial" pitchFamily="34" charset="0"/>
                <a:cs typeface="Arial" pitchFamily="34" charset="0"/>
              </a:rPr>
              <a:t>, mỗi khối chứa mã để giải quyết một loại ngoại lệ cụ </a:t>
            </a:r>
            <a:r>
              <a:rPr lang="vi-VN" sz="2800" smtClean="0">
                <a:solidFill>
                  <a:schemeClr val="tx1">
                    <a:lumMod val="95000"/>
                    <a:lumOff val="5000"/>
                  </a:schemeClr>
                </a:solidFill>
                <a:latin typeface="Arial" pitchFamily="34" charset="0"/>
                <a:cs typeface="Arial" pitchFamily="34" charset="0"/>
              </a:rPr>
              <a:t>thể</a:t>
            </a:r>
            <a:r>
              <a:rPr lang="en-US" sz="2800" smtClean="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49</a:t>
            </a:fld>
            <a:endParaRPr lang="en-US"/>
          </a:p>
        </p:txBody>
      </p:sp>
      <p:sp>
        <p:nvSpPr>
          <p:cNvPr id="7" name="Rectangle 3"/>
          <p:cNvSpPr>
            <a:spLocks noChangeArrowheads="1"/>
          </p:cNvSpPr>
          <p:nvPr/>
        </p:nvSpPr>
        <p:spPr bwMode="auto">
          <a:xfrm>
            <a:off x="914400" y="2635468"/>
            <a:ext cx="7772400" cy="3886200"/>
          </a:xfrm>
          <a:prstGeom prst="rect">
            <a:avLst/>
          </a:prstGeom>
          <a:solidFill>
            <a:srgbClr val="CCFFFF"/>
          </a:solidFill>
          <a:ln w="9525">
            <a:noFill/>
            <a:miter lim="800000"/>
            <a:headEnd/>
            <a:tailEnd/>
          </a:ln>
        </p:spPr>
        <p:txBody>
          <a:bodyPr/>
          <a:lstStyle/>
          <a:p>
            <a:pPr marL="342900" indent="-342900">
              <a:lnSpc>
                <a:spcPct val="85000"/>
              </a:lnSpc>
              <a:spcBef>
                <a:spcPts val="0"/>
              </a:spcBef>
              <a:buFont typeface="Wingdings" pitchFamily="2" charset="2"/>
              <a:buNone/>
            </a:pPr>
            <a:r>
              <a:rPr lang="en-US" sz="2400" b="0">
                <a:solidFill>
                  <a:srgbClr val="0000FF"/>
                </a:solidFill>
              </a:rPr>
              <a:t>try</a:t>
            </a:r>
            <a:r>
              <a:rPr lang="en-US" sz="2400" b="0">
                <a:solidFill>
                  <a:schemeClr val="tx1">
                    <a:lumMod val="95000"/>
                    <a:lumOff val="5000"/>
                  </a:schemeClr>
                </a:solidFill>
              </a:rPr>
              <a:t> {</a:t>
            </a:r>
          </a:p>
          <a:p>
            <a:pPr marL="342900" indent="-342900">
              <a:lnSpc>
                <a:spcPct val="85000"/>
              </a:lnSpc>
              <a:spcBef>
                <a:spcPts val="0"/>
              </a:spcBef>
              <a:buFont typeface="Wingdings" pitchFamily="2" charset="2"/>
              <a:buNone/>
            </a:pPr>
            <a:r>
              <a:rPr lang="en-US" sz="2400" b="0" smtClean="0">
                <a:solidFill>
                  <a:schemeClr val="tx1">
                    <a:lumMod val="95000"/>
                    <a:lumOff val="5000"/>
                  </a:schemeClr>
                </a:solidFill>
              </a:rPr>
              <a:t>	// </a:t>
            </a:r>
            <a:r>
              <a:rPr lang="en-US" sz="2400" b="0">
                <a:solidFill>
                  <a:schemeClr val="tx1">
                    <a:lumMod val="95000"/>
                    <a:lumOff val="5000"/>
                  </a:schemeClr>
                </a:solidFill>
              </a:rPr>
              <a:t>Code that could generate an exception</a:t>
            </a:r>
          </a:p>
          <a:p>
            <a:pPr marL="342900" indent="-342900">
              <a:lnSpc>
                <a:spcPct val="85000"/>
              </a:lnSpc>
              <a:spcBef>
                <a:spcPts val="0"/>
              </a:spcBef>
              <a:buFont typeface="Wingdings" pitchFamily="2" charset="2"/>
              <a:buNone/>
            </a:pPr>
            <a:r>
              <a:rPr lang="en-US" sz="2400" b="0">
                <a:solidFill>
                  <a:schemeClr val="tx1">
                    <a:lumMod val="95000"/>
                    <a:lumOff val="5000"/>
                  </a:schemeClr>
                </a:solidFill>
              </a:rPr>
              <a:t>}</a:t>
            </a:r>
          </a:p>
          <a:p>
            <a:pPr marL="342900" indent="-342900">
              <a:lnSpc>
                <a:spcPct val="85000"/>
              </a:lnSpc>
              <a:spcBef>
                <a:spcPts val="0"/>
              </a:spcBef>
              <a:buFont typeface="Wingdings" pitchFamily="2" charset="2"/>
              <a:buNone/>
            </a:pPr>
            <a:r>
              <a:rPr lang="en-US" sz="2400" b="0">
                <a:solidFill>
                  <a:srgbClr val="0000FF"/>
                </a:solidFill>
              </a:rPr>
              <a:t>catch</a:t>
            </a:r>
            <a:r>
              <a:rPr lang="en-US" sz="2400" b="0">
                <a:solidFill>
                  <a:schemeClr val="tx1">
                    <a:lumMod val="95000"/>
                    <a:lumOff val="5000"/>
                  </a:schemeClr>
                </a:solidFill>
              </a:rPr>
              <a:t> (&lt;Exception type1&gt;) {</a:t>
            </a:r>
          </a:p>
          <a:p>
            <a:pPr marL="342900" indent="-342900">
              <a:lnSpc>
                <a:spcPct val="85000"/>
              </a:lnSpc>
              <a:spcBef>
                <a:spcPts val="0"/>
              </a:spcBef>
              <a:buFont typeface="Wingdings" pitchFamily="2" charset="2"/>
              <a:buNone/>
            </a:pPr>
            <a:r>
              <a:rPr lang="en-US" sz="2400" b="0" smtClean="0">
                <a:solidFill>
                  <a:schemeClr val="tx1">
                    <a:lumMod val="95000"/>
                    <a:lumOff val="5000"/>
                  </a:schemeClr>
                </a:solidFill>
              </a:rPr>
              <a:t>	// </a:t>
            </a:r>
            <a:r>
              <a:rPr lang="en-US" sz="2400" b="0">
                <a:solidFill>
                  <a:schemeClr val="tx1">
                    <a:lumMod val="95000"/>
                    <a:lumOff val="5000"/>
                  </a:schemeClr>
                </a:solidFill>
              </a:rPr>
              <a:t>Code that resolves a type1 exception</a:t>
            </a:r>
          </a:p>
          <a:p>
            <a:pPr marL="342900" indent="-342900">
              <a:lnSpc>
                <a:spcPct val="85000"/>
              </a:lnSpc>
              <a:spcBef>
                <a:spcPts val="0"/>
              </a:spcBef>
              <a:buFont typeface="Wingdings" pitchFamily="2" charset="2"/>
              <a:buNone/>
            </a:pPr>
            <a:r>
              <a:rPr lang="en-US" sz="2400" b="0">
                <a:solidFill>
                  <a:schemeClr val="tx1">
                    <a:lumMod val="95000"/>
                    <a:lumOff val="5000"/>
                  </a:schemeClr>
                </a:solidFill>
              </a:rPr>
              <a:t>}</a:t>
            </a:r>
          </a:p>
          <a:p>
            <a:pPr marL="342900" indent="-342900">
              <a:lnSpc>
                <a:spcPct val="85000"/>
              </a:lnSpc>
              <a:spcBef>
                <a:spcPts val="0"/>
              </a:spcBef>
              <a:buFont typeface="Wingdings" pitchFamily="2" charset="2"/>
              <a:buNone/>
            </a:pPr>
            <a:r>
              <a:rPr lang="en-US" sz="2400" b="0">
                <a:solidFill>
                  <a:srgbClr val="0000FF"/>
                </a:solidFill>
              </a:rPr>
              <a:t>catch</a:t>
            </a:r>
            <a:r>
              <a:rPr lang="en-US" sz="2400" b="0">
                <a:solidFill>
                  <a:schemeClr val="tx1">
                    <a:lumMod val="95000"/>
                    <a:lumOff val="5000"/>
                  </a:schemeClr>
                </a:solidFill>
              </a:rPr>
              <a:t> (&lt;Exception type2&gt;) {</a:t>
            </a:r>
          </a:p>
          <a:p>
            <a:pPr marL="342900" indent="-342900">
              <a:lnSpc>
                <a:spcPct val="85000"/>
              </a:lnSpc>
              <a:spcBef>
                <a:spcPts val="0"/>
              </a:spcBef>
              <a:buFont typeface="Wingdings" pitchFamily="2" charset="2"/>
              <a:buNone/>
            </a:pPr>
            <a:r>
              <a:rPr lang="en-US" sz="2400" b="0" smtClean="0">
                <a:solidFill>
                  <a:schemeClr val="tx1">
                    <a:lumMod val="95000"/>
                    <a:lumOff val="5000"/>
                  </a:schemeClr>
                </a:solidFill>
              </a:rPr>
              <a:t>	// </a:t>
            </a:r>
            <a:r>
              <a:rPr lang="en-US" sz="2400" b="0">
                <a:solidFill>
                  <a:schemeClr val="tx1">
                    <a:lumMod val="95000"/>
                    <a:lumOff val="5000"/>
                  </a:schemeClr>
                </a:solidFill>
              </a:rPr>
              <a:t>Code that resolves a type2 exception</a:t>
            </a:r>
          </a:p>
          <a:p>
            <a:pPr marL="342900" indent="-342900">
              <a:lnSpc>
                <a:spcPct val="85000"/>
              </a:lnSpc>
              <a:spcBef>
                <a:spcPts val="0"/>
              </a:spcBef>
              <a:buFont typeface="Wingdings" pitchFamily="2" charset="2"/>
              <a:buNone/>
            </a:pPr>
            <a:r>
              <a:rPr lang="en-US" sz="2400" b="0" smtClean="0">
                <a:solidFill>
                  <a:schemeClr val="tx1">
                    <a:lumMod val="95000"/>
                    <a:lumOff val="5000"/>
                  </a:schemeClr>
                </a:solidFill>
              </a:rPr>
              <a:t>}</a:t>
            </a:r>
            <a:endParaRPr lang="en-US" sz="2400" b="0">
              <a:solidFill>
                <a:schemeClr val="tx1">
                  <a:lumMod val="95000"/>
                  <a:lumOff val="5000"/>
                </a:schemeClr>
              </a:solidFill>
            </a:endParaRPr>
          </a:p>
          <a:p>
            <a:pPr marL="342900" indent="-342900">
              <a:lnSpc>
                <a:spcPct val="85000"/>
              </a:lnSpc>
              <a:spcBef>
                <a:spcPts val="0"/>
              </a:spcBef>
              <a:buFont typeface="Wingdings" pitchFamily="2" charset="2"/>
              <a:buNone/>
            </a:pPr>
            <a:r>
              <a:rPr lang="en-US" sz="2400" b="0">
                <a:solidFill>
                  <a:srgbClr val="0000FF"/>
                </a:solidFill>
              </a:rPr>
              <a:t>catch</a:t>
            </a:r>
            <a:r>
              <a:rPr lang="en-US" sz="2400" b="0">
                <a:solidFill>
                  <a:schemeClr val="tx1">
                    <a:lumMod val="95000"/>
                    <a:lumOff val="5000"/>
                  </a:schemeClr>
                </a:solidFill>
              </a:rPr>
              <a:t> (&lt;Exception typeN&gt;) {</a:t>
            </a:r>
          </a:p>
          <a:p>
            <a:pPr marL="342900" indent="-342900">
              <a:lnSpc>
                <a:spcPct val="85000"/>
              </a:lnSpc>
              <a:spcBef>
                <a:spcPts val="0"/>
              </a:spcBef>
              <a:buFont typeface="Wingdings" pitchFamily="2" charset="2"/>
              <a:buNone/>
            </a:pPr>
            <a:r>
              <a:rPr lang="en-US" sz="2400" b="0" smtClean="0">
                <a:solidFill>
                  <a:schemeClr val="tx1">
                    <a:lumMod val="95000"/>
                    <a:lumOff val="5000"/>
                  </a:schemeClr>
                </a:solidFill>
              </a:rPr>
              <a:t>	// </a:t>
            </a:r>
            <a:r>
              <a:rPr lang="en-US" sz="2400" b="0">
                <a:solidFill>
                  <a:schemeClr val="tx1">
                    <a:lumMod val="95000"/>
                    <a:lumOff val="5000"/>
                  </a:schemeClr>
                </a:solidFill>
              </a:rPr>
              <a:t>Code that resolves a typeN exception</a:t>
            </a:r>
          </a:p>
          <a:p>
            <a:pPr marL="342900" indent="-342900">
              <a:lnSpc>
                <a:spcPct val="85000"/>
              </a:lnSpc>
              <a:spcBef>
                <a:spcPts val="0"/>
              </a:spcBef>
              <a:buFont typeface="Wingdings" pitchFamily="2" charset="2"/>
              <a:buNone/>
            </a:pPr>
            <a:r>
              <a:rPr lang="en-US" sz="2400" b="0">
                <a:solidFill>
                  <a:schemeClr val="tx1">
                    <a:lumMod val="95000"/>
                    <a:lumOff val="5000"/>
                  </a:schemeClr>
                </a:solidFill>
              </a:rPr>
              <a:t>}</a:t>
            </a:r>
            <a:r>
              <a:rPr lang="en-US" sz="2400" b="0">
                <a:solidFill>
                  <a:srgbClr val="FF0000"/>
                </a:solidFill>
              </a:rPr>
              <a:t>;</a:t>
            </a:r>
          </a:p>
        </p:txBody>
      </p:sp>
    </p:spTree>
    <p:extLst>
      <p:ext uri="{BB962C8B-B14F-4D97-AF65-F5344CB8AC3E}">
        <p14:creationId xmlns:p14="http://schemas.microsoft.com/office/powerpoint/2010/main" val="1583850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Kiểm soát ngoại </a:t>
            </a:r>
            <a:r>
              <a:rPr lang="en-US" b="1" smtClean="0">
                <a:effectLst>
                  <a:outerShdw blurRad="38100" dist="38100" dir="2700000" algn="tl">
                    <a:srgbClr val="000000">
                      <a:alpha val="43137"/>
                    </a:srgbClr>
                  </a:outerShdw>
                </a:effectLst>
                <a:latin typeface="Arial" pitchFamily="34" charset="0"/>
                <a:cs typeface="Arial" pitchFamily="34" charset="0"/>
              </a:rPr>
              <a:t>lệ </a:t>
            </a:r>
            <a:r>
              <a:rPr lang="en-US" b="1">
                <a:effectLst>
                  <a:outerShdw blurRad="38100" dist="38100" dir="2700000" algn="tl">
                    <a:srgbClr val="000000">
                      <a:alpha val="43137"/>
                    </a:srgbClr>
                  </a:outerShdw>
                </a:effectLst>
                <a:latin typeface="Arial" pitchFamily="34" charset="0"/>
                <a:cs typeface="Arial" pitchFamily="34" charset="0"/>
              </a:rPr>
              <a:t>–</a:t>
            </a:r>
            <a:r>
              <a:rPr lang="en-US" b="1" smtClean="0">
                <a:effectLst>
                  <a:outerShdw blurRad="38100" dist="38100" dir="2700000" algn="tl">
                    <a:srgbClr val="000000">
                      <a:alpha val="43137"/>
                    </a:srgbClr>
                  </a:outerShdw>
                </a:effectLst>
                <a:latin typeface="Arial" pitchFamily="34" charset="0"/>
                <a:cs typeface="Arial" pitchFamily="34" charset="0"/>
              </a:rPr>
              <a:t> Ví dụ</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50</a:t>
            </a:fld>
            <a:endParaRPr lang="en-US"/>
          </a:p>
        </p:txBody>
      </p:sp>
      <p:sp>
        <p:nvSpPr>
          <p:cNvPr id="8" name="Rectangle 3"/>
          <p:cNvSpPr>
            <a:spLocks noChangeArrowheads="1"/>
          </p:cNvSpPr>
          <p:nvPr/>
        </p:nvSpPr>
        <p:spPr bwMode="auto">
          <a:xfrm>
            <a:off x="533400" y="1447800"/>
            <a:ext cx="8153400" cy="5029200"/>
          </a:xfrm>
          <a:prstGeom prst="rect">
            <a:avLst/>
          </a:prstGeom>
          <a:solidFill>
            <a:srgbClr val="CCFFFF"/>
          </a:solidFill>
          <a:ln w="9525">
            <a:noFill/>
            <a:miter lim="800000"/>
            <a:headEnd/>
            <a:tailEnd/>
          </a:ln>
        </p:spPr>
        <p:txBody>
          <a:bodyPr/>
          <a:lstStyle/>
          <a:p>
            <a:pPr fontAlgn="auto">
              <a:spcBef>
                <a:spcPts val="0"/>
              </a:spcBef>
              <a:spcAft>
                <a:spcPts val="0"/>
              </a:spcAft>
              <a:defRPr/>
            </a:pPr>
            <a:r>
              <a:rPr lang="en-US" sz="2400" b="0" smtClean="0">
                <a:solidFill>
                  <a:srgbClr val="0000FF"/>
                </a:solidFill>
              </a:rPr>
              <a:t>void</a:t>
            </a:r>
            <a:r>
              <a:rPr lang="en-US" sz="2400" b="0" smtClean="0"/>
              <a:t> main() {</a:t>
            </a:r>
          </a:p>
          <a:p>
            <a:pPr fontAlgn="auto">
              <a:spcBef>
                <a:spcPts val="0"/>
              </a:spcBef>
              <a:spcAft>
                <a:spcPts val="0"/>
              </a:spcAft>
              <a:defRPr/>
            </a:pPr>
            <a:r>
              <a:rPr lang="en-US" sz="2400" b="0" smtClean="0"/>
              <a:t>	</a:t>
            </a:r>
            <a:r>
              <a:rPr lang="en-US" sz="2400" b="0" smtClean="0">
                <a:solidFill>
                  <a:srgbClr val="0000FF"/>
                </a:solidFill>
              </a:rPr>
              <a:t>int</a:t>
            </a:r>
            <a:r>
              <a:rPr lang="en-US" sz="2400" b="0" smtClean="0"/>
              <a:t> x, y;</a:t>
            </a:r>
          </a:p>
          <a:p>
            <a:pPr fontAlgn="auto">
              <a:spcBef>
                <a:spcPts val="0"/>
              </a:spcBef>
              <a:spcAft>
                <a:spcPts val="0"/>
              </a:spcAft>
              <a:defRPr/>
            </a:pPr>
            <a:r>
              <a:rPr lang="en-US" sz="2400" b="0" smtClean="0"/>
              <a:t>	</a:t>
            </a:r>
            <a:r>
              <a:rPr lang="en-US" sz="2400" b="0" smtClean="0">
                <a:solidFill>
                  <a:srgbClr val="0000FF"/>
                </a:solidFill>
              </a:rPr>
              <a:t>double</a:t>
            </a:r>
            <a:r>
              <a:rPr lang="en-US" sz="2400" b="0" smtClean="0"/>
              <a:t> result;</a:t>
            </a:r>
          </a:p>
          <a:p>
            <a:pPr fontAlgn="auto">
              <a:spcBef>
                <a:spcPts val="0"/>
              </a:spcBef>
              <a:spcAft>
                <a:spcPts val="0"/>
              </a:spcAft>
              <a:defRPr/>
            </a:pPr>
            <a:r>
              <a:rPr lang="en-US" sz="2400" b="0" smtClean="0"/>
              <a:t>	cout &lt;&lt; “Nhập 2 số: ”;</a:t>
            </a:r>
          </a:p>
          <a:p>
            <a:pPr fontAlgn="auto">
              <a:spcBef>
                <a:spcPts val="0"/>
              </a:spcBef>
              <a:spcAft>
                <a:spcPts val="0"/>
              </a:spcAft>
              <a:defRPr/>
            </a:pPr>
            <a:r>
              <a:rPr lang="en-US" sz="2400" b="0" smtClean="0"/>
              <a:t>	cin &gt;&gt; x &gt;&gt; y;</a:t>
            </a:r>
          </a:p>
          <a:p>
            <a:pPr fontAlgn="auto">
              <a:spcBef>
                <a:spcPts val="0"/>
              </a:spcBef>
              <a:spcAft>
                <a:spcPts val="0"/>
              </a:spcAft>
              <a:defRPr/>
            </a:pPr>
            <a:r>
              <a:rPr lang="en-US" sz="2400" b="0" smtClean="0"/>
              <a:t>	</a:t>
            </a:r>
            <a:r>
              <a:rPr lang="en-US" sz="2400" b="0" smtClean="0">
                <a:solidFill>
                  <a:srgbClr val="0000FF"/>
                </a:solidFill>
              </a:rPr>
              <a:t>try</a:t>
            </a:r>
            <a:r>
              <a:rPr lang="en-US" sz="2400" b="0" smtClean="0"/>
              <a:t> {</a:t>
            </a:r>
          </a:p>
          <a:p>
            <a:pPr fontAlgn="auto">
              <a:spcBef>
                <a:spcPts val="0"/>
              </a:spcBef>
              <a:spcAft>
                <a:spcPts val="0"/>
              </a:spcAft>
              <a:defRPr/>
            </a:pPr>
            <a:r>
              <a:rPr lang="en-US" sz="2400" b="0" smtClean="0"/>
              <a:t>		result = MyDivide(x, y);</a:t>
            </a:r>
          </a:p>
          <a:p>
            <a:pPr fontAlgn="auto">
              <a:spcBef>
                <a:spcPts val="0"/>
              </a:spcBef>
              <a:spcAft>
                <a:spcPts val="0"/>
              </a:spcAft>
              <a:defRPr/>
            </a:pPr>
            <a:r>
              <a:rPr lang="en-US" sz="2400" b="0" smtClean="0"/>
              <a:t>		cout &lt;&lt; “Kết quả x/y = ”&lt;&lt; result &lt;&lt; “\n”;</a:t>
            </a:r>
          </a:p>
          <a:p>
            <a:pPr fontAlgn="auto">
              <a:spcBef>
                <a:spcPts val="0"/>
              </a:spcBef>
              <a:spcAft>
                <a:spcPts val="0"/>
              </a:spcAft>
              <a:defRPr/>
            </a:pPr>
            <a:r>
              <a:rPr lang="en-US" sz="2400" b="0" smtClean="0"/>
              <a:t>	}</a:t>
            </a:r>
          </a:p>
          <a:p>
            <a:pPr fontAlgn="auto">
              <a:spcBef>
                <a:spcPts val="0"/>
              </a:spcBef>
              <a:spcAft>
                <a:spcPts val="0"/>
              </a:spcAft>
              <a:defRPr/>
            </a:pPr>
            <a:r>
              <a:rPr lang="en-US" sz="2400" b="0" smtClean="0"/>
              <a:t>	</a:t>
            </a:r>
            <a:r>
              <a:rPr lang="en-US" sz="2400" b="0" smtClean="0">
                <a:solidFill>
                  <a:srgbClr val="0000FF"/>
                </a:solidFill>
              </a:rPr>
              <a:t>catch</a:t>
            </a:r>
            <a:r>
              <a:rPr lang="en-US" sz="2400" b="0" smtClean="0"/>
              <a:t> (string &amp;s) {</a:t>
            </a:r>
          </a:p>
          <a:p>
            <a:pPr fontAlgn="auto">
              <a:spcBef>
                <a:spcPts val="0"/>
              </a:spcBef>
              <a:spcAft>
                <a:spcPts val="0"/>
              </a:spcAft>
              <a:defRPr/>
            </a:pPr>
            <a:r>
              <a:rPr lang="en-US" sz="2400" b="0" smtClean="0"/>
              <a:t>		 cout&lt;&lt;s&lt;&lt;endl;  </a:t>
            </a:r>
            <a:r>
              <a:rPr lang="en-US" sz="2400" b="0" smtClean="0">
                <a:solidFill>
                  <a:srgbClr val="009900"/>
                </a:solidFill>
              </a:rPr>
              <a:t>//resolve error</a:t>
            </a:r>
          </a:p>
          <a:p>
            <a:pPr fontAlgn="auto">
              <a:spcBef>
                <a:spcPts val="0"/>
              </a:spcBef>
              <a:spcAft>
                <a:spcPts val="0"/>
              </a:spcAft>
              <a:defRPr/>
            </a:pPr>
            <a:r>
              <a:rPr lang="en-US" sz="2400" b="0" smtClean="0"/>
              <a:t>	};</a:t>
            </a:r>
          </a:p>
          <a:p>
            <a:pPr fontAlgn="auto">
              <a:spcBef>
                <a:spcPts val="0"/>
              </a:spcBef>
              <a:spcAft>
                <a:spcPts val="0"/>
              </a:spcAft>
              <a:defRPr/>
            </a:pPr>
            <a:r>
              <a:rPr lang="en-US" sz="2400" b="0" smtClean="0"/>
              <a:t>}</a:t>
            </a:r>
            <a:endParaRPr lang="en-US" sz="2400" b="0" dirty="0"/>
          </a:p>
        </p:txBody>
      </p:sp>
    </p:spTree>
    <p:extLst>
      <p:ext uri="{BB962C8B-B14F-4D97-AF65-F5344CB8AC3E}">
        <p14:creationId xmlns:p14="http://schemas.microsoft.com/office/powerpoint/2010/main" val="1583850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Kiểm soát ngoại lệ –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51</a:t>
            </a:fld>
            <a:endParaRPr lang="en-US"/>
          </a:p>
        </p:txBody>
      </p:sp>
      <p:sp>
        <p:nvSpPr>
          <p:cNvPr id="8" name="Rectangle 3"/>
          <p:cNvSpPr>
            <a:spLocks noChangeArrowheads="1"/>
          </p:cNvSpPr>
          <p:nvPr/>
        </p:nvSpPr>
        <p:spPr bwMode="auto">
          <a:xfrm>
            <a:off x="533400" y="1447800"/>
            <a:ext cx="8153400" cy="5029200"/>
          </a:xfrm>
          <a:prstGeom prst="rect">
            <a:avLst/>
          </a:prstGeom>
          <a:solidFill>
            <a:srgbClr val="CCFFFF"/>
          </a:solidFill>
          <a:ln w="9525">
            <a:noFill/>
            <a:miter lim="800000"/>
            <a:headEnd/>
            <a:tailEnd/>
          </a:ln>
        </p:spPr>
        <p:txBody>
          <a:bodyPr/>
          <a:lstStyle/>
          <a:p>
            <a:pPr fontAlgn="auto">
              <a:lnSpc>
                <a:spcPct val="80000"/>
              </a:lnSpc>
              <a:spcBef>
                <a:spcPts val="0"/>
              </a:spcBef>
              <a:spcAft>
                <a:spcPts val="0"/>
              </a:spcAft>
              <a:defRPr/>
            </a:pPr>
            <a:r>
              <a:rPr lang="en-US" sz="2200" b="0">
                <a:solidFill>
                  <a:srgbClr val="0000FF"/>
                </a:solidFill>
              </a:rPr>
              <a:t>void</a:t>
            </a:r>
            <a:r>
              <a:rPr lang="en-US" sz="2200" b="0"/>
              <a:t> main(){</a:t>
            </a:r>
          </a:p>
          <a:p>
            <a:pPr fontAlgn="auto">
              <a:lnSpc>
                <a:spcPct val="80000"/>
              </a:lnSpc>
              <a:spcBef>
                <a:spcPts val="0"/>
              </a:spcBef>
              <a:spcAft>
                <a:spcPts val="0"/>
              </a:spcAft>
              <a:defRPr/>
            </a:pPr>
            <a:r>
              <a:rPr lang="en-US" sz="2200" b="0"/>
              <a:t>	</a:t>
            </a:r>
            <a:r>
              <a:rPr lang="en-US" sz="2200" b="0">
                <a:solidFill>
                  <a:srgbClr val="0000FF"/>
                </a:solidFill>
              </a:rPr>
              <a:t>int</a:t>
            </a:r>
            <a:r>
              <a:rPr lang="en-US" sz="2200" b="0"/>
              <a:t> x, y;</a:t>
            </a:r>
          </a:p>
          <a:p>
            <a:pPr fontAlgn="auto">
              <a:lnSpc>
                <a:spcPct val="80000"/>
              </a:lnSpc>
              <a:spcBef>
                <a:spcPts val="0"/>
              </a:spcBef>
              <a:spcAft>
                <a:spcPts val="0"/>
              </a:spcAft>
              <a:defRPr/>
            </a:pPr>
            <a:r>
              <a:rPr lang="en-US" sz="2200" b="0"/>
              <a:t>	</a:t>
            </a:r>
            <a:r>
              <a:rPr lang="en-US" sz="2200" b="0">
                <a:solidFill>
                  <a:srgbClr val="0000FF"/>
                </a:solidFill>
              </a:rPr>
              <a:t>double</a:t>
            </a:r>
            <a:r>
              <a:rPr lang="en-US" sz="2200" b="0"/>
              <a:t> result;</a:t>
            </a:r>
          </a:p>
          <a:p>
            <a:pPr fontAlgn="auto">
              <a:lnSpc>
                <a:spcPct val="80000"/>
              </a:lnSpc>
              <a:spcBef>
                <a:spcPts val="0"/>
              </a:spcBef>
              <a:spcAft>
                <a:spcPts val="0"/>
              </a:spcAft>
              <a:defRPr/>
            </a:pPr>
            <a:r>
              <a:rPr lang="en-US" sz="2200" b="0"/>
              <a:t>	</a:t>
            </a:r>
            <a:r>
              <a:rPr lang="en-US" sz="2200">
                <a:solidFill>
                  <a:srgbClr val="0000FF"/>
                </a:solidFill>
              </a:rPr>
              <a:t>bool</a:t>
            </a:r>
            <a:r>
              <a:rPr lang="en-US" sz="2200"/>
              <a:t> success;</a:t>
            </a:r>
          </a:p>
          <a:p>
            <a:pPr fontAlgn="auto">
              <a:lnSpc>
                <a:spcPct val="80000"/>
              </a:lnSpc>
              <a:spcBef>
                <a:spcPts val="0"/>
              </a:spcBef>
              <a:spcAft>
                <a:spcPts val="0"/>
              </a:spcAft>
              <a:defRPr/>
            </a:pPr>
            <a:r>
              <a:rPr lang="en-US" sz="2200"/>
              <a:t>	</a:t>
            </a:r>
            <a:r>
              <a:rPr lang="en-US" sz="2200">
                <a:solidFill>
                  <a:srgbClr val="0000FF"/>
                </a:solidFill>
              </a:rPr>
              <a:t>do</a:t>
            </a:r>
            <a:r>
              <a:rPr lang="en-US" sz="2200"/>
              <a:t> {</a:t>
            </a:r>
          </a:p>
          <a:p>
            <a:pPr fontAlgn="auto">
              <a:lnSpc>
                <a:spcPct val="80000"/>
              </a:lnSpc>
              <a:spcBef>
                <a:spcPts val="0"/>
              </a:spcBef>
              <a:spcAft>
                <a:spcPts val="0"/>
              </a:spcAft>
              <a:defRPr/>
            </a:pPr>
            <a:r>
              <a:rPr lang="en-US" sz="2200"/>
              <a:t>		success = </a:t>
            </a:r>
            <a:r>
              <a:rPr lang="en-US" sz="2200">
                <a:solidFill>
                  <a:srgbClr val="0000FF"/>
                </a:solidFill>
              </a:rPr>
              <a:t>true</a:t>
            </a:r>
            <a:r>
              <a:rPr lang="en-US" sz="2200"/>
              <a:t>; </a:t>
            </a:r>
          </a:p>
          <a:p>
            <a:pPr fontAlgn="auto">
              <a:lnSpc>
                <a:spcPct val="80000"/>
              </a:lnSpc>
              <a:spcBef>
                <a:spcPts val="0"/>
              </a:spcBef>
              <a:spcAft>
                <a:spcPts val="0"/>
              </a:spcAft>
              <a:defRPr/>
            </a:pPr>
            <a:r>
              <a:rPr lang="en-US" sz="2200" b="0"/>
              <a:t>		cout &lt;&lt; "Nhập 2 số: ";</a:t>
            </a:r>
          </a:p>
          <a:p>
            <a:pPr fontAlgn="auto">
              <a:lnSpc>
                <a:spcPct val="80000"/>
              </a:lnSpc>
              <a:spcBef>
                <a:spcPts val="0"/>
              </a:spcBef>
              <a:spcAft>
                <a:spcPts val="0"/>
              </a:spcAft>
              <a:defRPr/>
            </a:pPr>
            <a:r>
              <a:rPr lang="en-US" sz="2200" b="0"/>
              <a:t>		cin &gt;&gt; x &gt;&gt; y;</a:t>
            </a:r>
          </a:p>
          <a:p>
            <a:pPr fontAlgn="auto">
              <a:lnSpc>
                <a:spcPct val="80000"/>
              </a:lnSpc>
              <a:spcBef>
                <a:spcPts val="0"/>
              </a:spcBef>
              <a:spcAft>
                <a:spcPts val="0"/>
              </a:spcAft>
              <a:defRPr/>
            </a:pPr>
            <a:r>
              <a:rPr lang="en-US" sz="2200" b="0"/>
              <a:t>		</a:t>
            </a:r>
            <a:r>
              <a:rPr lang="en-US" sz="2200" b="0">
                <a:solidFill>
                  <a:srgbClr val="0000FF"/>
                </a:solidFill>
              </a:rPr>
              <a:t>try</a:t>
            </a:r>
            <a:r>
              <a:rPr lang="en-US" sz="2200" b="0"/>
              <a:t> {</a:t>
            </a:r>
          </a:p>
          <a:p>
            <a:pPr fontAlgn="auto">
              <a:lnSpc>
                <a:spcPct val="80000"/>
              </a:lnSpc>
              <a:spcBef>
                <a:spcPts val="0"/>
              </a:spcBef>
              <a:spcAft>
                <a:spcPts val="0"/>
              </a:spcAft>
              <a:defRPr/>
            </a:pPr>
            <a:r>
              <a:rPr lang="en-US" sz="2200" b="0"/>
              <a:t>			</a:t>
            </a:r>
            <a:r>
              <a:rPr lang="en-US" sz="2200" b="0" smtClean="0"/>
              <a:t>result </a:t>
            </a:r>
            <a:r>
              <a:rPr lang="en-US" sz="2200" b="0"/>
              <a:t>= Divide(x, y);</a:t>
            </a:r>
          </a:p>
          <a:p>
            <a:pPr fontAlgn="auto">
              <a:lnSpc>
                <a:spcPct val="80000"/>
              </a:lnSpc>
              <a:spcBef>
                <a:spcPts val="0"/>
              </a:spcBef>
              <a:spcAft>
                <a:spcPts val="0"/>
              </a:spcAft>
              <a:defRPr/>
            </a:pPr>
            <a:r>
              <a:rPr lang="en-US" sz="2200" b="0"/>
              <a:t>			</a:t>
            </a:r>
            <a:r>
              <a:rPr lang="en-US" sz="2200" b="0" smtClean="0"/>
              <a:t>cout </a:t>
            </a:r>
            <a:r>
              <a:rPr lang="en-US" sz="2200" b="0"/>
              <a:t>&lt;&lt; "Kết quả x/y = "&lt;&lt; result &lt;&lt; "\n";</a:t>
            </a:r>
          </a:p>
          <a:p>
            <a:pPr fontAlgn="auto">
              <a:lnSpc>
                <a:spcPct val="80000"/>
              </a:lnSpc>
              <a:spcBef>
                <a:spcPts val="0"/>
              </a:spcBef>
              <a:spcAft>
                <a:spcPts val="0"/>
              </a:spcAft>
              <a:defRPr/>
            </a:pPr>
            <a:r>
              <a:rPr lang="en-US" sz="2200" b="0"/>
              <a:t>		}</a:t>
            </a:r>
          </a:p>
          <a:p>
            <a:pPr fontAlgn="auto">
              <a:lnSpc>
                <a:spcPct val="80000"/>
              </a:lnSpc>
              <a:spcBef>
                <a:spcPts val="0"/>
              </a:spcBef>
              <a:spcAft>
                <a:spcPts val="0"/>
              </a:spcAft>
              <a:defRPr/>
            </a:pPr>
            <a:r>
              <a:rPr lang="en-US" sz="2200" b="0"/>
              <a:t>		</a:t>
            </a:r>
            <a:r>
              <a:rPr lang="en-US" sz="2200" b="0">
                <a:solidFill>
                  <a:srgbClr val="0000FF"/>
                </a:solidFill>
              </a:rPr>
              <a:t>catch</a:t>
            </a:r>
            <a:r>
              <a:rPr lang="en-US" sz="2200" b="0"/>
              <a:t> (string&amp; s) {</a:t>
            </a:r>
          </a:p>
          <a:p>
            <a:pPr fontAlgn="auto">
              <a:lnSpc>
                <a:spcPct val="80000"/>
              </a:lnSpc>
              <a:spcBef>
                <a:spcPts val="0"/>
              </a:spcBef>
              <a:spcAft>
                <a:spcPts val="0"/>
              </a:spcAft>
              <a:defRPr/>
            </a:pPr>
            <a:r>
              <a:rPr lang="en-US" sz="2200" b="0"/>
              <a:t>			cout &lt;&lt; s &lt;&lt; endl;</a:t>
            </a:r>
          </a:p>
          <a:p>
            <a:pPr fontAlgn="auto">
              <a:lnSpc>
                <a:spcPct val="80000"/>
              </a:lnSpc>
              <a:spcBef>
                <a:spcPts val="0"/>
              </a:spcBef>
              <a:spcAft>
                <a:spcPts val="0"/>
              </a:spcAft>
              <a:defRPr/>
            </a:pPr>
            <a:r>
              <a:rPr lang="en-US" sz="2200" b="0"/>
              <a:t>			</a:t>
            </a:r>
            <a:r>
              <a:rPr lang="en-US" sz="2200"/>
              <a:t>success = </a:t>
            </a:r>
            <a:r>
              <a:rPr lang="en-US" sz="2200">
                <a:solidFill>
                  <a:srgbClr val="0000FF"/>
                </a:solidFill>
              </a:rPr>
              <a:t>false</a:t>
            </a:r>
            <a:r>
              <a:rPr lang="en-US" sz="2200"/>
              <a:t>; </a:t>
            </a:r>
          </a:p>
          <a:p>
            <a:pPr fontAlgn="auto">
              <a:lnSpc>
                <a:spcPct val="80000"/>
              </a:lnSpc>
              <a:spcBef>
                <a:spcPts val="0"/>
              </a:spcBef>
              <a:spcAft>
                <a:spcPts val="0"/>
              </a:spcAft>
              <a:defRPr/>
            </a:pPr>
            <a:r>
              <a:rPr lang="en-US" sz="2200" b="0"/>
              <a:t>		};</a:t>
            </a:r>
          </a:p>
          <a:p>
            <a:pPr fontAlgn="auto">
              <a:lnSpc>
                <a:spcPct val="80000"/>
              </a:lnSpc>
              <a:spcBef>
                <a:spcPts val="0"/>
              </a:spcBef>
              <a:spcAft>
                <a:spcPts val="0"/>
              </a:spcAft>
              <a:defRPr/>
            </a:pPr>
            <a:r>
              <a:rPr lang="en-US" sz="2200" b="0"/>
              <a:t>	} </a:t>
            </a:r>
            <a:r>
              <a:rPr lang="en-US" sz="2200">
                <a:solidFill>
                  <a:srgbClr val="0000FF"/>
                </a:solidFill>
              </a:rPr>
              <a:t>while</a:t>
            </a:r>
            <a:r>
              <a:rPr lang="en-US" sz="2200"/>
              <a:t> (success == </a:t>
            </a:r>
            <a:r>
              <a:rPr lang="en-US" sz="2200">
                <a:solidFill>
                  <a:srgbClr val="0000FF"/>
                </a:solidFill>
              </a:rPr>
              <a:t>false</a:t>
            </a:r>
            <a:r>
              <a:rPr lang="en-US" sz="2200"/>
              <a:t>);</a:t>
            </a:r>
          </a:p>
          <a:p>
            <a:pPr fontAlgn="auto">
              <a:lnSpc>
                <a:spcPct val="80000"/>
              </a:lnSpc>
              <a:spcBef>
                <a:spcPts val="0"/>
              </a:spcBef>
              <a:spcAft>
                <a:spcPts val="0"/>
              </a:spcAft>
              <a:defRPr/>
            </a:pPr>
            <a:r>
              <a:rPr lang="en-US" sz="2200" b="0"/>
              <a:t>}</a:t>
            </a:r>
            <a:endParaRPr lang="en-US" sz="2200" b="0" dirty="0"/>
          </a:p>
        </p:txBody>
      </p:sp>
    </p:spTree>
    <p:extLst>
      <p:ext uri="{BB962C8B-B14F-4D97-AF65-F5344CB8AC3E}">
        <p14:creationId xmlns:p14="http://schemas.microsoft.com/office/powerpoint/2010/main" val="2091423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So khớp ngoại </a:t>
            </a:r>
            <a:r>
              <a:rPr lang="en-US" b="1" smtClean="0">
                <a:effectLst>
                  <a:outerShdw blurRad="38100" dist="38100" dir="2700000" algn="tl">
                    <a:srgbClr val="000000">
                      <a:alpha val="43137"/>
                    </a:srgbClr>
                  </a:outerShdw>
                </a:effectLst>
                <a:latin typeface="Arial" pitchFamily="34" charset="0"/>
                <a:cs typeface="Arial" pitchFamily="34" charset="0"/>
              </a:rPr>
              <a:t>lệ</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Khi một </a:t>
            </a:r>
            <a:r>
              <a:rPr lang="vi-VN" sz="2800">
                <a:solidFill>
                  <a:srgbClr val="0066FF"/>
                </a:solidFill>
                <a:latin typeface="Arial" pitchFamily="34" charset="0"/>
                <a:cs typeface="Arial" pitchFamily="34" charset="0"/>
              </a:rPr>
              <a:t>ngoại lệ được ném </a:t>
            </a:r>
            <a:r>
              <a:rPr lang="vi-VN" sz="2800">
                <a:solidFill>
                  <a:schemeClr val="tx1">
                    <a:lumMod val="95000"/>
                    <a:lumOff val="5000"/>
                  </a:schemeClr>
                </a:solidFill>
                <a:latin typeface="Arial" pitchFamily="34" charset="0"/>
                <a:cs typeface="Arial" pitchFamily="34" charset="0"/>
              </a:rPr>
              <a:t>từ trong một khối try, hệ thống xử lý ngoại lệ sẽ </a:t>
            </a:r>
            <a:r>
              <a:rPr lang="vi-VN" sz="2800">
                <a:solidFill>
                  <a:srgbClr val="0066FF"/>
                </a:solidFill>
                <a:latin typeface="Arial" pitchFamily="34" charset="0"/>
                <a:cs typeface="Arial" pitchFamily="34" charset="0"/>
              </a:rPr>
              <a:t>kiểm tra các kiểu được liệt kê trong khối catch </a:t>
            </a:r>
            <a:r>
              <a:rPr lang="vi-VN" sz="2800">
                <a:solidFill>
                  <a:schemeClr val="tx1">
                    <a:lumMod val="95000"/>
                    <a:lumOff val="5000"/>
                  </a:schemeClr>
                </a:solidFill>
                <a:latin typeface="Arial" pitchFamily="34" charset="0"/>
                <a:cs typeface="Arial" pitchFamily="34" charset="0"/>
              </a:rPr>
              <a:t>theo thứ tự liệt kê:</a:t>
            </a:r>
          </a:p>
          <a:p>
            <a:pPr lvl="1"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Khi tìm thấy kiểu đã khớp, ngoại lệ được coi là được giải quyết, không cần tiếp tục tìm </a:t>
            </a:r>
            <a:r>
              <a:rPr lang="vi-VN" smtClean="0">
                <a:solidFill>
                  <a:schemeClr val="tx1">
                    <a:lumMod val="95000"/>
                    <a:lumOff val="5000"/>
                  </a:schemeClr>
                </a:solidFill>
                <a:latin typeface="Arial" pitchFamily="34" charset="0"/>
                <a:cs typeface="Arial" pitchFamily="34" charset="0"/>
              </a:rPr>
              <a:t>kiếm</a:t>
            </a:r>
            <a:r>
              <a:rPr lang="en-US" smtClean="0">
                <a:solidFill>
                  <a:schemeClr val="tx1">
                    <a:lumMod val="95000"/>
                    <a:lumOff val="5000"/>
                  </a:schemeClr>
                </a:solidFill>
                <a:latin typeface="Arial" pitchFamily="34" charset="0"/>
                <a:cs typeface="Arial" pitchFamily="34" charset="0"/>
              </a:rPr>
              <a:t>.</a:t>
            </a:r>
            <a:endParaRPr lang="vi-VN">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Nếu không tìm thấy, mức thực thi hiện hành bị kết thúc, ngoại lệ được chuyển lên mức cao </a:t>
            </a:r>
            <a:r>
              <a:rPr lang="vi-VN" smtClean="0">
                <a:solidFill>
                  <a:schemeClr val="tx1">
                    <a:lumMod val="95000"/>
                    <a:lumOff val="5000"/>
                  </a:schemeClr>
                </a:solidFill>
                <a:latin typeface="Arial" pitchFamily="34" charset="0"/>
                <a:cs typeface="Arial" pitchFamily="34" charset="0"/>
              </a:rPr>
              <a:t>hơn</a:t>
            </a:r>
            <a:r>
              <a:rPr lang="en-US" smtClean="0">
                <a:solidFill>
                  <a:schemeClr val="tx1">
                    <a:lumMod val="95000"/>
                    <a:lumOff val="5000"/>
                  </a:schemeClr>
                </a:solidFill>
                <a:latin typeface="Arial" pitchFamily="34" charset="0"/>
                <a:cs typeface="Arial" pitchFamily="34" charset="0"/>
              </a:rPr>
              <a:t>.</a:t>
            </a:r>
            <a:endParaRPr lang="vi-VN"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52</a:t>
            </a:fld>
            <a:endParaRPr lang="en-US"/>
          </a:p>
        </p:txBody>
      </p:sp>
    </p:spTree>
    <p:extLst>
      <p:ext uri="{BB962C8B-B14F-4D97-AF65-F5344CB8AC3E}">
        <p14:creationId xmlns:p14="http://schemas.microsoft.com/office/powerpoint/2010/main" val="249744660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So khớp ngoại lệ</a:t>
            </a:r>
          </a:p>
        </p:txBody>
      </p:sp>
      <p:sp>
        <p:nvSpPr>
          <p:cNvPr id="3" name="Content Placeholder 2"/>
          <p:cNvSpPr>
            <a:spLocks noGrp="1"/>
          </p:cNvSpPr>
          <p:nvPr>
            <p:ph idx="1"/>
          </p:nvPr>
        </p:nvSpPr>
        <p:spPr>
          <a:xfrm>
            <a:off x="457200" y="1447800"/>
            <a:ext cx="8382000" cy="5029200"/>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Khi tìm </a:t>
            </a:r>
            <a:r>
              <a:rPr lang="vi-VN" sz="2800" smtClean="0">
                <a:solidFill>
                  <a:schemeClr val="tx1">
                    <a:lumMod val="95000"/>
                    <a:lumOff val="5000"/>
                  </a:schemeClr>
                </a:solidFill>
                <a:latin typeface="Arial" pitchFamily="34" charset="0"/>
                <a:cs typeface="Arial" pitchFamily="34" charset="0"/>
              </a:rPr>
              <a:t>các </a:t>
            </a:r>
            <a:r>
              <a:rPr lang="vi-VN" sz="2800">
                <a:solidFill>
                  <a:schemeClr val="tx1">
                    <a:lumMod val="95000"/>
                    <a:lumOff val="5000"/>
                  </a:schemeClr>
                </a:solidFill>
                <a:latin typeface="Arial" pitchFamily="34" charset="0"/>
                <a:cs typeface="Arial" pitchFamily="34" charset="0"/>
              </a:rPr>
              <a:t>kiểu dữ liệu khớp với ngoại lệ, </a:t>
            </a:r>
            <a:r>
              <a:rPr lang="vi-VN" sz="2800">
                <a:solidFill>
                  <a:srgbClr val="0066FF"/>
                </a:solidFill>
                <a:latin typeface="Arial" pitchFamily="34" charset="0"/>
                <a:cs typeface="Arial" pitchFamily="34" charset="0"/>
              </a:rPr>
              <a:t>trình biên dịch nói chung sẽ không thực hiện đổi kiểu tự </a:t>
            </a:r>
            <a:r>
              <a:rPr lang="vi-VN" sz="2800" smtClean="0">
                <a:solidFill>
                  <a:srgbClr val="0066FF"/>
                </a:solidFill>
                <a:latin typeface="Arial" pitchFamily="34" charset="0"/>
                <a:cs typeface="Arial" pitchFamily="34" charset="0"/>
              </a:rPr>
              <a:t>động</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Nếu một ngoại lệ kiểu float được ném, nó sẽ không khớp với một khối catch cho ngoại lệ kiểu int</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Một đối tượng hoặc tham chiếu </a:t>
            </a:r>
            <a:r>
              <a:rPr lang="vi-VN" sz="2800">
                <a:solidFill>
                  <a:srgbClr val="0000FF"/>
                </a:solidFill>
                <a:latin typeface="Arial" pitchFamily="34" charset="0"/>
                <a:cs typeface="Arial" pitchFamily="34" charset="0"/>
              </a:rPr>
              <a:t>kiểu dẫn xuất </a:t>
            </a:r>
            <a:r>
              <a:rPr lang="vi-VN" sz="2800">
                <a:solidFill>
                  <a:schemeClr val="tx1">
                    <a:lumMod val="95000"/>
                    <a:lumOff val="5000"/>
                  </a:schemeClr>
                </a:solidFill>
                <a:latin typeface="Arial" pitchFamily="34" charset="0"/>
                <a:cs typeface="Arial" pitchFamily="34" charset="0"/>
              </a:rPr>
              <a:t>sẽ khớp với một lệnh catch dành cho </a:t>
            </a:r>
            <a:r>
              <a:rPr lang="vi-VN" sz="2800">
                <a:solidFill>
                  <a:srgbClr val="0000FF"/>
                </a:solidFill>
                <a:latin typeface="Arial" pitchFamily="34" charset="0"/>
                <a:cs typeface="Arial" pitchFamily="34" charset="0"/>
              </a:rPr>
              <a:t>kiểu cơ sở</a:t>
            </a:r>
          </a:p>
          <a:p>
            <a:pPr lvl="1" algn="just">
              <a:lnSpc>
                <a:spcPct val="13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Nếu một ngoại lệ kiểu </a:t>
            </a:r>
            <a:r>
              <a:rPr lang="vi-VN" sz="2400">
                <a:solidFill>
                  <a:srgbClr val="FF3300"/>
                </a:solidFill>
                <a:latin typeface="Arial" pitchFamily="34" charset="0"/>
                <a:cs typeface="Arial" pitchFamily="34" charset="0"/>
              </a:rPr>
              <a:t>Car</a:t>
            </a:r>
            <a:r>
              <a:rPr lang="vi-VN" sz="2400">
                <a:solidFill>
                  <a:schemeClr val="tx1">
                    <a:lumMod val="95000"/>
                    <a:lumOff val="5000"/>
                  </a:schemeClr>
                </a:solidFill>
                <a:latin typeface="Arial" pitchFamily="34" charset="0"/>
                <a:cs typeface="Arial" pitchFamily="34" charset="0"/>
              </a:rPr>
              <a:t> được ném, nó sẽ khớp với một khối catch cho ngoại lệ kiểu </a:t>
            </a:r>
            <a:r>
              <a:rPr lang="vi-VN" sz="2400">
                <a:solidFill>
                  <a:srgbClr val="FF3300"/>
                </a:solidFill>
                <a:latin typeface="Arial" pitchFamily="34" charset="0"/>
                <a:cs typeface="Arial" pitchFamily="34" charset="0"/>
              </a:rPr>
              <a:t>MotorVehicle</a:t>
            </a:r>
            <a:endParaRPr lang="vi-VN" sz="2400" smtClean="0">
              <a:solidFill>
                <a:srgbClr val="FF33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53</a:t>
            </a:fld>
            <a:endParaRPr lang="en-US"/>
          </a:p>
        </p:txBody>
      </p:sp>
    </p:spTree>
    <p:extLst>
      <p:ext uri="{BB962C8B-B14F-4D97-AF65-F5344CB8AC3E}">
        <p14:creationId xmlns:p14="http://schemas.microsoft.com/office/powerpoint/2010/main" val="399081266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So khớp ngoại lệ</a:t>
            </a:r>
          </a:p>
        </p:txBody>
      </p:sp>
      <p:sp>
        <p:nvSpPr>
          <p:cNvPr id="3" name="Content Placeholder 2"/>
          <p:cNvSpPr>
            <a:spLocks noGrp="1"/>
          </p:cNvSpPr>
          <p:nvPr>
            <p:ph idx="1"/>
          </p:nvPr>
        </p:nvSpPr>
        <p:spPr>
          <a:xfrm>
            <a:off x="457200" y="4114800"/>
            <a:ext cx="8382000" cy="2438400"/>
          </a:xfrm>
        </p:spPr>
        <p:txBody>
          <a:bodyPr>
            <a:normAutofit/>
          </a:bodyPr>
          <a:lstStyle/>
          <a:p>
            <a:pPr algn="just">
              <a:lnSpc>
                <a:spcPct val="130000"/>
              </a:lnSpc>
              <a:spcBef>
                <a:spcPts val="300"/>
              </a:spcBef>
              <a:spcAft>
                <a:spcPts val="300"/>
              </a:spcAft>
              <a:buFont typeface="Wingdings" pitchFamily="2" charset="2"/>
              <a:buChar char="v"/>
            </a:pPr>
            <a:r>
              <a:rPr lang="en-US" sz="2800" smtClean="0">
                <a:solidFill>
                  <a:srgbClr val="FF3300"/>
                </a:solidFill>
                <a:latin typeface="Arial" pitchFamily="34" charset="0"/>
                <a:cs typeface="Arial" pitchFamily="34" charset="0"/>
              </a:rPr>
              <a:t>Vấn đề gặp phải?</a:t>
            </a:r>
          </a:p>
          <a:p>
            <a:pPr algn="just">
              <a:lnSpc>
                <a:spcPct val="130000"/>
              </a:lnSpc>
              <a:spcBef>
                <a:spcPts val="300"/>
              </a:spcBef>
              <a:spcAft>
                <a:spcPts val="300"/>
              </a:spcAft>
              <a:buFont typeface="Wingdings" pitchFamily="2" charset="2"/>
              <a:buChar char="v"/>
            </a:pPr>
            <a:r>
              <a:rPr lang="vi-VN" sz="2800" smtClean="0">
                <a:solidFill>
                  <a:schemeClr val="tx1">
                    <a:lumMod val="95000"/>
                    <a:lumOff val="5000"/>
                  </a:schemeClr>
                </a:solidFill>
                <a:latin typeface="Arial" pitchFamily="34" charset="0"/>
                <a:cs typeface="Arial" pitchFamily="34" charset="0"/>
              </a:rPr>
              <a:t>Mọi </a:t>
            </a:r>
            <a:r>
              <a:rPr lang="vi-VN" sz="2800">
                <a:solidFill>
                  <a:schemeClr val="tx1">
                    <a:lumMod val="95000"/>
                    <a:lumOff val="5000"/>
                  </a:schemeClr>
                </a:solidFill>
                <a:latin typeface="Arial" pitchFamily="34" charset="0"/>
                <a:cs typeface="Arial" pitchFamily="34" charset="0"/>
              </a:rPr>
              <a:t>ngoại lệ là đối tượng được sinh từ cây </a:t>
            </a:r>
            <a:r>
              <a:rPr lang="vi-VN" sz="2800">
                <a:solidFill>
                  <a:srgbClr val="0066FF"/>
                </a:solidFill>
                <a:latin typeface="Arial" pitchFamily="34" charset="0"/>
                <a:cs typeface="Arial" pitchFamily="34" charset="0"/>
              </a:rPr>
              <a:t>MotorVehicle sẽ khớp lệnh catch đầu tiên </a:t>
            </a:r>
            <a:r>
              <a:rPr lang="vi-VN" sz="2800">
                <a:solidFill>
                  <a:srgbClr val="FF3300"/>
                </a:solidFill>
                <a:latin typeface="Arial" pitchFamily="34" charset="0"/>
                <a:cs typeface="Arial" pitchFamily="34" charset="0"/>
              </a:rPr>
              <a:t>(các lệnh còn lại sẽ không bao giờ chạy)</a:t>
            </a:r>
            <a:endParaRPr lang="vi-VN" sz="2800" smtClean="0">
              <a:solidFill>
                <a:srgbClr val="FF33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54</a:t>
            </a:fld>
            <a:endParaRPr lang="en-US"/>
          </a:p>
        </p:txBody>
      </p:sp>
      <p:sp>
        <p:nvSpPr>
          <p:cNvPr id="7" name="Rectangle 3"/>
          <p:cNvSpPr>
            <a:spLocks noChangeArrowheads="1"/>
          </p:cNvSpPr>
          <p:nvPr/>
        </p:nvSpPr>
        <p:spPr bwMode="auto">
          <a:xfrm>
            <a:off x="685800" y="1403132"/>
            <a:ext cx="8077200" cy="2787868"/>
          </a:xfrm>
          <a:prstGeom prst="rect">
            <a:avLst/>
          </a:prstGeom>
          <a:solidFill>
            <a:srgbClr val="CCFFFF"/>
          </a:solidFill>
          <a:ln w="9525">
            <a:noFill/>
            <a:miter lim="800000"/>
            <a:headEnd/>
            <a:tailEnd/>
          </a:ln>
        </p:spPr>
        <p:txBody>
          <a:bodyPr/>
          <a:lstStyle/>
          <a:p>
            <a:pPr marL="342900" indent="-342900">
              <a:lnSpc>
                <a:spcPct val="110000"/>
              </a:lnSpc>
              <a:spcBef>
                <a:spcPts val="300"/>
              </a:spcBef>
              <a:buFont typeface="Wingdings" pitchFamily="2" charset="2"/>
              <a:buNone/>
            </a:pPr>
            <a:r>
              <a:rPr lang="en-US" sz="2400" b="0">
                <a:solidFill>
                  <a:srgbClr val="0000FF"/>
                </a:solidFill>
              </a:rPr>
              <a:t>try</a:t>
            </a:r>
            <a:r>
              <a:rPr lang="en-US" sz="2400" b="0">
                <a:solidFill>
                  <a:schemeClr val="tx1">
                    <a:lumMod val="95000"/>
                    <a:lumOff val="5000"/>
                  </a:schemeClr>
                </a:solidFill>
              </a:rPr>
              <a:t> { </a:t>
            </a:r>
            <a:endParaRPr lang="en-US" sz="2400" b="0" smtClean="0">
              <a:solidFill>
                <a:schemeClr val="tx1">
                  <a:lumMod val="95000"/>
                  <a:lumOff val="5000"/>
                </a:schemeClr>
              </a:solidFill>
            </a:endParaRPr>
          </a:p>
          <a:p>
            <a:pPr marL="342900" indent="-342900">
              <a:lnSpc>
                <a:spcPct val="110000"/>
              </a:lnSpc>
              <a:spcBef>
                <a:spcPts val="300"/>
              </a:spcBef>
              <a:buFont typeface="Wingdings" pitchFamily="2" charset="2"/>
              <a:buNone/>
            </a:pPr>
            <a:r>
              <a:rPr lang="en-US" sz="2400" b="0">
                <a:solidFill>
                  <a:schemeClr val="tx1">
                    <a:lumMod val="95000"/>
                    <a:lumOff val="5000"/>
                  </a:schemeClr>
                </a:solidFill>
              </a:rPr>
              <a:t>	</a:t>
            </a:r>
            <a:r>
              <a:rPr lang="en-US" sz="2400" b="0" smtClean="0">
                <a:solidFill>
                  <a:schemeClr val="tx1">
                    <a:lumMod val="95000"/>
                    <a:lumOff val="5000"/>
                  </a:schemeClr>
                </a:solidFill>
              </a:rPr>
              <a:t>//… </a:t>
            </a:r>
          </a:p>
          <a:p>
            <a:pPr marL="342900" indent="-342900">
              <a:lnSpc>
                <a:spcPct val="110000"/>
              </a:lnSpc>
              <a:spcBef>
                <a:spcPts val="300"/>
              </a:spcBef>
              <a:buFont typeface="Wingdings" pitchFamily="2" charset="2"/>
              <a:buNone/>
            </a:pPr>
            <a:r>
              <a:rPr lang="en-US" sz="2400" b="0" smtClean="0">
                <a:solidFill>
                  <a:schemeClr val="tx1">
                    <a:lumMod val="95000"/>
                    <a:lumOff val="5000"/>
                  </a:schemeClr>
                </a:solidFill>
              </a:rPr>
              <a:t>}</a:t>
            </a:r>
            <a:endParaRPr lang="en-US" sz="2400" b="0">
              <a:solidFill>
                <a:schemeClr val="tx1">
                  <a:lumMod val="95000"/>
                  <a:lumOff val="5000"/>
                </a:schemeClr>
              </a:solidFill>
            </a:endParaRPr>
          </a:p>
          <a:p>
            <a:pPr marL="342900" indent="-342900">
              <a:lnSpc>
                <a:spcPct val="110000"/>
              </a:lnSpc>
              <a:spcBef>
                <a:spcPts val="300"/>
              </a:spcBef>
              <a:buFont typeface="Wingdings" pitchFamily="2" charset="2"/>
              <a:buNone/>
            </a:pPr>
            <a:r>
              <a:rPr lang="en-US" sz="2400" b="0">
                <a:solidFill>
                  <a:srgbClr val="0000FF"/>
                </a:solidFill>
              </a:rPr>
              <a:t>catch</a:t>
            </a:r>
            <a:r>
              <a:rPr lang="en-US" sz="2400" b="0">
                <a:solidFill>
                  <a:schemeClr val="tx1">
                    <a:lumMod val="95000"/>
                    <a:lumOff val="5000"/>
                  </a:schemeClr>
                </a:solidFill>
              </a:rPr>
              <a:t> (MotorVehicle&amp; mv) {…} </a:t>
            </a:r>
          </a:p>
          <a:p>
            <a:pPr marL="342900" indent="-342900">
              <a:lnSpc>
                <a:spcPct val="110000"/>
              </a:lnSpc>
              <a:spcBef>
                <a:spcPts val="300"/>
              </a:spcBef>
              <a:buFont typeface="Wingdings" pitchFamily="2" charset="2"/>
              <a:buNone/>
            </a:pPr>
            <a:r>
              <a:rPr lang="en-US" sz="2400" b="0">
                <a:solidFill>
                  <a:srgbClr val="0000FF"/>
                </a:solidFill>
              </a:rPr>
              <a:t>catch</a:t>
            </a:r>
            <a:r>
              <a:rPr lang="en-US" sz="2400" b="0">
                <a:solidFill>
                  <a:schemeClr val="tx1">
                    <a:lumMod val="95000"/>
                    <a:lumOff val="5000"/>
                  </a:schemeClr>
                </a:solidFill>
              </a:rPr>
              <a:t> (Car&amp; c) {…}</a:t>
            </a:r>
          </a:p>
          <a:p>
            <a:pPr marL="342900" indent="-342900">
              <a:lnSpc>
                <a:spcPct val="110000"/>
              </a:lnSpc>
              <a:spcBef>
                <a:spcPts val="300"/>
              </a:spcBef>
              <a:buFont typeface="Wingdings" pitchFamily="2" charset="2"/>
              <a:buNone/>
            </a:pPr>
            <a:r>
              <a:rPr lang="en-US" sz="2400" b="0">
                <a:solidFill>
                  <a:srgbClr val="0000FF"/>
                </a:solidFill>
              </a:rPr>
              <a:t>catch</a:t>
            </a:r>
            <a:r>
              <a:rPr lang="en-US" sz="2400" b="0">
                <a:solidFill>
                  <a:schemeClr val="tx1">
                    <a:lumMod val="95000"/>
                    <a:lumOff val="5000"/>
                  </a:schemeClr>
                </a:solidFill>
              </a:rPr>
              <a:t> (Truck&amp; t) {…};</a:t>
            </a:r>
          </a:p>
        </p:txBody>
      </p:sp>
    </p:spTree>
    <p:extLst>
      <p:ext uri="{BB962C8B-B14F-4D97-AF65-F5344CB8AC3E}">
        <p14:creationId xmlns:p14="http://schemas.microsoft.com/office/powerpoint/2010/main" val="2045987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So khớp ngoại lệ</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Nếu </a:t>
            </a:r>
            <a:r>
              <a:rPr lang="vi-VN" sz="2800">
                <a:solidFill>
                  <a:srgbClr val="FF3300"/>
                </a:solidFill>
                <a:latin typeface="Arial" pitchFamily="34" charset="0"/>
                <a:cs typeface="Arial" pitchFamily="34" charset="0"/>
              </a:rPr>
              <a:t>muốn bắt các ngoại lệ dẫn xuất tách khỏi ngoại lệ cơ sở</a:t>
            </a:r>
            <a:r>
              <a:rPr lang="vi-VN" sz="2800">
                <a:solidFill>
                  <a:schemeClr val="tx1">
                    <a:lumMod val="95000"/>
                    <a:lumOff val="5000"/>
                  </a:schemeClr>
                </a:solidFill>
                <a:latin typeface="Arial" pitchFamily="34" charset="0"/>
                <a:cs typeface="Arial" pitchFamily="34" charset="0"/>
              </a:rPr>
              <a:t>, ta phải xếp lệnh catch cho lớp dẫn xuất lên trước:</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55</a:t>
            </a:fld>
            <a:endParaRPr lang="en-US"/>
          </a:p>
        </p:txBody>
      </p:sp>
      <p:sp>
        <p:nvSpPr>
          <p:cNvPr id="7" name="Rectangle 3"/>
          <p:cNvSpPr>
            <a:spLocks noChangeArrowheads="1"/>
          </p:cNvSpPr>
          <p:nvPr/>
        </p:nvSpPr>
        <p:spPr bwMode="auto">
          <a:xfrm>
            <a:off x="914399" y="3231932"/>
            <a:ext cx="7866993" cy="3168868"/>
          </a:xfrm>
          <a:prstGeom prst="rect">
            <a:avLst/>
          </a:prstGeom>
          <a:solidFill>
            <a:srgbClr val="CCFFFF"/>
          </a:solidFill>
          <a:ln w="9525">
            <a:noFill/>
            <a:miter lim="800000"/>
            <a:headEnd/>
            <a:tailEnd/>
          </a:ln>
        </p:spPr>
        <p:txBody>
          <a:bodyPr/>
          <a:lstStyle/>
          <a:p>
            <a:pPr marL="342900" indent="-342900">
              <a:lnSpc>
                <a:spcPct val="110000"/>
              </a:lnSpc>
              <a:spcBef>
                <a:spcPts val="300"/>
              </a:spcBef>
              <a:buFont typeface="Wingdings" pitchFamily="2" charset="2"/>
              <a:buNone/>
            </a:pPr>
            <a:r>
              <a:rPr lang="en-US" sz="2800" b="0">
                <a:solidFill>
                  <a:srgbClr val="0000FF"/>
                </a:solidFill>
              </a:rPr>
              <a:t>try</a:t>
            </a:r>
            <a:r>
              <a:rPr lang="en-US" sz="2800" b="0">
                <a:solidFill>
                  <a:schemeClr val="tx1">
                    <a:lumMod val="95000"/>
                    <a:lumOff val="5000"/>
                  </a:schemeClr>
                </a:solidFill>
              </a:rPr>
              <a:t> { </a:t>
            </a:r>
            <a:endParaRPr lang="en-US" sz="2800" b="0" smtClean="0">
              <a:solidFill>
                <a:schemeClr val="tx1">
                  <a:lumMod val="95000"/>
                  <a:lumOff val="5000"/>
                </a:schemeClr>
              </a:solidFill>
            </a:endParaRPr>
          </a:p>
          <a:p>
            <a:pPr marL="342900" indent="-342900">
              <a:lnSpc>
                <a:spcPct val="110000"/>
              </a:lnSpc>
              <a:spcBef>
                <a:spcPts val="300"/>
              </a:spcBef>
              <a:buFont typeface="Wingdings" pitchFamily="2" charset="2"/>
              <a:buNone/>
            </a:pPr>
            <a:r>
              <a:rPr lang="en-US" sz="2800" b="0">
                <a:solidFill>
                  <a:schemeClr val="tx1">
                    <a:lumMod val="95000"/>
                    <a:lumOff val="5000"/>
                  </a:schemeClr>
                </a:solidFill>
              </a:rPr>
              <a:t>	</a:t>
            </a:r>
            <a:r>
              <a:rPr lang="en-US" sz="2800" b="0" smtClean="0">
                <a:solidFill>
                  <a:schemeClr val="tx1">
                    <a:lumMod val="95000"/>
                    <a:lumOff val="5000"/>
                  </a:schemeClr>
                </a:solidFill>
              </a:rPr>
              <a:t>//… </a:t>
            </a:r>
          </a:p>
          <a:p>
            <a:pPr marL="342900" indent="-342900">
              <a:lnSpc>
                <a:spcPct val="110000"/>
              </a:lnSpc>
              <a:spcBef>
                <a:spcPts val="300"/>
              </a:spcBef>
              <a:buFont typeface="Wingdings" pitchFamily="2" charset="2"/>
              <a:buNone/>
            </a:pPr>
            <a:r>
              <a:rPr lang="en-US" sz="2800" b="0" smtClean="0">
                <a:solidFill>
                  <a:schemeClr val="tx1">
                    <a:lumMod val="95000"/>
                    <a:lumOff val="5000"/>
                  </a:schemeClr>
                </a:solidFill>
              </a:rPr>
              <a:t>}</a:t>
            </a:r>
            <a:endParaRPr lang="en-US" sz="2800" b="0">
              <a:solidFill>
                <a:schemeClr val="tx1">
                  <a:lumMod val="95000"/>
                  <a:lumOff val="5000"/>
                </a:schemeClr>
              </a:solidFill>
            </a:endParaRPr>
          </a:p>
          <a:p>
            <a:pPr marL="342900" indent="-342900">
              <a:lnSpc>
                <a:spcPct val="110000"/>
              </a:lnSpc>
              <a:spcBef>
                <a:spcPts val="300"/>
              </a:spcBef>
              <a:buFont typeface="Wingdings" pitchFamily="2" charset="2"/>
              <a:buNone/>
            </a:pPr>
            <a:r>
              <a:rPr lang="en-US" sz="2800" b="0">
                <a:solidFill>
                  <a:srgbClr val="0000FF"/>
                </a:solidFill>
              </a:rPr>
              <a:t>catch</a:t>
            </a:r>
            <a:r>
              <a:rPr lang="en-US" sz="2800" b="0">
                <a:solidFill>
                  <a:schemeClr val="tx1">
                    <a:lumMod val="95000"/>
                    <a:lumOff val="5000"/>
                  </a:schemeClr>
                </a:solidFill>
              </a:rPr>
              <a:t> (Car&amp; c) </a:t>
            </a:r>
            <a:r>
              <a:rPr lang="en-US" sz="2800" b="0" smtClean="0">
                <a:solidFill>
                  <a:schemeClr val="tx1">
                    <a:lumMod val="95000"/>
                    <a:lumOff val="5000"/>
                  </a:schemeClr>
                </a:solidFill>
              </a:rPr>
              <a:t>{…}</a:t>
            </a:r>
            <a:endParaRPr lang="en-US" sz="2800" b="0">
              <a:solidFill>
                <a:schemeClr val="tx1">
                  <a:lumMod val="95000"/>
                  <a:lumOff val="5000"/>
                </a:schemeClr>
              </a:solidFill>
            </a:endParaRPr>
          </a:p>
          <a:p>
            <a:pPr marL="342900" indent="-342900">
              <a:lnSpc>
                <a:spcPct val="110000"/>
              </a:lnSpc>
              <a:spcBef>
                <a:spcPts val="300"/>
              </a:spcBef>
              <a:buFont typeface="Wingdings" pitchFamily="2" charset="2"/>
              <a:buNone/>
            </a:pPr>
            <a:r>
              <a:rPr lang="en-US" sz="2800" b="0">
                <a:solidFill>
                  <a:srgbClr val="0000FF"/>
                </a:solidFill>
              </a:rPr>
              <a:t>catch</a:t>
            </a:r>
            <a:r>
              <a:rPr lang="en-US" sz="2800" b="0">
                <a:solidFill>
                  <a:schemeClr val="tx1">
                    <a:lumMod val="95000"/>
                    <a:lumOff val="5000"/>
                  </a:schemeClr>
                </a:solidFill>
              </a:rPr>
              <a:t> (Truck&amp; t) </a:t>
            </a:r>
            <a:r>
              <a:rPr lang="en-US" sz="2800" b="0" smtClean="0">
                <a:solidFill>
                  <a:schemeClr val="tx1">
                    <a:lumMod val="95000"/>
                    <a:lumOff val="5000"/>
                  </a:schemeClr>
                </a:solidFill>
              </a:rPr>
              <a:t>{…}</a:t>
            </a:r>
          </a:p>
          <a:p>
            <a:pPr marL="342900" indent="-342900">
              <a:lnSpc>
                <a:spcPct val="110000"/>
              </a:lnSpc>
              <a:spcBef>
                <a:spcPts val="300"/>
              </a:spcBef>
              <a:buFont typeface="Wingdings" pitchFamily="2" charset="2"/>
              <a:buNone/>
            </a:pPr>
            <a:r>
              <a:rPr lang="en-US" sz="2800" b="0">
                <a:solidFill>
                  <a:srgbClr val="0000FF"/>
                </a:solidFill>
              </a:rPr>
              <a:t>catch</a:t>
            </a:r>
            <a:r>
              <a:rPr lang="en-US" sz="2800" b="0">
                <a:solidFill>
                  <a:schemeClr val="tx1">
                    <a:lumMod val="95000"/>
                    <a:lumOff val="5000"/>
                  </a:schemeClr>
                </a:solidFill>
              </a:rPr>
              <a:t> (MotorVehicle&amp; mv) {…}</a:t>
            </a:r>
            <a:r>
              <a:rPr lang="en-US" sz="2800" b="0" smtClean="0">
                <a:solidFill>
                  <a:schemeClr val="tx1">
                    <a:lumMod val="95000"/>
                    <a:lumOff val="5000"/>
                  </a:schemeClr>
                </a:solidFill>
              </a:rPr>
              <a:t>;</a:t>
            </a:r>
            <a:endParaRPr lang="en-US" sz="2800" b="0">
              <a:solidFill>
                <a:schemeClr val="tx1">
                  <a:lumMod val="95000"/>
                  <a:lumOff val="5000"/>
                </a:schemeClr>
              </a:solidFill>
            </a:endParaRPr>
          </a:p>
        </p:txBody>
      </p:sp>
    </p:spTree>
    <p:extLst>
      <p:ext uri="{BB962C8B-B14F-4D97-AF65-F5344CB8AC3E}">
        <p14:creationId xmlns:p14="http://schemas.microsoft.com/office/powerpoint/2010/main" val="2827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So khớp ngoại lệ</a:t>
            </a:r>
          </a:p>
        </p:txBody>
      </p:sp>
      <p:sp>
        <p:nvSpPr>
          <p:cNvPr id="3" name="Content Placeholder 2"/>
          <p:cNvSpPr>
            <a:spLocks noGrp="1"/>
          </p:cNvSpPr>
          <p:nvPr>
            <p:ph idx="1"/>
          </p:nvPr>
        </p:nvSpPr>
        <p:spPr>
          <a:xfrm>
            <a:off x="457200" y="1447800"/>
            <a:ext cx="8382000" cy="5105400"/>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Nếu </a:t>
            </a:r>
            <a:r>
              <a:rPr lang="vi-VN" sz="2800" smtClean="0">
                <a:solidFill>
                  <a:schemeClr val="tx1">
                    <a:lumMod val="95000"/>
                    <a:lumOff val="5000"/>
                  </a:schemeClr>
                </a:solidFill>
                <a:latin typeface="Arial" pitchFamily="34" charset="0"/>
                <a:cs typeface="Arial" pitchFamily="34" charset="0"/>
              </a:rPr>
              <a:t>ta </a:t>
            </a:r>
            <a:r>
              <a:rPr lang="vi-VN" sz="2800">
                <a:solidFill>
                  <a:schemeClr val="tx1">
                    <a:lumMod val="95000"/>
                    <a:lumOff val="5000"/>
                  </a:schemeClr>
                </a:solidFill>
                <a:latin typeface="Arial" pitchFamily="34" charset="0"/>
                <a:cs typeface="Arial" pitchFamily="34" charset="0"/>
              </a:rPr>
              <a:t>muốn </a:t>
            </a:r>
            <a:r>
              <a:rPr lang="vi-VN" sz="2800">
                <a:solidFill>
                  <a:srgbClr val="0066FF"/>
                </a:solidFill>
                <a:latin typeface="Arial" pitchFamily="34" charset="0"/>
                <a:cs typeface="Arial" pitchFamily="34" charset="0"/>
              </a:rPr>
              <a:t>bắt tất cả các ngoại lệ được ném </a:t>
            </a:r>
            <a:r>
              <a:rPr lang="vi-VN" sz="2800">
                <a:solidFill>
                  <a:schemeClr val="tx1">
                    <a:lumMod val="95000"/>
                    <a:lumOff val="5000"/>
                  </a:schemeClr>
                </a:solidFill>
                <a:latin typeface="Arial" pitchFamily="34" charset="0"/>
                <a:cs typeface="Arial" pitchFamily="34" charset="0"/>
              </a:rPr>
              <a:t>(kể cả các ngoại lệ ta không thể giải quyết</a:t>
            </a:r>
            <a:r>
              <a:rPr lang="vi-VN" sz="2800" smtClean="0">
                <a:solidFill>
                  <a:schemeClr val="tx1">
                    <a:lumMod val="95000"/>
                    <a:lumOff val="5000"/>
                  </a:schemeClr>
                </a:solidFill>
                <a:latin typeface="Arial" pitchFamily="34" charset="0"/>
                <a:cs typeface="Arial" pitchFamily="34" charset="0"/>
              </a:rPr>
              <a:t>)</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Để có một lệnh catch bắt được mọi ngoại lệ, ta </a:t>
            </a:r>
            <a:r>
              <a:rPr lang="vi-VN" sz="2800">
                <a:solidFill>
                  <a:srgbClr val="FF3300"/>
                </a:solidFill>
                <a:latin typeface="Arial" pitchFamily="34" charset="0"/>
                <a:cs typeface="Arial" pitchFamily="34" charset="0"/>
              </a:rPr>
              <a:t>đặt dấu ba chấm bên trong lệnh </a:t>
            </a:r>
            <a:r>
              <a:rPr lang="vi-VN" sz="2800" smtClean="0">
                <a:solidFill>
                  <a:srgbClr val="FF3300"/>
                </a:solidFill>
                <a:latin typeface="Arial" pitchFamily="34" charset="0"/>
                <a:cs typeface="Arial" pitchFamily="34" charset="0"/>
              </a:rPr>
              <a:t>catch</a:t>
            </a:r>
            <a:r>
              <a:rPr lang="en-US" sz="2800" smtClean="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endParaRPr lang="en-US" sz="36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en-US" sz="2800" smtClean="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sz="2800" smtClean="0"/>
              <a:t>C</a:t>
            </a:r>
            <a:r>
              <a:rPr lang="vi-VN" sz="2800" smtClean="0"/>
              <a:t>hỉ </a:t>
            </a:r>
            <a:r>
              <a:rPr lang="vi-VN" sz="2800"/>
              <a:t>nên sử dụng nó cho lệnh catch cuối cùng trong một khối </a:t>
            </a:r>
            <a:r>
              <a:rPr lang="vi-VN" sz="2800" smtClean="0"/>
              <a:t>try-catch</a:t>
            </a:r>
            <a:r>
              <a:rPr lang="en-US" sz="2800" smtClean="0"/>
              <a:t>.</a:t>
            </a:r>
            <a:endParaRPr lang="en-US"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56</a:t>
            </a:fld>
            <a:endParaRPr lang="en-US"/>
          </a:p>
        </p:txBody>
      </p:sp>
      <p:sp>
        <p:nvSpPr>
          <p:cNvPr id="8" name="Rectangle 3"/>
          <p:cNvSpPr>
            <a:spLocks noChangeArrowheads="1"/>
          </p:cNvSpPr>
          <p:nvPr/>
        </p:nvSpPr>
        <p:spPr bwMode="auto">
          <a:xfrm>
            <a:off x="914400" y="3886200"/>
            <a:ext cx="7851228" cy="1350578"/>
          </a:xfrm>
          <a:prstGeom prst="rect">
            <a:avLst/>
          </a:prstGeom>
          <a:solidFill>
            <a:srgbClr val="CCFFFF"/>
          </a:solidFill>
          <a:ln w="9525">
            <a:noFill/>
            <a:miter lim="800000"/>
            <a:headEnd/>
            <a:tailEnd/>
          </a:ln>
        </p:spPr>
        <p:txBody>
          <a:bodyPr/>
          <a:lstStyle/>
          <a:p>
            <a:pPr marL="342900" indent="-342900">
              <a:lnSpc>
                <a:spcPct val="110000"/>
              </a:lnSpc>
              <a:spcBef>
                <a:spcPts val="300"/>
              </a:spcBef>
              <a:buFont typeface="Wingdings" pitchFamily="2" charset="2"/>
              <a:buNone/>
            </a:pPr>
            <a:r>
              <a:rPr lang="en-US" sz="2400" b="0">
                <a:solidFill>
                  <a:srgbClr val="0000FF"/>
                </a:solidFill>
              </a:rPr>
              <a:t>c</a:t>
            </a:r>
            <a:r>
              <a:rPr lang="en-US" sz="2400" b="0" smtClean="0">
                <a:solidFill>
                  <a:srgbClr val="0000FF"/>
                </a:solidFill>
              </a:rPr>
              <a:t>atch(…)</a:t>
            </a:r>
            <a:r>
              <a:rPr lang="en-US" sz="2400" b="0" smtClean="0">
                <a:solidFill>
                  <a:schemeClr val="tx1">
                    <a:lumMod val="95000"/>
                    <a:lumOff val="5000"/>
                  </a:schemeClr>
                </a:solidFill>
              </a:rPr>
              <a:t>{ </a:t>
            </a:r>
          </a:p>
          <a:p>
            <a:pPr marL="342900" indent="-342900">
              <a:lnSpc>
                <a:spcPct val="110000"/>
              </a:lnSpc>
              <a:spcBef>
                <a:spcPts val="300"/>
              </a:spcBef>
              <a:buFont typeface="Wingdings" pitchFamily="2" charset="2"/>
              <a:buNone/>
            </a:pPr>
            <a:r>
              <a:rPr lang="en-US" sz="2400" b="0">
                <a:solidFill>
                  <a:schemeClr val="tx1">
                    <a:lumMod val="95000"/>
                    <a:lumOff val="5000"/>
                  </a:schemeClr>
                </a:solidFill>
              </a:rPr>
              <a:t>	</a:t>
            </a:r>
            <a:r>
              <a:rPr lang="en-US" sz="2400" b="0" smtClean="0">
                <a:solidFill>
                  <a:schemeClr val="tx1">
                    <a:lumMod val="95000"/>
                    <a:lumOff val="5000"/>
                  </a:schemeClr>
                </a:solidFill>
              </a:rPr>
              <a:t>//… </a:t>
            </a:r>
          </a:p>
          <a:p>
            <a:pPr marL="342900" indent="-342900">
              <a:lnSpc>
                <a:spcPct val="110000"/>
              </a:lnSpc>
              <a:spcBef>
                <a:spcPts val="300"/>
              </a:spcBef>
              <a:buFont typeface="Wingdings" pitchFamily="2" charset="2"/>
              <a:buNone/>
            </a:pPr>
            <a:r>
              <a:rPr lang="en-US" sz="2400" b="0" smtClean="0">
                <a:solidFill>
                  <a:schemeClr val="tx1">
                    <a:lumMod val="95000"/>
                    <a:lumOff val="5000"/>
                  </a:schemeClr>
                </a:solidFill>
              </a:rPr>
              <a:t>};</a:t>
            </a:r>
            <a:endParaRPr lang="en-US" sz="2400" b="0">
              <a:solidFill>
                <a:schemeClr val="tx1">
                  <a:lumMod val="95000"/>
                  <a:lumOff val="5000"/>
                </a:schemeClr>
              </a:solidFill>
            </a:endParaRPr>
          </a:p>
        </p:txBody>
      </p:sp>
    </p:spTree>
    <p:extLst>
      <p:ext uri="{BB962C8B-B14F-4D97-AF65-F5344CB8AC3E}">
        <p14:creationId xmlns:p14="http://schemas.microsoft.com/office/powerpoint/2010/main" val="763863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Lớp exception</a:t>
            </a:r>
          </a:p>
        </p:txBody>
      </p:sp>
      <p:sp>
        <p:nvSpPr>
          <p:cNvPr id="3" name="Content Placeholder 2"/>
          <p:cNvSpPr>
            <a:spLocks noGrp="1"/>
          </p:cNvSpPr>
          <p:nvPr>
            <p:ph idx="1"/>
          </p:nvPr>
        </p:nvSpPr>
        <p:spPr>
          <a:xfrm>
            <a:off x="457200" y="1447800"/>
            <a:ext cx="8382000" cy="5105400"/>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Để tích hợp hơn nữa các ngoại lệ vào ngôn ngữ C++, </a:t>
            </a:r>
            <a:r>
              <a:rPr lang="vi-VN" sz="2800">
                <a:solidFill>
                  <a:srgbClr val="0000FF"/>
                </a:solidFill>
                <a:latin typeface="Arial" pitchFamily="34" charset="0"/>
                <a:cs typeface="Arial" pitchFamily="34" charset="0"/>
              </a:rPr>
              <a:t>lớp exception </a:t>
            </a:r>
            <a:r>
              <a:rPr lang="vi-VN" sz="2800">
                <a:solidFill>
                  <a:schemeClr val="tx1">
                    <a:lumMod val="95000"/>
                    <a:lumOff val="5000"/>
                  </a:schemeClr>
                </a:solidFill>
                <a:latin typeface="Arial" pitchFamily="34" charset="0"/>
                <a:cs typeface="Arial" pitchFamily="34" charset="0"/>
              </a:rPr>
              <a:t>đã được đưa vào thư viện </a:t>
            </a:r>
            <a:r>
              <a:rPr lang="vi-VN" sz="2800" smtClean="0">
                <a:solidFill>
                  <a:schemeClr val="tx1">
                    <a:lumMod val="95000"/>
                    <a:lumOff val="5000"/>
                  </a:schemeClr>
                </a:solidFill>
                <a:latin typeface="Arial" pitchFamily="34" charset="0"/>
                <a:cs typeface="Arial" pitchFamily="34" charset="0"/>
              </a:rPr>
              <a:t>chuẩn</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v"/>
            </a:pPr>
            <a:r>
              <a:rPr lang="en-US" sz="2400" smtClean="0">
                <a:solidFill>
                  <a:schemeClr val="tx1">
                    <a:lumMod val="95000"/>
                    <a:lumOff val="5000"/>
                  </a:schemeClr>
                </a:solidFill>
                <a:latin typeface="Arial" pitchFamily="34" charset="0"/>
                <a:cs typeface="Arial" pitchFamily="34" charset="0"/>
              </a:rPr>
              <a:t>S</a:t>
            </a:r>
            <a:r>
              <a:rPr lang="vi-VN" sz="2400" smtClean="0">
                <a:solidFill>
                  <a:schemeClr val="tx1">
                    <a:lumMod val="95000"/>
                    <a:lumOff val="5000"/>
                  </a:schemeClr>
                </a:solidFill>
                <a:latin typeface="Arial" pitchFamily="34" charset="0"/>
                <a:cs typeface="Arial" pitchFamily="34" charset="0"/>
              </a:rPr>
              <a:t>ử </a:t>
            </a:r>
            <a:r>
              <a:rPr lang="vi-VN" sz="2400">
                <a:solidFill>
                  <a:schemeClr val="tx1">
                    <a:lumMod val="95000"/>
                    <a:lumOff val="5000"/>
                  </a:schemeClr>
                </a:solidFill>
                <a:latin typeface="Arial" pitchFamily="34" charset="0"/>
                <a:cs typeface="Arial" pitchFamily="34" charset="0"/>
              </a:rPr>
              <a:t>dụng </a:t>
            </a:r>
            <a:r>
              <a:rPr lang="vi-VN" sz="2400">
                <a:solidFill>
                  <a:srgbClr val="0066FF"/>
                </a:solidFill>
                <a:latin typeface="Arial" pitchFamily="34" charset="0"/>
                <a:cs typeface="Arial" pitchFamily="34" charset="0"/>
              </a:rPr>
              <a:t>#include &lt;exception&gt; </a:t>
            </a:r>
            <a:r>
              <a:rPr lang="vi-VN" sz="2400">
                <a:solidFill>
                  <a:schemeClr val="tx1">
                    <a:lumMod val="95000"/>
                    <a:lumOff val="5000"/>
                  </a:schemeClr>
                </a:solidFill>
                <a:latin typeface="Arial" pitchFamily="34" charset="0"/>
                <a:cs typeface="Arial" pitchFamily="34" charset="0"/>
              </a:rPr>
              <a:t>và </a:t>
            </a:r>
            <a:r>
              <a:rPr lang="vi-VN" sz="2400">
                <a:solidFill>
                  <a:srgbClr val="0066FF"/>
                </a:solidFill>
                <a:latin typeface="Arial" pitchFamily="34" charset="0"/>
                <a:cs typeface="Arial" pitchFamily="34" charset="0"/>
              </a:rPr>
              <a:t>namespace std</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Sử dụng thư viện này, ta có thể ném các thể hiện của exception hoặc tạo các lớp dẫn xuất từ </a:t>
            </a:r>
            <a:r>
              <a:rPr lang="vi-VN" sz="2800" smtClean="0">
                <a:solidFill>
                  <a:schemeClr val="tx1">
                    <a:lumMod val="95000"/>
                    <a:lumOff val="5000"/>
                  </a:schemeClr>
                </a:solidFill>
                <a:latin typeface="Arial" pitchFamily="34" charset="0"/>
                <a:cs typeface="Arial" pitchFamily="34" charset="0"/>
              </a:rPr>
              <a:t>đó</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Lớp exception có một hàm ảo </a:t>
            </a:r>
            <a:r>
              <a:rPr lang="vi-VN" sz="2800">
                <a:solidFill>
                  <a:srgbClr val="FF3300"/>
                </a:solidFill>
                <a:latin typeface="Arial" pitchFamily="34" charset="0"/>
                <a:cs typeface="Arial" pitchFamily="34" charset="0"/>
              </a:rPr>
              <a:t>what()</a:t>
            </a:r>
            <a:r>
              <a:rPr lang="vi-VN" sz="2800">
                <a:solidFill>
                  <a:schemeClr val="tx1">
                    <a:lumMod val="95000"/>
                    <a:lumOff val="5000"/>
                  </a:schemeClr>
                </a:solidFill>
                <a:latin typeface="Arial" pitchFamily="34" charset="0"/>
                <a:cs typeface="Arial" pitchFamily="34" charset="0"/>
              </a:rPr>
              <a:t>, </a:t>
            </a:r>
            <a:r>
              <a:rPr lang="vi-VN" sz="2800">
                <a:solidFill>
                  <a:srgbClr val="0066FF"/>
                </a:solidFill>
                <a:latin typeface="Arial" pitchFamily="34" charset="0"/>
                <a:cs typeface="Arial" pitchFamily="34" charset="0"/>
              </a:rPr>
              <a:t>có thể định nghĩa lại what() </a:t>
            </a:r>
            <a:r>
              <a:rPr lang="vi-VN" sz="2800">
                <a:solidFill>
                  <a:schemeClr val="tx1">
                    <a:lumMod val="95000"/>
                    <a:lumOff val="5000"/>
                  </a:schemeClr>
                </a:solidFill>
                <a:latin typeface="Arial" pitchFamily="34" charset="0"/>
                <a:cs typeface="Arial" pitchFamily="34" charset="0"/>
              </a:rPr>
              <a:t>để trả về một xâu ký </a:t>
            </a:r>
            <a:r>
              <a:rPr lang="vi-VN" sz="2800" smtClean="0">
                <a:solidFill>
                  <a:schemeClr val="tx1">
                    <a:lumMod val="95000"/>
                    <a:lumOff val="5000"/>
                  </a:schemeClr>
                </a:solidFill>
                <a:latin typeface="Arial" pitchFamily="34" charset="0"/>
                <a:cs typeface="Arial" pitchFamily="34" charset="0"/>
              </a:rPr>
              <a:t>tự</a:t>
            </a:r>
            <a:r>
              <a:rPr lang="en-US" sz="2800" smtClean="0">
                <a:solidFill>
                  <a:schemeClr val="tx1">
                    <a:lumMod val="95000"/>
                    <a:lumOff val="5000"/>
                  </a:schemeClr>
                </a:solidFill>
                <a:latin typeface="Arial" pitchFamily="34" charset="0"/>
                <a:cs typeface="Arial" pitchFamily="34" charset="0"/>
              </a:rPr>
              <a:t>.</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57</a:t>
            </a:fld>
            <a:endParaRPr lang="en-US"/>
          </a:p>
        </p:txBody>
      </p:sp>
    </p:spTree>
    <p:extLst>
      <p:ext uri="{BB962C8B-B14F-4D97-AF65-F5344CB8AC3E}">
        <p14:creationId xmlns:p14="http://schemas.microsoft.com/office/powerpoint/2010/main" val="399081266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Lớp exception</a:t>
            </a:r>
          </a:p>
        </p:txBody>
      </p:sp>
      <p:sp>
        <p:nvSpPr>
          <p:cNvPr id="3" name="Content Placeholder 2"/>
          <p:cNvSpPr>
            <a:spLocks noGrp="1"/>
          </p:cNvSpPr>
          <p:nvPr>
            <p:ph idx="1"/>
          </p:nvPr>
        </p:nvSpPr>
        <p:spPr>
          <a:xfrm>
            <a:off x="457200" y="1447800"/>
            <a:ext cx="8382000" cy="4953000"/>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Một số lớp ngoại lệ chuẩn khác được dẫn xuất từ lớp cơ sở </a:t>
            </a:r>
            <a:r>
              <a:rPr lang="vi-VN" sz="2800" smtClean="0">
                <a:solidFill>
                  <a:schemeClr val="tx1">
                    <a:lumMod val="95000"/>
                    <a:lumOff val="5000"/>
                  </a:schemeClr>
                </a:solidFill>
                <a:latin typeface="Arial" pitchFamily="34" charset="0"/>
                <a:cs typeface="Arial" pitchFamily="34" charset="0"/>
              </a:rPr>
              <a:t>exception</a:t>
            </a:r>
            <a:r>
              <a:rPr lang="en-US" sz="2800" smtClean="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File header &lt;stdexcept&gt; (cũng thuộc thư viện chuẩn C++) chứa một số lớp ngoại lệ dẫn xuất từ </a:t>
            </a:r>
            <a:r>
              <a:rPr lang="vi-VN" sz="2800" smtClean="0">
                <a:solidFill>
                  <a:schemeClr val="tx1">
                    <a:lumMod val="95000"/>
                    <a:lumOff val="5000"/>
                  </a:schemeClr>
                </a:solidFill>
                <a:latin typeface="Arial" pitchFamily="34" charset="0"/>
                <a:cs typeface="Arial" pitchFamily="34" charset="0"/>
              </a:rPr>
              <a:t>exception</a:t>
            </a:r>
            <a:r>
              <a:rPr lang="en-US" sz="2800" smtClean="0">
                <a:solidFill>
                  <a:schemeClr val="tx1">
                    <a:lumMod val="95000"/>
                    <a:lumOff val="5000"/>
                  </a:schemeClr>
                </a:solidFill>
                <a:latin typeface="Arial" pitchFamily="34" charset="0"/>
                <a:cs typeface="Arial" pitchFamily="34" charset="0"/>
              </a:rPr>
              <a:t>. </a:t>
            </a:r>
            <a:r>
              <a:rPr lang="vi-VN" sz="2800" smtClean="0">
                <a:solidFill>
                  <a:schemeClr val="tx1">
                    <a:lumMod val="95000"/>
                    <a:lumOff val="5000"/>
                  </a:schemeClr>
                </a:solidFill>
                <a:latin typeface="Arial" pitchFamily="34" charset="0"/>
                <a:cs typeface="Arial" pitchFamily="34" charset="0"/>
              </a:rPr>
              <a:t>Trong </a:t>
            </a:r>
            <a:r>
              <a:rPr lang="vi-VN" sz="2800">
                <a:solidFill>
                  <a:schemeClr val="tx1">
                    <a:lumMod val="95000"/>
                    <a:lumOff val="5000"/>
                  </a:schemeClr>
                </a:solidFill>
                <a:latin typeface="Arial" pitchFamily="34" charset="0"/>
                <a:cs typeface="Arial" pitchFamily="34" charset="0"/>
              </a:rPr>
              <a:t>đó có hai lớp quan trọng được dẫn xuất trực tiếp từ exception:</a:t>
            </a:r>
          </a:p>
          <a:p>
            <a:pPr lvl="1" algn="just">
              <a:lnSpc>
                <a:spcPct val="130000"/>
              </a:lnSpc>
              <a:spcBef>
                <a:spcPts val="300"/>
              </a:spcBef>
              <a:spcAft>
                <a:spcPts val="300"/>
              </a:spcAft>
              <a:buFont typeface="Wingdings" pitchFamily="2" charset="2"/>
              <a:buChar char="v"/>
            </a:pPr>
            <a:r>
              <a:rPr lang="vi-VN">
                <a:solidFill>
                  <a:srgbClr val="0000FF"/>
                </a:solidFill>
                <a:latin typeface="Arial" pitchFamily="34" charset="0"/>
                <a:cs typeface="Arial" pitchFamily="34" charset="0"/>
              </a:rPr>
              <a:t>runtime_error</a:t>
            </a:r>
          </a:p>
          <a:p>
            <a:pPr lvl="1" algn="just">
              <a:lnSpc>
                <a:spcPct val="130000"/>
              </a:lnSpc>
              <a:spcBef>
                <a:spcPts val="300"/>
              </a:spcBef>
              <a:spcAft>
                <a:spcPts val="300"/>
              </a:spcAft>
              <a:buFont typeface="Wingdings" pitchFamily="2" charset="2"/>
              <a:buChar char="v"/>
            </a:pPr>
            <a:r>
              <a:rPr lang="vi-VN">
                <a:solidFill>
                  <a:srgbClr val="0000FF"/>
                </a:solidFill>
                <a:latin typeface="Arial" pitchFamily="34" charset="0"/>
                <a:cs typeface="Arial" pitchFamily="34" charset="0"/>
              </a:rPr>
              <a:t>logic_error</a:t>
            </a:r>
            <a:endParaRPr lang="vi-VN" smtClean="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58</a:t>
            </a:fld>
            <a:endParaRPr lang="en-US"/>
          </a:p>
        </p:txBody>
      </p:sp>
    </p:spTree>
    <p:extLst>
      <p:ext uri="{BB962C8B-B14F-4D97-AF65-F5344CB8AC3E}">
        <p14:creationId xmlns:p14="http://schemas.microsoft.com/office/powerpoint/2010/main" val="352197222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Lớp exception</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smtClean="0">
                <a:solidFill>
                  <a:srgbClr val="0000FF"/>
                </a:solidFill>
                <a:latin typeface="Arial" pitchFamily="34" charset="0"/>
                <a:cs typeface="Arial" pitchFamily="34" charset="0"/>
              </a:rPr>
              <a:t>runtime_error</a:t>
            </a:r>
            <a:r>
              <a:rPr lang="en-US" sz="2800" smtClean="0">
                <a:solidFill>
                  <a:schemeClr val="tx1">
                    <a:lumMod val="95000"/>
                    <a:lumOff val="5000"/>
                  </a:schemeClr>
                </a:solidFill>
                <a:latin typeface="Arial" pitchFamily="34" charset="0"/>
                <a:cs typeface="Arial" pitchFamily="34" charset="0"/>
              </a:rPr>
              <a:t>: C</a:t>
            </a:r>
            <a:r>
              <a:rPr lang="vi-VN" sz="2800" smtClean="0">
                <a:solidFill>
                  <a:schemeClr val="tx1">
                    <a:lumMod val="95000"/>
                    <a:lumOff val="5000"/>
                  </a:schemeClr>
                </a:solidFill>
                <a:latin typeface="Arial" pitchFamily="34" charset="0"/>
                <a:cs typeface="Arial" pitchFamily="34" charset="0"/>
              </a:rPr>
              <a:t>ác </a:t>
            </a:r>
            <a:r>
              <a:rPr lang="vi-VN" sz="2800">
                <a:solidFill>
                  <a:schemeClr val="tx1">
                    <a:lumMod val="95000"/>
                    <a:lumOff val="5000"/>
                  </a:schemeClr>
                </a:solidFill>
                <a:latin typeface="Arial" pitchFamily="34" charset="0"/>
                <a:cs typeface="Arial" pitchFamily="34" charset="0"/>
              </a:rPr>
              <a:t>lỗi trong thời gian chạy (các lỗi là kết quả của các tình huống không mong đợi, chẳng hạn: hết bộ nhớ)</a:t>
            </a:r>
          </a:p>
          <a:p>
            <a:pPr algn="just">
              <a:lnSpc>
                <a:spcPct val="130000"/>
              </a:lnSpc>
              <a:spcBef>
                <a:spcPts val="300"/>
              </a:spcBef>
              <a:spcAft>
                <a:spcPts val="300"/>
              </a:spcAft>
              <a:buFont typeface="Wingdings" pitchFamily="2" charset="2"/>
              <a:buChar char="v"/>
            </a:pPr>
            <a:r>
              <a:rPr lang="vi-VN" sz="2800" smtClean="0">
                <a:solidFill>
                  <a:srgbClr val="0000FF"/>
                </a:solidFill>
                <a:latin typeface="Arial" pitchFamily="34" charset="0"/>
                <a:cs typeface="Arial" pitchFamily="34" charset="0"/>
              </a:rPr>
              <a:t>logic_error</a:t>
            </a:r>
            <a:r>
              <a:rPr lang="en-US" sz="2800" smtClean="0">
                <a:solidFill>
                  <a:schemeClr val="tx1">
                    <a:lumMod val="95000"/>
                    <a:lumOff val="5000"/>
                  </a:schemeClr>
                </a:solidFill>
                <a:latin typeface="Arial" pitchFamily="34" charset="0"/>
                <a:cs typeface="Arial" pitchFamily="34" charset="0"/>
              </a:rPr>
              <a:t>: C</a:t>
            </a:r>
            <a:r>
              <a:rPr lang="vi-VN" sz="2800" smtClean="0">
                <a:solidFill>
                  <a:schemeClr val="tx1">
                    <a:lumMod val="95000"/>
                    <a:lumOff val="5000"/>
                  </a:schemeClr>
                </a:solidFill>
                <a:latin typeface="Arial" pitchFamily="34" charset="0"/>
                <a:cs typeface="Arial" pitchFamily="34" charset="0"/>
              </a:rPr>
              <a:t>ác </a:t>
            </a:r>
            <a:r>
              <a:rPr lang="vi-VN" sz="2800">
                <a:solidFill>
                  <a:schemeClr val="tx1">
                    <a:lumMod val="95000"/>
                    <a:lumOff val="5000"/>
                  </a:schemeClr>
                </a:solidFill>
                <a:latin typeface="Arial" pitchFamily="34" charset="0"/>
                <a:cs typeface="Arial" pitchFamily="34" charset="0"/>
              </a:rPr>
              <a:t>lỗi trong </a:t>
            </a:r>
            <a:r>
              <a:rPr lang="vi-VN" sz="2800" smtClean="0">
                <a:solidFill>
                  <a:schemeClr val="tx1">
                    <a:lumMod val="95000"/>
                    <a:lumOff val="5000"/>
                  </a:schemeClr>
                </a:solidFill>
                <a:latin typeface="Arial" pitchFamily="34" charset="0"/>
                <a:cs typeface="Arial" pitchFamily="34" charset="0"/>
              </a:rPr>
              <a:t>l</a:t>
            </a:r>
            <a:r>
              <a:rPr lang="en-US" sz="2800" smtClean="0">
                <a:solidFill>
                  <a:schemeClr val="tx1">
                    <a:lumMod val="95000"/>
                    <a:lumOff val="5000"/>
                  </a:schemeClr>
                </a:solidFill>
                <a:latin typeface="Arial" pitchFamily="34" charset="0"/>
                <a:cs typeface="Arial" pitchFamily="34" charset="0"/>
              </a:rPr>
              <a:t>o</a:t>
            </a:r>
            <a:r>
              <a:rPr lang="vi-VN" sz="2800" smtClean="0">
                <a:solidFill>
                  <a:schemeClr val="tx1">
                    <a:lumMod val="95000"/>
                    <a:lumOff val="5000"/>
                  </a:schemeClr>
                </a:solidFill>
                <a:latin typeface="Arial" pitchFamily="34" charset="0"/>
                <a:cs typeface="Arial" pitchFamily="34" charset="0"/>
              </a:rPr>
              <a:t>gic </a:t>
            </a:r>
            <a:r>
              <a:rPr lang="vi-VN" sz="2800">
                <a:solidFill>
                  <a:schemeClr val="tx1">
                    <a:lumMod val="95000"/>
                    <a:lumOff val="5000"/>
                  </a:schemeClr>
                </a:solidFill>
                <a:latin typeface="Arial" pitchFamily="34" charset="0"/>
                <a:cs typeface="Arial" pitchFamily="34" charset="0"/>
              </a:rPr>
              <a:t>chương trình (chẳng hạn truyền tham số không hợp lệ)</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Thông thường, ta sẽ dùng các lớp này (hoặc các lớp dẫn xuất của chúng) thay vì dùng trực tiếp </a:t>
            </a:r>
            <a:r>
              <a:rPr lang="vi-VN" sz="2800" smtClean="0">
                <a:solidFill>
                  <a:schemeClr val="tx1">
                    <a:lumMod val="95000"/>
                    <a:lumOff val="5000"/>
                  </a:schemeClr>
                </a:solidFill>
                <a:latin typeface="Arial" pitchFamily="34" charset="0"/>
                <a:cs typeface="Arial" pitchFamily="34" charset="0"/>
              </a:rPr>
              <a:t>exception</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59</a:t>
            </a:fld>
            <a:endParaRPr lang="en-US"/>
          </a:p>
        </p:txBody>
      </p:sp>
    </p:spTree>
    <p:extLst>
      <p:ext uri="{BB962C8B-B14F-4D97-AF65-F5344CB8AC3E}">
        <p14:creationId xmlns:p14="http://schemas.microsoft.com/office/powerpoint/2010/main" val="3259337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Lớp exception</a:t>
            </a:r>
          </a:p>
        </p:txBody>
      </p:sp>
      <p:sp>
        <p:nvSpPr>
          <p:cNvPr id="3" name="Content Placeholder 2"/>
          <p:cNvSpPr>
            <a:spLocks noGrp="1"/>
          </p:cNvSpPr>
          <p:nvPr>
            <p:ph idx="1"/>
          </p:nvPr>
        </p:nvSpPr>
        <p:spPr>
          <a:xfrm>
            <a:off x="457200" y="1447800"/>
            <a:ext cx="8382000" cy="5105400"/>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00FF"/>
                </a:solidFill>
                <a:latin typeface="Arial" pitchFamily="34" charset="0"/>
                <a:cs typeface="Arial" pitchFamily="34" charset="0"/>
              </a:rPr>
              <a:t>runtime_error</a:t>
            </a:r>
            <a:r>
              <a:rPr lang="vi-VN" sz="2800">
                <a:solidFill>
                  <a:schemeClr val="tx1">
                    <a:lumMod val="95000"/>
                    <a:lumOff val="5000"/>
                  </a:schemeClr>
                </a:solidFill>
                <a:latin typeface="Arial" pitchFamily="34" charset="0"/>
                <a:cs typeface="Arial" pitchFamily="34" charset="0"/>
              </a:rPr>
              <a:t> có các lớp dẫn xuất sau:</a:t>
            </a:r>
          </a:p>
          <a:p>
            <a:pPr lvl="1" algn="just">
              <a:spcBef>
                <a:spcPts val="300"/>
              </a:spcBef>
              <a:spcAft>
                <a:spcPts val="300"/>
              </a:spcAft>
              <a:buFont typeface="Wingdings" pitchFamily="2" charset="2"/>
              <a:buChar char="v"/>
            </a:pPr>
            <a:r>
              <a:rPr lang="vi-VN" sz="2400">
                <a:solidFill>
                  <a:srgbClr val="0066FF"/>
                </a:solidFill>
                <a:latin typeface="Arial" pitchFamily="34" charset="0"/>
                <a:cs typeface="Arial" pitchFamily="34" charset="0"/>
              </a:rPr>
              <a:t>range_error </a:t>
            </a:r>
            <a:r>
              <a:rPr lang="vi-VN" sz="2400">
                <a:solidFill>
                  <a:schemeClr val="tx1">
                    <a:lumMod val="95000"/>
                    <a:lumOff val="5000"/>
                  </a:schemeClr>
                </a:solidFill>
                <a:latin typeface="Arial" pitchFamily="34" charset="0"/>
                <a:cs typeface="Arial" pitchFamily="34" charset="0"/>
              </a:rPr>
              <a:t>điều kiện sau (post-condition) bị vi phạm</a:t>
            </a:r>
          </a:p>
          <a:p>
            <a:pPr lvl="1" algn="just">
              <a:spcBef>
                <a:spcPts val="300"/>
              </a:spcBef>
              <a:spcAft>
                <a:spcPts val="300"/>
              </a:spcAft>
              <a:buFont typeface="Wingdings" pitchFamily="2" charset="2"/>
              <a:buChar char="v"/>
            </a:pPr>
            <a:r>
              <a:rPr lang="vi-VN" sz="2400">
                <a:solidFill>
                  <a:srgbClr val="0066FF"/>
                </a:solidFill>
                <a:latin typeface="Arial" pitchFamily="34" charset="0"/>
                <a:cs typeface="Arial" pitchFamily="34" charset="0"/>
              </a:rPr>
              <a:t>overflow_error </a:t>
            </a:r>
            <a:r>
              <a:rPr lang="vi-VN" sz="2400">
                <a:solidFill>
                  <a:schemeClr val="tx1">
                    <a:lumMod val="95000"/>
                    <a:lumOff val="5000"/>
                  </a:schemeClr>
                </a:solidFill>
                <a:latin typeface="Arial" pitchFamily="34" charset="0"/>
                <a:cs typeface="Arial" pitchFamily="34" charset="0"/>
              </a:rPr>
              <a:t>xảy ra tràn số học</a:t>
            </a:r>
          </a:p>
          <a:p>
            <a:pPr lvl="1" algn="just">
              <a:spcBef>
                <a:spcPts val="300"/>
              </a:spcBef>
              <a:spcAft>
                <a:spcPts val="300"/>
              </a:spcAft>
              <a:buFont typeface="Wingdings" pitchFamily="2" charset="2"/>
              <a:buChar char="v"/>
            </a:pPr>
            <a:r>
              <a:rPr lang="vi-VN" sz="2400">
                <a:solidFill>
                  <a:srgbClr val="0066FF"/>
                </a:solidFill>
                <a:latin typeface="Arial" pitchFamily="34" charset="0"/>
                <a:cs typeface="Arial" pitchFamily="34" charset="0"/>
              </a:rPr>
              <a:t>bad_alloc </a:t>
            </a:r>
            <a:r>
              <a:rPr lang="vi-VN" sz="2400">
                <a:solidFill>
                  <a:schemeClr val="tx1">
                    <a:lumMod val="95000"/>
                    <a:lumOff val="5000"/>
                  </a:schemeClr>
                </a:solidFill>
                <a:latin typeface="Arial" pitchFamily="34" charset="0"/>
                <a:cs typeface="Arial" pitchFamily="34" charset="0"/>
              </a:rPr>
              <a:t>không thể cấp phát bộ nhớ</a:t>
            </a:r>
          </a:p>
          <a:p>
            <a:pPr algn="just">
              <a:lnSpc>
                <a:spcPct val="130000"/>
              </a:lnSpc>
              <a:spcBef>
                <a:spcPts val="300"/>
              </a:spcBef>
              <a:spcAft>
                <a:spcPts val="300"/>
              </a:spcAft>
              <a:buFont typeface="Wingdings" pitchFamily="2" charset="2"/>
              <a:buChar char="v"/>
            </a:pPr>
            <a:r>
              <a:rPr lang="vi-VN" sz="2800">
                <a:solidFill>
                  <a:srgbClr val="0000FF"/>
                </a:solidFill>
                <a:latin typeface="Arial" pitchFamily="34" charset="0"/>
                <a:cs typeface="Arial" pitchFamily="34" charset="0"/>
              </a:rPr>
              <a:t>logic_error</a:t>
            </a:r>
            <a:r>
              <a:rPr lang="vi-VN" sz="2800">
                <a:solidFill>
                  <a:schemeClr val="tx1">
                    <a:lumMod val="95000"/>
                    <a:lumOff val="5000"/>
                  </a:schemeClr>
                </a:solidFill>
                <a:latin typeface="Arial" pitchFamily="34" charset="0"/>
                <a:cs typeface="Arial" pitchFamily="34" charset="0"/>
              </a:rPr>
              <a:t> có các lớp dẫn xuất sau:</a:t>
            </a:r>
          </a:p>
          <a:p>
            <a:pPr lvl="1" algn="just">
              <a:spcBef>
                <a:spcPts val="300"/>
              </a:spcBef>
              <a:spcAft>
                <a:spcPts val="300"/>
              </a:spcAft>
              <a:buFont typeface="Wingdings" pitchFamily="2" charset="2"/>
              <a:buChar char="v"/>
            </a:pPr>
            <a:r>
              <a:rPr lang="vi-VN" sz="2400">
                <a:solidFill>
                  <a:srgbClr val="0066FF"/>
                </a:solidFill>
                <a:latin typeface="Arial" pitchFamily="34" charset="0"/>
                <a:cs typeface="Arial" pitchFamily="34" charset="0"/>
              </a:rPr>
              <a:t>domain_error</a:t>
            </a:r>
            <a:r>
              <a:rPr lang="vi-VN" sz="2400">
                <a:solidFill>
                  <a:schemeClr val="tx1">
                    <a:lumMod val="95000"/>
                    <a:lumOff val="5000"/>
                  </a:schemeClr>
                </a:solidFill>
                <a:latin typeface="Arial" pitchFamily="34" charset="0"/>
                <a:cs typeface="Arial" pitchFamily="34" charset="0"/>
              </a:rPr>
              <a:t> điều kiện trước (pre-condition) bị vi phạm</a:t>
            </a:r>
          </a:p>
          <a:p>
            <a:pPr lvl="1" algn="just">
              <a:spcBef>
                <a:spcPts val="300"/>
              </a:spcBef>
              <a:spcAft>
                <a:spcPts val="300"/>
              </a:spcAft>
              <a:buFont typeface="Wingdings" pitchFamily="2" charset="2"/>
              <a:buChar char="v"/>
            </a:pPr>
            <a:r>
              <a:rPr lang="vi-VN" sz="2400">
                <a:solidFill>
                  <a:srgbClr val="0066FF"/>
                </a:solidFill>
                <a:latin typeface="Arial" pitchFamily="34" charset="0"/>
                <a:cs typeface="Arial" pitchFamily="34" charset="0"/>
              </a:rPr>
              <a:t>invalid_argument</a:t>
            </a:r>
            <a:r>
              <a:rPr lang="vi-VN" sz="2400">
                <a:solidFill>
                  <a:schemeClr val="tx1">
                    <a:lumMod val="95000"/>
                    <a:lumOff val="5000"/>
                  </a:schemeClr>
                </a:solidFill>
                <a:latin typeface="Arial" pitchFamily="34" charset="0"/>
                <a:cs typeface="Arial" pitchFamily="34" charset="0"/>
              </a:rPr>
              <a:t> tham số không hợp lệ được truyền cho hàm</a:t>
            </a:r>
          </a:p>
          <a:p>
            <a:pPr lvl="1" algn="just">
              <a:spcBef>
                <a:spcPts val="300"/>
              </a:spcBef>
              <a:spcAft>
                <a:spcPts val="300"/>
              </a:spcAft>
              <a:buFont typeface="Wingdings" pitchFamily="2" charset="2"/>
              <a:buChar char="v"/>
            </a:pPr>
            <a:r>
              <a:rPr lang="vi-VN" sz="2400">
                <a:solidFill>
                  <a:srgbClr val="0066FF"/>
                </a:solidFill>
                <a:latin typeface="Arial" pitchFamily="34" charset="0"/>
                <a:cs typeface="Arial" pitchFamily="34" charset="0"/>
              </a:rPr>
              <a:t>length_error</a:t>
            </a:r>
            <a:r>
              <a:rPr lang="vi-VN" sz="2400">
                <a:solidFill>
                  <a:schemeClr val="tx1">
                    <a:lumMod val="95000"/>
                    <a:lumOff val="5000"/>
                  </a:schemeClr>
                </a:solidFill>
                <a:latin typeface="Arial" pitchFamily="34" charset="0"/>
                <a:cs typeface="Arial" pitchFamily="34" charset="0"/>
              </a:rPr>
              <a:t> tạo đối tượng lớn hơn độ dài cho phép</a:t>
            </a:r>
          </a:p>
          <a:p>
            <a:pPr lvl="1" algn="just">
              <a:spcBef>
                <a:spcPts val="300"/>
              </a:spcBef>
              <a:spcAft>
                <a:spcPts val="300"/>
              </a:spcAft>
              <a:buFont typeface="Wingdings" pitchFamily="2" charset="2"/>
              <a:buChar char="v"/>
            </a:pPr>
            <a:r>
              <a:rPr lang="vi-VN" sz="2400">
                <a:solidFill>
                  <a:srgbClr val="0066FF"/>
                </a:solidFill>
                <a:latin typeface="Arial" pitchFamily="34" charset="0"/>
                <a:cs typeface="Arial" pitchFamily="34" charset="0"/>
              </a:rPr>
              <a:t>out_of_range</a:t>
            </a:r>
            <a:r>
              <a:rPr lang="vi-VN" sz="2400">
                <a:solidFill>
                  <a:schemeClr val="tx1">
                    <a:lumMod val="95000"/>
                    <a:lumOff val="5000"/>
                  </a:schemeClr>
                </a:solidFill>
                <a:latin typeface="Arial" pitchFamily="34" charset="0"/>
                <a:cs typeface="Arial" pitchFamily="34" charset="0"/>
              </a:rPr>
              <a:t> tham số ngoài </a:t>
            </a:r>
            <a:r>
              <a:rPr lang="vi-VN" sz="2400" smtClean="0">
                <a:solidFill>
                  <a:schemeClr val="tx1">
                    <a:lumMod val="95000"/>
                    <a:lumOff val="5000"/>
                  </a:schemeClr>
                </a:solidFill>
                <a:latin typeface="Arial" pitchFamily="34" charset="0"/>
                <a:cs typeface="Arial" pitchFamily="34" charset="0"/>
              </a:rPr>
              <a:t>khoảng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60</a:t>
            </a:fld>
            <a:endParaRPr lang="en-US"/>
          </a:p>
        </p:txBody>
      </p:sp>
    </p:spTree>
    <p:extLst>
      <p:ext uri="{BB962C8B-B14F-4D97-AF65-F5344CB8AC3E}">
        <p14:creationId xmlns:p14="http://schemas.microsoft.com/office/powerpoint/2010/main" val="323491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Lớp exception</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Ta có thể viết lại hàm </a:t>
            </a:r>
            <a:r>
              <a:rPr lang="en-US" sz="2800" smtClean="0">
                <a:solidFill>
                  <a:schemeClr val="tx1">
                    <a:lumMod val="95000"/>
                    <a:lumOff val="5000"/>
                  </a:schemeClr>
                </a:solidFill>
                <a:latin typeface="Arial" pitchFamily="34" charset="0"/>
                <a:cs typeface="Arial" pitchFamily="34" charset="0"/>
              </a:rPr>
              <a:t>My</a:t>
            </a:r>
            <a:r>
              <a:rPr lang="vi-VN" sz="2800" smtClean="0">
                <a:solidFill>
                  <a:schemeClr val="tx1">
                    <a:lumMod val="95000"/>
                    <a:lumOff val="5000"/>
                  </a:schemeClr>
                </a:solidFill>
                <a:latin typeface="Arial" pitchFamily="34" charset="0"/>
                <a:cs typeface="Arial" pitchFamily="34" charset="0"/>
              </a:rPr>
              <a:t>Divide</a:t>
            </a:r>
            <a:r>
              <a:rPr lang="vi-VN" sz="2800">
                <a:solidFill>
                  <a:schemeClr val="tx1">
                    <a:lumMod val="95000"/>
                    <a:lumOff val="5000"/>
                  </a:schemeClr>
                </a:solidFill>
                <a:latin typeface="Arial" pitchFamily="34" charset="0"/>
                <a:cs typeface="Arial" pitchFamily="34" charset="0"/>
              </a:rPr>
              <a:t>() để sử dụng các ngoại lệ chuẩn tương ứng như sau:</a:t>
            </a:r>
            <a:endParaRPr lang="vi-VN" sz="2800" smtClean="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61</a:t>
            </a:fld>
            <a:endParaRPr lang="en-US"/>
          </a:p>
        </p:txBody>
      </p:sp>
      <p:sp>
        <p:nvSpPr>
          <p:cNvPr id="7" name="Rectangle 3"/>
          <p:cNvSpPr>
            <a:spLocks noChangeArrowheads="1"/>
          </p:cNvSpPr>
          <p:nvPr/>
        </p:nvSpPr>
        <p:spPr bwMode="auto">
          <a:xfrm>
            <a:off x="762000" y="2743200"/>
            <a:ext cx="8077200" cy="3733800"/>
          </a:xfrm>
          <a:prstGeom prst="rect">
            <a:avLst/>
          </a:prstGeom>
          <a:solidFill>
            <a:srgbClr val="CCFFFF"/>
          </a:solidFill>
          <a:ln w="9525">
            <a:noFill/>
            <a:miter lim="800000"/>
            <a:headEnd/>
            <a:tailEnd/>
          </a:ln>
        </p:spPr>
        <p:txBody>
          <a:bodyPr/>
          <a:lstStyle/>
          <a:p>
            <a:pPr marL="342900" indent="-342900">
              <a:spcBef>
                <a:spcPts val="300"/>
              </a:spcBef>
              <a:buFont typeface="Wingdings" pitchFamily="2" charset="2"/>
              <a:buNone/>
            </a:pPr>
            <a:r>
              <a:rPr lang="en-US" sz="2400" b="0">
                <a:solidFill>
                  <a:srgbClr val="0000FF"/>
                </a:solidFill>
              </a:rPr>
              <a:t>double</a:t>
            </a:r>
            <a:r>
              <a:rPr lang="en-US" sz="2400" b="0">
                <a:solidFill>
                  <a:schemeClr val="tx1">
                    <a:lumMod val="95000"/>
                    <a:lumOff val="5000"/>
                  </a:schemeClr>
                </a:solidFill>
              </a:rPr>
              <a:t> MyDivide(</a:t>
            </a:r>
            <a:r>
              <a:rPr lang="en-US" sz="2400" b="0">
                <a:solidFill>
                  <a:srgbClr val="0000FF"/>
                </a:solidFill>
              </a:rPr>
              <a:t>double</a:t>
            </a:r>
            <a:r>
              <a:rPr lang="en-US" sz="2400" b="0">
                <a:solidFill>
                  <a:schemeClr val="tx1">
                    <a:lumMod val="95000"/>
                    <a:lumOff val="5000"/>
                  </a:schemeClr>
                </a:solidFill>
              </a:rPr>
              <a:t> numerator, </a:t>
            </a:r>
            <a:r>
              <a:rPr lang="en-US" sz="2400" b="0">
                <a:solidFill>
                  <a:srgbClr val="0000FF"/>
                </a:solidFill>
              </a:rPr>
              <a:t>double</a:t>
            </a:r>
            <a:r>
              <a:rPr lang="en-US" sz="2400" b="0">
                <a:solidFill>
                  <a:schemeClr val="tx1">
                    <a:lumMod val="95000"/>
                    <a:lumOff val="5000"/>
                  </a:schemeClr>
                </a:solidFill>
              </a:rPr>
              <a:t> denominator</a:t>
            </a:r>
            <a:r>
              <a:rPr lang="en-US" sz="2400" b="0" smtClean="0">
                <a:solidFill>
                  <a:schemeClr val="tx1">
                    <a:lumMod val="95000"/>
                    <a:lumOff val="5000"/>
                  </a:schemeClr>
                </a:solidFill>
              </a:rPr>
              <a:t>)</a:t>
            </a:r>
          </a:p>
          <a:p>
            <a:pPr marL="342900" indent="-342900">
              <a:spcBef>
                <a:spcPts val="300"/>
              </a:spcBef>
              <a:buFont typeface="Wingdings" pitchFamily="2" charset="2"/>
              <a:buNone/>
            </a:pPr>
            <a:r>
              <a:rPr lang="en-US" sz="2400" b="0" smtClean="0">
                <a:solidFill>
                  <a:schemeClr val="tx1">
                    <a:lumMod val="95000"/>
                    <a:lumOff val="5000"/>
                  </a:schemeClr>
                </a:solidFill>
              </a:rPr>
              <a:t>{</a:t>
            </a:r>
            <a:endParaRPr lang="en-US" sz="2400" b="0">
              <a:solidFill>
                <a:schemeClr val="tx1">
                  <a:lumMod val="95000"/>
                  <a:lumOff val="5000"/>
                </a:schemeClr>
              </a:solidFill>
            </a:endParaRPr>
          </a:p>
          <a:p>
            <a:pPr marL="342900" indent="-342900">
              <a:spcBef>
                <a:spcPts val="300"/>
              </a:spcBef>
              <a:buFont typeface="Wingdings" pitchFamily="2" charset="2"/>
              <a:buNone/>
            </a:pPr>
            <a:r>
              <a:rPr lang="en-US" sz="2400" b="0">
                <a:solidFill>
                  <a:schemeClr val="tx1">
                    <a:lumMod val="95000"/>
                    <a:lumOff val="5000"/>
                  </a:schemeClr>
                </a:solidFill>
              </a:rPr>
              <a:t>	</a:t>
            </a:r>
            <a:r>
              <a:rPr lang="en-US" sz="2400" b="0">
                <a:solidFill>
                  <a:srgbClr val="0000FF"/>
                </a:solidFill>
              </a:rPr>
              <a:t>if</a:t>
            </a:r>
            <a:r>
              <a:rPr lang="en-US" sz="2400" b="0">
                <a:solidFill>
                  <a:schemeClr val="tx1">
                    <a:lumMod val="95000"/>
                    <a:lumOff val="5000"/>
                  </a:schemeClr>
                </a:solidFill>
              </a:rPr>
              <a:t> (denominator == 0.0) {</a:t>
            </a:r>
          </a:p>
          <a:p>
            <a:pPr marL="342900" indent="-342900">
              <a:spcBef>
                <a:spcPts val="300"/>
              </a:spcBef>
              <a:buFont typeface="Wingdings" pitchFamily="2" charset="2"/>
              <a:buNone/>
            </a:pPr>
            <a:r>
              <a:rPr lang="en-US" sz="2400" b="0">
                <a:solidFill>
                  <a:schemeClr val="tx1">
                    <a:lumMod val="95000"/>
                    <a:lumOff val="5000"/>
                  </a:schemeClr>
                </a:solidFill>
              </a:rPr>
              <a:t>	</a:t>
            </a:r>
            <a:r>
              <a:rPr lang="en-US" sz="2400" b="0" smtClean="0">
                <a:solidFill>
                  <a:schemeClr val="tx1">
                    <a:lumMod val="95000"/>
                    <a:lumOff val="5000"/>
                  </a:schemeClr>
                </a:solidFill>
              </a:rPr>
              <a:t>	</a:t>
            </a:r>
            <a:r>
              <a:rPr lang="en-US" sz="2400" b="0" smtClean="0">
                <a:solidFill>
                  <a:srgbClr val="FF0000"/>
                </a:solidFill>
              </a:rPr>
              <a:t>throw</a:t>
            </a:r>
            <a:r>
              <a:rPr lang="en-US" sz="2400" b="0" smtClean="0">
                <a:solidFill>
                  <a:schemeClr val="tx1">
                    <a:lumMod val="95000"/>
                    <a:lumOff val="5000"/>
                  </a:schemeClr>
                </a:solidFill>
              </a:rPr>
              <a:t> invalid_argument</a:t>
            </a:r>
            <a:r>
              <a:rPr lang="en-US" sz="2400" b="0">
                <a:solidFill>
                  <a:schemeClr val="tx1">
                    <a:lumMod val="95000"/>
                    <a:lumOff val="5000"/>
                  </a:schemeClr>
                </a:solidFill>
              </a:rPr>
              <a:t>(“The denominator cannot be 0.”);</a:t>
            </a:r>
          </a:p>
          <a:p>
            <a:pPr marL="342900" indent="-342900">
              <a:spcBef>
                <a:spcPts val="300"/>
              </a:spcBef>
              <a:buFont typeface="Wingdings" pitchFamily="2" charset="2"/>
              <a:buNone/>
            </a:pPr>
            <a:r>
              <a:rPr lang="en-US" sz="2400" b="0">
                <a:solidFill>
                  <a:schemeClr val="tx1">
                    <a:lumMod val="95000"/>
                    <a:lumOff val="5000"/>
                  </a:schemeClr>
                </a:solidFill>
              </a:rPr>
              <a:t>	} </a:t>
            </a:r>
            <a:r>
              <a:rPr lang="en-US" sz="2400" b="0">
                <a:solidFill>
                  <a:srgbClr val="0000FF"/>
                </a:solidFill>
              </a:rPr>
              <a:t>else</a:t>
            </a:r>
            <a:r>
              <a:rPr lang="en-US" sz="2400" b="0">
                <a:solidFill>
                  <a:schemeClr val="tx1">
                    <a:lumMod val="95000"/>
                    <a:lumOff val="5000"/>
                  </a:schemeClr>
                </a:solidFill>
              </a:rPr>
              <a:t> {</a:t>
            </a:r>
          </a:p>
          <a:p>
            <a:pPr marL="342900" indent="-342900">
              <a:spcBef>
                <a:spcPts val="300"/>
              </a:spcBef>
              <a:buFont typeface="Wingdings" pitchFamily="2" charset="2"/>
              <a:buNone/>
            </a:pPr>
            <a:r>
              <a:rPr lang="en-US" sz="2400" b="0">
                <a:solidFill>
                  <a:schemeClr val="tx1">
                    <a:lumMod val="95000"/>
                    <a:lumOff val="5000"/>
                  </a:schemeClr>
                </a:solidFill>
              </a:rPr>
              <a:t>		</a:t>
            </a:r>
            <a:r>
              <a:rPr lang="en-US" sz="2400" b="0">
                <a:solidFill>
                  <a:srgbClr val="0000FF"/>
                </a:solidFill>
              </a:rPr>
              <a:t>return</a:t>
            </a:r>
            <a:r>
              <a:rPr lang="en-US" sz="2400" b="0">
                <a:solidFill>
                  <a:schemeClr val="tx1">
                    <a:lumMod val="95000"/>
                    <a:lumOff val="5000"/>
                  </a:schemeClr>
                </a:solidFill>
              </a:rPr>
              <a:t> numerator / denominator;</a:t>
            </a:r>
          </a:p>
          <a:p>
            <a:pPr marL="342900" indent="-342900">
              <a:spcBef>
                <a:spcPts val="300"/>
              </a:spcBef>
              <a:buFont typeface="Wingdings" pitchFamily="2" charset="2"/>
              <a:buNone/>
            </a:pPr>
            <a:r>
              <a:rPr lang="en-US" sz="2400" b="0">
                <a:solidFill>
                  <a:schemeClr val="tx1">
                    <a:lumMod val="95000"/>
                    <a:lumOff val="5000"/>
                  </a:schemeClr>
                </a:solidFill>
              </a:rPr>
              <a:t>	}</a:t>
            </a:r>
          </a:p>
          <a:p>
            <a:pPr marL="342900" indent="-342900">
              <a:spcBef>
                <a:spcPts val="300"/>
              </a:spcBef>
              <a:buFont typeface="Wingdings" pitchFamily="2" charset="2"/>
              <a:buNone/>
            </a:pPr>
            <a:r>
              <a:rPr lang="en-US" sz="2400" b="0">
                <a:solidFill>
                  <a:schemeClr val="tx1">
                    <a:lumMod val="95000"/>
                    <a:lumOff val="5000"/>
                  </a:schemeClr>
                </a:solidFill>
              </a:rPr>
              <a:t>}</a:t>
            </a:r>
          </a:p>
        </p:txBody>
      </p:sp>
    </p:spTree>
    <p:extLst>
      <p:ext uri="{BB962C8B-B14F-4D97-AF65-F5344CB8AC3E}">
        <p14:creationId xmlns:p14="http://schemas.microsoft.com/office/powerpoint/2010/main" val="323491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Lớp exception</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62</a:t>
            </a:fld>
            <a:endParaRPr lang="en-US"/>
          </a:p>
        </p:txBody>
      </p:sp>
      <p:sp>
        <p:nvSpPr>
          <p:cNvPr id="8" name="Rectangle 3"/>
          <p:cNvSpPr>
            <a:spLocks noChangeArrowheads="1"/>
          </p:cNvSpPr>
          <p:nvPr/>
        </p:nvSpPr>
        <p:spPr bwMode="auto">
          <a:xfrm>
            <a:off x="533400" y="1447800"/>
            <a:ext cx="8153400" cy="5029200"/>
          </a:xfrm>
          <a:prstGeom prst="rect">
            <a:avLst/>
          </a:prstGeom>
          <a:solidFill>
            <a:srgbClr val="CCFFFF"/>
          </a:solidFill>
          <a:ln w="9525">
            <a:noFill/>
            <a:miter lim="800000"/>
            <a:headEnd/>
            <a:tailEnd/>
          </a:ln>
        </p:spPr>
        <p:txBody>
          <a:bodyPr/>
          <a:lstStyle/>
          <a:p>
            <a:pPr fontAlgn="auto">
              <a:spcBef>
                <a:spcPts val="0"/>
              </a:spcBef>
              <a:spcAft>
                <a:spcPts val="0"/>
              </a:spcAft>
              <a:defRPr/>
            </a:pPr>
            <a:r>
              <a:rPr lang="en-US" sz="2400" b="0">
                <a:solidFill>
                  <a:srgbClr val="0000FF"/>
                </a:solidFill>
              </a:rPr>
              <a:t>void</a:t>
            </a:r>
            <a:r>
              <a:rPr lang="en-US" sz="2400" b="0"/>
              <a:t> main() {</a:t>
            </a:r>
          </a:p>
          <a:p>
            <a:pPr fontAlgn="auto">
              <a:lnSpc>
                <a:spcPct val="80000"/>
              </a:lnSpc>
              <a:spcBef>
                <a:spcPts val="0"/>
              </a:spcBef>
              <a:spcAft>
                <a:spcPts val="0"/>
              </a:spcAft>
              <a:defRPr/>
            </a:pPr>
            <a:r>
              <a:rPr lang="en-US" sz="2400" b="0"/>
              <a:t>	</a:t>
            </a:r>
            <a:r>
              <a:rPr lang="en-US" sz="2400" b="0">
                <a:solidFill>
                  <a:srgbClr val="0000FF"/>
                </a:solidFill>
              </a:rPr>
              <a:t>int</a:t>
            </a:r>
            <a:r>
              <a:rPr lang="en-US" sz="2400" b="0"/>
              <a:t> x, y;</a:t>
            </a:r>
          </a:p>
          <a:p>
            <a:pPr fontAlgn="auto">
              <a:lnSpc>
                <a:spcPct val="80000"/>
              </a:lnSpc>
              <a:spcBef>
                <a:spcPts val="0"/>
              </a:spcBef>
              <a:spcAft>
                <a:spcPts val="0"/>
              </a:spcAft>
              <a:defRPr/>
            </a:pPr>
            <a:r>
              <a:rPr lang="en-US" sz="2400" b="0"/>
              <a:t>	</a:t>
            </a:r>
            <a:r>
              <a:rPr lang="en-US" sz="2400" b="0">
                <a:solidFill>
                  <a:srgbClr val="0000FF"/>
                </a:solidFill>
              </a:rPr>
              <a:t>double</a:t>
            </a:r>
            <a:r>
              <a:rPr lang="en-US" sz="2400" b="0"/>
              <a:t> result;</a:t>
            </a:r>
          </a:p>
          <a:p>
            <a:pPr fontAlgn="auto">
              <a:spcBef>
                <a:spcPts val="0"/>
              </a:spcBef>
              <a:spcAft>
                <a:spcPts val="0"/>
              </a:spcAft>
              <a:defRPr/>
            </a:pPr>
            <a:r>
              <a:rPr lang="en-US" sz="2400" b="0"/>
              <a:t>	</a:t>
            </a:r>
            <a:r>
              <a:rPr lang="en-US" sz="2400" b="0">
                <a:solidFill>
                  <a:srgbClr val="0000FF"/>
                </a:solidFill>
              </a:rPr>
              <a:t>do</a:t>
            </a:r>
            <a:r>
              <a:rPr lang="en-US" sz="2400" b="0"/>
              <a:t> {</a:t>
            </a:r>
          </a:p>
          <a:p>
            <a:pPr fontAlgn="auto">
              <a:spcBef>
                <a:spcPts val="0"/>
              </a:spcBef>
              <a:spcAft>
                <a:spcPts val="0"/>
              </a:spcAft>
              <a:defRPr/>
            </a:pPr>
            <a:r>
              <a:rPr lang="en-US" sz="2400" b="0"/>
              <a:t>		cout &lt;&lt; “Nhập 2 số:  </a:t>
            </a:r>
            <a:r>
              <a:rPr lang="en-US" sz="2400" b="0" smtClean="0"/>
              <a:t>”; cin </a:t>
            </a:r>
            <a:r>
              <a:rPr lang="en-US" sz="2400" b="0"/>
              <a:t>&gt;&gt; x &gt;&gt; y; </a:t>
            </a:r>
          </a:p>
          <a:p>
            <a:pPr fontAlgn="auto">
              <a:spcBef>
                <a:spcPts val="0"/>
              </a:spcBef>
              <a:spcAft>
                <a:spcPts val="0"/>
              </a:spcAft>
              <a:defRPr/>
            </a:pPr>
            <a:r>
              <a:rPr lang="en-US" sz="2400" b="0"/>
              <a:t>		</a:t>
            </a:r>
            <a:r>
              <a:rPr lang="en-US" sz="2400" b="0">
                <a:solidFill>
                  <a:srgbClr val="0000FF"/>
                </a:solidFill>
              </a:rPr>
              <a:t>try</a:t>
            </a:r>
            <a:r>
              <a:rPr lang="en-US" sz="2400" b="0"/>
              <a:t> {</a:t>
            </a:r>
          </a:p>
          <a:p>
            <a:pPr fontAlgn="auto">
              <a:spcBef>
                <a:spcPts val="0"/>
              </a:spcBef>
              <a:spcAft>
                <a:spcPts val="0"/>
              </a:spcAft>
              <a:defRPr/>
            </a:pPr>
            <a:r>
              <a:rPr lang="en-US" sz="2400" b="0"/>
              <a:t>			result = MyDivide(x, y</a:t>
            </a:r>
            <a:r>
              <a:rPr lang="en-US" sz="2400" b="0" smtClean="0"/>
              <a:t>);</a:t>
            </a:r>
          </a:p>
          <a:p>
            <a:pPr fontAlgn="auto">
              <a:spcBef>
                <a:spcPts val="0"/>
              </a:spcBef>
              <a:spcAft>
                <a:spcPts val="0"/>
              </a:spcAft>
              <a:defRPr/>
            </a:pPr>
            <a:r>
              <a:rPr lang="en-US" sz="2400" b="0" smtClean="0"/>
              <a:t>		</a:t>
            </a:r>
            <a:r>
              <a:rPr lang="en-US" sz="2400" b="0"/>
              <a:t>	cout &lt;&lt; </a:t>
            </a:r>
            <a:r>
              <a:rPr lang="en-US" sz="2400" b="0" smtClean="0"/>
              <a:t>“x/y = ” &lt;&lt; </a:t>
            </a:r>
            <a:r>
              <a:rPr lang="en-US" sz="2400" b="0"/>
              <a:t>result &lt;&lt; “\n</a:t>
            </a:r>
            <a:r>
              <a:rPr lang="en-US" sz="2400" b="0" smtClean="0"/>
              <a:t>”;</a:t>
            </a:r>
            <a:endParaRPr lang="en-US" sz="2400" b="0"/>
          </a:p>
          <a:p>
            <a:pPr fontAlgn="auto">
              <a:spcBef>
                <a:spcPts val="0"/>
              </a:spcBef>
              <a:spcAft>
                <a:spcPts val="0"/>
              </a:spcAft>
              <a:defRPr/>
            </a:pPr>
            <a:r>
              <a:rPr lang="en-US" sz="2400" b="0"/>
              <a:t>		}</a:t>
            </a:r>
          </a:p>
          <a:p>
            <a:pPr fontAlgn="auto">
              <a:spcBef>
                <a:spcPts val="0"/>
              </a:spcBef>
              <a:spcAft>
                <a:spcPts val="0"/>
              </a:spcAft>
              <a:defRPr/>
            </a:pPr>
            <a:r>
              <a:rPr lang="en-US" sz="2400" b="0"/>
              <a:t>		</a:t>
            </a:r>
            <a:r>
              <a:rPr lang="en-US" sz="2400" b="0">
                <a:solidFill>
                  <a:srgbClr val="0000FF"/>
                </a:solidFill>
              </a:rPr>
              <a:t>catch</a:t>
            </a:r>
            <a:r>
              <a:rPr lang="en-US" sz="2400" b="0"/>
              <a:t> (</a:t>
            </a:r>
            <a:r>
              <a:rPr lang="en-US" sz="2400" b="0">
                <a:solidFill>
                  <a:srgbClr val="FF3300"/>
                </a:solidFill>
              </a:rPr>
              <a:t>invalid_argument&amp; e</a:t>
            </a:r>
            <a:r>
              <a:rPr lang="en-US" sz="2400" b="0"/>
              <a:t>) {</a:t>
            </a:r>
          </a:p>
          <a:p>
            <a:pPr fontAlgn="auto">
              <a:spcBef>
                <a:spcPts val="0"/>
              </a:spcBef>
              <a:spcAft>
                <a:spcPts val="0"/>
              </a:spcAft>
              <a:defRPr/>
            </a:pPr>
            <a:r>
              <a:rPr lang="en-US" sz="2400" b="0"/>
              <a:t>			cout &lt;&lt; </a:t>
            </a:r>
            <a:r>
              <a:rPr lang="en-US" sz="2400" b="0">
                <a:solidFill>
                  <a:srgbClr val="FF3300"/>
                </a:solidFill>
              </a:rPr>
              <a:t>e.what()</a:t>
            </a:r>
            <a:r>
              <a:rPr lang="en-US" sz="2400" b="0"/>
              <a:t> &lt;&lt; endl;</a:t>
            </a:r>
          </a:p>
          <a:p>
            <a:pPr fontAlgn="auto">
              <a:spcBef>
                <a:spcPts val="0"/>
              </a:spcBef>
              <a:spcAft>
                <a:spcPts val="0"/>
              </a:spcAft>
              <a:defRPr/>
            </a:pPr>
            <a:r>
              <a:rPr lang="en-US" sz="2400" b="0"/>
              <a:t>		};</a:t>
            </a:r>
          </a:p>
          <a:p>
            <a:pPr fontAlgn="auto">
              <a:spcBef>
                <a:spcPts val="0"/>
              </a:spcBef>
              <a:spcAft>
                <a:spcPts val="0"/>
              </a:spcAft>
              <a:defRPr/>
            </a:pPr>
            <a:r>
              <a:rPr lang="en-US" sz="2400" b="0"/>
              <a:t>	} </a:t>
            </a:r>
            <a:r>
              <a:rPr lang="en-US" sz="2400" b="0">
                <a:solidFill>
                  <a:srgbClr val="0000FF"/>
                </a:solidFill>
              </a:rPr>
              <a:t>while</a:t>
            </a:r>
            <a:r>
              <a:rPr lang="en-US" sz="2400" b="0"/>
              <a:t> </a:t>
            </a:r>
            <a:r>
              <a:rPr lang="en-US" sz="2400" b="0" smtClean="0"/>
              <a:t>(1); </a:t>
            </a:r>
            <a:endParaRPr lang="en-US" sz="2400" b="0"/>
          </a:p>
          <a:p>
            <a:pPr fontAlgn="auto">
              <a:spcBef>
                <a:spcPts val="0"/>
              </a:spcBef>
              <a:spcAft>
                <a:spcPts val="0"/>
              </a:spcAft>
              <a:defRPr/>
            </a:pPr>
            <a:r>
              <a:rPr lang="en-US" sz="2400" b="0" smtClean="0"/>
              <a:t>}</a:t>
            </a:r>
            <a:endParaRPr lang="en-US" sz="2400" b="0" dirty="0"/>
          </a:p>
        </p:txBody>
      </p:sp>
    </p:spTree>
    <p:extLst>
      <p:ext uri="{BB962C8B-B14F-4D97-AF65-F5344CB8AC3E}">
        <p14:creationId xmlns:p14="http://schemas.microsoft.com/office/powerpoint/2010/main" val="3396762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Ưu điểm </a:t>
            </a:r>
            <a:r>
              <a:rPr lang="en-US" b="1" smtClean="0">
                <a:effectLst>
                  <a:outerShdw blurRad="38100" dist="38100" dir="2700000" algn="tl">
                    <a:srgbClr val="000000">
                      <a:alpha val="43137"/>
                    </a:srgbClr>
                  </a:outerShdw>
                </a:effectLst>
                <a:latin typeface="Arial" pitchFamily="34" charset="0"/>
                <a:cs typeface="Arial" pitchFamily="34" charset="0"/>
              </a:rPr>
              <a:t>exception trong C++</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53000"/>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Dễ sử dụng</a:t>
            </a:r>
          </a:p>
          <a:p>
            <a:pPr lvl="1" algn="just">
              <a:lnSpc>
                <a:spcPct val="11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Dễ dàng chuyển điều khiển đến nơi có khả năng xử lý ngoại lệ</a:t>
            </a:r>
          </a:p>
          <a:p>
            <a:pPr lvl="1" algn="just">
              <a:lnSpc>
                <a:spcPct val="11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Có thể “ném” nhiều loại ngoại lệ</a:t>
            </a:r>
          </a:p>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Tách xử lý ngoại lệ khỏi thuật toán</a:t>
            </a:r>
          </a:p>
          <a:p>
            <a:pPr lvl="1" algn="just">
              <a:lnSpc>
                <a:spcPct val="11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Tách mã xử lý</a:t>
            </a:r>
          </a:p>
          <a:p>
            <a:pPr lvl="1" algn="just">
              <a:lnSpc>
                <a:spcPct val="110000"/>
              </a:lnSpc>
              <a:spcBef>
                <a:spcPts val="300"/>
              </a:spcBef>
              <a:spcAft>
                <a:spcPts val="300"/>
              </a:spcAft>
              <a:buFont typeface="Wingdings" pitchFamily="2" charset="2"/>
              <a:buChar char="v"/>
            </a:pPr>
            <a:r>
              <a:rPr lang="vi-VN" sz="2400">
                <a:solidFill>
                  <a:schemeClr val="tx1">
                    <a:lumMod val="95000"/>
                    <a:lumOff val="5000"/>
                  </a:schemeClr>
                </a:solidFill>
                <a:latin typeface="Arial" pitchFamily="34" charset="0"/>
                <a:cs typeface="Arial" pitchFamily="34" charset="0"/>
              </a:rPr>
              <a:t>Sử dụng cú pháp khác</a:t>
            </a:r>
          </a:p>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Không bỏ sót ngoại lệ (“ném” tự động)</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Chương trình </a:t>
            </a:r>
            <a:r>
              <a:rPr lang="vi-VN" sz="2800">
                <a:solidFill>
                  <a:srgbClr val="FF3300"/>
                </a:solidFill>
                <a:latin typeface="Arial" pitchFamily="34" charset="0"/>
                <a:cs typeface="Arial" pitchFamily="34" charset="0"/>
              </a:rPr>
              <a:t>dễ đọc hơn, an toàn hơn</a:t>
            </a:r>
            <a:endParaRPr lang="vi-VN" sz="2800" smtClean="0">
              <a:solidFill>
                <a:srgbClr val="FF33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21/12/2015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smtClean="0">
                <a:latin typeface="Times New Roman" pitchFamily="18" charset="0"/>
                <a:cs typeface="Times New Roman" pitchFamily="18" charset="0"/>
              </a:rPr>
              <a:t>Lập trình </a:t>
            </a:r>
            <a:r>
              <a:rPr lang="en-US" smtClean="0">
                <a:latin typeface="Times New Roman" pitchFamily="18" charset="0"/>
                <a:cs typeface="Times New Roman" pitchFamily="18" charset="0"/>
              </a:rPr>
              <a:t>hướng đối tượng</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63</a:t>
            </a:fld>
            <a:endParaRPr lang="en-US"/>
          </a:p>
        </p:txBody>
      </p:sp>
    </p:spTree>
    <p:extLst>
      <p:ext uri="{BB962C8B-B14F-4D97-AF65-F5344CB8AC3E}">
        <p14:creationId xmlns:p14="http://schemas.microsoft.com/office/powerpoint/2010/main" val="3396762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smtClean="0">
                <a:effectLst>
                  <a:outerShdw blurRad="38100" dist="38100" dir="2700000" algn="tl">
                    <a:srgbClr val="000000">
                      <a:alpha val="43137"/>
                    </a:srgbClr>
                  </a:outerShdw>
                </a:effectLst>
                <a:latin typeface="Arial" pitchFamily="34" charset="0"/>
                <a:cs typeface="Arial" pitchFamily="34" charset="0"/>
              </a:rPr>
              <a:t>Q &amp; A</a:t>
            </a:r>
            <a:endParaRPr lang="en-US" b="1">
              <a:effectLst>
                <a:outerShdw blurRad="38100" dist="38100" dir="2700000" algn="tl">
                  <a:srgbClr val="000000">
                    <a:alpha val="43137"/>
                  </a:srgbClr>
                </a:outerShdw>
              </a:effectLst>
              <a:latin typeface="Arial" pitchFamily="34" charset="0"/>
              <a:cs typeface="Arial" pitchFamily="34" charset="0"/>
            </a:endParaRPr>
          </a:p>
        </p:txBody>
      </p:sp>
      <p:grpSp>
        <p:nvGrpSpPr>
          <p:cNvPr id="7" name="Group 4"/>
          <p:cNvGrpSpPr>
            <a:grpSpLocks/>
          </p:cNvGrpSpPr>
          <p:nvPr/>
        </p:nvGrpSpPr>
        <p:grpSpPr bwMode="auto">
          <a:xfrm>
            <a:off x="2971800" y="1490663"/>
            <a:ext cx="3352800" cy="4757737"/>
            <a:chOff x="2208" y="768"/>
            <a:chExt cx="1170" cy="2517"/>
          </a:xfrm>
        </p:grpSpPr>
        <p:sp>
          <p:nvSpPr>
            <p:cNvPr id="8" name="AutoShape 5"/>
            <p:cNvSpPr>
              <a:spLocks noChangeAspect="1" noChangeArrowheads="1" noTextEdit="1"/>
            </p:cNvSpPr>
            <p:nvPr/>
          </p:nvSpPr>
          <p:spPr bwMode="auto">
            <a:xfrm>
              <a:off x="2208" y="768"/>
              <a:ext cx="1170" cy="2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 name="Freeform 6"/>
            <p:cNvSpPr>
              <a:spLocks/>
            </p:cNvSpPr>
            <p:nvPr/>
          </p:nvSpPr>
          <p:spPr bwMode="auto">
            <a:xfrm>
              <a:off x="2582" y="1093"/>
              <a:ext cx="457" cy="507"/>
            </a:xfrm>
            <a:custGeom>
              <a:avLst/>
              <a:gdLst>
                <a:gd name="T0" fmla="*/ 238 w 457"/>
                <a:gd name="T1" fmla="*/ 117 h 507"/>
                <a:gd name="T2" fmla="*/ 198 w 457"/>
                <a:gd name="T3" fmla="*/ 65 h 507"/>
                <a:gd name="T4" fmla="*/ 142 w 457"/>
                <a:gd name="T5" fmla="*/ 26 h 507"/>
                <a:gd name="T6" fmla="*/ 92 w 457"/>
                <a:gd name="T7" fmla="*/ 0 h 507"/>
                <a:gd name="T8" fmla="*/ 52 w 457"/>
                <a:gd name="T9" fmla="*/ 7 h 507"/>
                <a:gd name="T10" fmla="*/ 23 w 457"/>
                <a:gd name="T11" fmla="*/ 36 h 507"/>
                <a:gd name="T12" fmla="*/ 0 w 457"/>
                <a:gd name="T13" fmla="*/ 124 h 507"/>
                <a:gd name="T14" fmla="*/ 9 w 457"/>
                <a:gd name="T15" fmla="*/ 225 h 507"/>
                <a:gd name="T16" fmla="*/ 33 w 457"/>
                <a:gd name="T17" fmla="*/ 322 h 507"/>
                <a:gd name="T18" fmla="*/ 59 w 457"/>
                <a:gd name="T19" fmla="*/ 397 h 507"/>
                <a:gd name="T20" fmla="*/ 109 w 457"/>
                <a:gd name="T21" fmla="*/ 475 h 507"/>
                <a:gd name="T22" fmla="*/ 152 w 457"/>
                <a:gd name="T23" fmla="*/ 507 h 507"/>
                <a:gd name="T24" fmla="*/ 211 w 457"/>
                <a:gd name="T25" fmla="*/ 507 h 507"/>
                <a:gd name="T26" fmla="*/ 271 w 457"/>
                <a:gd name="T27" fmla="*/ 485 h 507"/>
                <a:gd name="T28" fmla="*/ 301 w 457"/>
                <a:gd name="T29" fmla="*/ 429 h 507"/>
                <a:gd name="T30" fmla="*/ 317 w 457"/>
                <a:gd name="T31" fmla="*/ 358 h 507"/>
                <a:gd name="T32" fmla="*/ 311 w 457"/>
                <a:gd name="T33" fmla="*/ 270 h 507"/>
                <a:gd name="T34" fmla="*/ 450 w 457"/>
                <a:gd name="T35" fmla="*/ 280 h 507"/>
                <a:gd name="T36" fmla="*/ 457 w 457"/>
                <a:gd name="T37" fmla="*/ 241 h 507"/>
                <a:gd name="T38" fmla="*/ 298 w 457"/>
                <a:gd name="T39" fmla="*/ 225 h 507"/>
                <a:gd name="T40" fmla="*/ 258 w 457"/>
                <a:gd name="T41" fmla="*/ 134 h 507"/>
                <a:gd name="T42" fmla="*/ 238 w 457"/>
                <a:gd name="T43" fmla="*/ 117 h 50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7"/>
                <a:gd name="T67" fmla="*/ 0 h 507"/>
                <a:gd name="T68" fmla="*/ 457 w 457"/>
                <a:gd name="T69" fmla="*/ 507 h 50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7" h="507">
                  <a:moveTo>
                    <a:pt x="238" y="117"/>
                  </a:moveTo>
                  <a:lnTo>
                    <a:pt x="198" y="65"/>
                  </a:lnTo>
                  <a:lnTo>
                    <a:pt x="142" y="26"/>
                  </a:lnTo>
                  <a:lnTo>
                    <a:pt x="92" y="0"/>
                  </a:lnTo>
                  <a:lnTo>
                    <a:pt x="52" y="7"/>
                  </a:lnTo>
                  <a:lnTo>
                    <a:pt x="23" y="36"/>
                  </a:lnTo>
                  <a:lnTo>
                    <a:pt x="0" y="124"/>
                  </a:lnTo>
                  <a:lnTo>
                    <a:pt x="9" y="225"/>
                  </a:lnTo>
                  <a:lnTo>
                    <a:pt x="33" y="322"/>
                  </a:lnTo>
                  <a:lnTo>
                    <a:pt x="59" y="397"/>
                  </a:lnTo>
                  <a:lnTo>
                    <a:pt x="109" y="475"/>
                  </a:lnTo>
                  <a:lnTo>
                    <a:pt x="152" y="507"/>
                  </a:lnTo>
                  <a:lnTo>
                    <a:pt x="211" y="507"/>
                  </a:lnTo>
                  <a:lnTo>
                    <a:pt x="271" y="485"/>
                  </a:lnTo>
                  <a:lnTo>
                    <a:pt x="301" y="429"/>
                  </a:lnTo>
                  <a:lnTo>
                    <a:pt x="317" y="358"/>
                  </a:lnTo>
                  <a:lnTo>
                    <a:pt x="311" y="270"/>
                  </a:lnTo>
                  <a:lnTo>
                    <a:pt x="450" y="280"/>
                  </a:lnTo>
                  <a:lnTo>
                    <a:pt x="457" y="241"/>
                  </a:lnTo>
                  <a:lnTo>
                    <a:pt x="298" y="225"/>
                  </a:lnTo>
                  <a:lnTo>
                    <a:pt x="258" y="134"/>
                  </a:lnTo>
                  <a:lnTo>
                    <a:pt x="238" y="117"/>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7"/>
            <p:cNvSpPr>
              <a:spLocks/>
            </p:cNvSpPr>
            <p:nvPr/>
          </p:nvSpPr>
          <p:spPr bwMode="auto">
            <a:xfrm>
              <a:off x="2210" y="963"/>
              <a:ext cx="526" cy="813"/>
            </a:xfrm>
            <a:custGeom>
              <a:avLst/>
              <a:gdLst>
                <a:gd name="T0" fmla="*/ 307 w 526"/>
                <a:gd name="T1" fmla="*/ 19 h 813"/>
                <a:gd name="T2" fmla="*/ 373 w 526"/>
                <a:gd name="T3" fmla="*/ 0 h 813"/>
                <a:gd name="T4" fmla="*/ 426 w 526"/>
                <a:gd name="T5" fmla="*/ 3 h 813"/>
                <a:gd name="T6" fmla="*/ 466 w 526"/>
                <a:gd name="T7" fmla="*/ 32 h 813"/>
                <a:gd name="T8" fmla="*/ 493 w 526"/>
                <a:gd name="T9" fmla="*/ 78 h 813"/>
                <a:gd name="T10" fmla="*/ 483 w 526"/>
                <a:gd name="T11" fmla="*/ 126 h 813"/>
                <a:gd name="T12" fmla="*/ 446 w 526"/>
                <a:gd name="T13" fmla="*/ 126 h 813"/>
                <a:gd name="T14" fmla="*/ 456 w 526"/>
                <a:gd name="T15" fmla="*/ 87 h 813"/>
                <a:gd name="T16" fmla="*/ 426 w 526"/>
                <a:gd name="T17" fmla="*/ 52 h 813"/>
                <a:gd name="T18" fmla="*/ 397 w 526"/>
                <a:gd name="T19" fmla="*/ 39 h 813"/>
                <a:gd name="T20" fmla="*/ 347 w 526"/>
                <a:gd name="T21" fmla="*/ 52 h 813"/>
                <a:gd name="T22" fmla="*/ 367 w 526"/>
                <a:gd name="T23" fmla="*/ 91 h 813"/>
                <a:gd name="T24" fmla="*/ 373 w 526"/>
                <a:gd name="T25" fmla="*/ 126 h 813"/>
                <a:gd name="T26" fmla="*/ 367 w 526"/>
                <a:gd name="T27" fmla="*/ 156 h 813"/>
                <a:gd name="T28" fmla="*/ 317 w 526"/>
                <a:gd name="T29" fmla="*/ 169 h 813"/>
                <a:gd name="T30" fmla="*/ 264 w 526"/>
                <a:gd name="T31" fmla="*/ 159 h 813"/>
                <a:gd name="T32" fmla="*/ 254 w 526"/>
                <a:gd name="T33" fmla="*/ 136 h 813"/>
                <a:gd name="T34" fmla="*/ 198 w 526"/>
                <a:gd name="T35" fmla="*/ 198 h 813"/>
                <a:gd name="T36" fmla="*/ 165 w 526"/>
                <a:gd name="T37" fmla="*/ 266 h 813"/>
                <a:gd name="T38" fmla="*/ 119 w 526"/>
                <a:gd name="T39" fmla="*/ 354 h 813"/>
                <a:gd name="T40" fmla="*/ 89 w 526"/>
                <a:gd name="T41" fmla="*/ 432 h 813"/>
                <a:gd name="T42" fmla="*/ 76 w 526"/>
                <a:gd name="T43" fmla="*/ 507 h 813"/>
                <a:gd name="T44" fmla="*/ 86 w 526"/>
                <a:gd name="T45" fmla="*/ 546 h 813"/>
                <a:gd name="T46" fmla="*/ 139 w 526"/>
                <a:gd name="T47" fmla="*/ 595 h 813"/>
                <a:gd name="T48" fmla="*/ 248 w 526"/>
                <a:gd name="T49" fmla="*/ 637 h 813"/>
                <a:gd name="T50" fmla="*/ 307 w 526"/>
                <a:gd name="T51" fmla="*/ 656 h 813"/>
                <a:gd name="T52" fmla="*/ 367 w 526"/>
                <a:gd name="T53" fmla="*/ 666 h 813"/>
                <a:gd name="T54" fmla="*/ 456 w 526"/>
                <a:gd name="T55" fmla="*/ 702 h 813"/>
                <a:gd name="T56" fmla="*/ 522 w 526"/>
                <a:gd name="T57" fmla="*/ 725 h 813"/>
                <a:gd name="T58" fmla="*/ 526 w 526"/>
                <a:gd name="T59" fmla="*/ 770 h 813"/>
                <a:gd name="T60" fmla="*/ 493 w 526"/>
                <a:gd name="T61" fmla="*/ 803 h 813"/>
                <a:gd name="T62" fmla="*/ 453 w 526"/>
                <a:gd name="T63" fmla="*/ 813 h 813"/>
                <a:gd name="T64" fmla="*/ 393 w 526"/>
                <a:gd name="T65" fmla="*/ 783 h 813"/>
                <a:gd name="T66" fmla="*/ 254 w 526"/>
                <a:gd name="T67" fmla="*/ 712 h 813"/>
                <a:gd name="T68" fmla="*/ 139 w 526"/>
                <a:gd name="T69" fmla="*/ 663 h 813"/>
                <a:gd name="T70" fmla="*/ 59 w 526"/>
                <a:gd name="T71" fmla="*/ 608 h 813"/>
                <a:gd name="T72" fmla="*/ 6 w 526"/>
                <a:gd name="T73" fmla="*/ 559 h 813"/>
                <a:gd name="T74" fmla="*/ 0 w 526"/>
                <a:gd name="T75" fmla="*/ 500 h 813"/>
                <a:gd name="T76" fmla="*/ 29 w 526"/>
                <a:gd name="T77" fmla="*/ 422 h 813"/>
                <a:gd name="T78" fmla="*/ 89 w 526"/>
                <a:gd name="T79" fmla="*/ 305 h 813"/>
                <a:gd name="T80" fmla="*/ 145 w 526"/>
                <a:gd name="T81" fmla="*/ 208 h 813"/>
                <a:gd name="T82" fmla="*/ 215 w 526"/>
                <a:gd name="T83" fmla="*/ 107 h 813"/>
                <a:gd name="T84" fmla="*/ 268 w 526"/>
                <a:gd name="T85" fmla="*/ 48 h 813"/>
                <a:gd name="T86" fmla="*/ 334 w 526"/>
                <a:gd name="T87" fmla="*/ 19 h 813"/>
                <a:gd name="T88" fmla="*/ 307 w 526"/>
                <a:gd name="T89" fmla="*/ 19 h 81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26"/>
                <a:gd name="T136" fmla="*/ 0 h 813"/>
                <a:gd name="T137" fmla="*/ 526 w 526"/>
                <a:gd name="T138" fmla="*/ 813 h 81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26" h="813">
                  <a:moveTo>
                    <a:pt x="307" y="19"/>
                  </a:moveTo>
                  <a:lnTo>
                    <a:pt x="373" y="0"/>
                  </a:lnTo>
                  <a:lnTo>
                    <a:pt x="426" y="3"/>
                  </a:lnTo>
                  <a:lnTo>
                    <a:pt x="466" y="32"/>
                  </a:lnTo>
                  <a:lnTo>
                    <a:pt x="493" y="78"/>
                  </a:lnTo>
                  <a:lnTo>
                    <a:pt x="483" y="126"/>
                  </a:lnTo>
                  <a:lnTo>
                    <a:pt x="446" y="126"/>
                  </a:lnTo>
                  <a:lnTo>
                    <a:pt x="456" y="87"/>
                  </a:lnTo>
                  <a:lnTo>
                    <a:pt x="426" y="52"/>
                  </a:lnTo>
                  <a:lnTo>
                    <a:pt x="397" y="39"/>
                  </a:lnTo>
                  <a:lnTo>
                    <a:pt x="347" y="52"/>
                  </a:lnTo>
                  <a:lnTo>
                    <a:pt x="367" y="91"/>
                  </a:lnTo>
                  <a:lnTo>
                    <a:pt x="373" y="126"/>
                  </a:lnTo>
                  <a:lnTo>
                    <a:pt x="367" y="156"/>
                  </a:lnTo>
                  <a:lnTo>
                    <a:pt x="317" y="169"/>
                  </a:lnTo>
                  <a:lnTo>
                    <a:pt x="264" y="159"/>
                  </a:lnTo>
                  <a:lnTo>
                    <a:pt x="254" y="136"/>
                  </a:lnTo>
                  <a:lnTo>
                    <a:pt x="198" y="198"/>
                  </a:lnTo>
                  <a:lnTo>
                    <a:pt x="165" y="266"/>
                  </a:lnTo>
                  <a:lnTo>
                    <a:pt x="119" y="354"/>
                  </a:lnTo>
                  <a:lnTo>
                    <a:pt x="89" y="432"/>
                  </a:lnTo>
                  <a:lnTo>
                    <a:pt x="76" y="507"/>
                  </a:lnTo>
                  <a:lnTo>
                    <a:pt x="86" y="546"/>
                  </a:lnTo>
                  <a:lnTo>
                    <a:pt x="139" y="595"/>
                  </a:lnTo>
                  <a:lnTo>
                    <a:pt x="248" y="637"/>
                  </a:lnTo>
                  <a:lnTo>
                    <a:pt x="307" y="656"/>
                  </a:lnTo>
                  <a:lnTo>
                    <a:pt x="367" y="666"/>
                  </a:lnTo>
                  <a:lnTo>
                    <a:pt x="456" y="702"/>
                  </a:lnTo>
                  <a:lnTo>
                    <a:pt x="522" y="725"/>
                  </a:lnTo>
                  <a:lnTo>
                    <a:pt x="526" y="770"/>
                  </a:lnTo>
                  <a:lnTo>
                    <a:pt x="493" y="803"/>
                  </a:lnTo>
                  <a:lnTo>
                    <a:pt x="453" y="813"/>
                  </a:lnTo>
                  <a:lnTo>
                    <a:pt x="393" y="783"/>
                  </a:lnTo>
                  <a:lnTo>
                    <a:pt x="254" y="712"/>
                  </a:lnTo>
                  <a:lnTo>
                    <a:pt x="139" y="663"/>
                  </a:lnTo>
                  <a:lnTo>
                    <a:pt x="59" y="608"/>
                  </a:lnTo>
                  <a:lnTo>
                    <a:pt x="6" y="559"/>
                  </a:lnTo>
                  <a:lnTo>
                    <a:pt x="0" y="500"/>
                  </a:lnTo>
                  <a:lnTo>
                    <a:pt x="29" y="422"/>
                  </a:lnTo>
                  <a:lnTo>
                    <a:pt x="89" y="305"/>
                  </a:lnTo>
                  <a:lnTo>
                    <a:pt x="145" y="208"/>
                  </a:lnTo>
                  <a:lnTo>
                    <a:pt x="215" y="107"/>
                  </a:lnTo>
                  <a:lnTo>
                    <a:pt x="268" y="48"/>
                  </a:lnTo>
                  <a:lnTo>
                    <a:pt x="334" y="19"/>
                  </a:lnTo>
                  <a:lnTo>
                    <a:pt x="307" y="1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8"/>
            <p:cNvSpPr>
              <a:spLocks/>
            </p:cNvSpPr>
            <p:nvPr/>
          </p:nvSpPr>
          <p:spPr bwMode="auto">
            <a:xfrm>
              <a:off x="2706" y="1637"/>
              <a:ext cx="275" cy="763"/>
            </a:xfrm>
            <a:custGeom>
              <a:avLst/>
              <a:gdLst>
                <a:gd name="T0" fmla="*/ 17 w 275"/>
                <a:gd name="T1" fmla="*/ 59 h 763"/>
                <a:gd name="T2" fmla="*/ 27 w 275"/>
                <a:gd name="T3" fmla="*/ 20 h 763"/>
                <a:gd name="T4" fmla="*/ 70 w 275"/>
                <a:gd name="T5" fmla="*/ 0 h 763"/>
                <a:gd name="T6" fmla="*/ 109 w 275"/>
                <a:gd name="T7" fmla="*/ 0 h 763"/>
                <a:gd name="T8" fmla="*/ 159 w 275"/>
                <a:gd name="T9" fmla="*/ 29 h 763"/>
                <a:gd name="T10" fmla="*/ 206 w 275"/>
                <a:gd name="T11" fmla="*/ 98 h 763"/>
                <a:gd name="T12" fmla="*/ 239 w 275"/>
                <a:gd name="T13" fmla="*/ 169 h 763"/>
                <a:gd name="T14" fmla="*/ 255 w 275"/>
                <a:gd name="T15" fmla="*/ 266 h 763"/>
                <a:gd name="T16" fmla="*/ 269 w 275"/>
                <a:gd name="T17" fmla="*/ 380 h 763"/>
                <a:gd name="T18" fmla="*/ 275 w 275"/>
                <a:gd name="T19" fmla="*/ 490 h 763"/>
                <a:gd name="T20" fmla="*/ 275 w 275"/>
                <a:gd name="T21" fmla="*/ 633 h 763"/>
                <a:gd name="T22" fmla="*/ 255 w 275"/>
                <a:gd name="T23" fmla="*/ 721 h 763"/>
                <a:gd name="T24" fmla="*/ 219 w 275"/>
                <a:gd name="T25" fmla="*/ 753 h 763"/>
                <a:gd name="T26" fmla="*/ 156 w 275"/>
                <a:gd name="T27" fmla="*/ 763 h 763"/>
                <a:gd name="T28" fmla="*/ 90 w 275"/>
                <a:gd name="T29" fmla="*/ 760 h 763"/>
                <a:gd name="T30" fmla="*/ 56 w 275"/>
                <a:gd name="T31" fmla="*/ 721 h 763"/>
                <a:gd name="T32" fmla="*/ 37 w 275"/>
                <a:gd name="T33" fmla="*/ 653 h 763"/>
                <a:gd name="T34" fmla="*/ 20 w 275"/>
                <a:gd name="T35" fmla="*/ 585 h 763"/>
                <a:gd name="T36" fmla="*/ 7 w 275"/>
                <a:gd name="T37" fmla="*/ 461 h 763"/>
                <a:gd name="T38" fmla="*/ 0 w 275"/>
                <a:gd name="T39" fmla="*/ 322 h 763"/>
                <a:gd name="T40" fmla="*/ 0 w 275"/>
                <a:gd name="T41" fmla="*/ 159 h 763"/>
                <a:gd name="T42" fmla="*/ 17 w 275"/>
                <a:gd name="T43" fmla="*/ 88 h 763"/>
                <a:gd name="T44" fmla="*/ 17 w 275"/>
                <a:gd name="T45" fmla="*/ 59 h 7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5"/>
                <a:gd name="T70" fmla="*/ 0 h 763"/>
                <a:gd name="T71" fmla="*/ 275 w 275"/>
                <a:gd name="T72" fmla="*/ 763 h 76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5" h="763">
                  <a:moveTo>
                    <a:pt x="17" y="59"/>
                  </a:moveTo>
                  <a:lnTo>
                    <a:pt x="27" y="20"/>
                  </a:lnTo>
                  <a:lnTo>
                    <a:pt x="70" y="0"/>
                  </a:lnTo>
                  <a:lnTo>
                    <a:pt x="109" y="0"/>
                  </a:lnTo>
                  <a:lnTo>
                    <a:pt x="159" y="29"/>
                  </a:lnTo>
                  <a:lnTo>
                    <a:pt x="206" y="98"/>
                  </a:lnTo>
                  <a:lnTo>
                    <a:pt x="239" y="169"/>
                  </a:lnTo>
                  <a:lnTo>
                    <a:pt x="255" y="266"/>
                  </a:lnTo>
                  <a:lnTo>
                    <a:pt x="269" y="380"/>
                  </a:lnTo>
                  <a:lnTo>
                    <a:pt x="275" y="490"/>
                  </a:lnTo>
                  <a:lnTo>
                    <a:pt x="275" y="633"/>
                  </a:lnTo>
                  <a:lnTo>
                    <a:pt x="255" y="721"/>
                  </a:lnTo>
                  <a:lnTo>
                    <a:pt x="219" y="753"/>
                  </a:lnTo>
                  <a:lnTo>
                    <a:pt x="156" y="763"/>
                  </a:lnTo>
                  <a:lnTo>
                    <a:pt x="90" y="760"/>
                  </a:lnTo>
                  <a:lnTo>
                    <a:pt x="56" y="721"/>
                  </a:lnTo>
                  <a:lnTo>
                    <a:pt x="37" y="653"/>
                  </a:lnTo>
                  <a:lnTo>
                    <a:pt x="20" y="585"/>
                  </a:lnTo>
                  <a:lnTo>
                    <a:pt x="7" y="461"/>
                  </a:lnTo>
                  <a:lnTo>
                    <a:pt x="0" y="322"/>
                  </a:lnTo>
                  <a:lnTo>
                    <a:pt x="0" y="159"/>
                  </a:lnTo>
                  <a:lnTo>
                    <a:pt x="17" y="88"/>
                  </a:lnTo>
                  <a:lnTo>
                    <a:pt x="17" y="5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9"/>
            <p:cNvSpPr>
              <a:spLocks/>
            </p:cNvSpPr>
            <p:nvPr/>
          </p:nvSpPr>
          <p:spPr bwMode="auto">
            <a:xfrm>
              <a:off x="2833" y="1658"/>
              <a:ext cx="420" cy="586"/>
            </a:xfrm>
            <a:custGeom>
              <a:avLst/>
              <a:gdLst>
                <a:gd name="T0" fmla="*/ 23 w 420"/>
                <a:gd name="T1" fmla="*/ 0 h 586"/>
                <a:gd name="T2" fmla="*/ 109 w 420"/>
                <a:gd name="T3" fmla="*/ 10 h 586"/>
                <a:gd name="T4" fmla="*/ 198 w 420"/>
                <a:gd name="T5" fmla="*/ 26 h 586"/>
                <a:gd name="T6" fmla="*/ 291 w 420"/>
                <a:gd name="T7" fmla="*/ 78 h 586"/>
                <a:gd name="T8" fmla="*/ 357 w 420"/>
                <a:gd name="T9" fmla="*/ 117 h 586"/>
                <a:gd name="T10" fmla="*/ 400 w 420"/>
                <a:gd name="T11" fmla="*/ 173 h 586"/>
                <a:gd name="T12" fmla="*/ 420 w 420"/>
                <a:gd name="T13" fmla="*/ 205 h 586"/>
                <a:gd name="T14" fmla="*/ 380 w 420"/>
                <a:gd name="T15" fmla="*/ 300 h 586"/>
                <a:gd name="T16" fmla="*/ 317 w 420"/>
                <a:gd name="T17" fmla="*/ 358 h 586"/>
                <a:gd name="T18" fmla="*/ 241 w 420"/>
                <a:gd name="T19" fmla="*/ 400 h 586"/>
                <a:gd name="T20" fmla="*/ 201 w 420"/>
                <a:gd name="T21" fmla="*/ 426 h 586"/>
                <a:gd name="T22" fmla="*/ 132 w 420"/>
                <a:gd name="T23" fmla="*/ 439 h 586"/>
                <a:gd name="T24" fmla="*/ 129 w 420"/>
                <a:gd name="T25" fmla="*/ 465 h 586"/>
                <a:gd name="T26" fmla="*/ 182 w 420"/>
                <a:gd name="T27" fmla="*/ 488 h 586"/>
                <a:gd name="T28" fmla="*/ 258 w 420"/>
                <a:gd name="T29" fmla="*/ 508 h 586"/>
                <a:gd name="T30" fmla="*/ 330 w 420"/>
                <a:gd name="T31" fmla="*/ 547 h 586"/>
                <a:gd name="T32" fmla="*/ 301 w 420"/>
                <a:gd name="T33" fmla="*/ 576 h 586"/>
                <a:gd name="T34" fmla="*/ 271 w 420"/>
                <a:gd name="T35" fmla="*/ 586 h 586"/>
                <a:gd name="T36" fmla="*/ 228 w 420"/>
                <a:gd name="T37" fmla="*/ 543 h 586"/>
                <a:gd name="T38" fmla="*/ 162 w 420"/>
                <a:gd name="T39" fmla="*/ 517 h 586"/>
                <a:gd name="T40" fmla="*/ 109 w 420"/>
                <a:gd name="T41" fmla="*/ 498 h 586"/>
                <a:gd name="T42" fmla="*/ 109 w 420"/>
                <a:gd name="T43" fmla="*/ 459 h 586"/>
                <a:gd name="T44" fmla="*/ 119 w 420"/>
                <a:gd name="T45" fmla="*/ 417 h 586"/>
                <a:gd name="T46" fmla="*/ 152 w 420"/>
                <a:gd name="T47" fmla="*/ 400 h 586"/>
                <a:gd name="T48" fmla="*/ 258 w 420"/>
                <a:gd name="T49" fmla="*/ 358 h 586"/>
                <a:gd name="T50" fmla="*/ 317 w 420"/>
                <a:gd name="T51" fmla="*/ 293 h 586"/>
                <a:gd name="T52" fmla="*/ 360 w 420"/>
                <a:gd name="T53" fmla="*/ 225 h 586"/>
                <a:gd name="T54" fmla="*/ 350 w 420"/>
                <a:gd name="T55" fmla="*/ 192 h 586"/>
                <a:gd name="T56" fmla="*/ 317 w 420"/>
                <a:gd name="T57" fmla="*/ 153 h 586"/>
                <a:gd name="T58" fmla="*/ 238 w 420"/>
                <a:gd name="T59" fmla="*/ 98 h 586"/>
                <a:gd name="T60" fmla="*/ 142 w 420"/>
                <a:gd name="T61" fmla="*/ 78 h 586"/>
                <a:gd name="T62" fmla="*/ 79 w 420"/>
                <a:gd name="T63" fmla="*/ 75 h 586"/>
                <a:gd name="T64" fmla="*/ 23 w 420"/>
                <a:gd name="T65" fmla="*/ 75 h 586"/>
                <a:gd name="T66" fmla="*/ 0 w 420"/>
                <a:gd name="T67" fmla="*/ 39 h 586"/>
                <a:gd name="T68" fmla="*/ 23 w 420"/>
                <a:gd name="T69" fmla="*/ 0 h 58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20"/>
                <a:gd name="T106" fmla="*/ 0 h 586"/>
                <a:gd name="T107" fmla="*/ 420 w 420"/>
                <a:gd name="T108" fmla="*/ 586 h 58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20" h="586">
                  <a:moveTo>
                    <a:pt x="23" y="0"/>
                  </a:moveTo>
                  <a:lnTo>
                    <a:pt x="109" y="10"/>
                  </a:lnTo>
                  <a:lnTo>
                    <a:pt x="198" y="26"/>
                  </a:lnTo>
                  <a:lnTo>
                    <a:pt x="291" y="78"/>
                  </a:lnTo>
                  <a:lnTo>
                    <a:pt x="357" y="117"/>
                  </a:lnTo>
                  <a:lnTo>
                    <a:pt x="400" y="173"/>
                  </a:lnTo>
                  <a:lnTo>
                    <a:pt x="420" y="205"/>
                  </a:lnTo>
                  <a:lnTo>
                    <a:pt x="380" y="300"/>
                  </a:lnTo>
                  <a:lnTo>
                    <a:pt x="317" y="358"/>
                  </a:lnTo>
                  <a:lnTo>
                    <a:pt x="241" y="400"/>
                  </a:lnTo>
                  <a:lnTo>
                    <a:pt x="201" y="426"/>
                  </a:lnTo>
                  <a:lnTo>
                    <a:pt x="132" y="439"/>
                  </a:lnTo>
                  <a:lnTo>
                    <a:pt x="129" y="465"/>
                  </a:lnTo>
                  <a:lnTo>
                    <a:pt x="182" y="488"/>
                  </a:lnTo>
                  <a:lnTo>
                    <a:pt x="258" y="508"/>
                  </a:lnTo>
                  <a:lnTo>
                    <a:pt x="330" y="547"/>
                  </a:lnTo>
                  <a:lnTo>
                    <a:pt x="301" y="576"/>
                  </a:lnTo>
                  <a:lnTo>
                    <a:pt x="271" y="586"/>
                  </a:lnTo>
                  <a:lnTo>
                    <a:pt x="228" y="543"/>
                  </a:lnTo>
                  <a:lnTo>
                    <a:pt x="162" y="517"/>
                  </a:lnTo>
                  <a:lnTo>
                    <a:pt x="109" y="498"/>
                  </a:lnTo>
                  <a:lnTo>
                    <a:pt x="109" y="459"/>
                  </a:lnTo>
                  <a:lnTo>
                    <a:pt x="119" y="417"/>
                  </a:lnTo>
                  <a:lnTo>
                    <a:pt x="152" y="400"/>
                  </a:lnTo>
                  <a:lnTo>
                    <a:pt x="258" y="358"/>
                  </a:lnTo>
                  <a:lnTo>
                    <a:pt x="317" y="293"/>
                  </a:lnTo>
                  <a:lnTo>
                    <a:pt x="360" y="225"/>
                  </a:lnTo>
                  <a:lnTo>
                    <a:pt x="350" y="192"/>
                  </a:lnTo>
                  <a:lnTo>
                    <a:pt x="317" y="153"/>
                  </a:lnTo>
                  <a:lnTo>
                    <a:pt x="238" y="98"/>
                  </a:lnTo>
                  <a:lnTo>
                    <a:pt x="142" y="78"/>
                  </a:lnTo>
                  <a:lnTo>
                    <a:pt x="79" y="75"/>
                  </a:lnTo>
                  <a:lnTo>
                    <a:pt x="23" y="75"/>
                  </a:lnTo>
                  <a:lnTo>
                    <a:pt x="0" y="39"/>
                  </a:lnTo>
                  <a:lnTo>
                    <a:pt x="23"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10"/>
            <p:cNvSpPr>
              <a:spLocks/>
            </p:cNvSpPr>
            <p:nvPr/>
          </p:nvSpPr>
          <p:spPr bwMode="auto">
            <a:xfrm>
              <a:off x="2866" y="2322"/>
              <a:ext cx="511" cy="947"/>
            </a:xfrm>
            <a:custGeom>
              <a:avLst/>
              <a:gdLst>
                <a:gd name="T0" fmla="*/ 59 w 511"/>
                <a:gd name="T1" fmla="*/ 0 h 947"/>
                <a:gd name="T2" fmla="*/ 13 w 511"/>
                <a:gd name="T3" fmla="*/ 0 h 947"/>
                <a:gd name="T4" fmla="*/ 0 w 511"/>
                <a:gd name="T5" fmla="*/ 68 h 947"/>
                <a:gd name="T6" fmla="*/ 33 w 511"/>
                <a:gd name="T7" fmla="*/ 108 h 947"/>
                <a:gd name="T8" fmla="*/ 139 w 511"/>
                <a:gd name="T9" fmla="*/ 202 h 947"/>
                <a:gd name="T10" fmla="*/ 232 w 511"/>
                <a:gd name="T11" fmla="*/ 322 h 947"/>
                <a:gd name="T12" fmla="*/ 292 w 511"/>
                <a:gd name="T13" fmla="*/ 446 h 947"/>
                <a:gd name="T14" fmla="*/ 301 w 511"/>
                <a:gd name="T15" fmla="*/ 527 h 947"/>
                <a:gd name="T16" fmla="*/ 298 w 511"/>
                <a:gd name="T17" fmla="*/ 586 h 947"/>
                <a:gd name="T18" fmla="*/ 272 w 511"/>
                <a:gd name="T19" fmla="*/ 719 h 947"/>
                <a:gd name="T20" fmla="*/ 238 w 511"/>
                <a:gd name="T21" fmla="*/ 827 h 947"/>
                <a:gd name="T22" fmla="*/ 209 w 511"/>
                <a:gd name="T23" fmla="*/ 889 h 947"/>
                <a:gd name="T24" fmla="*/ 202 w 511"/>
                <a:gd name="T25" fmla="*/ 928 h 947"/>
                <a:gd name="T26" fmla="*/ 232 w 511"/>
                <a:gd name="T27" fmla="*/ 928 h 947"/>
                <a:gd name="T28" fmla="*/ 278 w 511"/>
                <a:gd name="T29" fmla="*/ 915 h 947"/>
                <a:gd name="T30" fmla="*/ 292 w 511"/>
                <a:gd name="T31" fmla="*/ 918 h 947"/>
                <a:gd name="T32" fmla="*/ 388 w 511"/>
                <a:gd name="T33" fmla="*/ 924 h 947"/>
                <a:gd name="T34" fmla="*/ 461 w 511"/>
                <a:gd name="T35" fmla="*/ 947 h 947"/>
                <a:gd name="T36" fmla="*/ 487 w 511"/>
                <a:gd name="T37" fmla="*/ 934 h 947"/>
                <a:gd name="T38" fmla="*/ 511 w 511"/>
                <a:gd name="T39" fmla="*/ 885 h 947"/>
                <a:gd name="T40" fmla="*/ 487 w 511"/>
                <a:gd name="T41" fmla="*/ 859 h 947"/>
                <a:gd name="T42" fmla="*/ 378 w 511"/>
                <a:gd name="T43" fmla="*/ 856 h 947"/>
                <a:gd name="T44" fmla="*/ 301 w 511"/>
                <a:gd name="T45" fmla="*/ 866 h 947"/>
                <a:gd name="T46" fmla="*/ 262 w 511"/>
                <a:gd name="T47" fmla="*/ 885 h 947"/>
                <a:gd name="T48" fmla="*/ 268 w 511"/>
                <a:gd name="T49" fmla="*/ 840 h 947"/>
                <a:gd name="T50" fmla="*/ 308 w 511"/>
                <a:gd name="T51" fmla="*/ 771 h 947"/>
                <a:gd name="T52" fmla="*/ 341 w 511"/>
                <a:gd name="T53" fmla="*/ 664 h 947"/>
                <a:gd name="T54" fmla="*/ 368 w 511"/>
                <a:gd name="T55" fmla="*/ 573 h 947"/>
                <a:gd name="T56" fmla="*/ 348 w 511"/>
                <a:gd name="T57" fmla="*/ 469 h 947"/>
                <a:gd name="T58" fmla="*/ 318 w 511"/>
                <a:gd name="T59" fmla="*/ 358 h 947"/>
                <a:gd name="T60" fmla="*/ 258 w 511"/>
                <a:gd name="T61" fmla="*/ 231 h 947"/>
                <a:gd name="T62" fmla="*/ 172 w 511"/>
                <a:gd name="T63" fmla="*/ 114 h 947"/>
                <a:gd name="T64" fmla="*/ 99 w 511"/>
                <a:gd name="T65" fmla="*/ 29 h 947"/>
                <a:gd name="T66" fmla="*/ 59 w 511"/>
                <a:gd name="T67" fmla="*/ 0 h 9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1"/>
                <a:gd name="T103" fmla="*/ 0 h 947"/>
                <a:gd name="T104" fmla="*/ 511 w 511"/>
                <a:gd name="T105" fmla="*/ 947 h 94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1" h="947">
                  <a:moveTo>
                    <a:pt x="59" y="0"/>
                  </a:moveTo>
                  <a:lnTo>
                    <a:pt x="13" y="0"/>
                  </a:lnTo>
                  <a:lnTo>
                    <a:pt x="0" y="68"/>
                  </a:lnTo>
                  <a:lnTo>
                    <a:pt x="33" y="108"/>
                  </a:lnTo>
                  <a:lnTo>
                    <a:pt x="139" y="202"/>
                  </a:lnTo>
                  <a:lnTo>
                    <a:pt x="232" y="322"/>
                  </a:lnTo>
                  <a:lnTo>
                    <a:pt x="292" y="446"/>
                  </a:lnTo>
                  <a:lnTo>
                    <a:pt x="301" y="527"/>
                  </a:lnTo>
                  <a:lnTo>
                    <a:pt x="298" y="586"/>
                  </a:lnTo>
                  <a:lnTo>
                    <a:pt x="272" y="719"/>
                  </a:lnTo>
                  <a:lnTo>
                    <a:pt x="238" y="827"/>
                  </a:lnTo>
                  <a:lnTo>
                    <a:pt x="209" y="889"/>
                  </a:lnTo>
                  <a:lnTo>
                    <a:pt x="202" y="928"/>
                  </a:lnTo>
                  <a:lnTo>
                    <a:pt x="232" y="928"/>
                  </a:lnTo>
                  <a:lnTo>
                    <a:pt x="278" y="915"/>
                  </a:lnTo>
                  <a:lnTo>
                    <a:pt x="292" y="918"/>
                  </a:lnTo>
                  <a:lnTo>
                    <a:pt x="388" y="924"/>
                  </a:lnTo>
                  <a:lnTo>
                    <a:pt x="461" y="947"/>
                  </a:lnTo>
                  <a:lnTo>
                    <a:pt x="487" y="934"/>
                  </a:lnTo>
                  <a:lnTo>
                    <a:pt x="511" y="885"/>
                  </a:lnTo>
                  <a:lnTo>
                    <a:pt x="487" y="859"/>
                  </a:lnTo>
                  <a:lnTo>
                    <a:pt x="378" y="856"/>
                  </a:lnTo>
                  <a:lnTo>
                    <a:pt x="301" y="866"/>
                  </a:lnTo>
                  <a:lnTo>
                    <a:pt x="262" y="885"/>
                  </a:lnTo>
                  <a:lnTo>
                    <a:pt x="268" y="840"/>
                  </a:lnTo>
                  <a:lnTo>
                    <a:pt x="308" y="771"/>
                  </a:lnTo>
                  <a:lnTo>
                    <a:pt x="341" y="664"/>
                  </a:lnTo>
                  <a:lnTo>
                    <a:pt x="368" y="573"/>
                  </a:lnTo>
                  <a:lnTo>
                    <a:pt x="348" y="469"/>
                  </a:lnTo>
                  <a:lnTo>
                    <a:pt x="318" y="358"/>
                  </a:lnTo>
                  <a:lnTo>
                    <a:pt x="258" y="231"/>
                  </a:lnTo>
                  <a:lnTo>
                    <a:pt x="172" y="114"/>
                  </a:lnTo>
                  <a:lnTo>
                    <a:pt x="99" y="29"/>
                  </a:lnTo>
                  <a:lnTo>
                    <a:pt x="59"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11"/>
            <p:cNvSpPr>
              <a:spLocks/>
            </p:cNvSpPr>
            <p:nvPr/>
          </p:nvSpPr>
          <p:spPr bwMode="auto">
            <a:xfrm>
              <a:off x="2545" y="2320"/>
              <a:ext cx="344" cy="965"/>
            </a:xfrm>
            <a:custGeom>
              <a:avLst/>
              <a:gdLst>
                <a:gd name="T0" fmla="*/ 238 w 344"/>
                <a:gd name="T1" fmla="*/ 0 h 965"/>
                <a:gd name="T2" fmla="*/ 195 w 344"/>
                <a:gd name="T3" fmla="*/ 91 h 965"/>
                <a:gd name="T4" fmla="*/ 165 w 344"/>
                <a:gd name="T5" fmla="*/ 224 h 965"/>
                <a:gd name="T6" fmla="*/ 129 w 344"/>
                <a:gd name="T7" fmla="*/ 371 h 965"/>
                <a:gd name="T8" fmla="*/ 96 w 344"/>
                <a:gd name="T9" fmla="*/ 520 h 965"/>
                <a:gd name="T10" fmla="*/ 96 w 344"/>
                <a:gd name="T11" fmla="*/ 575 h 965"/>
                <a:gd name="T12" fmla="*/ 129 w 344"/>
                <a:gd name="T13" fmla="*/ 673 h 965"/>
                <a:gd name="T14" fmla="*/ 175 w 344"/>
                <a:gd name="T15" fmla="*/ 725 h 965"/>
                <a:gd name="T16" fmla="*/ 218 w 344"/>
                <a:gd name="T17" fmla="*/ 790 h 965"/>
                <a:gd name="T18" fmla="*/ 248 w 344"/>
                <a:gd name="T19" fmla="*/ 838 h 965"/>
                <a:gd name="T20" fmla="*/ 235 w 344"/>
                <a:gd name="T21" fmla="*/ 861 h 965"/>
                <a:gd name="T22" fmla="*/ 159 w 344"/>
                <a:gd name="T23" fmla="*/ 871 h 965"/>
                <a:gd name="T24" fmla="*/ 36 w 344"/>
                <a:gd name="T25" fmla="*/ 890 h 965"/>
                <a:gd name="T26" fmla="*/ 0 w 344"/>
                <a:gd name="T27" fmla="*/ 920 h 965"/>
                <a:gd name="T28" fmla="*/ 30 w 344"/>
                <a:gd name="T29" fmla="*/ 946 h 965"/>
                <a:gd name="T30" fmla="*/ 99 w 344"/>
                <a:gd name="T31" fmla="*/ 965 h 965"/>
                <a:gd name="T32" fmla="*/ 179 w 344"/>
                <a:gd name="T33" fmla="*/ 926 h 965"/>
                <a:gd name="T34" fmla="*/ 238 w 344"/>
                <a:gd name="T35" fmla="*/ 900 h 965"/>
                <a:gd name="T36" fmla="*/ 314 w 344"/>
                <a:gd name="T37" fmla="*/ 890 h 965"/>
                <a:gd name="T38" fmla="*/ 344 w 344"/>
                <a:gd name="T39" fmla="*/ 881 h 965"/>
                <a:gd name="T40" fmla="*/ 334 w 344"/>
                <a:gd name="T41" fmla="*/ 848 h 965"/>
                <a:gd name="T42" fmla="*/ 248 w 344"/>
                <a:gd name="T43" fmla="*/ 764 h 965"/>
                <a:gd name="T44" fmla="*/ 198 w 344"/>
                <a:gd name="T45" fmla="*/ 676 h 965"/>
                <a:gd name="T46" fmla="*/ 155 w 344"/>
                <a:gd name="T47" fmla="*/ 617 h 965"/>
                <a:gd name="T48" fmla="*/ 149 w 344"/>
                <a:gd name="T49" fmla="*/ 559 h 965"/>
                <a:gd name="T50" fmla="*/ 169 w 344"/>
                <a:gd name="T51" fmla="*/ 462 h 965"/>
                <a:gd name="T52" fmla="*/ 215 w 344"/>
                <a:gd name="T53" fmla="*/ 361 h 965"/>
                <a:gd name="T54" fmla="*/ 265 w 344"/>
                <a:gd name="T55" fmla="*/ 189 h 965"/>
                <a:gd name="T56" fmla="*/ 308 w 344"/>
                <a:gd name="T57" fmla="*/ 88 h 965"/>
                <a:gd name="T58" fmla="*/ 304 w 344"/>
                <a:gd name="T59" fmla="*/ 29 h 965"/>
                <a:gd name="T60" fmla="*/ 265 w 344"/>
                <a:gd name="T61" fmla="*/ 0 h 965"/>
                <a:gd name="T62" fmla="*/ 238 w 344"/>
                <a:gd name="T63" fmla="*/ 0 h 96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44"/>
                <a:gd name="T97" fmla="*/ 0 h 965"/>
                <a:gd name="T98" fmla="*/ 344 w 344"/>
                <a:gd name="T99" fmla="*/ 965 h 96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44" h="965">
                  <a:moveTo>
                    <a:pt x="238" y="0"/>
                  </a:moveTo>
                  <a:lnTo>
                    <a:pt x="195" y="91"/>
                  </a:lnTo>
                  <a:lnTo>
                    <a:pt x="165" y="224"/>
                  </a:lnTo>
                  <a:lnTo>
                    <a:pt x="129" y="371"/>
                  </a:lnTo>
                  <a:lnTo>
                    <a:pt x="96" y="520"/>
                  </a:lnTo>
                  <a:lnTo>
                    <a:pt x="96" y="575"/>
                  </a:lnTo>
                  <a:lnTo>
                    <a:pt x="129" y="673"/>
                  </a:lnTo>
                  <a:lnTo>
                    <a:pt x="175" y="725"/>
                  </a:lnTo>
                  <a:lnTo>
                    <a:pt x="218" y="790"/>
                  </a:lnTo>
                  <a:lnTo>
                    <a:pt x="248" y="838"/>
                  </a:lnTo>
                  <a:lnTo>
                    <a:pt x="235" y="861"/>
                  </a:lnTo>
                  <a:lnTo>
                    <a:pt x="159" y="871"/>
                  </a:lnTo>
                  <a:lnTo>
                    <a:pt x="36" y="890"/>
                  </a:lnTo>
                  <a:lnTo>
                    <a:pt x="0" y="920"/>
                  </a:lnTo>
                  <a:lnTo>
                    <a:pt x="30" y="946"/>
                  </a:lnTo>
                  <a:lnTo>
                    <a:pt x="99" y="965"/>
                  </a:lnTo>
                  <a:lnTo>
                    <a:pt x="179" y="926"/>
                  </a:lnTo>
                  <a:lnTo>
                    <a:pt x="238" y="900"/>
                  </a:lnTo>
                  <a:lnTo>
                    <a:pt x="314" y="890"/>
                  </a:lnTo>
                  <a:lnTo>
                    <a:pt x="344" y="881"/>
                  </a:lnTo>
                  <a:lnTo>
                    <a:pt x="334" y="848"/>
                  </a:lnTo>
                  <a:lnTo>
                    <a:pt x="248" y="764"/>
                  </a:lnTo>
                  <a:lnTo>
                    <a:pt x="198" y="676"/>
                  </a:lnTo>
                  <a:lnTo>
                    <a:pt x="155" y="617"/>
                  </a:lnTo>
                  <a:lnTo>
                    <a:pt x="149" y="559"/>
                  </a:lnTo>
                  <a:lnTo>
                    <a:pt x="169" y="462"/>
                  </a:lnTo>
                  <a:lnTo>
                    <a:pt x="215" y="361"/>
                  </a:lnTo>
                  <a:lnTo>
                    <a:pt x="265" y="189"/>
                  </a:lnTo>
                  <a:lnTo>
                    <a:pt x="308" y="88"/>
                  </a:lnTo>
                  <a:lnTo>
                    <a:pt x="304" y="29"/>
                  </a:lnTo>
                  <a:lnTo>
                    <a:pt x="265" y="0"/>
                  </a:lnTo>
                  <a:lnTo>
                    <a:pt x="238"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12"/>
            <p:cNvSpPr>
              <a:spLocks/>
            </p:cNvSpPr>
            <p:nvPr/>
          </p:nvSpPr>
          <p:spPr bwMode="auto">
            <a:xfrm>
              <a:off x="2954" y="770"/>
              <a:ext cx="170" cy="198"/>
            </a:xfrm>
            <a:custGeom>
              <a:avLst/>
              <a:gdLst>
                <a:gd name="T0" fmla="*/ 20 w 170"/>
                <a:gd name="T1" fmla="*/ 9 h 198"/>
                <a:gd name="T2" fmla="*/ 66 w 170"/>
                <a:gd name="T3" fmla="*/ 0 h 198"/>
                <a:gd name="T4" fmla="*/ 110 w 170"/>
                <a:gd name="T5" fmla="*/ 3 h 198"/>
                <a:gd name="T6" fmla="*/ 150 w 170"/>
                <a:gd name="T7" fmla="*/ 22 h 198"/>
                <a:gd name="T8" fmla="*/ 170 w 170"/>
                <a:gd name="T9" fmla="*/ 58 h 198"/>
                <a:gd name="T10" fmla="*/ 170 w 170"/>
                <a:gd name="T11" fmla="*/ 87 h 198"/>
                <a:gd name="T12" fmla="*/ 150 w 170"/>
                <a:gd name="T13" fmla="*/ 126 h 198"/>
                <a:gd name="T14" fmla="*/ 116 w 170"/>
                <a:gd name="T15" fmla="*/ 149 h 198"/>
                <a:gd name="T16" fmla="*/ 66 w 170"/>
                <a:gd name="T17" fmla="*/ 149 h 198"/>
                <a:gd name="T18" fmla="*/ 36 w 170"/>
                <a:gd name="T19" fmla="*/ 168 h 198"/>
                <a:gd name="T20" fmla="*/ 26 w 170"/>
                <a:gd name="T21" fmla="*/ 198 h 198"/>
                <a:gd name="T22" fmla="*/ 0 w 170"/>
                <a:gd name="T23" fmla="*/ 188 h 198"/>
                <a:gd name="T24" fmla="*/ 10 w 170"/>
                <a:gd name="T25" fmla="*/ 149 h 198"/>
                <a:gd name="T26" fmla="*/ 46 w 170"/>
                <a:gd name="T27" fmla="*/ 126 h 198"/>
                <a:gd name="T28" fmla="*/ 106 w 170"/>
                <a:gd name="T29" fmla="*/ 120 h 198"/>
                <a:gd name="T30" fmla="*/ 130 w 170"/>
                <a:gd name="T31" fmla="*/ 97 h 198"/>
                <a:gd name="T32" fmla="*/ 136 w 170"/>
                <a:gd name="T33" fmla="*/ 61 h 198"/>
                <a:gd name="T34" fmla="*/ 110 w 170"/>
                <a:gd name="T35" fmla="*/ 29 h 198"/>
                <a:gd name="T36" fmla="*/ 70 w 170"/>
                <a:gd name="T37" fmla="*/ 29 h 198"/>
                <a:gd name="T38" fmla="*/ 26 w 170"/>
                <a:gd name="T39" fmla="*/ 39 h 198"/>
                <a:gd name="T40" fmla="*/ 10 w 170"/>
                <a:gd name="T41" fmla="*/ 29 h 198"/>
                <a:gd name="T42" fmla="*/ 20 w 170"/>
                <a:gd name="T43" fmla="*/ 9 h 19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0"/>
                <a:gd name="T67" fmla="*/ 0 h 198"/>
                <a:gd name="T68" fmla="*/ 170 w 170"/>
                <a:gd name="T69" fmla="*/ 198 h 19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0" h="198">
                  <a:moveTo>
                    <a:pt x="20" y="9"/>
                  </a:moveTo>
                  <a:lnTo>
                    <a:pt x="66" y="0"/>
                  </a:lnTo>
                  <a:lnTo>
                    <a:pt x="110" y="3"/>
                  </a:lnTo>
                  <a:lnTo>
                    <a:pt x="150" y="22"/>
                  </a:lnTo>
                  <a:lnTo>
                    <a:pt x="170" y="58"/>
                  </a:lnTo>
                  <a:lnTo>
                    <a:pt x="170" y="87"/>
                  </a:lnTo>
                  <a:lnTo>
                    <a:pt x="150" y="126"/>
                  </a:lnTo>
                  <a:lnTo>
                    <a:pt x="116" y="149"/>
                  </a:lnTo>
                  <a:lnTo>
                    <a:pt x="66" y="149"/>
                  </a:lnTo>
                  <a:lnTo>
                    <a:pt x="36" y="168"/>
                  </a:lnTo>
                  <a:lnTo>
                    <a:pt x="26" y="198"/>
                  </a:lnTo>
                  <a:lnTo>
                    <a:pt x="0" y="188"/>
                  </a:lnTo>
                  <a:lnTo>
                    <a:pt x="10" y="149"/>
                  </a:lnTo>
                  <a:lnTo>
                    <a:pt x="46" y="126"/>
                  </a:lnTo>
                  <a:lnTo>
                    <a:pt x="106" y="120"/>
                  </a:lnTo>
                  <a:lnTo>
                    <a:pt x="130" y="97"/>
                  </a:lnTo>
                  <a:lnTo>
                    <a:pt x="136" y="61"/>
                  </a:lnTo>
                  <a:lnTo>
                    <a:pt x="110" y="29"/>
                  </a:lnTo>
                  <a:lnTo>
                    <a:pt x="70" y="29"/>
                  </a:lnTo>
                  <a:lnTo>
                    <a:pt x="26" y="39"/>
                  </a:lnTo>
                  <a:lnTo>
                    <a:pt x="10" y="29"/>
                  </a:lnTo>
                  <a:lnTo>
                    <a:pt x="20" y="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13"/>
            <p:cNvSpPr>
              <a:spLocks/>
            </p:cNvSpPr>
            <p:nvPr/>
          </p:nvSpPr>
          <p:spPr bwMode="auto">
            <a:xfrm>
              <a:off x="2913" y="1001"/>
              <a:ext cx="53" cy="54"/>
            </a:xfrm>
            <a:custGeom>
              <a:avLst/>
              <a:gdLst>
                <a:gd name="T0" fmla="*/ 53 w 53"/>
                <a:gd name="T1" fmla="*/ 3 h 54"/>
                <a:gd name="T2" fmla="*/ 26 w 53"/>
                <a:gd name="T3" fmla="*/ 0 h 54"/>
                <a:gd name="T4" fmla="*/ 8 w 53"/>
                <a:gd name="T5" fmla="*/ 20 h 54"/>
                <a:gd name="T6" fmla="*/ 0 w 53"/>
                <a:gd name="T7" fmla="*/ 51 h 54"/>
                <a:gd name="T8" fmla="*/ 26 w 53"/>
                <a:gd name="T9" fmla="*/ 54 h 54"/>
                <a:gd name="T10" fmla="*/ 48 w 53"/>
                <a:gd name="T11" fmla="*/ 40 h 54"/>
                <a:gd name="T12" fmla="*/ 53 w 53"/>
                <a:gd name="T13" fmla="*/ 3 h 54"/>
                <a:gd name="T14" fmla="*/ 0 60000 65536"/>
                <a:gd name="T15" fmla="*/ 0 60000 65536"/>
                <a:gd name="T16" fmla="*/ 0 60000 65536"/>
                <a:gd name="T17" fmla="*/ 0 60000 65536"/>
                <a:gd name="T18" fmla="*/ 0 60000 65536"/>
                <a:gd name="T19" fmla="*/ 0 60000 65536"/>
                <a:gd name="T20" fmla="*/ 0 60000 65536"/>
                <a:gd name="T21" fmla="*/ 0 w 53"/>
                <a:gd name="T22" fmla="*/ 0 h 54"/>
                <a:gd name="T23" fmla="*/ 53 w 53"/>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54">
                  <a:moveTo>
                    <a:pt x="53" y="3"/>
                  </a:moveTo>
                  <a:lnTo>
                    <a:pt x="26" y="0"/>
                  </a:lnTo>
                  <a:lnTo>
                    <a:pt x="8" y="20"/>
                  </a:lnTo>
                  <a:lnTo>
                    <a:pt x="0" y="51"/>
                  </a:lnTo>
                  <a:lnTo>
                    <a:pt x="26" y="54"/>
                  </a:lnTo>
                  <a:lnTo>
                    <a:pt x="48" y="40"/>
                  </a:lnTo>
                  <a:lnTo>
                    <a:pt x="53" y="3"/>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931890426"/>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13207</TotalTime>
  <Words>5131</Words>
  <Application>Microsoft Office PowerPoint</Application>
  <PresentationFormat>On-screen Show (4:3)</PresentationFormat>
  <Paragraphs>824</Paragraphs>
  <Slides>64</Slides>
  <Notes>61</Notes>
  <HiddenSlides>0</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Template</vt:lpstr>
      <vt:lpstr>CHƯƠNG 7. TEMPLATE, EXCEPTION</vt:lpstr>
      <vt:lpstr>Template</vt:lpstr>
      <vt:lpstr>Giới thiệu</vt:lpstr>
      <vt:lpstr>Giới thiệu</vt:lpstr>
      <vt:lpstr>Giới thiệu</vt:lpstr>
      <vt:lpstr>Lập trình tổng quát</vt:lpstr>
      <vt:lpstr>Lập trình tổng quát trong C</vt:lpstr>
      <vt:lpstr>Lập trình tổng quát trong C</vt:lpstr>
      <vt:lpstr>C++ Template</vt:lpstr>
      <vt:lpstr>C++ Template</vt:lpstr>
      <vt:lpstr>C++ Template</vt:lpstr>
      <vt:lpstr>Khuôn mẫu hàm</vt:lpstr>
      <vt:lpstr>Khuôn mẫu hàm</vt:lpstr>
      <vt:lpstr>Khuôn mẫu hàm</vt:lpstr>
      <vt:lpstr>Khuôn mẫu hàm</vt:lpstr>
      <vt:lpstr>Khuôn mẫu hàm</vt:lpstr>
      <vt:lpstr>Khuôn mẫu hàm</vt:lpstr>
      <vt:lpstr>Khuôn mẫu hàm</vt:lpstr>
      <vt:lpstr>Khuôn mẫu lớp</vt:lpstr>
      <vt:lpstr>Khuôn mẫu lớp</vt:lpstr>
      <vt:lpstr>Khuôn mẫu lớp</vt:lpstr>
      <vt:lpstr>Khuôn mẫu lớp</vt:lpstr>
      <vt:lpstr>Khuôn mẫu lớp</vt:lpstr>
      <vt:lpstr>Khuôn mẫu lớp</vt:lpstr>
      <vt:lpstr>Khuôn mẫu lớp – Ví dụ</vt:lpstr>
      <vt:lpstr>Khuôn mẫu lớp – Ví dụ</vt:lpstr>
      <vt:lpstr>Khuôn mẫu lớp – Ví dụ</vt:lpstr>
      <vt:lpstr>Khuôn mẫu lớp – Ví dụ</vt:lpstr>
      <vt:lpstr>Khuôn mẫu lớp – Ví dụ</vt:lpstr>
      <vt:lpstr>Khuôn mẫu lớp – Ví dụ</vt:lpstr>
      <vt:lpstr>Các tham số khuôn mẫu khác</vt:lpstr>
      <vt:lpstr>Các tham số khuôn mẫu khác</vt:lpstr>
      <vt:lpstr>Các tham số khuôn mẫu khác</vt:lpstr>
      <vt:lpstr>Các tham số khuôn mẫu khác</vt:lpstr>
      <vt:lpstr>Các tham số khuôn mẫu khác</vt:lpstr>
      <vt:lpstr>Ngoại lệ (Exception)</vt:lpstr>
      <vt:lpstr>Giới thiệu</vt:lpstr>
      <vt:lpstr>Cách xử lý lỗi truyền thống</vt:lpstr>
      <vt:lpstr>Cách xử lý lỗi truyền thống</vt:lpstr>
      <vt:lpstr>Cách xử lý lỗi truyền thống</vt:lpstr>
      <vt:lpstr>C++ Exception</vt:lpstr>
      <vt:lpstr>Các kiểu ngoại lệ</vt:lpstr>
      <vt:lpstr>Cơ chế ngoại lệ</vt:lpstr>
      <vt:lpstr>Cơ chế ngoại lệ</vt:lpstr>
      <vt:lpstr>Cơ chế ngoại lệ</vt:lpstr>
      <vt:lpstr>Cú pháp xử lý ngoại lệ</vt:lpstr>
      <vt:lpstr>Ném ngoại lệ – throw</vt:lpstr>
      <vt:lpstr>Kiểm soát ngoại lệ</vt:lpstr>
      <vt:lpstr>Kiểm soát ngoại lệ</vt:lpstr>
      <vt:lpstr>Kiểm soát ngoại lệ – Ví dụ</vt:lpstr>
      <vt:lpstr>Kiểm soát ngoại lệ – Ví dụ</vt:lpstr>
      <vt:lpstr>So khớp ngoại lệ</vt:lpstr>
      <vt:lpstr>So khớp ngoại lệ</vt:lpstr>
      <vt:lpstr>So khớp ngoại lệ</vt:lpstr>
      <vt:lpstr>So khớp ngoại lệ</vt:lpstr>
      <vt:lpstr>So khớp ngoại lệ</vt:lpstr>
      <vt:lpstr>Lớp exception</vt:lpstr>
      <vt:lpstr>Lớp exception</vt:lpstr>
      <vt:lpstr>Lớp exception</vt:lpstr>
      <vt:lpstr>Lớp exception</vt:lpstr>
      <vt:lpstr>Lớp exception</vt:lpstr>
      <vt:lpstr>Lớp exception</vt:lpstr>
      <vt:lpstr>Ưu điểm exception trong C++</vt:lpstr>
      <vt:lpstr>Q &amp; 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Nguyet Minh</dc:creator>
  <cp:lastModifiedBy>trong lethanh</cp:lastModifiedBy>
  <cp:revision>810</cp:revision>
  <cp:lastPrinted>1601-01-01T00:00:00Z</cp:lastPrinted>
  <dcterms:created xsi:type="dcterms:W3CDTF">1601-01-01T00:00:00Z</dcterms:created>
  <dcterms:modified xsi:type="dcterms:W3CDTF">2015-12-20T23:12:49Z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