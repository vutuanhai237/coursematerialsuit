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44"/>
  </p:notesMasterIdLst>
  <p:handoutMasterIdLst>
    <p:handoutMasterId r:id="rId45"/>
  </p:handoutMasterIdLst>
  <p:sldIdLst>
    <p:sldId id="747" r:id="rId2"/>
    <p:sldId id="943" r:id="rId3"/>
    <p:sldId id="729" r:id="rId4"/>
    <p:sldId id="944" r:id="rId5"/>
    <p:sldId id="948" r:id="rId6"/>
    <p:sldId id="945" r:id="rId7"/>
    <p:sldId id="951" r:id="rId8"/>
    <p:sldId id="946" r:id="rId9"/>
    <p:sldId id="949" r:id="rId10"/>
    <p:sldId id="950" r:id="rId11"/>
    <p:sldId id="952" r:id="rId12"/>
    <p:sldId id="953" r:id="rId13"/>
    <p:sldId id="947" r:id="rId14"/>
    <p:sldId id="954" r:id="rId15"/>
    <p:sldId id="956" r:id="rId16"/>
    <p:sldId id="957" r:id="rId17"/>
    <p:sldId id="958" r:id="rId18"/>
    <p:sldId id="959" r:id="rId19"/>
    <p:sldId id="955" r:id="rId20"/>
    <p:sldId id="962" r:id="rId21"/>
    <p:sldId id="963" r:id="rId22"/>
    <p:sldId id="964" r:id="rId23"/>
    <p:sldId id="965" r:id="rId24"/>
    <p:sldId id="966" r:id="rId25"/>
    <p:sldId id="969" r:id="rId26"/>
    <p:sldId id="967" r:id="rId27"/>
    <p:sldId id="968" r:id="rId28"/>
    <p:sldId id="971" r:id="rId29"/>
    <p:sldId id="970" r:id="rId30"/>
    <p:sldId id="973" r:id="rId31"/>
    <p:sldId id="972" r:id="rId32"/>
    <p:sldId id="975" r:id="rId33"/>
    <p:sldId id="974" r:id="rId34"/>
    <p:sldId id="976" r:id="rId35"/>
    <p:sldId id="977" r:id="rId36"/>
    <p:sldId id="978" r:id="rId37"/>
    <p:sldId id="982" r:id="rId38"/>
    <p:sldId id="983" r:id="rId39"/>
    <p:sldId id="979" r:id="rId40"/>
    <p:sldId id="984" r:id="rId41"/>
    <p:sldId id="985" r:id="rId42"/>
    <p:sldId id="941" r:id="rId43"/>
  </p:sldIdLst>
  <p:sldSz cx="9144000" cy="6858000" type="screen4x3"/>
  <p:notesSz cx="6858000" cy="9144000"/>
  <p:defaultTextStyle>
    <a:defPPr>
      <a:defRPr lang="en-US"/>
    </a:defPPr>
    <a:lvl1pPr algn="l" rtl="0" fontAlgn="base">
      <a:spcBef>
        <a:spcPct val="0"/>
      </a:spcBef>
      <a:spcAft>
        <a:spcPct val="0"/>
      </a:spcAft>
      <a:defRPr sz="2000" b="1" kern="1200">
        <a:solidFill>
          <a:schemeClr val="tx1"/>
        </a:solidFill>
        <a:latin typeface="Arial" charset="0"/>
        <a:ea typeface="+mn-ea"/>
        <a:cs typeface="Arial" charset="0"/>
      </a:defRPr>
    </a:lvl1pPr>
    <a:lvl2pPr marL="457200" algn="l" rtl="0" fontAlgn="base">
      <a:spcBef>
        <a:spcPct val="0"/>
      </a:spcBef>
      <a:spcAft>
        <a:spcPct val="0"/>
      </a:spcAft>
      <a:defRPr sz="2000" b="1" kern="1200">
        <a:solidFill>
          <a:schemeClr val="tx1"/>
        </a:solidFill>
        <a:latin typeface="Arial" charset="0"/>
        <a:ea typeface="+mn-ea"/>
        <a:cs typeface="Arial" charset="0"/>
      </a:defRPr>
    </a:lvl2pPr>
    <a:lvl3pPr marL="914400" algn="l" rtl="0" fontAlgn="base">
      <a:spcBef>
        <a:spcPct val="0"/>
      </a:spcBef>
      <a:spcAft>
        <a:spcPct val="0"/>
      </a:spcAft>
      <a:defRPr sz="2000" b="1" kern="1200">
        <a:solidFill>
          <a:schemeClr val="tx1"/>
        </a:solidFill>
        <a:latin typeface="Arial" charset="0"/>
        <a:ea typeface="+mn-ea"/>
        <a:cs typeface="Arial" charset="0"/>
      </a:defRPr>
    </a:lvl3pPr>
    <a:lvl4pPr marL="1371600" algn="l" rtl="0" fontAlgn="base">
      <a:spcBef>
        <a:spcPct val="0"/>
      </a:spcBef>
      <a:spcAft>
        <a:spcPct val="0"/>
      </a:spcAft>
      <a:defRPr sz="2000" b="1" kern="1200">
        <a:solidFill>
          <a:schemeClr val="tx1"/>
        </a:solidFill>
        <a:latin typeface="Arial" charset="0"/>
        <a:ea typeface="+mn-ea"/>
        <a:cs typeface="Arial" charset="0"/>
      </a:defRPr>
    </a:lvl4pPr>
    <a:lvl5pPr marL="1828800" algn="l" rtl="0" fontAlgn="base">
      <a:spcBef>
        <a:spcPct val="0"/>
      </a:spcBef>
      <a:spcAft>
        <a:spcPct val="0"/>
      </a:spcAft>
      <a:defRPr sz="2000" b="1" kern="1200">
        <a:solidFill>
          <a:schemeClr val="tx1"/>
        </a:solidFill>
        <a:latin typeface="Arial" charset="0"/>
        <a:ea typeface="+mn-ea"/>
        <a:cs typeface="Arial" charset="0"/>
      </a:defRPr>
    </a:lvl5pPr>
    <a:lvl6pPr marL="2286000" algn="l" defTabSz="914400" rtl="0" eaLnBrk="1" latinLnBrk="0" hangingPunct="1">
      <a:defRPr sz="2000" b="1" kern="1200">
        <a:solidFill>
          <a:schemeClr val="tx1"/>
        </a:solidFill>
        <a:latin typeface="Arial" charset="0"/>
        <a:ea typeface="+mn-ea"/>
        <a:cs typeface="Arial" charset="0"/>
      </a:defRPr>
    </a:lvl6pPr>
    <a:lvl7pPr marL="2743200" algn="l" defTabSz="914400" rtl="0" eaLnBrk="1" latinLnBrk="0" hangingPunct="1">
      <a:defRPr sz="2000" b="1" kern="1200">
        <a:solidFill>
          <a:schemeClr val="tx1"/>
        </a:solidFill>
        <a:latin typeface="Arial" charset="0"/>
        <a:ea typeface="+mn-ea"/>
        <a:cs typeface="Arial" charset="0"/>
      </a:defRPr>
    </a:lvl7pPr>
    <a:lvl8pPr marL="3200400" algn="l" defTabSz="914400" rtl="0" eaLnBrk="1" latinLnBrk="0" hangingPunct="1">
      <a:defRPr sz="2000" b="1" kern="1200">
        <a:solidFill>
          <a:schemeClr val="tx1"/>
        </a:solidFill>
        <a:latin typeface="Arial" charset="0"/>
        <a:ea typeface="+mn-ea"/>
        <a:cs typeface="Arial" charset="0"/>
      </a:defRPr>
    </a:lvl8pPr>
    <a:lvl9pPr marL="3657600" algn="l" defTabSz="914400" rtl="0" eaLnBrk="1" latinLnBrk="0" hangingPunct="1">
      <a:defRPr sz="2000" b="1"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00FF"/>
    <a:srgbClr val="0066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21" autoAdjust="0"/>
    <p:restoredTop sz="88434" autoAdjust="0"/>
  </p:normalViewPr>
  <p:slideViewPr>
    <p:cSldViewPr>
      <p:cViewPr varScale="1">
        <p:scale>
          <a:sx n="83" d="100"/>
          <a:sy n="83" d="100"/>
        </p:scale>
        <p:origin x="2056" y="23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4C3519-B168-47D6-8308-C5CD23CE404E}" type="datetimeFigureOut">
              <a:rPr lang="en-US" smtClean="0"/>
              <a:pPr/>
              <a:t>3/31/26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68FB2A-484F-4FEF-8236-6DAF1800D4E8}" type="slidenum">
              <a:rPr lang="en-US" smtClean="0"/>
              <a:pPr/>
              <a:t>‹#›</a:t>
            </a:fld>
            <a:endParaRPr lang="en-US"/>
          </a:p>
        </p:txBody>
      </p:sp>
    </p:spTree>
    <p:extLst>
      <p:ext uri="{BB962C8B-B14F-4D97-AF65-F5344CB8AC3E}">
        <p14:creationId xmlns:p14="http://schemas.microsoft.com/office/powerpoint/2010/main" val="352843925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0:12.448"/>
    </inkml:context>
    <inkml:brush xml:id="br0">
      <inkml:brushProperty name="width" value="0.05292" units="cm"/>
      <inkml:brushProperty name="height" value="0.05292" units="cm"/>
      <inkml:brushProperty name="color" value="#FF0000"/>
    </inkml:brush>
  </inkml:definitions>
  <inkml:trace contextRef="#ctx0" brushRef="#br0">2408 7885 24575,'68'0'0,"-30"0"0,0 0 0,18 0 0,-13 0 0,2 0 0,26 0 0,-32 0 0,1 0 0,4 0 0,0 0 0,27 0 0,-32 0 0,1 0 0,-1 0 0,-1 0 0,17 0 0,-16 0 0,-1 0 0,18 0 0,-18 0 0,0 0 0,18 0 0,9 0 0,-24 0 0,-3 0 0,12 0 0,-18 0 0,18 0 0,0 0 0,-17 11 0,40-8 0,-29 9 0,-6-11 0,1-2 0,17 1 0,8 0 0,-11 0 0,-12 0 0,9 0 0,-20 0 0,8 0 0,-12 0 0,13 0 0,-10 0 0,9 0 0,-11 0 0,11 0 0,-9 0 0,10 0 0,-1 0 0,-9 0 0,9 0 0,-11 0 0,23 0 0,-18 0 0,42 0 0,-30 0 0,9 0 0,-3 0 0,-21 0 0,33 0 0,-42 0 0,27 0 0,-32 0 0,0 0 0,-3 0 0,-1 0 0,-8-12 0,33 9 0,-31-8 0,31 11 0,-33-12 0,20 9 0,-8-9 0,47 12 0,-23 0 0,4 0 0,10 0 0,3 0 0,3 0 0,-1 0 0,-4 2 0,-2-4 0,-11-9 0,0-1 0,10 9 0,-2 0 0,22-21 0,-32 23 0,1 2 0,-1-1 0,-1 0 0,18 0 0,-18 0 0,0 0 0,6 0 0,30 0 0,-42 0 0,18 0 0,0 0 0,-18 0 0,18 0 0,-23 0 0,11 0 0,-9 0 0,10 0 0,-1 0 0,-9 0 0,-2 0 0,-4-12 0,-8 10 0,23-10 0,-9 12 0,10-12 0,-13 9 0,24-20 0,-18-4 0,18-2 0,-11 2 0,-10 4 0,9 20 0,-23-33 0,20 19 0,-17-21 0,8 11 0,-14-11 0,0 9 0,-9-10 0,9 13 0,-12-24 0,0 18 0,0-42 0,0 42 0,0-42 0,0 42 0,0-30 0,0 21 0,0 0 0,0 3 0,0 11 0,0 12 0,-12-20 0,9 18 0,-21-10 0,-2 4 0,-4 8 0,-8-23 0,24 8 0,-22 4 0,19 2 0,-22-2 0,13-4 0,-12-8 0,8 12 0,-8-12 0,12 8 0,-13 4 0,10 2 0,-9 21 0,11-20 0,13 20 0,-22-33 0,19 31 0,-21-31 0,-1 33 0,10-8 0,-21-1 0,9 9 0,0-21 0,-9 21 0,8-8 0,-10-13 0,-13 18 0,9-29 0,19 32 0,-2 3 0,-1-5 0,0-2 0,-1 1 0,0 1 0,-4 3 0,-1 1 0,-1-6 0,3 2 0,-15 5 0,15 0 0,3 0 0,8 0 0,-29 0 0,10 0 0,7 0 0,-28 0 0,41 0 0,-42 0 0,42 0 0,-18 0 0,0 0 0,6 0 0,1 0 0,-2 0 0,-26 0 0,32 0 0,-1 0 0,1 0 0,1 0 0,-18 0 0,3 0 0,-8 12 0,28-9 0,-17 20 0,0-20 0,18 32 0,-30-17 0,21 20 0,0-11 0,-21 11 0,30-9 0,-6-15 0,2-1 0,16 10 0,-27-20 0,32 9 0,0-12 0,-8 12 0,-4-9 0,-2 8 0,-33-11 0,18 0 0,7 0 0,-2 0 0,-17 0 0,19 0 0,-3 0 0,1 0 0,-1 0 0,-30 0 0,5 0 0,3 0 0,30 0 0,-42 0 0,42 0 0,-18 0 0,24 0 0,-13 0 0,10 0 0,2 0 0,4 0 0,-4 0 0,-2 0 0,-9 0 0,11 0 0,-11 24 0,9-18 0,-9 17 0,11-23 0,-23 0 0,6 0 0,1 6 0,-2 0 0,-26-3 0,32 8 0,-1 2 0,1-6 0,1 0 0,-17 8 0,-10 20 0,24-17 0,3 8 0,11-2 0,-11 2 0,20-8 0,-5 17 0,11-32 0,9 21 0,-44 14 0,26 18 0,-8-12 0,-3 3 0,10-1 0,3 2 0,-2 5 0,0 0 0,2-12 0,0 0 0,5 5 0,2-4 0,-3 2 0,-3-6 0,1-2 0,11-4 0,-18 18 0,24-23 0,0 11 0,0-21 0,0 19 0,24-33 0,-18 20 0,29 4 0,-20 2 0,35 9 0,-18-11 0,18 11 0,0 3 0,-18 0 0,5-14 0,0-4 0,-5-5 0,18 17 0,-23-32 0,-13 9 0,22 0 0,-31-9 0,31 8 0,-33-11 0,8 0 0,1 0 0,-9 0 0,9 0 0,-12 0 0,0-11 0,0 8 0,0-9 0,0 12 0</inkml:trace>
  <inkml:trace contextRef="#ctx0" brushRef="#br0" timeOffset="79500">4975 8943 24575,'61'0'0,"10"0"0,-14 0 0,3 0 0,-11 0 0,-1 0 0,10 0 0,-1 0 0,-15 0 0,-2 0 0,0 0 0,0 0 0,-2 0 0,0 0 0,2 0 0,0 0 0,30 0 0,-20 0 0,0 0 0,21 0 0,-26-2 0,1 4 0,0 9 0,-1 1 0,-4-9 0,0 0 0,4 9 0,1 0 0,0-5 0,-1-2 0,-3-4 0,-1 1 0,-1 4 0,-1-1 0,0-5 0,-1 0 0,17 12 0,10-9 0,-24 9 0,-2-12 0,-1 0 0,3 0 0,0 0 0,21 0 0,-18 0 0,21 0 0,-24 0 0,-3 0 0,-12 0 0,-11 0 0,20 0 0,-29 0 0,18 0 0,-1 0 0,42 0 0,-3 0 0,8 0 0,-13 0 0,2 0 0,2 0-388,8-1 0,2 0 1,0 3 387,0 5 0,0 2 0,-1-2 0,-6-4 0,-1-3 0,-2 3-139,-3 5 0,-1 1 0,-1-2 139,-4-6 0,1-2 0,-3 1 0,18 0 0,0 0 0,4-1 0,0 2 0,-6 4 0,0 1 0,1-4 0,-2-1 0,-4 5 0,-1 0 0,-7-5 0,0-2 0,-1 1 0,-1 0 0,-10 0 0,0 0 569,-1 0 0,-1 0-569,26 0 442,-24 0-442,-3 0 0,-23 0 0,-3 0 0,-12 0 0,47 0 0,-9 0 0,6 0 0,7 0 0,7-1 0,4 2-481,-6 1 0,3 2 1,2-1-1,1 0 481,4-2 0,1-1 0,1 0 0,1 2 0,-9 2 0,0 1 0,1 0 0,1 1 0,-2-3 0,13-1 0,0-3 0,0 1 0,-1 2 0,-1 6 0,-1 2 0,0 0 0,-2-2 0,-6-6 0,-1-1 0,-2-1 0,0 2-291,16 6 1,-1 1 0,-2-2 290,-9-6 0,-1-1 0,-2-1 0,-5 1 0,-1 0 0,-1 0-11,0 1 1,-1 0 0,-1-3 10,10-10 0,-2 0 0,1 10 0,-2-1 0,-10-9 0,-2 0 1829,21 0-1829,-17 9 959,-35-8-959,9 11 37,-21 0-37,32 0 0,6 0 0,21 0 0,14 0 0,-9 0 0,5 0 0,4 0-584,-18-2 0,2-1 1,3 1-1,0-1 1,1 1 583,6 1 0,2 1 0,0 0 0,1 0 0,-1-2 0,2-2 0,0-1 0,1-1 0,-1 1 0,0 1 0,-4 3 0,-1 1 0,0 1 0,0-1 0,0-3 0,0-2 0,0-3 0,-1 0 0,0 0 0,-1 2-342,-4 4 1,-1 1 0,-1 1 0,0-1 0,-2-1 341,10-3 0,-1-2 0,-2 0 0,-1 3-190,12 2 0,-2 3 0,-4 0 190,-12-1 0,-2 0 0,-2 0 0,14-2 0,-6 4 0,-20 9 0,-4 1 2540,35-6-2540,-57 18 1918,30-24-1918,-6 1 0,7-2 0,1-6 0,5-2 0,4 1-323,-1 5 1,2 3-1,3-1 1,1-1 322,8-3 0,2-2 0,0 0 0,1 3 0,-13 2 0,0 2 0,1 1 0,-1-1 0,0 1 0,13-1 0,0 0 0,-1 0 0,0 0 0,-1 0 0,0 0 0,0 0 0,0 0 0,1 0 0,-1 0 0,0 0 0,-1 0 0,-5 0 0,-2 0 0,0 0 0,1 0 0,6-1 0,1 0 0,0 1 0,-2 2 0,-6 2 0,0 2 0,-2 1 0,1-1 0,0-1 0,0-2 0,0 1 0,1 2 0,1 3 0,1 1 0,-1 1 0,0-3 0,-1-3 0,-1-1 0,0-1 0,0 0 0,3 0 0,1 0 0,-1 0 0,0 0 0,-2 0 0,-1 0 0,0 0 0,0-1-247,-3-1 0,1 0 1,-2-1-1,-1 1 247,10 3 0,-1 1 0,-2-2-94,-7-2 1,-1-2-1,-2 1 94,19 0 0,-4 0 0,-8 0 0,-3 0 0,-5 0 0,-2 0 943,-12 0 1,-1 0-944,1 0 0,-4 0 1078,9 0-1078,28 0 329,-29 0-329,-6 11 0,1 2 0,5-8 0,17 19 0,4-12 0,6-9 0,-20 2 0,1 1 0,-11 0 0,0 0 0,10 1 0,1 1 0,-5-2 0,0 3 0,1 9 0,-2-1 0,22-11 0,-18 17 0,-24-23 0,-11 0 0,20 12 0,-17-9 0,20 9 0,-12-12 0,12 0 0,4-12 0,-1 9 0,9-9 0,-21 12 0,-2 0 0,-16 0 0,-11 0 0</inkml:trace>
  <inkml:trace contextRef="#ctx0" brushRef="#br0" timeOffset="94067">2593 9102 24575,'38'0'0,"4"0"0,-1 0 0,-3 0 0,0 0 0,-8 0 0,8 0 0,-12 0 0,13 0 0,-10 0 0,9 0 0,-11 0 0,-13 0 0,22 0 0,-19 0 0,21 0 0,-11 0 0,11 0 0,-9 0 0,10 0 0,-1 0 0,-9 0 0,10 0 0,-25-24 0,10 18 0,2-17 0,-8 23 0,17 0 0,-32 0 0,21 0 0,-10 0 0,1 0 0,20-12 0,-29 9 0,29-9 0,-20 12 0,0 0 0,8 0 0,-20 0 0,33 0 0,-31 0 0,31 0 0,-33 0 0,20 0 0,-20 0 0,32 0 0,-17 0 0,8 0 0,-2 0 0,-9 0 0,-1 0 0,22 0 0,-19 0 0,10 0 0,-4 0 0,-20 0 0,21 0 0,-21 0 0,32 0 0,-29 0 0,17 0 0,-11 0 0,-9 0 0,21 0 0,-21 0 0,8 0 0,-11 0 0,24 0 0,-18 0 0,17 0 0,-23 0 0,0 0 0,0 0 0</inkml:trace>
  <inkml:trace contextRef="#ctx0" brushRef="#br0" timeOffset="97367">1641 10186 24575,'-15'24'0,"3"-6"0,12 20 0,0-12 0,0 13 0,-11 2 0,8 0 0,-9 9 0,12-33 0,0 7 0,0-24 0</inkml:trace>
  <inkml:trace contextRef="#ctx0" brushRef="#br0" timeOffset="99999">2249 9816 24575,'0'41'0,"0"-3"0,0 12 0,0-6 0,0 21 0,0 0 0,0-26 0,0 1 0,0 6 0,0 2 0,0 11 0,0 0 0,0-5 0,0 1 0,0 9 0,0 1 0,0-10 0,0-1 0,0-6 0,0-2 0,0-6 0,0-4 0,0 5 0,-11-2 0,8-25 0,-9 10 0,-12-21 0,18 32 0,-29-17 0,9 20 0,-15 12 0,-1-18 0,4 18 0,12-23 0,-13 11 0,10-20 0,-33 5 0,30-23 0,-18 0 0,24 0 0,11 0 0,3 12 0,12-9 0,0 9 0,0-1 0,12 16 0,14 14 0,-7-8 0,4-1 0,29 12 0,-22 6 0,17 0 0,-30-18 0,10 30 0,-4-21 0,-20 12 0,9 11 0,-12-8 0,0 9 0,0 0 0,0 2 0,0-22 0,0 1 0,0 2 0,0-1 0,0-6 0,0 0 0,0 4 0,0-2 0,0 13 0,0-17 0,0-2 0,0 7 0,0 18 0,0-21 0,0 0 0,0-2 0,0-25 0,0-2 0,12-12 0,-9 24 0,9-18 0,11 29 0,-5-20 0,32 11 0,-9-11 0,0 20 0,-3-29 0,-23 17 0,-3-23 0,-12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E8A6E0-DF9C-4FE8-B984-41C3F0634796}" type="datetimeFigureOut">
              <a:rPr lang="en-US" smtClean="0"/>
              <a:pPr/>
              <a:t>3/31/26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48F1E3-0BA9-4479-9A23-62D2F56F905A}" type="slidenum">
              <a:rPr lang="en-US" smtClean="0"/>
              <a:pPr/>
              <a:t>‹#›</a:t>
            </a:fld>
            <a:endParaRPr lang="en-US"/>
          </a:p>
        </p:txBody>
      </p:sp>
    </p:spTree>
    <p:extLst>
      <p:ext uri="{BB962C8B-B14F-4D97-AF65-F5344CB8AC3E}">
        <p14:creationId xmlns:p14="http://schemas.microsoft.com/office/powerpoint/2010/main" val="1064445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a:solidFill>
                  <a:schemeClr val="tx1">
                    <a:lumMod val="95000"/>
                    <a:lumOff val="5000"/>
                  </a:schemeClr>
                </a:solidFill>
                <a:latin typeface="Arial" pitchFamily="34" charset="0"/>
                <a:cs typeface="Arial" pitchFamily="34" charset="0"/>
              </a:rPr>
              <a:t>Lớp cơ sở được coi là lớp tổng quát hóa của các lớp dẫn xuất, ngược lại các lớp dẫn xuất là chi tiết hóa của lớp cơ sở.</a:t>
            </a:r>
          </a:p>
          <a:p>
            <a:r>
              <a:rPr lang="vi-VN"/>
              <a:t>Ví dụ: Một lớp cơ sở hình đa giác phải có phương thức tính diện tích của nó nhưng nội dung tính diện tích như thế nào sẽ được xác định ở các lớp dẫn xuất hình tam giác, tứ giác,…</a:t>
            </a:r>
          </a:p>
          <a:p>
            <a:r>
              <a:rPr lang="vi-VN"/>
              <a:t>Tính chất như trên trong kế thừa gọi là tính đa hình</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Co hai cach giai quyet la </a:t>
            </a:r>
            <a:r>
              <a:rPr lang="en-US" b="1" i="1"/>
              <a:t>vung chon kieu</a:t>
            </a:r>
            <a:r>
              <a:rPr lang="en-US"/>
              <a:t> va </a:t>
            </a:r>
            <a:r>
              <a:rPr lang="en-US" b="1" i="1"/>
              <a:t>phương thức ao</a:t>
            </a:r>
            <a:r>
              <a:rPr lang="en-US" b="1"/>
              <a: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Co hai cach giai quyet la </a:t>
            </a:r>
            <a:r>
              <a:rPr lang="en-US" b="1" i="1"/>
              <a:t>vung chon kieu</a:t>
            </a:r>
            <a:r>
              <a:rPr lang="en-US"/>
              <a:t> va </a:t>
            </a:r>
            <a:r>
              <a:rPr lang="en-US" b="1" i="1"/>
              <a:t>phương thức ao</a:t>
            </a:r>
            <a:r>
              <a:rPr lang="en-US" b="1"/>
              <a: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a:t>Tất cả mọi đối tượng đều được quan điểm như người vì thao tác được thực hiện thông qua con trỏ đến lớp Người.</a:t>
            </a:r>
          </a:p>
          <a:p>
            <a:pPr>
              <a:buFontTx/>
              <a:buChar char="-"/>
            </a:pPr>
            <a:r>
              <a:rPr lang="en-US"/>
              <a:t>Đe bao đam xuat lieu tương ứng vơi đoi tương, phai co cach nhan dien đoi tương, ta thêm mot vung dư lieu vao lơp cơ sơ đe nhan dien, vung nay co gia trị phu thuoc vao loai cua đoi tương va đươc goi la vung chon kieu.</a:t>
            </a:r>
          </a:p>
          <a:p>
            <a:pPr>
              <a:buFontTx/>
              <a:buChar char="-"/>
            </a:pPr>
            <a:r>
              <a:rPr lang="en-US"/>
              <a:t>Cac đoi tương thuoc lơp ngươi co cung gia trị cho vung chon kieu, cac đoi tương thuoc lơp sinh viên co gia trị cua vung chon kieu khac cua lơp ngươi.</a:t>
            </a:r>
          </a:p>
        </p:txBody>
      </p:sp>
      <p:sp>
        <p:nvSpPr>
          <p:cNvPr id="4" name="Slide Number Placeholder 3"/>
          <p:cNvSpPr>
            <a:spLocks noGrp="1"/>
          </p:cNvSpPr>
          <p:nvPr>
            <p:ph type="sldNum" sz="quarter" idx="10"/>
          </p:nvPr>
        </p:nvSpPr>
        <p:spPr/>
        <p:txBody>
          <a:bodyPr/>
          <a:lstStyle/>
          <a:p>
            <a:fld id="{3D48F1E3-0BA9-4479-9A23-62D2F56F905A}" type="slidenum">
              <a:rPr lang="en-US" smtClean="0"/>
              <a:pPr/>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a:t>Tương tự cho lớp Nữ sinh và lớp Công nhân</a:t>
            </a:r>
          </a:p>
        </p:txBody>
      </p:sp>
      <p:sp>
        <p:nvSpPr>
          <p:cNvPr id="4" name="Slide Number Placeholder 3"/>
          <p:cNvSpPr>
            <a:spLocks noGrp="1"/>
          </p:cNvSpPr>
          <p:nvPr>
            <p:ph type="sldNum" sz="quarter" idx="10"/>
          </p:nvPr>
        </p:nvSpPr>
        <p:spPr/>
        <p:txBody>
          <a:bodyPr/>
          <a:lstStyle/>
          <a:p>
            <a:fld id="{3D48F1E3-0BA9-4479-9A23-62D2F56F905A}" type="slidenum">
              <a:rPr lang="en-US" smtClean="0"/>
              <a:pPr/>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Dùng phương thức ảo khắc phục được các nhược điểm của cách tiếp cận dùng vùng chọn kiểu.</a:t>
            </a:r>
            <a:endParaRPr lang="en-US"/>
          </a:p>
          <a:p>
            <a:pPr algn="just">
              <a:buFontTx/>
              <a:buChar char="-"/>
            </a:pPr>
            <a:r>
              <a:rPr lang="en-US"/>
              <a:t>Chương trình dịch không thể xác định được sự ràng buộc của đối tượng và phương thức</a:t>
            </a:r>
          </a:p>
          <a:p>
            <a:pPr algn="just">
              <a:buFontTx/>
              <a:buChar char="-"/>
            </a:pPr>
            <a:r>
              <a:rPr lang="en-US"/>
              <a:t>Ràng buộc này chỉ được xác định một cách động tại thời điểm thực thi chương trình</a:t>
            </a:r>
          </a:p>
          <a:p>
            <a:pPr algn="just">
              <a:buFontTx/>
              <a:buChar char="-"/>
            </a:pPr>
            <a:r>
              <a:rPr lang="en-US"/>
              <a:t>Để xác định một phương thức bị ràng buộc động, ở khai báo phương thức của lớp cơ sở phải dùng từ khóa </a:t>
            </a:r>
            <a:r>
              <a:rPr lang="en-US" u="sng"/>
              <a:t>virtual</a:t>
            </a:r>
          </a:p>
          <a:p>
            <a:pPr algn="just">
              <a:buFontTx/>
              <a:buChar char="-"/>
            </a:pPr>
            <a:r>
              <a:rPr lang="en-US"/>
              <a:t>Khi một phương thức được định nghĩa ảo, tất cả các phương thức phải nạp chồng từ điểm này xuống phân cấp lớp cho dù nó có được khai báo là tường minh hay không</a:t>
            </a:r>
          </a:p>
        </p:txBody>
      </p:sp>
      <p:sp>
        <p:nvSpPr>
          <p:cNvPr id="4" name="Slide Number Placeholder 3"/>
          <p:cNvSpPr>
            <a:spLocks noGrp="1"/>
          </p:cNvSpPr>
          <p:nvPr>
            <p:ph type="sldNum" sz="quarter" idx="10"/>
          </p:nvPr>
        </p:nvSpPr>
        <p:spPr/>
        <p:txBody>
          <a:bodyPr/>
          <a:lstStyle/>
          <a:p>
            <a:fld id="{3D48F1E3-0BA9-4479-9A23-62D2F56F905A}"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sz="1200"/>
              <a:t>Phương thức ảo xuat được khai báo ở lớp Nguoi cho phép sử dụng con trỏ đến lớp cơ sở (Nguoi) nhưng trỏ đến một đối tượng thuộc lớp con (Sinh viên, công nhân) gọi đúng thao tác ở lớp con</a:t>
            </a:r>
          </a:p>
          <a:p>
            <a:pPr>
              <a:buFontTx/>
              <a:buChar char="-"/>
            </a:pPr>
            <a:r>
              <a:rPr lang="en-US"/>
              <a:t>Con trỏ pn thuộc lớp Nguoi nhưng trỏ đến đối tượng sinh viên, vì vậy pn-&gt;Xuat() thực hiện thao tác xuất của lớp sinh viên.</a:t>
            </a:r>
          </a:p>
        </p:txBody>
      </p:sp>
      <p:sp>
        <p:nvSpPr>
          <p:cNvPr id="4" name="Slide Number Placeholder 3"/>
          <p:cNvSpPr>
            <a:spLocks noGrp="1"/>
          </p:cNvSpPr>
          <p:nvPr>
            <p:ph type="sldNum" sz="quarter" idx="10"/>
          </p:nvPr>
        </p:nvSpPr>
        <p:spPr/>
        <p:txBody>
          <a:bodyPr/>
          <a:lstStyle/>
          <a:p>
            <a:fld id="{3D48F1E3-0BA9-4479-9A23-62D2F56F905A}" type="slidenum">
              <a:rPr lang="en-US" smtClean="0"/>
              <a:pPr/>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Có thể xem như thao tác XuatDs được viết trước cho các lớp con cháu chưa ra đời</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eaLnBrk="1" hangingPunct="1">
              <a:lnSpc>
                <a:spcPct val="120000"/>
              </a:lnSpc>
            </a:pPr>
            <a:r>
              <a:rPr lang="vi-VN" b="1"/>
              <a:t>Các đặc trưng của phương thức ảo:</a:t>
            </a:r>
          </a:p>
          <a:p>
            <a:pPr algn="just" eaLnBrk="1" hangingPunct="1">
              <a:lnSpc>
                <a:spcPct val="120000"/>
              </a:lnSpc>
            </a:pPr>
            <a:r>
              <a:rPr lang="vi-VN"/>
              <a:t>Phương thức ảo không thể là các hàm thành viên tĩnh.</a:t>
            </a:r>
          </a:p>
          <a:p>
            <a:pPr algn="just" eaLnBrk="1" hangingPunct="1">
              <a:lnSpc>
                <a:spcPct val="120000"/>
              </a:lnSpc>
            </a:pPr>
            <a:r>
              <a:rPr lang="vi-VN"/>
              <a:t>Một phương thức ảo có thể được khai báo là friend trong một lớp khác nhưng các hàm friend của lớp thì không thể là phương thức ảo.</a:t>
            </a:r>
          </a:p>
          <a:p>
            <a:pPr algn="just" eaLnBrk="1" hangingPunct="1">
              <a:lnSpc>
                <a:spcPct val="120000"/>
              </a:lnSpc>
            </a:pPr>
            <a:r>
              <a:rPr lang="vi-VN"/>
              <a:t>Không cần thiết phải ghi rõ từ khóa virtual khi định nghĩa một phương thức ảo trong lớp dẫn xuất (để cũng chẳng ảnh hưởng gì).</a:t>
            </a:r>
          </a:p>
          <a:p>
            <a:pPr algn="just" eaLnBrk="1" hangingPunct="1">
              <a:lnSpc>
                <a:spcPct val="120000"/>
              </a:lnSpc>
            </a:pPr>
            <a:r>
              <a:rPr lang="vi-VN"/>
              <a:t>Để sự kết nối động được thực hiện thích hợp cho từng lớp dọc theo cây phả hệ, một khi phương thức nào đó đã được xác định là ảo, từ lớp cơ sở đến các lớp dẫn xuất đều phải định nghĩa thống nhất về tên, kiểu trả về và danh sách các tham số. Nếu đối với phương thức ảo ở lớp dẫn xuất, chúng ta lại sơ suất định nghĩa các tham số khác đi một chút thì trình biên dịch sẽ xem đó là phương thức khác. Đây chính là điều kiện để kết nối động.</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eaLnBrk="1" hangingPunct="1">
              <a:lnSpc>
                <a:spcPct val="120000"/>
              </a:lnSpc>
            </a:pPr>
            <a:r>
              <a:rPr lang="en-US"/>
              <a:t>C++ không cung cấp cơ chế thiết lập đối tượng có khả năng đa hình theo cơ chế hàm thành phần ảo.</a:t>
            </a:r>
          </a:p>
          <a:p>
            <a:pPr algn="just" eaLnBrk="1" hangingPunct="1">
              <a:lnSpc>
                <a:spcPct val="120000"/>
              </a:lnSpc>
            </a:pPr>
            <a:r>
              <a:rPr lang="en-US"/>
              <a:t>Tuy nhiên ta có thể </a:t>
            </a:r>
            <a:r>
              <a:rPr lang="en-US" i="1">
                <a:solidFill>
                  <a:srgbClr val="0000FF"/>
                </a:solidFill>
              </a:rPr>
              <a:t>“thu xếp”</a:t>
            </a:r>
            <a:r>
              <a:rPr lang="en-US"/>
              <a:t> để có thể tạo đối tượng theo nghĩa </a:t>
            </a:r>
            <a:r>
              <a:rPr lang="en-US" i="1">
                <a:solidFill>
                  <a:srgbClr val="0000FF"/>
                </a:solidFill>
              </a:rPr>
              <a:t>“ảo”</a:t>
            </a:r>
            <a:r>
              <a:rPr lang="en-US"/>
              <a:t>. </a:t>
            </a:r>
          </a:p>
          <a:p>
            <a:pPr algn="just" eaLnBrk="1" hangingPunct="1">
              <a:lnSpc>
                <a:spcPct val="120000"/>
              </a:lnSpc>
            </a:pPr>
            <a:r>
              <a:rPr lang="en-US"/>
              <a:t>Phương thức thiết lập ảo cũng có thể được hiện thực bằng cách dùng hàm </a:t>
            </a:r>
            <a:r>
              <a:rPr lang="en-US">
                <a:solidFill>
                  <a:srgbClr val="0000FF"/>
                </a:solidFill>
              </a:rPr>
              <a:t>thành phần tĩnh</a:t>
            </a:r>
            <a:r>
              <a:rPr lang="en-US"/>
              <a:t> để tạo đối tượng.</a:t>
            </a:r>
          </a:p>
        </p:txBody>
      </p:sp>
      <p:sp>
        <p:nvSpPr>
          <p:cNvPr id="4" name="Slide Number Placeholder 3"/>
          <p:cNvSpPr>
            <a:spLocks noGrp="1"/>
          </p:cNvSpPr>
          <p:nvPr>
            <p:ph type="sldNum" sz="quarter" idx="10"/>
          </p:nvPr>
        </p:nvSpPr>
        <p:spPr/>
        <p:txBody>
          <a:bodyPr/>
          <a:lstStyle/>
          <a:p>
            <a:fld id="{3D48F1E3-0BA9-4479-9A23-62D2F56F905A}" type="slidenum">
              <a:rPr lang="en-US" smtClean="0"/>
              <a:pPr/>
              <a:t>32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sz="1200">
                <a:solidFill>
                  <a:schemeClr val="tx1">
                    <a:lumMod val="95000"/>
                    <a:lumOff val="5000"/>
                  </a:schemeClr>
                </a:solidFill>
                <a:latin typeface="Arial" pitchFamily="34" charset="0"/>
                <a:cs typeface="Arial" pitchFamily="34" charset="0"/>
              </a:rPr>
              <a:t>Một đối tượng thuộc lớp cơ sở trừu tượng phải thuộc một trong các lớp con.</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33</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36</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37</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38</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39</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40</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Date Placeholder 3"/>
          <p:cNvSpPr>
            <a:spLocks noGrp="1"/>
          </p:cNvSpPr>
          <p:nvPr>
            <p:ph type="dt" sz="half" idx="10"/>
          </p:nvPr>
        </p:nvSpPr>
        <p:spPr>
          <a:xfrm>
            <a:off x="533400" y="6629400"/>
            <a:ext cx="2133600" cy="228600"/>
          </a:xfrm>
          <a:prstGeom prst="rect">
            <a:avLst/>
          </a:prstGeom>
        </p:spPr>
        <p:txBody>
          <a:bodyPr/>
          <a:lstStyle/>
          <a:p>
            <a:pPr>
              <a:defRPr/>
            </a:pPr>
            <a:fld id="{F9F2DA52-21B3-428E-9CA1-AC592442864C}" type="datetime1">
              <a:rPr lang="vi-VN" smtClean="0"/>
              <a:pPr>
                <a:defRPr/>
              </a:pPr>
              <a:t>31/3/26</a:t>
            </a:fld>
            <a:endParaRPr lang="en-US"/>
          </a:p>
        </p:txBody>
      </p:sp>
      <p:sp>
        <p:nvSpPr>
          <p:cNvPr id="8" name="Footer Placeholder 4"/>
          <p:cNvSpPr>
            <a:spLocks noGrp="1"/>
          </p:cNvSpPr>
          <p:nvPr>
            <p:ph type="ftr" sz="quarter" idx="11"/>
          </p:nvPr>
        </p:nvSpPr>
        <p:spPr>
          <a:xfrm>
            <a:off x="3200400" y="6629400"/>
            <a:ext cx="2895600" cy="228600"/>
          </a:xfrm>
          <a:prstGeom prst="rect">
            <a:avLst/>
          </a:prstGeom>
        </p:spPr>
        <p:txBody>
          <a:bodyPr/>
          <a:lstStyle/>
          <a:p>
            <a:pPr>
              <a:defRPr/>
            </a:pPr>
            <a:r>
              <a:rPr lang="vi-VN"/>
              <a:t>Lập Trình môi trường Windows</a:t>
            </a:r>
            <a:endParaRPr lang="en-US"/>
          </a:p>
        </p:txBody>
      </p:sp>
      <p:sp>
        <p:nvSpPr>
          <p:cNvPr id="9" name="Slide Number Placeholder 5"/>
          <p:cNvSpPr>
            <a:spLocks noGrp="1"/>
          </p:cNvSpPr>
          <p:nvPr>
            <p:ph type="sldNum" sz="quarter" idx="12"/>
          </p:nvPr>
        </p:nvSpPr>
        <p:spPr>
          <a:xfrm>
            <a:off x="6629400" y="6629400"/>
            <a:ext cx="2133600" cy="228600"/>
          </a:xfrm>
          <a:prstGeom prst="rect">
            <a:avLst/>
          </a:prstGeom>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3982065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533400" y="6629400"/>
            <a:ext cx="2133600" cy="228600"/>
          </a:xfrm>
          <a:prstGeom prst="rect">
            <a:avLst/>
          </a:prstGeom>
        </p:spPr>
        <p:txBody>
          <a:bodyPr/>
          <a:lstStyle/>
          <a:p>
            <a:pPr>
              <a:defRPr/>
            </a:pPr>
            <a:fld id="{44C22182-640A-4FDB-A760-8D0D3703758B}" type="datetime1">
              <a:rPr lang="vi-VN" smtClean="0"/>
              <a:pPr>
                <a:defRPr/>
              </a:pPr>
              <a:t>31/3/26</a:t>
            </a:fld>
            <a:endParaRPr lang="en-US"/>
          </a:p>
        </p:txBody>
      </p:sp>
      <p:sp>
        <p:nvSpPr>
          <p:cNvPr id="8" name="Footer Placeholder 4"/>
          <p:cNvSpPr>
            <a:spLocks noGrp="1"/>
          </p:cNvSpPr>
          <p:nvPr>
            <p:ph type="ftr" sz="quarter" idx="11"/>
          </p:nvPr>
        </p:nvSpPr>
        <p:spPr>
          <a:xfrm>
            <a:off x="3200400" y="6629400"/>
            <a:ext cx="2895600" cy="228600"/>
          </a:xfrm>
          <a:prstGeom prst="rect">
            <a:avLst/>
          </a:prstGeom>
        </p:spPr>
        <p:txBody>
          <a:bodyPr/>
          <a:lstStyle/>
          <a:p>
            <a:pPr>
              <a:defRPr/>
            </a:pPr>
            <a:r>
              <a:rPr lang="vi-VN"/>
              <a:t>Lập Trình môi trường Windows</a:t>
            </a:r>
            <a:endParaRPr lang="en-US"/>
          </a:p>
        </p:txBody>
      </p:sp>
      <p:sp>
        <p:nvSpPr>
          <p:cNvPr id="9" name="Slide Number Placeholder 5"/>
          <p:cNvSpPr>
            <a:spLocks noGrp="1"/>
          </p:cNvSpPr>
          <p:nvPr>
            <p:ph type="sldNum" sz="quarter" idx="12"/>
          </p:nvPr>
        </p:nvSpPr>
        <p:spPr>
          <a:xfrm>
            <a:off x="6629400" y="6629400"/>
            <a:ext cx="2133600" cy="228600"/>
          </a:xfrm>
          <a:prstGeom prst="rect">
            <a:avLst/>
          </a:prstGeom>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593611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D00E03C3-320B-4CD7-9640-A4106852A002}" type="datetime1">
              <a:rPr lang="vi-VN" smtClean="0"/>
              <a:pPr>
                <a:defRPr/>
              </a:pPr>
              <a:t>31/3/26</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04884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23F17DD4-4097-4EB2-A992-9E7B71C79DDE}" type="datetime1">
              <a:rPr lang="vi-VN" smtClean="0"/>
              <a:pPr>
                <a:defRPr/>
              </a:pPr>
              <a:t>31/3/26</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413153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9EA94887-7573-4ECC-91FE-C733876AF6AE}" type="datetime1">
              <a:rPr lang="vi-VN" smtClean="0"/>
              <a:pPr>
                <a:defRPr/>
              </a:pPr>
              <a:t>31/3/26</a:t>
            </a:fld>
            <a:endParaRPr lang="en-US"/>
          </a:p>
        </p:txBody>
      </p:sp>
      <p:sp>
        <p:nvSpPr>
          <p:cNvPr id="11" name="Footer Placeholder 4"/>
          <p:cNvSpPr>
            <a:spLocks noGrp="1"/>
          </p:cNvSpPr>
          <p:nvPr>
            <p:ph type="ftr" sz="quarter" idx="11"/>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2" name="Slide Number Placeholder 5"/>
          <p:cNvSpPr>
            <a:spLocks noGrp="1"/>
          </p:cNvSpPr>
          <p:nvPr>
            <p:ph type="sldNum" sz="quarter" idx="12"/>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007416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2DD64B64-89CB-47C1-9829-0221F223EBE9}" type="datetime1">
              <a:rPr lang="vi-VN" smtClean="0"/>
              <a:pPr>
                <a:defRPr/>
              </a:pPr>
              <a:t>31/3/26</a:t>
            </a:fld>
            <a:endParaRPr lang="en-US"/>
          </a:p>
        </p:txBody>
      </p:sp>
      <p:sp>
        <p:nvSpPr>
          <p:cNvPr id="7"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8"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25767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586CD8A5-14A1-4AD5-9D7B-43D1DA7BE684}" type="datetime1">
              <a:rPr lang="vi-VN" smtClean="0"/>
              <a:pPr>
                <a:defRPr/>
              </a:pPr>
              <a:t>31/3/26</a:t>
            </a:fld>
            <a:endParaRPr lang="en-US"/>
          </a:p>
        </p:txBody>
      </p:sp>
      <p:sp>
        <p:nvSpPr>
          <p:cNvPr id="6"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7"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42090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09B66242-8D8B-4489-A534-F6835F9510A4}" type="datetime1">
              <a:rPr lang="vi-VN" smtClean="0"/>
              <a:pPr>
                <a:defRPr/>
              </a:pPr>
              <a:t>31/3/26</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575352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A54E60E0-101B-4F0B-8CAB-7BC10001EC84}" type="datetime1">
              <a:rPr lang="vi-VN" smtClean="0"/>
              <a:pPr>
                <a:defRPr/>
              </a:pPr>
              <a:t>31/3/26</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4075226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94740A0E-981F-4D7D-85DC-FABA068F5BDC}" type="datetime1">
              <a:rPr lang="vi-VN" smtClean="0"/>
              <a:pPr>
                <a:defRPr/>
              </a:pPr>
              <a:t>31/3/26</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262533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FD2709FD-D6D7-46E8-9542-09A9D0999F67}" type="datetime1">
              <a:rPr lang="vi-VN" smtClean="0"/>
              <a:pPr>
                <a:defRPr/>
              </a:pPr>
              <a:t>31/3/26</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782377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03EB8757-C3C4-467B-A4BF-7922ED51D895}" type="datetime1">
              <a:rPr lang="vi-VN" smtClean="0"/>
              <a:pPr>
                <a:defRPr/>
              </a:pPr>
              <a:t>31/3/26</a:t>
            </a:fld>
            <a:endParaRPr lang="en-US"/>
          </a:p>
        </p:txBody>
      </p:sp>
      <p:sp>
        <p:nvSpPr>
          <p:cNvPr id="11"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2"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33389716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0" y="2057400"/>
            <a:ext cx="5943600" cy="2286000"/>
          </a:xfrm>
        </p:spPr>
        <p:txBody>
          <a:bodyPr>
            <a:noAutofit/>
          </a:bodyPr>
          <a:lstStyle/>
          <a:p>
            <a:r>
              <a:rPr lang="en-US" sz="4800" b="1"/>
              <a:t>CHƯƠNG 6.</a:t>
            </a:r>
            <a:br>
              <a:rPr lang="en-US" sz="4800" b="1"/>
            </a:br>
            <a:r>
              <a:rPr lang="en-US" sz="4800" b="1"/>
              <a:t>TÍNH ĐA HÌNH</a:t>
            </a:r>
            <a:endParaRPr lang="es-ES" sz="4800" b="1">
              <a:solidFill>
                <a:schemeClr val="tx1"/>
              </a:solidFill>
            </a:endParaRPr>
          </a:p>
        </p:txBody>
      </p:sp>
      <p:pic>
        <p:nvPicPr>
          <p:cNvPr id="22529" name="Picture 1"/>
          <p:cNvPicPr>
            <a:picLocks noChangeAspect="1" noChangeArrowheads="1"/>
          </p:cNvPicPr>
          <p:nvPr/>
        </p:nvPicPr>
        <p:blipFill>
          <a:blip r:embed="rId3" cstate="print"/>
          <a:srcRect/>
          <a:stretch>
            <a:fillRect/>
          </a:stretch>
        </p:blipFill>
        <p:spPr bwMode="auto">
          <a:xfrm>
            <a:off x="6838950" y="1571625"/>
            <a:ext cx="1924050" cy="3990975"/>
          </a:xfrm>
          <a:prstGeom prst="rect">
            <a:avLst/>
          </a:prstGeom>
          <a:noFill/>
          <a:ln w="9525">
            <a:noFill/>
            <a:miter lim="800000"/>
            <a:headEnd/>
            <a:tailEnd/>
          </a:ln>
        </p:spPr>
      </p:pic>
      <p:sp>
        <p:nvSpPr>
          <p:cNvPr id="2" name="Subtitle 1"/>
          <p:cNvSpPr>
            <a:spLocks noGrp="1"/>
          </p:cNvSpPr>
          <p:nvPr>
            <p:ph type="subTitle" idx="1"/>
          </p:nvPr>
        </p:nvSpPr>
        <p:spPr/>
        <p:txBody>
          <a:bodyPr/>
          <a:lstStyle/>
          <a:p>
            <a:endParaRPr lang="en-GB"/>
          </a:p>
        </p:txBody>
      </p:sp>
    </p:spTree>
    <p:extLst>
      <p:ext uri="{BB962C8B-B14F-4D97-AF65-F5344CB8AC3E}">
        <p14:creationId xmlns:p14="http://schemas.microsoft.com/office/powerpoint/2010/main" val="990743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Nội dung</a:t>
            </a:r>
          </a:p>
        </p:txBody>
      </p:sp>
      <p:sp>
        <p:nvSpPr>
          <p:cNvPr id="4" name="Date Placeholder 3"/>
          <p:cNvSpPr>
            <a:spLocks noGrp="1"/>
          </p:cNvSpPr>
          <p:nvPr>
            <p:ph type="dt" sz="half" idx="10"/>
          </p:nvPr>
        </p:nvSpPr>
        <p:spPr/>
        <p:txBody>
          <a:bodyPr/>
          <a:lstStyle/>
          <a:p>
            <a:pPr>
              <a:defRPr/>
            </a:pPr>
            <a:fld id="{B6C9ACEC-4E53-4F9E-B036-FFA4F9C8A670}" type="datetime1">
              <a:rPr lang="en-US" smtClean="0">
                <a:latin typeface="Times New Roman" pitchFamily="18" charset="0"/>
                <a:cs typeface="Times New Roman" pitchFamily="18" charset="0"/>
              </a:rPr>
              <a:pPr>
                <a:defRPr/>
              </a:pPr>
              <a:t>3/31/26</a:t>
            </a:fld>
            <a:endParaRPr lang="en-US">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p:txBody>
          <a:bodyPr/>
          <a:lstStyle/>
          <a:p>
            <a:pPr>
              <a:defRPr/>
            </a:pPr>
            <a:fld id="{688F6725-D91E-415D-8720-601CB0D1C024}" type="slidenum">
              <a:rPr lang="en-US" smtClean="0">
                <a:latin typeface="Times New Roman" pitchFamily="18" charset="0"/>
                <a:cs typeface="Times New Roman" pitchFamily="18" charset="0"/>
              </a:rPr>
              <a:pPr>
                <a:defRPr/>
              </a:pPr>
              <a:t>2</a:t>
            </a:fld>
            <a:endParaRPr lang="en-US">
              <a:latin typeface="Times New Roman" pitchFamily="18" charset="0"/>
              <a:cs typeface="Times New Roman" pitchFamily="18" charset="0"/>
            </a:endParaRPr>
          </a:p>
        </p:txBody>
      </p:sp>
      <p:grpSp>
        <p:nvGrpSpPr>
          <p:cNvPr id="11" name="Group 10"/>
          <p:cNvGrpSpPr/>
          <p:nvPr/>
        </p:nvGrpSpPr>
        <p:grpSpPr>
          <a:xfrm>
            <a:off x="1828800" y="1665516"/>
            <a:ext cx="5410200" cy="665163"/>
            <a:chOff x="1828800" y="1665516"/>
            <a:chExt cx="5410200" cy="665163"/>
          </a:xfrm>
        </p:grpSpPr>
        <p:grpSp>
          <p:nvGrpSpPr>
            <p:cNvPr id="3" name="Group 3"/>
            <p:cNvGrpSpPr>
              <a:grpSpLocks/>
            </p:cNvGrpSpPr>
            <p:nvPr/>
          </p:nvGrpSpPr>
          <p:grpSpPr bwMode="auto">
            <a:xfrm>
              <a:off x="1828800" y="1665516"/>
              <a:ext cx="762000" cy="665163"/>
              <a:chOff x="1110" y="2656"/>
              <a:chExt cx="1549" cy="1351"/>
            </a:xfrm>
          </p:grpSpPr>
          <p:sp>
            <p:nvSpPr>
              <p:cNvPr id="43"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4"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5"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0" name="Line 11"/>
            <p:cNvSpPr>
              <a:spLocks noChangeShapeType="1"/>
            </p:cNvSpPr>
            <p:nvPr/>
          </p:nvSpPr>
          <p:spPr bwMode="auto">
            <a:xfrm>
              <a:off x="2438400" y="22751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1" name="Text Box 12"/>
            <p:cNvSpPr txBox="1">
              <a:spLocks noChangeArrowheads="1"/>
            </p:cNvSpPr>
            <p:nvPr/>
          </p:nvSpPr>
          <p:spPr bwMode="auto">
            <a:xfrm>
              <a:off x="2743200" y="1741716"/>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Giới thiệu</a:t>
              </a:r>
              <a:endParaRPr lang="en-US" sz="2800" dirty="0">
                <a:latin typeface="Times New Roman" pitchFamily="18" charset="0"/>
                <a:cs typeface="Times New Roman" pitchFamily="18" charset="0"/>
              </a:endParaRPr>
            </a:p>
          </p:txBody>
        </p:sp>
        <p:sp>
          <p:nvSpPr>
            <p:cNvPr id="52" name="Text Box 13"/>
            <p:cNvSpPr txBox="1">
              <a:spLocks noChangeArrowheads="1"/>
            </p:cNvSpPr>
            <p:nvPr/>
          </p:nvSpPr>
          <p:spPr bwMode="gray">
            <a:xfrm>
              <a:off x="2025650" y="1763941"/>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1</a:t>
              </a:r>
            </a:p>
          </p:txBody>
        </p:sp>
      </p:grpSp>
      <p:grpSp>
        <p:nvGrpSpPr>
          <p:cNvPr id="12" name="Group 11"/>
          <p:cNvGrpSpPr/>
          <p:nvPr/>
        </p:nvGrpSpPr>
        <p:grpSpPr>
          <a:xfrm>
            <a:off x="1828800" y="2605314"/>
            <a:ext cx="5410200" cy="665163"/>
            <a:chOff x="1828800" y="2605314"/>
            <a:chExt cx="5410200" cy="665163"/>
          </a:xfrm>
        </p:grpSpPr>
        <p:grpSp>
          <p:nvGrpSpPr>
            <p:cNvPr id="7" name="Group 7"/>
            <p:cNvGrpSpPr>
              <a:grpSpLocks/>
            </p:cNvGrpSpPr>
            <p:nvPr/>
          </p:nvGrpSpPr>
          <p:grpSpPr bwMode="auto">
            <a:xfrm>
              <a:off x="1828800" y="2605314"/>
              <a:ext cx="762000" cy="665163"/>
              <a:chOff x="3174" y="2656"/>
              <a:chExt cx="1549" cy="1351"/>
            </a:xfrm>
          </p:grpSpPr>
          <p:sp>
            <p:nvSpPr>
              <p:cNvPr id="47"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8"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9"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3" name="Line 14"/>
            <p:cNvSpPr>
              <a:spLocks noChangeShapeType="1"/>
            </p:cNvSpPr>
            <p:nvPr/>
          </p:nvSpPr>
          <p:spPr bwMode="auto">
            <a:xfrm>
              <a:off x="2438400" y="3189516"/>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4" name="Text Box 15"/>
            <p:cNvSpPr txBox="1">
              <a:spLocks noChangeArrowheads="1"/>
            </p:cNvSpPr>
            <p:nvPr/>
          </p:nvSpPr>
          <p:spPr bwMode="auto">
            <a:xfrm>
              <a:off x="2743200" y="2656116"/>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Vùng chọn kiểu</a:t>
              </a:r>
              <a:endParaRPr lang="en-US" sz="2800" dirty="0">
                <a:latin typeface="Times New Roman" pitchFamily="18" charset="0"/>
                <a:cs typeface="Times New Roman" pitchFamily="18" charset="0"/>
              </a:endParaRPr>
            </a:p>
          </p:txBody>
        </p:sp>
        <p:sp>
          <p:nvSpPr>
            <p:cNvPr id="55" name="Text Box 16"/>
            <p:cNvSpPr txBox="1">
              <a:spLocks noChangeArrowheads="1"/>
            </p:cNvSpPr>
            <p:nvPr/>
          </p:nvSpPr>
          <p:spPr bwMode="gray">
            <a:xfrm>
              <a:off x="2025650" y="2775858"/>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2</a:t>
              </a:r>
            </a:p>
          </p:txBody>
        </p:sp>
      </p:grpSp>
      <p:grpSp>
        <p:nvGrpSpPr>
          <p:cNvPr id="13" name="Group 12"/>
          <p:cNvGrpSpPr/>
          <p:nvPr/>
        </p:nvGrpSpPr>
        <p:grpSpPr>
          <a:xfrm>
            <a:off x="1828800" y="3472091"/>
            <a:ext cx="5410200" cy="665163"/>
            <a:chOff x="1828800" y="3472091"/>
            <a:chExt cx="5410200" cy="665163"/>
          </a:xfrm>
        </p:grpSpPr>
        <p:grpSp>
          <p:nvGrpSpPr>
            <p:cNvPr id="8" name="Group 17"/>
            <p:cNvGrpSpPr>
              <a:grpSpLocks/>
            </p:cNvGrpSpPr>
            <p:nvPr/>
          </p:nvGrpSpPr>
          <p:grpSpPr bwMode="auto">
            <a:xfrm>
              <a:off x="1828800" y="3472091"/>
              <a:ext cx="762000" cy="665163"/>
              <a:chOff x="1110" y="2656"/>
              <a:chExt cx="1549" cy="1351"/>
            </a:xfrm>
          </p:grpSpPr>
          <p:sp>
            <p:nvSpPr>
              <p:cNvPr id="5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4" name="Line 25"/>
            <p:cNvSpPr>
              <a:spLocks noChangeShapeType="1"/>
            </p:cNvSpPr>
            <p:nvPr/>
          </p:nvSpPr>
          <p:spPr bwMode="auto">
            <a:xfrm>
              <a:off x="2438400" y="40816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5" name="Text Box 26"/>
            <p:cNvSpPr txBox="1">
              <a:spLocks noChangeArrowheads="1"/>
            </p:cNvSpPr>
            <p:nvPr/>
          </p:nvSpPr>
          <p:spPr bwMode="auto">
            <a:xfrm>
              <a:off x="2743200" y="35482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Phương thức ảo</a:t>
              </a:r>
              <a:endParaRPr lang="en-US" sz="2800" dirty="0">
                <a:latin typeface="Times New Roman" pitchFamily="18" charset="0"/>
                <a:cs typeface="Times New Roman" pitchFamily="18" charset="0"/>
              </a:endParaRPr>
            </a:p>
          </p:txBody>
        </p:sp>
        <p:sp>
          <p:nvSpPr>
            <p:cNvPr id="66" name="Text Box 27"/>
            <p:cNvSpPr txBox="1">
              <a:spLocks noChangeArrowheads="1"/>
            </p:cNvSpPr>
            <p:nvPr/>
          </p:nvSpPr>
          <p:spPr bwMode="gray">
            <a:xfrm>
              <a:off x="2025650" y="35705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3</a:t>
              </a:r>
            </a:p>
          </p:txBody>
        </p:sp>
      </p:grpSp>
      <p:grpSp>
        <p:nvGrpSpPr>
          <p:cNvPr id="14" name="Group 13"/>
          <p:cNvGrpSpPr/>
          <p:nvPr/>
        </p:nvGrpSpPr>
        <p:grpSpPr>
          <a:xfrm>
            <a:off x="1828800" y="4386491"/>
            <a:ext cx="5410200" cy="665163"/>
            <a:chOff x="1828800" y="4386491"/>
            <a:chExt cx="5410200" cy="665163"/>
          </a:xfrm>
        </p:grpSpPr>
        <p:grpSp>
          <p:nvGrpSpPr>
            <p:cNvPr id="9" name="Group 21"/>
            <p:cNvGrpSpPr>
              <a:grpSpLocks/>
            </p:cNvGrpSpPr>
            <p:nvPr/>
          </p:nvGrpSpPr>
          <p:grpSpPr bwMode="auto">
            <a:xfrm>
              <a:off x="1828800" y="4386491"/>
              <a:ext cx="762000" cy="665163"/>
              <a:chOff x="3174" y="2656"/>
              <a:chExt cx="1549" cy="1351"/>
            </a:xfrm>
          </p:grpSpPr>
          <p:sp>
            <p:nvSpPr>
              <p:cNvPr id="61"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2"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3"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7" name="Line 28"/>
            <p:cNvSpPr>
              <a:spLocks noChangeShapeType="1"/>
            </p:cNvSpPr>
            <p:nvPr/>
          </p:nvSpPr>
          <p:spPr bwMode="auto">
            <a:xfrm>
              <a:off x="2438400" y="4996091"/>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8" name="Text Box 29"/>
            <p:cNvSpPr txBox="1">
              <a:spLocks noChangeArrowheads="1"/>
            </p:cNvSpPr>
            <p:nvPr/>
          </p:nvSpPr>
          <p:spPr bwMode="auto">
            <a:xfrm>
              <a:off x="2743200" y="44626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Phương thức thuần ảo</a:t>
              </a:r>
              <a:endParaRPr lang="en-US" sz="2800" dirty="0">
                <a:latin typeface="Times New Roman" pitchFamily="18" charset="0"/>
                <a:cs typeface="Times New Roman" pitchFamily="18" charset="0"/>
              </a:endParaRPr>
            </a:p>
          </p:txBody>
        </p:sp>
        <p:sp>
          <p:nvSpPr>
            <p:cNvPr id="69" name="Text Box 30"/>
            <p:cNvSpPr txBox="1">
              <a:spLocks noChangeArrowheads="1"/>
            </p:cNvSpPr>
            <p:nvPr/>
          </p:nvSpPr>
          <p:spPr bwMode="gray">
            <a:xfrm>
              <a:off x="2025650" y="44849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4</a:t>
              </a:r>
            </a:p>
          </p:txBody>
        </p:sp>
      </p:grpSp>
      <p:grpSp>
        <p:nvGrpSpPr>
          <p:cNvPr id="15" name="Group 14"/>
          <p:cNvGrpSpPr/>
          <p:nvPr/>
        </p:nvGrpSpPr>
        <p:grpSpPr>
          <a:xfrm>
            <a:off x="1828800" y="5323116"/>
            <a:ext cx="5413775" cy="665163"/>
            <a:chOff x="1828800" y="5323116"/>
            <a:chExt cx="5413775" cy="665163"/>
          </a:xfrm>
        </p:grpSpPr>
        <p:sp>
          <p:nvSpPr>
            <p:cNvPr id="70" name="Line 28"/>
            <p:cNvSpPr>
              <a:spLocks noChangeShapeType="1"/>
            </p:cNvSpPr>
            <p:nvPr/>
          </p:nvSpPr>
          <p:spPr bwMode="auto">
            <a:xfrm>
              <a:off x="2441975" y="5912079"/>
              <a:ext cx="48006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1" name="Text Box 29"/>
            <p:cNvSpPr txBox="1">
              <a:spLocks noChangeArrowheads="1"/>
            </p:cNvSpPr>
            <p:nvPr/>
          </p:nvSpPr>
          <p:spPr bwMode="auto">
            <a:xfrm>
              <a:off x="2746775" y="5378679"/>
              <a:ext cx="44922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Bài toán Tính tiền lương</a:t>
              </a:r>
              <a:endParaRPr lang="en-US" sz="2800" dirty="0">
                <a:latin typeface="Times New Roman" pitchFamily="18" charset="0"/>
                <a:cs typeface="Times New Roman" pitchFamily="18" charset="0"/>
              </a:endParaRPr>
            </a:p>
          </p:txBody>
        </p:sp>
        <p:sp>
          <p:nvSpPr>
            <p:cNvPr id="72" name="Text Box 30"/>
            <p:cNvSpPr txBox="1">
              <a:spLocks noChangeArrowheads="1"/>
            </p:cNvSpPr>
            <p:nvPr/>
          </p:nvSpPr>
          <p:spPr bwMode="gray">
            <a:xfrm>
              <a:off x="2028138" y="5400904"/>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5</a:t>
              </a:r>
            </a:p>
          </p:txBody>
        </p:sp>
        <p:grpSp>
          <p:nvGrpSpPr>
            <p:cNvPr id="10" name="Group 17"/>
            <p:cNvGrpSpPr>
              <a:grpSpLocks/>
            </p:cNvGrpSpPr>
            <p:nvPr/>
          </p:nvGrpSpPr>
          <p:grpSpPr bwMode="auto">
            <a:xfrm>
              <a:off x="1828800" y="5323116"/>
              <a:ext cx="762000" cy="665163"/>
              <a:chOff x="1110" y="2656"/>
              <a:chExt cx="1549" cy="1351"/>
            </a:xfrm>
          </p:grpSpPr>
          <p:sp>
            <p:nvSpPr>
              <p:cNvPr id="74"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5"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6"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000" dirty="0">
                    <a:solidFill>
                      <a:schemeClr val="bg1"/>
                    </a:solidFill>
                    <a:latin typeface="Times New Roman" pitchFamily="18" charset="0"/>
                    <a:cs typeface="Times New Roman" pitchFamily="18" charset="0"/>
                  </a:rPr>
                  <a:t> </a:t>
                </a:r>
                <a:r>
                  <a:rPr lang="en-US" sz="2400" dirty="0">
                    <a:solidFill>
                      <a:schemeClr val="bg1"/>
                    </a:solidFill>
                    <a:latin typeface="Times New Roman" pitchFamily="18" charset="0"/>
                    <a:cs typeface="Times New Roman" pitchFamily="18" charset="0"/>
                  </a:rPr>
                  <a:t>5</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Giới thiệu</a:t>
            </a:r>
          </a:p>
        </p:txBody>
      </p:sp>
      <p:sp>
        <p:nvSpPr>
          <p:cNvPr id="3" name="Content Placeholder 2"/>
          <p:cNvSpPr>
            <a:spLocks noGrp="1"/>
          </p:cNvSpPr>
          <p:nvPr>
            <p:ph idx="1"/>
          </p:nvPr>
        </p:nvSpPr>
        <p:spPr>
          <a:xfrm>
            <a:off x="457200" y="1447800"/>
            <a:ext cx="8382000" cy="4925144"/>
          </a:xfrm>
        </p:spPr>
        <p:txBody>
          <a:bodyPr>
            <a:no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Tính đa hình xuất hiện </a:t>
            </a:r>
            <a:r>
              <a:rPr lang="vi-VN" sz="2800">
                <a:solidFill>
                  <a:srgbClr val="0070C0"/>
                </a:solidFill>
                <a:latin typeface="Arial" pitchFamily="34" charset="0"/>
                <a:cs typeface="Arial" pitchFamily="34" charset="0"/>
              </a:rPr>
              <a:t>khi có sự kế thừa giữa các lớp</a:t>
            </a:r>
            <a:r>
              <a:rPr lang="vi-VN" sz="280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C</a:t>
            </a:r>
            <a:r>
              <a:rPr lang="vi-VN" sz="2800">
                <a:solidFill>
                  <a:schemeClr val="tx1">
                    <a:lumMod val="95000"/>
                    <a:lumOff val="5000"/>
                  </a:schemeClr>
                </a:solidFill>
                <a:latin typeface="Arial" pitchFamily="34" charset="0"/>
                <a:cs typeface="Arial" pitchFamily="34" charset="0"/>
              </a:rPr>
              <a:t>ó những </a:t>
            </a:r>
            <a:r>
              <a:rPr lang="vi-VN" sz="2800">
                <a:solidFill>
                  <a:srgbClr val="FF3300"/>
                </a:solidFill>
                <a:latin typeface="Arial" pitchFamily="34" charset="0"/>
                <a:cs typeface="Arial" pitchFamily="34" charset="0"/>
              </a:rPr>
              <a:t>phương thức tổng quát </a:t>
            </a:r>
            <a:r>
              <a:rPr lang="vi-VN" sz="2800">
                <a:solidFill>
                  <a:schemeClr val="tx1">
                    <a:lumMod val="95000"/>
                    <a:lumOff val="5000"/>
                  </a:schemeClr>
                </a:solidFill>
                <a:latin typeface="Arial" pitchFamily="34" charset="0"/>
                <a:cs typeface="Arial" pitchFamily="34" charset="0"/>
              </a:rPr>
              <a:t>cho mọi lớp dẫn xuất nên có mặt ở lớp cơ sở nhưng nội dung của nó chỉ được xác định ở các lớp dẫn xuất cụ thể.</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Ví dụ, Phương thức tính diện tích của lớp hình, hình tam giác, tứ giác,…</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Giới thiệu</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70C0"/>
                </a:solidFill>
                <a:latin typeface="Arial" pitchFamily="34" charset="0"/>
                <a:cs typeface="Arial" pitchFamily="34" charset="0"/>
              </a:rPr>
              <a:t>Đa</a:t>
            </a:r>
            <a:r>
              <a:rPr lang="en-US" sz="2800">
                <a:solidFill>
                  <a:srgbClr val="0070C0"/>
                </a:solidFill>
                <a:latin typeface="Arial" pitchFamily="34" charset="0"/>
                <a:cs typeface="Arial" pitchFamily="34" charset="0"/>
              </a:rPr>
              <a:t> hình</a:t>
            </a:r>
            <a:r>
              <a:rPr lang="vi-VN" sz="2800">
                <a:solidFill>
                  <a:schemeClr val="tx1">
                    <a:lumMod val="95000"/>
                    <a:lumOff val="5000"/>
                  </a:schemeClr>
                </a:solidFill>
                <a:latin typeface="Arial" pitchFamily="34" charset="0"/>
                <a:cs typeface="Arial" pitchFamily="34" charset="0"/>
              </a:rPr>
              <a:t>: Là hiện tượng các đối tượng thuộc các lớp khác nhau có khả năng hiểu cùng một thông điệp theo các cách khác nhau.</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Ví dụ: Nhận được cùng một thông điệp “nhảy”, một con kangaroo và một con cóc nhảy theo hai kiểu khác nhau: chúng cùng có hành vi “nhảy” nhưng các hành vi này có nội dung khác nhau</a:t>
            </a:r>
            <a:r>
              <a:rPr lang="en-US" sz="280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a:t>
            </a:fld>
            <a:endParaRPr lang="en-US"/>
          </a:p>
        </p:txBody>
      </p:sp>
      <p:pic>
        <p:nvPicPr>
          <p:cNvPr id="7" name="Picture 2"/>
          <p:cNvPicPr>
            <a:picLocks noChangeAspect="1" noChangeArrowheads="1"/>
          </p:cNvPicPr>
          <p:nvPr/>
        </p:nvPicPr>
        <p:blipFill>
          <a:blip r:embed="rId3" cstate="print"/>
          <a:srcRect/>
          <a:stretch>
            <a:fillRect/>
          </a:stretch>
        </p:blipFill>
        <p:spPr bwMode="auto">
          <a:xfrm>
            <a:off x="3124200" y="5425966"/>
            <a:ext cx="3429000" cy="1096196"/>
          </a:xfrm>
          <a:prstGeom prst="rect">
            <a:avLst/>
          </a:prstGeom>
          <a:noFill/>
          <a:ln w="9525">
            <a:noFill/>
            <a:miter lim="800000"/>
            <a:headEnd/>
            <a:tailEnd/>
          </a:ln>
        </p:spPr>
      </p:pic>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Bài toán</a:t>
            </a:r>
          </a:p>
        </p:txBody>
      </p:sp>
      <p:sp>
        <p:nvSpPr>
          <p:cNvPr id="3" name="Content Placeholder 2"/>
          <p:cNvSpPr>
            <a:spLocks noGrp="1"/>
          </p:cNvSpPr>
          <p:nvPr>
            <p:ph idx="1"/>
          </p:nvPr>
        </p:nvSpPr>
        <p:spPr>
          <a:xfrm>
            <a:off x="457200" y="1447800"/>
            <a:ext cx="8382000" cy="4925144"/>
          </a:xfrm>
        </p:spPr>
        <p:txBody>
          <a:bodyPr>
            <a:noAutofit/>
          </a:bodyPr>
          <a:lstStyle/>
          <a:p>
            <a:pPr algn="just">
              <a:lnSpc>
                <a:spcPct val="130000"/>
              </a:lnSpc>
              <a:spcBef>
                <a:spcPts val="300"/>
              </a:spcBef>
              <a:spcAft>
                <a:spcPts val="300"/>
              </a:spcAft>
              <a:buFont typeface="Wingdings" pitchFamily="2" charset="2"/>
              <a:buChar char="v"/>
            </a:pPr>
            <a:r>
              <a:rPr lang="en-US">
                <a:latin typeface="Arial" pitchFamily="34" charset="0"/>
                <a:cs typeface="Arial" pitchFamily="34" charset="0"/>
              </a:rPr>
              <a:t>Giả sử, </a:t>
            </a:r>
            <a:r>
              <a:rPr lang="en-US">
                <a:solidFill>
                  <a:srgbClr val="0000FF"/>
                </a:solidFill>
                <a:latin typeface="Arial" pitchFamily="34" charset="0"/>
                <a:cs typeface="Arial" pitchFamily="34" charset="0"/>
              </a:rPr>
              <a:t>cần quản lý danh sách các đối tượng có kiểu có thể khác nhau</a:t>
            </a:r>
            <a:r>
              <a:rPr lang="en-US">
                <a:latin typeface="Arial" pitchFamily="34" charset="0"/>
                <a:cs typeface="Arial" pitchFamily="34" charset="0"/>
              </a:rPr>
              <a:t> </a:t>
            </a:r>
            <a:r>
              <a:rPr lang="en-US">
                <a:latin typeface="Arial" pitchFamily="34" charset="0"/>
                <a:cs typeface="Arial" pitchFamily="34" charset="0"/>
                <a:sym typeface="Wingdings" pitchFamily="2" charset="2"/>
              </a:rPr>
              <a:t>Cần giải quyết 2 vấn đề:</a:t>
            </a: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Cách lưu trữ</a:t>
            </a: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Thao tác xử lý</a:t>
            </a:r>
          </a:p>
          <a:p>
            <a:pPr algn="just">
              <a:lnSpc>
                <a:spcPct val="130000"/>
              </a:lnSpc>
              <a:spcBef>
                <a:spcPts val="300"/>
              </a:spcBef>
              <a:spcAft>
                <a:spcPts val="300"/>
              </a:spcAft>
              <a:buFont typeface="Wingdings" pitchFamily="2" charset="2"/>
              <a:buChar char="v"/>
            </a:pPr>
            <a:r>
              <a:rPr lang="en-US">
                <a:latin typeface="Arial" pitchFamily="34" charset="0"/>
                <a:cs typeface="Arial" pitchFamily="34" charset="0"/>
              </a:rPr>
              <a:t>Xét trường hợp cụ thể, các đối tượng có thể là Người, Sinh viên hoặc Công nhân.</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Bài toán</a:t>
            </a:r>
          </a:p>
        </p:txBody>
      </p:sp>
      <p:sp>
        <p:nvSpPr>
          <p:cNvPr id="3" name="Content Placeholder 2"/>
          <p:cNvSpPr>
            <a:spLocks noGrp="1"/>
          </p:cNvSpPr>
          <p:nvPr>
            <p:ph idx="1"/>
          </p:nvPr>
        </p:nvSpPr>
        <p:spPr>
          <a:xfrm>
            <a:off x="457200" y="1447800"/>
            <a:ext cx="8382000" cy="4925144"/>
          </a:xfrm>
        </p:spPr>
        <p:txBody>
          <a:bodyPr>
            <a:noAutofit/>
          </a:bodyPr>
          <a:lstStyle/>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Về mặt lưu trữ</a:t>
            </a:r>
            <a:r>
              <a:rPr lang="en-US">
                <a:latin typeface="Arial" pitchFamily="34" charset="0"/>
                <a:cs typeface="Arial" pitchFamily="34" charset="0"/>
              </a:rPr>
              <a:t>:</a:t>
            </a: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Có thể dùng mảng</a:t>
            </a: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Danh sách liên kết</a:t>
            </a:r>
          </a:p>
          <a:p>
            <a:pPr lvl="1" algn="just">
              <a:lnSpc>
                <a:spcPct val="130000"/>
              </a:lnSpc>
              <a:spcBef>
                <a:spcPts val="300"/>
              </a:spcBef>
              <a:spcAft>
                <a:spcPts val="300"/>
              </a:spcAft>
              <a:buFont typeface="Wingdings" pitchFamily="2" charset="2"/>
              <a:buChar char="§"/>
            </a:pPr>
            <a:r>
              <a:rPr lang="en-US">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en-US">
                <a:solidFill>
                  <a:srgbClr val="0000FF"/>
                </a:solidFill>
                <a:latin typeface="Arial" pitchFamily="34" charset="0"/>
                <a:cs typeface="Arial" pitchFamily="34" charset="0"/>
              </a:rPr>
              <a:t>Về thao tác</a:t>
            </a:r>
            <a:r>
              <a:rPr lang="en-US">
                <a:latin typeface="Arial" pitchFamily="34" charset="0"/>
                <a:cs typeface="Arial" pitchFamily="34" charset="0"/>
              </a:rPr>
              <a:t>: Phải thõa yêu cầu đa hình, thao tác có hoạt động khác nhau ứng với các loại đối tượng khác nhau</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a:t>
            </a:fld>
            <a:endParaRPr lang="en-US"/>
          </a:p>
        </p:txBody>
      </p:sp>
      <p:sp>
        <p:nvSpPr>
          <p:cNvPr id="7" name="Oval Callout 6"/>
          <p:cNvSpPr/>
          <p:nvPr/>
        </p:nvSpPr>
        <p:spPr>
          <a:xfrm>
            <a:off x="4572000" y="1600200"/>
            <a:ext cx="4343400" cy="2209800"/>
          </a:xfrm>
          <a:prstGeom prst="wedgeEllipseCallout">
            <a:avLst>
              <a:gd name="adj1" fmla="val -54590"/>
              <a:gd name="adj2" fmla="val 47518"/>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b="0">
                <a:solidFill>
                  <a:schemeClr val="tx1"/>
                </a:solidFill>
                <a:latin typeface="Arial" pitchFamily="34" charset="0"/>
                <a:cs typeface="Arial" pitchFamily="34" charset="0"/>
              </a:rPr>
              <a:t>Có hai cách để giải quyết vần đề:</a:t>
            </a:r>
          </a:p>
          <a:p>
            <a:pPr marL="342900" indent="-342900">
              <a:buFontTx/>
              <a:buChar char="-"/>
            </a:pPr>
            <a:r>
              <a:rPr lang="en-US" sz="2400" b="0">
                <a:solidFill>
                  <a:schemeClr val="tx1"/>
                </a:solidFill>
                <a:latin typeface="Arial" pitchFamily="34" charset="0"/>
                <a:cs typeface="Arial" pitchFamily="34" charset="0"/>
              </a:rPr>
              <a:t>Vùng chọn kiểu</a:t>
            </a:r>
          </a:p>
          <a:p>
            <a:pPr marL="342900" indent="-342900">
              <a:buFontTx/>
              <a:buChar char="-"/>
            </a:pPr>
            <a:r>
              <a:rPr lang="en-US" sz="2400" b="0">
                <a:solidFill>
                  <a:schemeClr val="tx1"/>
                </a:solidFill>
                <a:latin typeface="Arial" pitchFamily="34" charset="0"/>
                <a:cs typeface="Arial" pitchFamily="34" charset="0"/>
              </a:rPr>
              <a:t>Phương thức ảo</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class</a:t>
            </a:r>
            <a:r>
              <a:rPr lang="en-US" sz="2400" b="0">
                <a:solidFill>
                  <a:srgbClr val="000000"/>
                </a:solidFill>
              </a:rPr>
              <a:t> Nguoi {</a:t>
            </a:r>
          </a:p>
          <a:p>
            <a:pPr marL="342900" indent="-342900">
              <a:lnSpc>
                <a:spcPct val="90000"/>
              </a:lnSpc>
              <a:spcBef>
                <a:spcPct val="20000"/>
              </a:spcBef>
              <a:buFont typeface="Wingdings" pitchFamily="2" charset="2"/>
              <a:buNone/>
            </a:pPr>
            <a:r>
              <a:rPr lang="en-US" sz="2400" b="0">
                <a:solidFill>
                  <a:srgbClr val="0000FF"/>
                </a:solidFill>
              </a:rPr>
              <a:t>protected</a:t>
            </a:r>
            <a:r>
              <a:rPr lang="en-US" sz="2400" b="0">
                <a:solidFill>
                  <a:srgbClr val="000000"/>
                </a:solidFill>
              </a:rPr>
              <a:t>:</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char</a:t>
            </a:r>
            <a:r>
              <a:rPr lang="en-US" sz="2400" b="0">
                <a:solidFill>
                  <a:srgbClr val="000000"/>
                </a:solidFill>
              </a:rPr>
              <a:t> *HoTen;</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NamSinh;</a:t>
            </a:r>
          </a:p>
          <a:p>
            <a:pPr marL="342900" indent="-342900">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Nguoi(</a:t>
            </a:r>
            <a:r>
              <a:rPr lang="en-US" sz="2400" b="0">
                <a:solidFill>
                  <a:srgbClr val="0000FF"/>
                </a:solidFill>
              </a:rPr>
              <a:t>char</a:t>
            </a:r>
            <a:r>
              <a:rPr lang="en-US" sz="2400" b="0">
                <a:solidFill>
                  <a:srgbClr val="000000"/>
                </a:solidFill>
              </a:rPr>
              <a:t> *ht, </a:t>
            </a:r>
            <a:r>
              <a:rPr lang="en-US" sz="2400" b="0">
                <a:solidFill>
                  <a:srgbClr val="0000FF"/>
                </a:solidFill>
              </a:rPr>
              <a:t>int</a:t>
            </a:r>
            <a:r>
              <a:rPr lang="en-US" sz="2400" b="0">
                <a:solidFill>
                  <a:srgbClr val="000000"/>
                </a:solidFill>
              </a:rPr>
              <a:t> ns):NamSinh(ns){HoTen=strdup(ht);}</a:t>
            </a:r>
          </a:p>
          <a:p>
            <a:pPr marL="342900" indent="-342900">
              <a:spcBef>
                <a:spcPct val="20000"/>
              </a:spcBef>
              <a:buFont typeface="Wingdings" pitchFamily="2" charset="2"/>
              <a:buNone/>
            </a:pPr>
            <a:r>
              <a:rPr lang="en-US" sz="2400" b="0">
                <a:solidFill>
                  <a:srgbClr val="000000"/>
                </a:solidFill>
              </a:rPr>
              <a:t>	~Nguoi() {</a:t>
            </a:r>
            <a:r>
              <a:rPr lang="en-US" sz="2400" b="0">
                <a:solidFill>
                  <a:srgbClr val="0000FF"/>
                </a:solidFill>
              </a:rPr>
              <a:t>delete</a:t>
            </a:r>
            <a:r>
              <a:rPr lang="en-US" sz="2400" b="0">
                <a:solidFill>
                  <a:srgbClr val="000000"/>
                </a:solidFill>
              </a:rPr>
              <a:t> [ ] HoTen;}</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An() </a:t>
            </a:r>
            <a:r>
              <a:rPr lang="en-US" sz="2400" b="0">
                <a:solidFill>
                  <a:srgbClr val="0000FF"/>
                </a:solidFill>
              </a:rPr>
              <a:t>const</a:t>
            </a:r>
            <a:r>
              <a:rPr lang="en-US" sz="2400" b="0">
                <a:solidFill>
                  <a:srgbClr val="000000"/>
                </a:solidFill>
              </a:rPr>
              <a:t> { cout &lt;&lt; HoTen &lt;&lt; " an 3 chen com";}</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Xuat() </a:t>
            </a:r>
            <a:r>
              <a:rPr lang="en-US" sz="2400" b="0">
                <a:solidFill>
                  <a:srgbClr val="0000FF"/>
                </a:solidFill>
              </a:rPr>
              <a:t>const</a:t>
            </a: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cout &lt;&lt; "Nguoi, ho ten: " &lt;&lt; HoTen &lt;&lt; " sinh “</a:t>
            </a:r>
          </a:p>
          <a:p>
            <a:pPr marL="342900" indent="-342900">
              <a:lnSpc>
                <a:spcPct val="90000"/>
              </a:lnSpc>
              <a:spcBef>
                <a:spcPct val="20000"/>
              </a:spcBef>
              <a:buFont typeface="Wingdings" pitchFamily="2" charset="2"/>
              <a:buNone/>
            </a:pPr>
            <a:r>
              <a:rPr lang="en-US" sz="2400" b="0">
                <a:solidFill>
                  <a:srgbClr val="000000"/>
                </a:solidFill>
              </a:rPr>
              <a:t>		cout &lt;&lt; NamSinh; }</a:t>
            </a:r>
          </a:p>
          <a:p>
            <a:pPr marL="342900" indent="-342900">
              <a:lnSpc>
                <a:spcPct val="90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8</a:t>
            </a:fld>
            <a:endParaRPr lang="en-US"/>
          </a:p>
        </p:txBody>
      </p:sp>
      <p:sp>
        <p:nvSpPr>
          <p:cNvPr id="8"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class</a:t>
            </a:r>
            <a:r>
              <a:rPr lang="en-US" sz="2400" b="0">
                <a:solidFill>
                  <a:srgbClr val="000000"/>
                </a:solidFill>
              </a:rPr>
              <a:t> SinhVien : </a:t>
            </a:r>
            <a:r>
              <a:rPr lang="en-US" sz="2400" b="0">
                <a:solidFill>
                  <a:srgbClr val="0000FF"/>
                </a:solidFill>
              </a:rPr>
              <a:t>public</a:t>
            </a:r>
            <a:r>
              <a:rPr lang="en-US" sz="2400" b="0">
                <a:solidFill>
                  <a:srgbClr val="000000"/>
                </a:solidFill>
              </a:rPr>
              <a:t> Nguoi{</a:t>
            </a:r>
          </a:p>
          <a:p>
            <a:pPr marL="342900" indent="-342900">
              <a:lnSpc>
                <a:spcPct val="90000"/>
              </a:lnSpc>
              <a:spcBef>
                <a:spcPct val="20000"/>
              </a:spcBef>
              <a:buFont typeface="Wingdings" pitchFamily="2" charset="2"/>
              <a:buNone/>
            </a:pPr>
            <a:r>
              <a:rPr lang="en-US" sz="2400" b="0">
                <a:solidFill>
                  <a:srgbClr val="0000FF"/>
                </a:solidFill>
              </a:rPr>
              <a:t>protected</a:t>
            </a:r>
            <a:r>
              <a:rPr lang="en-US" sz="2400" b="0">
                <a:solidFill>
                  <a:srgbClr val="000000"/>
                </a:solidFill>
              </a:rPr>
              <a:t>:</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char</a:t>
            </a:r>
            <a:r>
              <a:rPr lang="en-US" sz="2400" b="0">
                <a:solidFill>
                  <a:srgbClr val="000000"/>
                </a:solidFill>
              </a:rPr>
              <a:t> *MaSo;</a:t>
            </a:r>
          </a:p>
          <a:p>
            <a:pPr marL="342900" indent="-342900">
              <a:lnSpc>
                <a:spcPct val="90000"/>
              </a:lnSpc>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SinhVien(</a:t>
            </a:r>
            <a:r>
              <a:rPr lang="en-US" sz="2400" b="0">
                <a:solidFill>
                  <a:srgbClr val="0000FF"/>
                </a:solidFill>
              </a:rPr>
              <a:t>char</a:t>
            </a:r>
            <a:r>
              <a:rPr lang="en-US" sz="2400" b="0">
                <a:solidFill>
                  <a:srgbClr val="000000"/>
                </a:solidFill>
              </a:rPr>
              <a:t> *n, </a:t>
            </a:r>
            <a:r>
              <a:rPr lang="en-US" sz="2400" b="0">
                <a:solidFill>
                  <a:srgbClr val="0000FF"/>
                </a:solidFill>
              </a:rPr>
              <a:t>char</a:t>
            </a:r>
            <a:r>
              <a:rPr lang="en-US" sz="2400" b="0">
                <a:solidFill>
                  <a:srgbClr val="000000"/>
                </a:solidFill>
              </a:rPr>
              <a:t> *ms, </a:t>
            </a:r>
            <a:r>
              <a:rPr lang="en-US" sz="2400" b="0">
                <a:solidFill>
                  <a:srgbClr val="0000FF"/>
                </a:solidFill>
              </a:rPr>
              <a:t>int</a:t>
            </a:r>
            <a:r>
              <a:rPr lang="en-US" sz="2400" b="0">
                <a:solidFill>
                  <a:srgbClr val="000000"/>
                </a:solidFill>
              </a:rPr>
              <a:t> ns) : Nguoi(n,ns) {</a:t>
            </a:r>
          </a:p>
          <a:p>
            <a:pPr marL="342900" indent="-342900">
              <a:spcBef>
                <a:spcPct val="20000"/>
              </a:spcBef>
              <a:buFont typeface="Wingdings" pitchFamily="2" charset="2"/>
              <a:buNone/>
            </a:pPr>
            <a:r>
              <a:rPr lang="en-US" sz="2400" b="0">
                <a:solidFill>
                  <a:srgbClr val="000000"/>
                </a:solidFill>
              </a:rPr>
              <a:t>		MaSo = strdup(ms);</a:t>
            </a:r>
          </a:p>
          <a:p>
            <a:pPr marL="342900" indent="-342900">
              <a:lnSpc>
                <a:spcPct val="90000"/>
              </a:lnSpc>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~SinhVien() { </a:t>
            </a:r>
            <a:r>
              <a:rPr lang="en-US" sz="2400" b="0">
                <a:solidFill>
                  <a:srgbClr val="0000FF"/>
                </a:solidFill>
              </a:rPr>
              <a:t>delete</a:t>
            </a:r>
            <a:r>
              <a:rPr lang="en-US" sz="2400" b="0">
                <a:solidFill>
                  <a:srgbClr val="000000"/>
                </a:solidFill>
              </a:rPr>
              <a:t> [ ] MaSo;}</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Xuat() </a:t>
            </a:r>
            <a:r>
              <a:rPr lang="en-US" sz="2400" b="0">
                <a:solidFill>
                  <a:srgbClr val="0000FF"/>
                </a:solidFill>
              </a:rPr>
              <a:t>const</a:t>
            </a: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cout&lt;&lt;"Sinh vien "&lt;&lt;HoTen&lt;&lt;", ma so "&lt;&lt;MaSo;</a:t>
            </a:r>
          </a:p>
          <a:p>
            <a:pPr marL="342900" indent="-342900">
              <a:lnSpc>
                <a:spcPct val="95000"/>
              </a:lnSpc>
              <a:spcBef>
                <a:spcPct val="20000"/>
              </a:spcBef>
              <a:buFont typeface="Wingdings" pitchFamily="2" charset="2"/>
              <a:buNone/>
            </a:pPr>
            <a:r>
              <a:rPr lang="en-US" sz="2400" b="0">
                <a:solidFill>
                  <a:srgbClr val="000000"/>
                </a:solidFill>
              </a:rPr>
              <a:t>	}</a:t>
            </a:r>
          </a:p>
          <a:p>
            <a:pPr marL="342900" indent="-342900">
              <a:lnSpc>
                <a:spcPct val="95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9</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class</a:t>
            </a:r>
            <a:r>
              <a:rPr lang="en-US" sz="2400" b="0">
                <a:solidFill>
                  <a:srgbClr val="000000"/>
                </a:solidFill>
              </a:rPr>
              <a:t> NuSinh : </a:t>
            </a:r>
            <a:r>
              <a:rPr lang="en-US" sz="2400" b="0">
                <a:solidFill>
                  <a:srgbClr val="0000FF"/>
                </a:solidFill>
              </a:rPr>
              <a:t>public</a:t>
            </a:r>
            <a:r>
              <a:rPr lang="en-US" sz="2400" b="0">
                <a:solidFill>
                  <a:srgbClr val="000000"/>
                </a:solidFill>
              </a:rPr>
              <a:t> SinhVien</a:t>
            </a:r>
          </a:p>
          <a:p>
            <a:pPr marL="342900" indent="-342900">
              <a:spcBef>
                <a:spcPct val="20000"/>
              </a:spcBef>
              <a:buFont typeface="Wingdings" pitchFamily="2" charset="2"/>
              <a:buNone/>
            </a:pPr>
            <a:r>
              <a:rPr lang="en-US" sz="2400" b="0">
                <a:solidFill>
                  <a:srgbClr val="000000"/>
                </a:solidFill>
              </a:rPr>
              <a:t>{</a:t>
            </a:r>
          </a:p>
          <a:p>
            <a:pPr marL="342900" indent="-342900">
              <a:spcBef>
                <a:spcPct val="20000"/>
              </a:spcBef>
              <a:buFont typeface="Wingdings" pitchFamily="2" charset="2"/>
              <a:buNone/>
            </a:pPr>
            <a:r>
              <a:rPr lang="en-US" sz="2400" b="0">
                <a:solidFill>
                  <a:srgbClr val="0000FF"/>
                </a:solidFill>
              </a:rPr>
              <a:t>  public</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NuSinh( </a:t>
            </a:r>
            <a:r>
              <a:rPr lang="en-US" sz="2400" b="0">
                <a:solidFill>
                  <a:srgbClr val="0000FF"/>
                </a:solidFill>
              </a:rPr>
              <a:t>char</a:t>
            </a:r>
            <a:r>
              <a:rPr lang="en-US" sz="2400" b="0">
                <a:solidFill>
                  <a:srgbClr val="000000"/>
                </a:solidFill>
              </a:rPr>
              <a:t> *ht, char *ms, int ns) : SinhVien(ht,ms,ns) {</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An() </a:t>
            </a:r>
            <a:r>
              <a:rPr lang="en-US" sz="2400" b="0">
                <a:solidFill>
                  <a:srgbClr val="0000FF"/>
                </a:solidFill>
              </a:rPr>
              <a:t>const</a:t>
            </a: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cout &lt;&lt; HoTen </a:t>
            </a:r>
          </a:p>
          <a:p>
            <a:pPr marL="342900" indent="-342900">
              <a:spcBef>
                <a:spcPct val="20000"/>
              </a:spcBef>
              <a:buFont typeface="Wingdings" pitchFamily="2" charset="2"/>
              <a:buNone/>
            </a:pPr>
            <a:r>
              <a:rPr lang="en-US" sz="2400" b="0">
                <a:solidFill>
                  <a:srgbClr val="000000"/>
                </a:solidFill>
              </a:rPr>
              <a:t>		cout &lt;&lt; " ma so " &lt;&lt; MaSo &lt;&lt; " an 2 to pho";</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10</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class</a:t>
            </a:r>
            <a:r>
              <a:rPr lang="en-US" sz="2400" b="0">
                <a:solidFill>
                  <a:srgbClr val="000000"/>
                </a:solidFill>
              </a:rPr>
              <a:t> CongNhan : </a:t>
            </a:r>
            <a:r>
              <a:rPr lang="en-US" sz="2400" b="0">
                <a:solidFill>
                  <a:srgbClr val="0000FF"/>
                </a:solidFill>
              </a:rPr>
              <a:t>public</a:t>
            </a:r>
            <a:r>
              <a:rPr lang="en-US" sz="2400" b="0">
                <a:solidFill>
                  <a:srgbClr val="000000"/>
                </a:solidFill>
              </a:rPr>
              <a:t> Nguoi{</a:t>
            </a:r>
          </a:p>
          <a:p>
            <a:pPr marL="342900" indent="-342900">
              <a:spcBef>
                <a:spcPct val="20000"/>
              </a:spcBef>
              <a:buFont typeface="Wingdings" pitchFamily="2" charset="2"/>
              <a:buNone/>
            </a:pPr>
            <a:r>
              <a:rPr lang="en-US" sz="2400" b="0">
                <a:solidFill>
                  <a:srgbClr val="0000FF"/>
                </a:solidFill>
              </a:rPr>
              <a:t>protected</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double</a:t>
            </a:r>
            <a:r>
              <a:rPr lang="en-US" sz="2400" b="0">
                <a:solidFill>
                  <a:srgbClr val="000000"/>
                </a:solidFill>
              </a:rPr>
              <a:t> MucLuong;</a:t>
            </a:r>
          </a:p>
          <a:p>
            <a:pPr marL="342900" indent="-342900">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lnSpc>
                <a:spcPct val="115000"/>
              </a:lnSpc>
              <a:spcBef>
                <a:spcPct val="20000"/>
              </a:spcBef>
              <a:buFont typeface="Wingdings" pitchFamily="2" charset="2"/>
              <a:buNone/>
            </a:pPr>
            <a:r>
              <a:rPr lang="en-US" sz="2400" b="0">
                <a:solidFill>
                  <a:srgbClr val="000000"/>
                </a:solidFill>
              </a:rPr>
              <a:t>	CongNhan( </a:t>
            </a:r>
            <a:r>
              <a:rPr lang="en-US" sz="2400" b="0">
                <a:solidFill>
                  <a:srgbClr val="0000FF"/>
                </a:solidFill>
              </a:rPr>
              <a:t>char</a:t>
            </a:r>
            <a:r>
              <a:rPr lang="en-US" sz="2400" b="0">
                <a:solidFill>
                  <a:srgbClr val="000000"/>
                </a:solidFill>
              </a:rPr>
              <a:t> *n, </a:t>
            </a:r>
            <a:r>
              <a:rPr lang="en-US" sz="2400" b="0">
                <a:solidFill>
                  <a:srgbClr val="0000FF"/>
                </a:solidFill>
              </a:rPr>
              <a:t>double</a:t>
            </a:r>
            <a:r>
              <a:rPr lang="en-US" sz="2400" b="0">
                <a:solidFill>
                  <a:srgbClr val="000000"/>
                </a:solidFill>
              </a:rPr>
              <a:t> ml, int ns) : Nguoi(n,ns), MucLuong(ml){ }</a:t>
            </a:r>
          </a:p>
          <a:p>
            <a:pPr marL="342900" indent="-342900">
              <a:lnSpc>
                <a:spcPct val="115000"/>
              </a:lnSpc>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Xuat() </a:t>
            </a:r>
            <a:r>
              <a:rPr lang="en-US" sz="2400" b="0">
                <a:solidFill>
                  <a:srgbClr val="0000FF"/>
                </a:solidFill>
              </a:rPr>
              <a:t>const</a:t>
            </a:r>
            <a:r>
              <a:rPr lang="en-US" sz="2400" b="0">
                <a:solidFill>
                  <a:srgbClr val="000000"/>
                </a:solidFill>
              </a:rPr>
              <a:t> {</a:t>
            </a:r>
          </a:p>
          <a:p>
            <a:pPr marL="342900" indent="-342900">
              <a:lnSpc>
                <a:spcPct val="115000"/>
              </a:lnSpc>
              <a:spcBef>
                <a:spcPct val="20000"/>
              </a:spcBef>
              <a:buFont typeface="Wingdings" pitchFamily="2" charset="2"/>
              <a:buNone/>
            </a:pPr>
            <a:r>
              <a:rPr lang="en-US" sz="2400" b="0">
                <a:solidFill>
                  <a:srgbClr val="000000"/>
                </a:solidFill>
              </a:rPr>
              <a:t>		cout &lt;&lt; "Cong nhan, ten " &lt;&lt; HoTen</a:t>
            </a:r>
          </a:p>
          <a:p>
            <a:pPr marL="342900" indent="-342900">
              <a:lnSpc>
                <a:spcPct val="115000"/>
              </a:lnSpc>
              <a:spcBef>
                <a:spcPct val="20000"/>
              </a:spcBef>
              <a:buFont typeface="Wingdings" pitchFamily="2" charset="2"/>
              <a:buNone/>
            </a:pPr>
            <a:r>
              <a:rPr lang="en-US" sz="2400" b="0">
                <a:solidFill>
                  <a:srgbClr val="000000"/>
                </a:solidFill>
              </a:rPr>
              <a:t>		cout &lt;&lt; " muc luong: " &lt;&lt; MucLuong;</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11</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void</a:t>
            </a:r>
            <a:r>
              <a:rPr lang="en-US" sz="2400" b="0">
                <a:solidFill>
                  <a:srgbClr val="000000"/>
                </a:solidFill>
              </a:rPr>
              <a:t> XuatDs(</a:t>
            </a:r>
            <a:r>
              <a:rPr lang="en-US" sz="2400" b="0">
                <a:solidFill>
                  <a:srgbClr val="0000FF"/>
                </a:solidFill>
              </a:rPr>
              <a:t>int</a:t>
            </a:r>
            <a:r>
              <a:rPr lang="en-US" sz="2400" b="0">
                <a:solidFill>
                  <a:srgbClr val="000000"/>
                </a:solidFill>
              </a:rPr>
              <a:t> n, Nguoi *an[ ])</a:t>
            </a:r>
          </a:p>
          <a:p>
            <a:pPr marL="342900" indent="-342900">
              <a:spcBef>
                <a:spcPct val="20000"/>
              </a:spcBef>
              <a:buFont typeface="Wingdings" pitchFamily="2" charset="2"/>
              <a:buNone/>
            </a:pP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for</a:t>
            </a:r>
            <a:r>
              <a:rPr lang="en-US" sz="2400" b="0">
                <a:solidFill>
                  <a:srgbClr val="000000"/>
                </a:solidFill>
              </a:rPr>
              <a:t> (</a:t>
            </a:r>
            <a:r>
              <a:rPr lang="en-US" sz="2400" b="0">
                <a:solidFill>
                  <a:srgbClr val="0000FF"/>
                </a:solidFill>
              </a:rPr>
              <a:t>int</a:t>
            </a:r>
            <a:r>
              <a:rPr lang="en-US" sz="2400" b="0">
                <a:solidFill>
                  <a:srgbClr val="000000"/>
                </a:solidFill>
              </a:rPr>
              <a:t> i = 0; i &lt; n; i++)</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if (an[i].pl == SINHVIEN) {</a:t>
            </a:r>
          </a:p>
          <a:p>
            <a:pPr marL="342900" indent="-342900">
              <a:spcBef>
                <a:spcPct val="20000"/>
              </a:spcBef>
              <a:buFont typeface="Wingdings" pitchFamily="2" charset="2"/>
              <a:buNone/>
            </a:pPr>
            <a:r>
              <a:rPr lang="en-US" sz="2400" b="0">
                <a:solidFill>
                  <a:srgbClr val="000000"/>
                </a:solidFill>
              </a:rPr>
              <a:t>		      an[i] </a:t>
            </a:r>
            <a:r>
              <a:rPr lang="en-US" sz="2400" b="0">
                <a:solidFill>
                  <a:srgbClr val="000000"/>
                </a:solidFill>
                <a:sym typeface="Wingdings" pitchFamily="2" charset="2"/>
              </a:rPr>
              <a:t></a:t>
            </a:r>
            <a:r>
              <a:rPr lang="en-US" sz="2400" b="0">
                <a:solidFill>
                  <a:srgbClr val="000000"/>
                </a:solidFill>
              </a:rPr>
              <a:t>Xuat();</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12</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300" b="0" dirty="0" err="1">
                <a:solidFill>
                  <a:srgbClr val="0000FF"/>
                </a:solidFill>
              </a:rPr>
              <a:t>const</a:t>
            </a:r>
            <a:r>
              <a:rPr lang="en-US" sz="2300" b="0" dirty="0">
                <a:solidFill>
                  <a:srgbClr val="0000FF"/>
                </a:solidFill>
              </a:rPr>
              <a:t> </a:t>
            </a:r>
            <a:r>
              <a:rPr lang="en-US" sz="2300" b="0" dirty="0" err="1">
                <a:solidFill>
                  <a:srgbClr val="0000FF"/>
                </a:solidFill>
              </a:rPr>
              <a:t>int</a:t>
            </a:r>
            <a:r>
              <a:rPr lang="en-US" sz="2300" b="0" dirty="0">
                <a:solidFill>
                  <a:srgbClr val="000000"/>
                </a:solidFill>
              </a:rPr>
              <a:t> N = 4;</a:t>
            </a:r>
          </a:p>
          <a:p>
            <a:pPr marL="342900" indent="-342900">
              <a:spcBef>
                <a:spcPct val="20000"/>
              </a:spcBef>
              <a:buFont typeface="Wingdings" pitchFamily="2" charset="2"/>
              <a:buNone/>
            </a:pPr>
            <a:r>
              <a:rPr lang="en-US" sz="2300" b="0" dirty="0">
                <a:solidFill>
                  <a:srgbClr val="0000FF"/>
                </a:solidFill>
              </a:rPr>
              <a:t>void</a:t>
            </a:r>
            <a:r>
              <a:rPr lang="en-US" sz="2300" b="0" dirty="0">
                <a:solidFill>
                  <a:srgbClr val="000000"/>
                </a:solidFill>
              </a:rPr>
              <a:t> main(){</a:t>
            </a:r>
          </a:p>
          <a:p>
            <a:pPr marL="342900" indent="-342900">
              <a:lnSpc>
                <a:spcPct val="120000"/>
              </a:lnSpc>
              <a:spcBef>
                <a:spcPct val="20000"/>
              </a:spcBef>
              <a:buFont typeface="Wingdings" pitchFamily="2" charset="2"/>
              <a:buNone/>
            </a:pPr>
            <a:r>
              <a:rPr lang="en-US" sz="2300" b="0" dirty="0">
                <a:solidFill>
                  <a:srgbClr val="000000"/>
                </a:solidFill>
              </a:rPr>
              <a:t>	</a:t>
            </a:r>
            <a:r>
              <a:rPr lang="en-US" sz="2300" b="0" dirty="0" err="1">
                <a:solidFill>
                  <a:srgbClr val="000000"/>
                </a:solidFill>
              </a:rPr>
              <a:t>Nguoi</a:t>
            </a:r>
            <a:r>
              <a:rPr lang="en-US" sz="2300" b="0" dirty="0">
                <a:solidFill>
                  <a:srgbClr val="000000"/>
                </a:solidFill>
              </a:rPr>
              <a:t> *a[N];</a:t>
            </a:r>
          </a:p>
          <a:p>
            <a:pPr marL="342900" indent="-342900">
              <a:lnSpc>
                <a:spcPct val="120000"/>
              </a:lnSpc>
              <a:spcBef>
                <a:spcPct val="20000"/>
              </a:spcBef>
              <a:buFont typeface="Wingdings" pitchFamily="2" charset="2"/>
              <a:buNone/>
            </a:pPr>
            <a:r>
              <a:rPr lang="en-US" sz="2300" b="0" dirty="0">
                <a:solidFill>
                  <a:srgbClr val="000000"/>
                </a:solidFill>
              </a:rPr>
              <a:t>	a[0] = </a:t>
            </a:r>
            <a:r>
              <a:rPr lang="en-US" sz="2300" b="0" dirty="0">
                <a:solidFill>
                  <a:srgbClr val="0000FF"/>
                </a:solidFill>
              </a:rPr>
              <a:t>new</a:t>
            </a:r>
            <a:r>
              <a:rPr lang="en-US" sz="2300" b="0" dirty="0">
                <a:solidFill>
                  <a:srgbClr val="000000"/>
                </a:solidFill>
              </a:rPr>
              <a:t> </a:t>
            </a:r>
            <a:r>
              <a:rPr lang="en-US" sz="2300" b="0" dirty="0" err="1">
                <a:solidFill>
                  <a:srgbClr val="000000"/>
                </a:solidFill>
              </a:rPr>
              <a:t>SinhVien</a:t>
            </a:r>
            <a:r>
              <a:rPr lang="en-US" sz="2300" b="0" dirty="0">
                <a:solidFill>
                  <a:srgbClr val="000000"/>
                </a:solidFill>
              </a:rPr>
              <a:t>(“</a:t>
            </a:r>
            <a:r>
              <a:rPr lang="en-US" sz="2300" b="0" dirty="0" err="1">
                <a:solidFill>
                  <a:srgbClr val="000000"/>
                </a:solidFill>
              </a:rPr>
              <a:t>Vien</a:t>
            </a:r>
            <a:r>
              <a:rPr lang="en-US" sz="2300" b="0" dirty="0">
                <a:solidFill>
                  <a:srgbClr val="000000"/>
                </a:solidFill>
              </a:rPr>
              <a:t> Van </a:t>
            </a:r>
            <a:r>
              <a:rPr lang="en-US" sz="2300" b="0" dirty="0" err="1">
                <a:solidFill>
                  <a:srgbClr val="000000"/>
                </a:solidFill>
              </a:rPr>
              <a:t>Sinh</a:t>
            </a:r>
            <a:r>
              <a:rPr lang="en-US" sz="2300" b="0" dirty="0">
                <a:solidFill>
                  <a:srgbClr val="000000"/>
                </a:solidFill>
              </a:rPr>
              <a:t>”, “200001234”, 1982);</a:t>
            </a:r>
          </a:p>
          <a:p>
            <a:pPr marL="342900" indent="-342900">
              <a:lnSpc>
                <a:spcPct val="120000"/>
              </a:lnSpc>
              <a:spcBef>
                <a:spcPct val="20000"/>
              </a:spcBef>
              <a:buFont typeface="Wingdings" pitchFamily="2" charset="2"/>
              <a:buNone/>
            </a:pPr>
            <a:r>
              <a:rPr lang="en-US" sz="2300" b="0" dirty="0">
                <a:solidFill>
                  <a:srgbClr val="000000"/>
                </a:solidFill>
              </a:rPr>
              <a:t>	a[1] = </a:t>
            </a:r>
            <a:r>
              <a:rPr lang="en-US" sz="2300" b="0" dirty="0">
                <a:solidFill>
                  <a:srgbClr val="0000FF"/>
                </a:solidFill>
              </a:rPr>
              <a:t>new</a:t>
            </a:r>
            <a:r>
              <a:rPr lang="en-US" sz="2300" b="0" dirty="0">
                <a:solidFill>
                  <a:srgbClr val="000000"/>
                </a:solidFill>
              </a:rPr>
              <a:t> </a:t>
            </a:r>
            <a:r>
              <a:rPr lang="en-US" sz="2300" b="0" dirty="0" err="1">
                <a:solidFill>
                  <a:srgbClr val="000000"/>
                </a:solidFill>
              </a:rPr>
              <a:t>NuSinh</a:t>
            </a:r>
            <a:r>
              <a:rPr lang="en-US" sz="2300" b="0" dirty="0">
                <a:solidFill>
                  <a:srgbClr val="000000"/>
                </a:solidFill>
              </a:rPr>
              <a:t>(“Le </a:t>
            </a:r>
            <a:r>
              <a:rPr lang="en-US" sz="2300" b="0" dirty="0" err="1">
                <a:solidFill>
                  <a:srgbClr val="000000"/>
                </a:solidFill>
              </a:rPr>
              <a:t>Thi</a:t>
            </a:r>
            <a:r>
              <a:rPr lang="en-US" sz="2300" b="0" dirty="0">
                <a:solidFill>
                  <a:srgbClr val="000000"/>
                </a:solidFill>
              </a:rPr>
              <a:t> Ha Dong”, “200001235”, 1984);</a:t>
            </a:r>
          </a:p>
          <a:p>
            <a:pPr marL="342900" indent="-342900">
              <a:lnSpc>
                <a:spcPct val="120000"/>
              </a:lnSpc>
              <a:spcBef>
                <a:spcPct val="20000"/>
              </a:spcBef>
              <a:buFont typeface="Wingdings" pitchFamily="2" charset="2"/>
              <a:buNone/>
            </a:pPr>
            <a:r>
              <a:rPr lang="en-US" sz="2300" b="0" dirty="0">
                <a:solidFill>
                  <a:srgbClr val="000000"/>
                </a:solidFill>
              </a:rPr>
              <a:t>	a[2] = </a:t>
            </a:r>
            <a:r>
              <a:rPr lang="en-US" sz="2300" b="0" dirty="0">
                <a:solidFill>
                  <a:srgbClr val="0000FF"/>
                </a:solidFill>
              </a:rPr>
              <a:t>new</a:t>
            </a:r>
            <a:r>
              <a:rPr lang="en-US" sz="2300" b="0" dirty="0">
                <a:solidFill>
                  <a:srgbClr val="000000"/>
                </a:solidFill>
              </a:rPr>
              <a:t> </a:t>
            </a:r>
            <a:r>
              <a:rPr lang="en-US" sz="2300" b="0" dirty="0" err="1">
                <a:solidFill>
                  <a:srgbClr val="000000"/>
                </a:solidFill>
              </a:rPr>
              <a:t>CongNhan</a:t>
            </a:r>
            <a:r>
              <a:rPr lang="en-US" sz="2300" b="0" dirty="0">
                <a:solidFill>
                  <a:srgbClr val="000000"/>
                </a:solidFill>
              </a:rPr>
              <a:t>(“Tran </a:t>
            </a:r>
            <a:r>
              <a:rPr lang="en-US" sz="2300" b="0" dirty="0" err="1">
                <a:solidFill>
                  <a:srgbClr val="000000"/>
                </a:solidFill>
              </a:rPr>
              <a:t>Nhan</a:t>
            </a:r>
            <a:r>
              <a:rPr lang="en-US" sz="2300" b="0" dirty="0">
                <a:solidFill>
                  <a:srgbClr val="000000"/>
                </a:solidFill>
              </a:rPr>
              <a:t> Cong”, 1000000, 1984);</a:t>
            </a:r>
          </a:p>
          <a:p>
            <a:pPr marL="342900" indent="-342900">
              <a:lnSpc>
                <a:spcPct val="120000"/>
              </a:lnSpc>
              <a:spcBef>
                <a:spcPct val="20000"/>
              </a:spcBef>
              <a:buFont typeface="Wingdings" pitchFamily="2" charset="2"/>
              <a:buNone/>
            </a:pPr>
            <a:r>
              <a:rPr lang="en-US" sz="2300" b="0" dirty="0">
                <a:solidFill>
                  <a:srgbClr val="000000"/>
                </a:solidFill>
              </a:rPr>
              <a:t>	a[3] = </a:t>
            </a:r>
            <a:r>
              <a:rPr lang="en-US" sz="2300" b="0" dirty="0">
                <a:solidFill>
                  <a:srgbClr val="0000FF"/>
                </a:solidFill>
              </a:rPr>
              <a:t>new</a:t>
            </a:r>
            <a:r>
              <a:rPr lang="en-US" sz="2300" b="0" dirty="0">
                <a:solidFill>
                  <a:srgbClr val="000000"/>
                </a:solidFill>
              </a:rPr>
              <a:t> </a:t>
            </a:r>
            <a:r>
              <a:rPr lang="en-US" sz="2300" b="0" dirty="0" err="1">
                <a:solidFill>
                  <a:srgbClr val="000000"/>
                </a:solidFill>
              </a:rPr>
              <a:t>Nguoi</a:t>
            </a:r>
            <a:r>
              <a:rPr lang="en-US" sz="2300" b="0" dirty="0">
                <a:solidFill>
                  <a:srgbClr val="000000"/>
                </a:solidFill>
              </a:rPr>
              <a:t>(“Nguyen </a:t>
            </a:r>
            <a:r>
              <a:rPr lang="en-US" sz="2300" b="0" dirty="0" err="1">
                <a:solidFill>
                  <a:srgbClr val="000000"/>
                </a:solidFill>
              </a:rPr>
              <a:t>Thanh</a:t>
            </a:r>
            <a:r>
              <a:rPr lang="en-US" sz="2300" b="0" dirty="0">
                <a:solidFill>
                  <a:srgbClr val="000000"/>
                </a:solidFill>
              </a:rPr>
              <a:t> </a:t>
            </a:r>
            <a:r>
              <a:rPr lang="en-US" sz="2300" b="0" dirty="0" err="1">
                <a:solidFill>
                  <a:srgbClr val="000000"/>
                </a:solidFill>
              </a:rPr>
              <a:t>Nhan</a:t>
            </a:r>
            <a:r>
              <a:rPr lang="en-US" sz="2300" b="0" dirty="0">
                <a:solidFill>
                  <a:srgbClr val="000000"/>
                </a:solidFill>
              </a:rPr>
              <a:t>”, 1960);</a:t>
            </a:r>
          </a:p>
          <a:p>
            <a:pPr marL="342900" indent="-342900">
              <a:lnSpc>
                <a:spcPct val="120000"/>
              </a:lnSpc>
              <a:spcBef>
                <a:spcPct val="20000"/>
              </a:spcBef>
              <a:buFont typeface="Wingdings" pitchFamily="2" charset="2"/>
              <a:buNone/>
            </a:pPr>
            <a:r>
              <a:rPr lang="en-US" sz="2300" b="0" dirty="0">
                <a:solidFill>
                  <a:srgbClr val="000000"/>
                </a:solidFill>
              </a:rPr>
              <a:t>	</a:t>
            </a:r>
            <a:r>
              <a:rPr lang="en-US" sz="2300" b="0" dirty="0" err="1">
                <a:solidFill>
                  <a:srgbClr val="000000"/>
                </a:solidFill>
              </a:rPr>
              <a:t>XuatDs</a:t>
            </a:r>
            <a:r>
              <a:rPr lang="en-US" sz="2300" b="0" dirty="0">
                <a:solidFill>
                  <a:srgbClr val="000000"/>
                </a:solidFill>
              </a:rPr>
              <a:t>(4,a);</a:t>
            </a:r>
          </a:p>
          <a:p>
            <a:pPr marL="342900" indent="-342900">
              <a:spcBef>
                <a:spcPct val="20000"/>
              </a:spcBef>
              <a:buFont typeface="Wingdings" pitchFamily="2" charset="2"/>
              <a:buNone/>
            </a:pPr>
            <a:r>
              <a:rPr lang="en-US" sz="2300" b="0" dirty="0">
                <a:solidFill>
                  <a:srgbClr val="000000"/>
                </a:solidFill>
              </a:rPr>
              <a:t>}</a:t>
            </a:r>
          </a:p>
        </p:txBody>
      </p:sp>
      <p:sp>
        <p:nvSpPr>
          <p:cNvPr id="8" name="Rectangle 5"/>
          <p:cNvSpPr>
            <a:spLocks noChangeArrowheads="1"/>
          </p:cNvSpPr>
          <p:nvPr/>
        </p:nvSpPr>
        <p:spPr bwMode="auto">
          <a:xfrm>
            <a:off x="2895600" y="4800600"/>
            <a:ext cx="6096000" cy="1752600"/>
          </a:xfrm>
          <a:prstGeom prst="rect">
            <a:avLst/>
          </a:prstGeom>
          <a:solidFill>
            <a:srgbClr val="FFC000"/>
          </a:solidFill>
          <a:ln w="9525">
            <a:solidFill>
              <a:schemeClr val="tx1"/>
            </a:solidFill>
            <a:miter lim="800000"/>
            <a:headEnd/>
            <a:tailEnd/>
          </a:ln>
          <a:effectLst/>
        </p:spPr>
        <p:txBody>
          <a:bodyPr wrap="none" anchor="ctr"/>
          <a:lstStyle/>
          <a:p>
            <a:pPr>
              <a:lnSpc>
                <a:spcPct val="120000"/>
              </a:lnSpc>
            </a:pPr>
            <a:r>
              <a:rPr lang="en-US" sz="2200" b="0"/>
              <a:t>Nguoi, ho ten: Vien Van Sinh sinh 1982</a:t>
            </a:r>
          </a:p>
          <a:p>
            <a:pPr>
              <a:lnSpc>
                <a:spcPct val="120000"/>
              </a:lnSpc>
            </a:pPr>
            <a:r>
              <a:rPr lang="en-US" sz="2200" b="0"/>
              <a:t>Nguoi, ho ten: Le Thi Ha Dong sinh 1984</a:t>
            </a:r>
          </a:p>
          <a:p>
            <a:pPr>
              <a:lnSpc>
                <a:spcPct val="120000"/>
              </a:lnSpc>
            </a:pPr>
            <a:r>
              <a:rPr lang="en-US" sz="2200" b="0"/>
              <a:t>Nguoi, ho ten: Tran Nhan Cong sinh 1984</a:t>
            </a:r>
          </a:p>
          <a:p>
            <a:pPr>
              <a:lnSpc>
                <a:spcPct val="120000"/>
              </a:lnSpc>
            </a:pPr>
            <a:r>
              <a:rPr lang="en-US" sz="2200" b="0"/>
              <a:t>Nguoi, ho ten: Nguyen Thanh Nhan sinh 1960</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E85C4DA1-5675-1A6D-4AFB-187C1D5C22EF}"/>
                  </a:ext>
                </a:extLst>
              </p14:cNvPr>
              <p14:cNvContentPartPr/>
              <p14:nvPr/>
            </p14:nvContentPartPr>
            <p14:xfrm>
              <a:off x="571680" y="2200320"/>
              <a:ext cx="7763040" cy="2524320"/>
            </p14:xfrm>
          </p:contentPart>
        </mc:Choice>
        <mc:Fallback>
          <p:pic>
            <p:nvPicPr>
              <p:cNvPr id="3" name="Ink 2">
                <a:extLst>
                  <a:ext uri="{FF2B5EF4-FFF2-40B4-BE49-F238E27FC236}">
                    <a16:creationId xmlns:a16="http://schemas.microsoft.com/office/drawing/2014/main" id="{E85C4DA1-5675-1A6D-4AFB-187C1D5C22EF}"/>
                  </a:ext>
                </a:extLst>
              </p:cNvPr>
              <p:cNvPicPr/>
              <p:nvPr/>
            </p:nvPicPr>
            <p:blipFill>
              <a:blip r:embed="rId4"/>
              <a:stretch>
                <a:fillRect/>
              </a:stretch>
            </p:blipFill>
            <p:spPr>
              <a:xfrm>
                <a:off x="562320" y="2190960"/>
                <a:ext cx="7781760" cy="2543040"/>
              </a:xfrm>
              <a:prstGeom prst="rect">
                <a:avLst/>
              </a:prstGeom>
            </p:spPr>
          </p:pic>
        </mc:Fallback>
      </mc:AlternateContent>
    </p:spTree>
    <p:extLst>
      <p:ext uri="{BB962C8B-B14F-4D97-AF65-F5344CB8AC3E}">
        <p14:creationId xmlns:p14="http://schemas.microsoft.com/office/powerpoint/2010/main" val="1029817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Dùng vùng chọn kiểu</a:t>
            </a:r>
          </a:p>
        </p:txBody>
      </p:sp>
      <p:sp>
        <p:nvSpPr>
          <p:cNvPr id="3" name="Content Placeholder 2"/>
          <p:cNvSpPr>
            <a:spLocks noGrp="1"/>
          </p:cNvSpPr>
          <p:nvPr>
            <p:ph idx="1"/>
          </p:nvPr>
        </p:nvSpPr>
        <p:spPr>
          <a:xfrm>
            <a:off x="457200" y="1447800"/>
            <a:ext cx="8382000" cy="5105400"/>
          </a:xfrm>
        </p:spPr>
        <p:txBody>
          <a:bodyPr>
            <a:normAutofit/>
          </a:bodyPr>
          <a:lstStyle/>
          <a:p>
            <a:pPr algn="just">
              <a:lnSpc>
                <a:spcPct val="130000"/>
              </a:lnSpc>
              <a:spcBef>
                <a:spcPts val="300"/>
              </a:spcBef>
              <a:spcAft>
                <a:spcPts val="300"/>
              </a:spcAft>
              <a:buFont typeface="Wingdings" pitchFamily="2" charset="2"/>
              <a:buChar char="v"/>
            </a:pPr>
            <a:r>
              <a:rPr lang="en-US" sz="2800">
                <a:latin typeface="Arial" pitchFamily="34" charset="0"/>
                <a:cs typeface="Arial" pitchFamily="34" charset="0"/>
              </a:rPr>
              <a:t>Để bảo đảm xuất liệu tương ứng với đối tượng, </a:t>
            </a:r>
            <a:r>
              <a:rPr lang="en-US" sz="2800">
                <a:solidFill>
                  <a:srgbClr val="0000FF"/>
                </a:solidFill>
                <a:latin typeface="Arial" pitchFamily="34" charset="0"/>
                <a:cs typeface="Arial" pitchFamily="34" charset="0"/>
              </a:rPr>
              <a:t>phải có cách nhận diện đối tượng</a:t>
            </a:r>
            <a:endParaRPr lang="en-US" sz="2800">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en-US" sz="2400">
                <a:latin typeface="Arial" pitchFamily="34" charset="0"/>
                <a:cs typeface="Arial" pitchFamily="34" charset="0"/>
              </a:rPr>
              <a:t>Ta </a:t>
            </a:r>
            <a:r>
              <a:rPr lang="en-US" sz="2400">
                <a:solidFill>
                  <a:srgbClr val="0000FF"/>
                </a:solidFill>
                <a:latin typeface="Arial" pitchFamily="34" charset="0"/>
                <a:cs typeface="Arial" pitchFamily="34" charset="0"/>
              </a:rPr>
              <a:t>thêm một vùng dữ liệu vào lớp cơ sở để nhận diện</a:t>
            </a:r>
            <a:endParaRPr lang="en-US" sz="2400">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en-US" sz="2400">
                <a:latin typeface="Arial" pitchFamily="34" charset="0"/>
                <a:cs typeface="Arial" pitchFamily="34" charset="0"/>
              </a:rPr>
              <a:t>Vùng này có giá trị phụ thuộc vào loại của đối tượng và được gọi là vùng chọn kiểu.</a:t>
            </a:r>
          </a:p>
          <a:p>
            <a:pPr algn="just">
              <a:lnSpc>
                <a:spcPct val="130000"/>
              </a:lnSpc>
              <a:spcBef>
                <a:spcPts val="300"/>
              </a:spcBef>
              <a:spcAft>
                <a:spcPts val="300"/>
              </a:spcAft>
              <a:buFont typeface="Wingdings" pitchFamily="2" charset="2"/>
              <a:buChar char="v"/>
            </a:pPr>
            <a:r>
              <a:rPr lang="en-US" sz="2800">
                <a:latin typeface="Arial" pitchFamily="34" charset="0"/>
                <a:cs typeface="Arial" pitchFamily="34" charset="0"/>
              </a:rPr>
              <a:t>Các đối tượng thuộc lớp người có cùng giá trị cho </a:t>
            </a:r>
            <a:r>
              <a:rPr lang="en-US" sz="2800">
                <a:solidFill>
                  <a:srgbClr val="0000FF"/>
                </a:solidFill>
                <a:latin typeface="Arial" pitchFamily="34" charset="0"/>
                <a:cs typeface="Arial" pitchFamily="34" charset="0"/>
              </a:rPr>
              <a:t>vùng chọn kiểu</a:t>
            </a:r>
            <a:r>
              <a:rPr lang="en-US" sz="2800">
                <a:latin typeface="Arial" pitchFamily="34" charset="0"/>
                <a:cs typeface="Arial" pitchFamily="34" charset="0"/>
              </a:rPr>
              <a:t>, các đối tượng thuộc lớp sinh viên có giá trị của </a:t>
            </a:r>
            <a:r>
              <a:rPr lang="en-US" sz="2800">
                <a:solidFill>
                  <a:srgbClr val="0000FF"/>
                </a:solidFill>
                <a:latin typeface="Arial" pitchFamily="34" charset="0"/>
                <a:cs typeface="Arial" pitchFamily="34" charset="0"/>
              </a:rPr>
              <a:t>vùng chọn kiểu khác của lớp người</a:t>
            </a:r>
            <a:r>
              <a:rPr lang="en-US" sz="2800">
                <a:latin typeface="Arial" pitchFamily="34" charset="0"/>
                <a:cs typeface="Arial" pitchFamily="34" charset="0"/>
              </a:rPr>
              <a: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13</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Dùng vùng chọn kiểu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14</a:t>
            </a:fld>
            <a:endParaRPr lang="en-US"/>
          </a:p>
        </p:txBody>
      </p:sp>
      <p:sp>
        <p:nvSpPr>
          <p:cNvPr id="8"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90000"/>
              </a:lnSpc>
              <a:spcBef>
                <a:spcPct val="20000"/>
              </a:spcBef>
              <a:buFont typeface="Wingdings" pitchFamily="2" charset="2"/>
              <a:buNone/>
            </a:pPr>
            <a:r>
              <a:rPr lang="en-US" sz="2400" b="0">
                <a:solidFill>
                  <a:srgbClr val="0000FF"/>
                </a:solidFill>
              </a:rPr>
              <a:t>class</a:t>
            </a:r>
            <a:r>
              <a:rPr lang="en-US" sz="2400" b="0">
                <a:solidFill>
                  <a:srgbClr val="000000"/>
                </a:solidFill>
              </a:rPr>
              <a:t> Nguoi{</a:t>
            </a:r>
          </a:p>
          <a:p>
            <a:pPr marL="342900" indent="-342900">
              <a:lnSpc>
                <a:spcPct val="90000"/>
              </a:lnSpc>
              <a:spcBef>
                <a:spcPct val="20000"/>
              </a:spcBef>
              <a:buFont typeface="Wingdings" pitchFamily="2" charset="2"/>
              <a:buNone/>
            </a:pPr>
            <a:r>
              <a:rPr lang="en-US" sz="2400" b="0">
                <a:solidFill>
                  <a:srgbClr val="0000FF"/>
                </a:solidFill>
              </a:rPr>
              <a:t>public</a:t>
            </a:r>
            <a:r>
              <a:rPr lang="en-US" sz="2400" b="0">
                <a:solidFill>
                  <a:srgbClr val="000000"/>
                </a:solidFill>
              </a:rPr>
              <a:t>:		</a:t>
            </a:r>
            <a:r>
              <a:rPr lang="en-US" sz="2400" b="0">
                <a:solidFill>
                  <a:srgbClr val="FF0303"/>
                </a:solidFill>
              </a:rPr>
              <a:t>enum LOAI {NGUOI, SV, CN};</a:t>
            </a:r>
          </a:p>
          <a:p>
            <a:pPr marL="342900" indent="-342900">
              <a:lnSpc>
                <a:spcPct val="90000"/>
              </a:lnSpc>
              <a:spcBef>
                <a:spcPct val="20000"/>
              </a:spcBef>
              <a:buFont typeface="Wingdings" pitchFamily="2" charset="2"/>
              <a:buNone/>
            </a:pPr>
            <a:r>
              <a:rPr lang="en-US" sz="2400" b="0">
                <a:solidFill>
                  <a:srgbClr val="FF0303"/>
                </a:solidFill>
              </a:rPr>
              <a:t>protected</a:t>
            </a:r>
            <a:r>
              <a:rPr lang="en-US" sz="2400" b="0">
                <a:solidFill>
                  <a:srgbClr val="000000"/>
                </a:solidFill>
              </a:rPr>
              <a:t>:</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char</a:t>
            </a:r>
            <a:r>
              <a:rPr lang="en-US" sz="2400" b="0">
                <a:solidFill>
                  <a:srgbClr val="000000"/>
                </a:solidFill>
              </a:rPr>
              <a:t> *HoTen;	</a:t>
            </a:r>
            <a:r>
              <a:rPr lang="en-US" sz="2400" b="0">
                <a:solidFill>
                  <a:srgbClr val="0000FF"/>
                </a:solidFill>
              </a:rPr>
              <a:t>int</a:t>
            </a:r>
            <a:r>
              <a:rPr lang="en-US" sz="2400" b="0">
                <a:solidFill>
                  <a:srgbClr val="000000"/>
                </a:solidFill>
              </a:rPr>
              <a:t> NamSinh;</a:t>
            </a:r>
          </a:p>
          <a:p>
            <a:pPr marL="342900" indent="-342900">
              <a:lnSpc>
                <a:spcPct val="90000"/>
              </a:lnSpc>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FF0303"/>
                </a:solidFill>
              </a:rPr>
              <a:t>LOAI pl;</a:t>
            </a:r>
          </a:p>
          <a:p>
            <a:pPr marL="342900" indent="-342900">
              <a:lnSpc>
                <a:spcPct val="90000"/>
              </a:lnSpc>
              <a:spcBef>
                <a:spcPct val="20000"/>
              </a:spcBef>
              <a:buFont typeface="Wingdings" pitchFamily="2" charset="2"/>
              <a:buNone/>
            </a:pPr>
            <a:r>
              <a:rPr lang="en-US" sz="2400" b="0">
                <a:solidFill>
                  <a:srgbClr val="000000"/>
                </a:solidFill>
              </a:rPr>
              <a:t>	Nguoi(</a:t>
            </a:r>
            <a:r>
              <a:rPr lang="en-US" sz="2400" b="0">
                <a:solidFill>
                  <a:srgbClr val="0000FF"/>
                </a:solidFill>
              </a:rPr>
              <a:t>char</a:t>
            </a:r>
            <a:r>
              <a:rPr lang="en-US" sz="2400" b="0">
                <a:solidFill>
                  <a:srgbClr val="000000"/>
                </a:solidFill>
              </a:rPr>
              <a:t> *ht, </a:t>
            </a:r>
            <a:r>
              <a:rPr lang="en-US" sz="2400" b="0">
                <a:solidFill>
                  <a:srgbClr val="0000FF"/>
                </a:solidFill>
              </a:rPr>
              <a:t>int</a:t>
            </a:r>
            <a:r>
              <a:rPr lang="en-US" sz="2400" b="0">
                <a:solidFill>
                  <a:srgbClr val="000000"/>
                </a:solidFill>
              </a:rPr>
              <a:t> ns):NamSinh(ns), </a:t>
            </a:r>
            <a:r>
              <a:rPr lang="en-US" sz="2400" b="0">
                <a:solidFill>
                  <a:srgbClr val="FF0303"/>
                </a:solidFill>
              </a:rPr>
              <a:t>pl(NGUOI)</a:t>
            </a:r>
            <a:r>
              <a:rPr lang="en-US" sz="2400" b="0">
                <a:solidFill>
                  <a:srgbClr val="000000"/>
                </a:solidFill>
              </a:rPr>
              <a:t> {HoTen = strdup(ht);}</a:t>
            </a:r>
          </a:p>
          <a:p>
            <a:pPr marL="342900" indent="-342900">
              <a:lnSpc>
                <a:spcPct val="90000"/>
              </a:lnSpc>
              <a:spcBef>
                <a:spcPct val="20000"/>
              </a:spcBef>
              <a:buFont typeface="Wingdings" pitchFamily="2" charset="2"/>
              <a:buNone/>
            </a:pPr>
            <a:r>
              <a:rPr lang="en-US" sz="2400" b="0">
                <a:solidFill>
                  <a:srgbClr val="000000"/>
                </a:solidFill>
              </a:rPr>
              <a:t>	~Nguoi() {</a:t>
            </a:r>
            <a:r>
              <a:rPr lang="en-US" sz="2400" b="0">
                <a:solidFill>
                  <a:srgbClr val="0000FF"/>
                </a:solidFill>
              </a:rPr>
              <a:t>delete</a:t>
            </a:r>
            <a:r>
              <a:rPr lang="en-US" sz="2400" b="0">
                <a:solidFill>
                  <a:srgbClr val="000000"/>
                </a:solidFill>
              </a:rPr>
              <a:t> [] HoTen;}</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An() </a:t>
            </a:r>
            <a:r>
              <a:rPr lang="en-US" sz="2400" b="0">
                <a:solidFill>
                  <a:srgbClr val="0000FF"/>
                </a:solidFill>
              </a:rPr>
              <a:t>const</a:t>
            </a:r>
            <a:r>
              <a:rPr lang="en-US" sz="2400" b="0">
                <a:solidFill>
                  <a:srgbClr val="000000"/>
                </a:solidFill>
              </a:rPr>
              <a:t> { cout &lt;&lt; HoTen &lt;&lt; " an 3 chen com";}</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Xuat() </a:t>
            </a:r>
            <a:r>
              <a:rPr lang="en-US" sz="2400" b="0">
                <a:solidFill>
                  <a:srgbClr val="0000FF"/>
                </a:solidFill>
              </a:rPr>
              <a:t>const</a:t>
            </a:r>
            <a:r>
              <a:rPr lang="en-US" sz="2400" b="0">
                <a:solidFill>
                  <a:srgbClr val="000000"/>
                </a:solidFill>
              </a:rPr>
              <a:t> { cout &lt;&lt; "Nguoi, ho ten: " &lt;&lt; HoTen &lt;&lt; " sinh " &lt;&lt; NamSinh; }</a:t>
            </a:r>
          </a:p>
          <a:p>
            <a:pPr marL="342900" indent="-342900">
              <a:lnSpc>
                <a:spcPct val="90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Dùng vùng chọn kiểu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15</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90000"/>
              </a:lnSpc>
              <a:spcBef>
                <a:spcPct val="20000"/>
              </a:spcBef>
              <a:buFont typeface="Wingdings" pitchFamily="2" charset="2"/>
              <a:buNone/>
            </a:pPr>
            <a:r>
              <a:rPr lang="en-US" sz="2400" b="0">
                <a:solidFill>
                  <a:srgbClr val="0000FF"/>
                </a:solidFill>
              </a:rPr>
              <a:t>class</a:t>
            </a:r>
            <a:r>
              <a:rPr lang="en-US" sz="2400" b="0">
                <a:solidFill>
                  <a:srgbClr val="000000"/>
                </a:solidFill>
              </a:rPr>
              <a:t> SinhVien : </a:t>
            </a:r>
            <a:r>
              <a:rPr lang="en-US" sz="2400" b="0">
                <a:solidFill>
                  <a:srgbClr val="0000FF"/>
                </a:solidFill>
              </a:rPr>
              <a:t>public</a:t>
            </a:r>
            <a:r>
              <a:rPr lang="en-US" sz="2400" b="0">
                <a:solidFill>
                  <a:srgbClr val="000000"/>
                </a:solidFill>
              </a:rPr>
              <a:t> Nguoi{</a:t>
            </a:r>
          </a:p>
          <a:p>
            <a:pPr marL="342900" indent="-342900">
              <a:lnSpc>
                <a:spcPct val="90000"/>
              </a:lnSpc>
              <a:spcBef>
                <a:spcPct val="20000"/>
              </a:spcBef>
              <a:buFont typeface="Wingdings" pitchFamily="2" charset="2"/>
              <a:buNone/>
            </a:pPr>
            <a:r>
              <a:rPr lang="en-US" sz="2400" b="0">
                <a:solidFill>
                  <a:srgbClr val="0000FF"/>
                </a:solidFill>
              </a:rPr>
              <a:t>protected</a:t>
            </a:r>
            <a:r>
              <a:rPr lang="en-US" sz="2400" b="0">
                <a:solidFill>
                  <a:srgbClr val="000000"/>
                </a:solidFill>
              </a:rPr>
              <a:t>:</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char</a:t>
            </a:r>
            <a:r>
              <a:rPr lang="en-US" sz="2400" b="0">
                <a:solidFill>
                  <a:srgbClr val="000000"/>
                </a:solidFill>
              </a:rPr>
              <a:t> *MaSo;</a:t>
            </a:r>
          </a:p>
          <a:p>
            <a:pPr marL="342900" indent="-342900">
              <a:lnSpc>
                <a:spcPct val="90000"/>
              </a:lnSpc>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SinhVien(</a:t>
            </a:r>
            <a:r>
              <a:rPr lang="en-US" sz="2400" b="0">
                <a:solidFill>
                  <a:srgbClr val="0000FF"/>
                </a:solidFill>
              </a:rPr>
              <a:t>char</a:t>
            </a:r>
            <a:r>
              <a:rPr lang="en-US" sz="2400" b="0">
                <a:solidFill>
                  <a:srgbClr val="000000"/>
                </a:solidFill>
              </a:rPr>
              <a:t> *n, </a:t>
            </a:r>
            <a:r>
              <a:rPr lang="en-US" sz="2400" b="0">
                <a:solidFill>
                  <a:srgbClr val="0000FF"/>
                </a:solidFill>
              </a:rPr>
              <a:t>char</a:t>
            </a:r>
            <a:r>
              <a:rPr lang="en-US" sz="2400" b="0">
                <a:solidFill>
                  <a:srgbClr val="000000"/>
                </a:solidFill>
              </a:rPr>
              <a:t> *ms, </a:t>
            </a:r>
            <a:r>
              <a:rPr lang="en-US" sz="2400" b="0">
                <a:solidFill>
                  <a:srgbClr val="0000FF"/>
                </a:solidFill>
              </a:rPr>
              <a:t>int</a:t>
            </a:r>
            <a:r>
              <a:rPr lang="en-US" sz="2400" b="0">
                <a:solidFill>
                  <a:srgbClr val="000000"/>
                </a:solidFill>
              </a:rPr>
              <a:t> ns) : 	Nguoi(n,ns) { </a:t>
            </a:r>
          </a:p>
          <a:p>
            <a:pPr marL="342900" indent="-342900">
              <a:spcBef>
                <a:spcPct val="20000"/>
              </a:spcBef>
              <a:buFont typeface="Wingdings" pitchFamily="2" charset="2"/>
              <a:buNone/>
            </a:pPr>
            <a:r>
              <a:rPr lang="en-US" sz="2400" b="0">
                <a:solidFill>
                  <a:srgbClr val="000000"/>
                </a:solidFill>
              </a:rPr>
              <a:t>		MaSo = strdup(ms); </a:t>
            </a:r>
            <a:r>
              <a:rPr lang="en-US" sz="2400" b="0">
                <a:solidFill>
                  <a:srgbClr val="FF0303"/>
                </a:solidFill>
              </a:rPr>
              <a:t>pl = SV</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~SinhVien() {</a:t>
            </a:r>
            <a:r>
              <a:rPr lang="en-US" sz="2400" b="0">
                <a:solidFill>
                  <a:srgbClr val="0000FF"/>
                </a:solidFill>
              </a:rPr>
              <a:t>delete</a:t>
            </a:r>
            <a:r>
              <a:rPr lang="en-US" sz="2400" b="0">
                <a:solidFill>
                  <a:srgbClr val="000000"/>
                </a:solidFill>
              </a:rPr>
              <a:t> [ ] MaSo;}</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Xuat() </a:t>
            </a:r>
            <a:r>
              <a:rPr lang="en-US" sz="2400" b="0">
                <a:solidFill>
                  <a:srgbClr val="0000FF"/>
                </a:solidFill>
              </a:rPr>
              <a:t>const</a:t>
            </a:r>
            <a:r>
              <a:rPr lang="en-US" sz="2400" b="0">
                <a:solidFill>
                  <a:srgbClr val="000000"/>
                </a:solidFill>
              </a:rPr>
              <a:t> { </a:t>
            </a:r>
          </a:p>
          <a:p>
            <a:pPr marL="342900" indent="-342900">
              <a:spcBef>
                <a:spcPct val="20000"/>
              </a:spcBef>
              <a:buFont typeface="Wingdings" pitchFamily="2" charset="2"/>
              <a:buNone/>
            </a:pPr>
            <a:r>
              <a:rPr lang="en-US" sz="2400" b="0">
                <a:solidFill>
                  <a:srgbClr val="000000"/>
                </a:solidFill>
              </a:rPr>
              <a:t>		cout&lt;&lt;"Sinh vien "&lt;&lt;HoTen&lt;&lt;", ma so " &lt;&lt; MaSo;</a:t>
            </a:r>
          </a:p>
          <a:p>
            <a:pPr marL="342900" indent="-342900">
              <a:spcBef>
                <a:spcPct val="20000"/>
              </a:spcBef>
              <a:buFont typeface="Wingdings" pitchFamily="2" charset="2"/>
              <a:buNone/>
            </a:pPr>
            <a:r>
              <a:rPr lang="en-US" sz="2400" b="0">
                <a:solidFill>
                  <a:srgbClr val="000000"/>
                </a:solidFill>
              </a:rPr>
              <a:t>	}</a:t>
            </a:r>
          </a:p>
          <a:p>
            <a:pPr marL="342900" indent="-342900">
              <a:lnSpc>
                <a:spcPct val="90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Dùng vùng chọn kiểu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16</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90000"/>
              </a:lnSpc>
              <a:spcBef>
                <a:spcPct val="20000"/>
              </a:spcBef>
              <a:buFont typeface="Wingdings" pitchFamily="2" charset="2"/>
              <a:buNone/>
            </a:pPr>
            <a:r>
              <a:rPr lang="en-US" sz="2400" b="0">
                <a:solidFill>
                  <a:srgbClr val="0000FF"/>
                </a:solidFill>
              </a:rPr>
              <a:t>class</a:t>
            </a:r>
            <a:r>
              <a:rPr lang="en-US" sz="2400" b="0">
                <a:solidFill>
                  <a:srgbClr val="000000"/>
                </a:solidFill>
              </a:rPr>
              <a:t> CongNhan : </a:t>
            </a:r>
            <a:r>
              <a:rPr lang="en-US" sz="2400" b="0">
                <a:solidFill>
                  <a:srgbClr val="0000FF"/>
                </a:solidFill>
              </a:rPr>
              <a:t>public</a:t>
            </a:r>
            <a:r>
              <a:rPr lang="en-US" sz="2400" b="0">
                <a:solidFill>
                  <a:srgbClr val="000000"/>
                </a:solidFill>
              </a:rPr>
              <a:t> Nguoi{</a:t>
            </a:r>
          </a:p>
          <a:p>
            <a:pPr marL="342900" indent="-342900">
              <a:lnSpc>
                <a:spcPct val="90000"/>
              </a:lnSpc>
              <a:spcBef>
                <a:spcPct val="20000"/>
              </a:spcBef>
              <a:buFont typeface="Wingdings" pitchFamily="2" charset="2"/>
              <a:buNone/>
            </a:pPr>
            <a:r>
              <a:rPr lang="en-US" sz="2400" b="0">
                <a:solidFill>
                  <a:srgbClr val="0000FF"/>
                </a:solidFill>
              </a:rPr>
              <a:t>protected</a:t>
            </a:r>
            <a:r>
              <a:rPr lang="en-US" sz="2400" b="0">
                <a:solidFill>
                  <a:srgbClr val="000000"/>
                </a:solidFill>
              </a:rPr>
              <a:t>:</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double</a:t>
            </a:r>
            <a:r>
              <a:rPr lang="en-US" sz="2400" b="0">
                <a:solidFill>
                  <a:srgbClr val="000000"/>
                </a:solidFill>
              </a:rPr>
              <a:t> MucLuong;</a:t>
            </a:r>
          </a:p>
          <a:p>
            <a:pPr marL="342900" indent="-342900">
              <a:lnSpc>
                <a:spcPct val="90000"/>
              </a:lnSpc>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lnSpc>
                <a:spcPct val="90000"/>
              </a:lnSpc>
              <a:spcBef>
                <a:spcPct val="20000"/>
              </a:spcBef>
              <a:buFont typeface="Wingdings" pitchFamily="2" charset="2"/>
              <a:buNone/>
            </a:pPr>
            <a:r>
              <a:rPr lang="en-US" sz="2400" b="0">
                <a:solidFill>
                  <a:srgbClr val="000000"/>
                </a:solidFill>
              </a:rPr>
              <a:t>	CongNhan( </a:t>
            </a:r>
            <a:r>
              <a:rPr lang="en-US" sz="2400" b="0">
                <a:solidFill>
                  <a:srgbClr val="0000FF"/>
                </a:solidFill>
              </a:rPr>
              <a:t>char</a:t>
            </a:r>
            <a:r>
              <a:rPr lang="en-US" sz="2400" b="0">
                <a:solidFill>
                  <a:srgbClr val="000000"/>
                </a:solidFill>
              </a:rPr>
              <a:t> *n, </a:t>
            </a:r>
            <a:r>
              <a:rPr lang="en-US" sz="2400" b="0">
                <a:solidFill>
                  <a:srgbClr val="0000FF"/>
                </a:solidFill>
              </a:rPr>
              <a:t>double</a:t>
            </a:r>
            <a:r>
              <a:rPr lang="en-US" sz="2400" b="0">
                <a:solidFill>
                  <a:srgbClr val="000000"/>
                </a:solidFill>
              </a:rPr>
              <a:t> ml, int </a:t>
            </a:r>
            <a:r>
              <a:rPr lang="en-US" sz="2400" b="0">
                <a:solidFill>
                  <a:srgbClr val="0000FF"/>
                </a:solidFill>
              </a:rPr>
              <a:t>ns</a:t>
            </a:r>
            <a:r>
              <a:rPr lang="en-US" sz="2400" b="0">
                <a:solidFill>
                  <a:srgbClr val="000000"/>
                </a:solidFill>
              </a:rPr>
              <a:t>) : Nguoi(n,ns), MucLuong(ml){ </a:t>
            </a:r>
          </a:p>
          <a:p>
            <a:pPr marL="342900" indent="-342900">
              <a:lnSpc>
                <a:spcPct val="80000"/>
              </a:lnSpc>
              <a:spcBef>
                <a:spcPct val="20000"/>
              </a:spcBef>
              <a:buFont typeface="Wingdings" pitchFamily="2" charset="2"/>
              <a:buNone/>
            </a:pPr>
            <a:r>
              <a:rPr lang="en-US" sz="2400" b="0">
                <a:solidFill>
                  <a:srgbClr val="000000"/>
                </a:solidFill>
              </a:rPr>
              <a:t>		</a:t>
            </a:r>
            <a:r>
              <a:rPr lang="en-US" sz="2400" b="0">
                <a:solidFill>
                  <a:srgbClr val="FF0303"/>
                </a:solidFill>
              </a:rPr>
              <a:t>pl = CN;</a:t>
            </a:r>
          </a:p>
          <a:p>
            <a:pPr marL="342900" indent="-342900">
              <a:lnSpc>
                <a:spcPct val="80000"/>
              </a:lnSpc>
              <a:spcBef>
                <a:spcPct val="20000"/>
              </a:spcBef>
              <a:buFont typeface="Wingdings" pitchFamily="2" charset="2"/>
              <a:buNone/>
            </a:pPr>
            <a:r>
              <a:rPr lang="en-US" sz="2400" b="0">
                <a:solidFill>
                  <a:srgbClr val="FF0303"/>
                </a:solidFill>
              </a:rPr>
              <a:t>	</a:t>
            </a:r>
            <a:r>
              <a:rPr lang="en-US" sz="2400" b="0">
                <a:solidFill>
                  <a:srgbClr val="000000"/>
                </a:solidFill>
              </a:rPr>
              <a:t>}</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Xuat() </a:t>
            </a:r>
            <a:r>
              <a:rPr lang="en-US" sz="2400" b="0">
                <a:solidFill>
                  <a:srgbClr val="0000FF"/>
                </a:solidFill>
              </a:rPr>
              <a:t>const</a:t>
            </a:r>
            <a:r>
              <a:rPr lang="en-US" sz="2400" b="0">
                <a:solidFill>
                  <a:srgbClr val="000000"/>
                </a:solidFill>
              </a:rPr>
              <a:t>{ </a:t>
            </a:r>
          </a:p>
          <a:p>
            <a:pPr marL="342900" indent="-342900">
              <a:lnSpc>
                <a:spcPct val="90000"/>
              </a:lnSpc>
              <a:spcBef>
                <a:spcPct val="20000"/>
              </a:spcBef>
              <a:buFont typeface="Wingdings" pitchFamily="2" charset="2"/>
              <a:buNone/>
            </a:pPr>
            <a:r>
              <a:rPr lang="en-US" sz="2400" b="0">
                <a:solidFill>
                  <a:srgbClr val="000000"/>
                </a:solidFill>
              </a:rPr>
              <a:t>		cout &lt;&lt; "Cong nhan, ten " &lt;&lt; HoTen </a:t>
            </a:r>
          </a:p>
          <a:p>
            <a:pPr marL="342900" indent="-342900">
              <a:lnSpc>
                <a:spcPct val="90000"/>
              </a:lnSpc>
              <a:spcBef>
                <a:spcPct val="20000"/>
              </a:spcBef>
              <a:buFont typeface="Wingdings" pitchFamily="2" charset="2"/>
              <a:buNone/>
            </a:pPr>
            <a:r>
              <a:rPr lang="en-US" sz="2400" b="0">
                <a:solidFill>
                  <a:srgbClr val="000000"/>
                </a:solidFill>
              </a:rPr>
              <a:t>           cout &lt;&lt; " muc luong: " &lt;&lt; MucLuong;</a:t>
            </a:r>
          </a:p>
          <a:p>
            <a:pPr marL="342900" indent="-342900">
              <a:lnSpc>
                <a:spcPct val="90000"/>
              </a:lnSpc>
              <a:spcBef>
                <a:spcPct val="20000"/>
              </a:spcBef>
              <a:buFont typeface="Wingdings" pitchFamily="2" charset="2"/>
              <a:buNone/>
            </a:pPr>
            <a:r>
              <a:rPr lang="en-US" sz="2400" b="0">
                <a:solidFill>
                  <a:srgbClr val="000000"/>
                </a:solidFill>
              </a:rPr>
              <a:t>	}</a:t>
            </a:r>
          </a:p>
          <a:p>
            <a:pPr marL="342900" indent="-342900">
              <a:lnSpc>
                <a:spcPct val="90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Dùng vùng chọn kiểu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17</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90000"/>
              </a:lnSpc>
              <a:spcBef>
                <a:spcPct val="20000"/>
              </a:spcBef>
              <a:buFont typeface="Wingdings" pitchFamily="2" charset="2"/>
              <a:buNone/>
            </a:pPr>
            <a:r>
              <a:rPr lang="en-US" sz="2400" b="0">
                <a:solidFill>
                  <a:srgbClr val="0000FF"/>
                </a:solidFill>
              </a:rPr>
              <a:t>void</a:t>
            </a:r>
            <a:r>
              <a:rPr lang="en-US" sz="2400" b="0">
                <a:solidFill>
                  <a:srgbClr val="000000"/>
                </a:solidFill>
              </a:rPr>
              <a:t> XuatDs(</a:t>
            </a:r>
            <a:r>
              <a:rPr lang="en-US" sz="2400" b="0">
                <a:solidFill>
                  <a:srgbClr val="0000FF"/>
                </a:solidFill>
              </a:rPr>
              <a:t>int</a:t>
            </a:r>
            <a:r>
              <a:rPr lang="en-US" sz="2400" b="0">
                <a:solidFill>
                  <a:srgbClr val="000000"/>
                </a:solidFill>
              </a:rPr>
              <a:t> n, Nguoi *an[]) {</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for</a:t>
            </a:r>
            <a:r>
              <a:rPr lang="en-US" sz="2400" b="0">
                <a:solidFill>
                  <a:srgbClr val="000000"/>
                </a:solidFill>
              </a:rPr>
              <a:t> (</a:t>
            </a:r>
            <a:r>
              <a:rPr lang="en-US" sz="2400" b="0">
                <a:solidFill>
                  <a:srgbClr val="0000FF"/>
                </a:solidFill>
              </a:rPr>
              <a:t>int </a:t>
            </a:r>
            <a:r>
              <a:rPr lang="en-US" sz="2400" b="0">
                <a:solidFill>
                  <a:srgbClr val="000000"/>
                </a:solidFill>
              </a:rPr>
              <a:t>i = 0; i &lt; n; i++){</a:t>
            </a:r>
          </a:p>
          <a:p>
            <a:pPr marL="342900" indent="-342900">
              <a:lnSpc>
                <a:spcPct val="90000"/>
              </a:lnSpc>
              <a:spcBef>
                <a:spcPct val="20000"/>
              </a:spcBef>
              <a:buFont typeface="Wingdings" pitchFamily="2" charset="2"/>
              <a:buNone/>
            </a:pPr>
            <a:r>
              <a:rPr lang="en-US" sz="2400" b="0">
                <a:solidFill>
                  <a:srgbClr val="000000"/>
                </a:solidFill>
              </a:rPr>
              <a:t>		switch(an[i]-&gt;pl){</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case</a:t>
            </a:r>
            <a:r>
              <a:rPr lang="en-US" sz="2400" b="0">
                <a:solidFill>
                  <a:srgbClr val="000000"/>
                </a:solidFill>
              </a:rPr>
              <a:t> Nguoi::SV:	</a:t>
            </a:r>
          </a:p>
          <a:p>
            <a:pPr marL="342900" indent="-342900">
              <a:lnSpc>
                <a:spcPct val="90000"/>
              </a:lnSpc>
              <a:spcBef>
                <a:spcPct val="20000"/>
              </a:spcBef>
              <a:buFont typeface="Wingdings" pitchFamily="2" charset="2"/>
              <a:buNone/>
            </a:pPr>
            <a:r>
              <a:rPr lang="en-US" sz="2400" b="0">
                <a:solidFill>
                  <a:srgbClr val="000000"/>
                </a:solidFill>
              </a:rPr>
              <a:t>				((SinhVien *)an[i])</a:t>
            </a:r>
            <a:r>
              <a:rPr lang="en-US" sz="2400" b="0">
                <a:solidFill>
                  <a:srgbClr val="000000"/>
                </a:solidFill>
                <a:sym typeface="Wingdings" pitchFamily="2" charset="2"/>
              </a:rPr>
              <a:t></a:t>
            </a:r>
            <a:r>
              <a:rPr lang="en-US" sz="2400" b="0">
                <a:solidFill>
                  <a:srgbClr val="000000"/>
                </a:solidFill>
              </a:rPr>
              <a:t>Xuat();  </a:t>
            </a:r>
            <a:r>
              <a:rPr lang="en-US" sz="2400" b="0">
                <a:solidFill>
                  <a:srgbClr val="0000FF"/>
                </a:solidFill>
              </a:rPr>
              <a:t>break</a:t>
            </a:r>
            <a:r>
              <a:rPr lang="en-US" sz="2400" b="0">
                <a:solidFill>
                  <a:srgbClr val="000000"/>
                </a:solidFill>
              </a:rPr>
              <a:t>;</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case</a:t>
            </a:r>
            <a:r>
              <a:rPr lang="en-US" sz="2400" b="0">
                <a:solidFill>
                  <a:srgbClr val="000000"/>
                </a:solidFill>
              </a:rPr>
              <a:t> Nguoi::CN:	</a:t>
            </a:r>
          </a:p>
          <a:p>
            <a:pPr marL="342900" indent="-342900">
              <a:lnSpc>
                <a:spcPct val="90000"/>
              </a:lnSpc>
              <a:spcBef>
                <a:spcPct val="20000"/>
              </a:spcBef>
              <a:buFont typeface="Wingdings" pitchFamily="2" charset="2"/>
              <a:buNone/>
            </a:pPr>
            <a:r>
              <a:rPr lang="en-US" sz="2400" b="0">
                <a:solidFill>
                  <a:srgbClr val="000000"/>
                </a:solidFill>
              </a:rPr>
              <a:t>				((CongNhan *)an[i])</a:t>
            </a:r>
            <a:r>
              <a:rPr lang="en-US" sz="2400" b="0">
                <a:solidFill>
                  <a:srgbClr val="000000"/>
                </a:solidFill>
                <a:sym typeface="Wingdings" pitchFamily="2" charset="2"/>
              </a:rPr>
              <a:t></a:t>
            </a:r>
            <a:r>
              <a:rPr lang="en-US" sz="2400" b="0">
                <a:solidFill>
                  <a:srgbClr val="000000"/>
                </a:solidFill>
              </a:rPr>
              <a:t>Xuat(); </a:t>
            </a:r>
            <a:r>
              <a:rPr lang="en-US" sz="2400" b="0">
                <a:solidFill>
                  <a:srgbClr val="0000FF"/>
                </a:solidFill>
              </a:rPr>
              <a:t>break</a:t>
            </a:r>
            <a:r>
              <a:rPr lang="en-US" sz="2400" b="0">
                <a:solidFill>
                  <a:srgbClr val="000000"/>
                </a:solidFill>
              </a:rPr>
              <a:t>;</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default</a:t>
            </a:r>
            <a:r>
              <a:rPr lang="en-US" sz="2400" b="0">
                <a:solidFill>
                  <a:srgbClr val="000000"/>
                </a:solidFill>
              </a:rPr>
              <a:t>: </a:t>
            </a:r>
          </a:p>
          <a:p>
            <a:pPr marL="342900" indent="-342900">
              <a:lnSpc>
                <a:spcPct val="80000"/>
              </a:lnSpc>
              <a:spcBef>
                <a:spcPct val="20000"/>
              </a:spcBef>
              <a:buFont typeface="Wingdings" pitchFamily="2" charset="2"/>
              <a:buNone/>
            </a:pPr>
            <a:r>
              <a:rPr lang="en-US" sz="2400" b="0">
                <a:solidFill>
                  <a:srgbClr val="000000"/>
                </a:solidFill>
              </a:rPr>
              <a:t>				an[i]-&gt;Xuat(); </a:t>
            </a:r>
            <a:r>
              <a:rPr lang="en-US" sz="2400" b="0">
                <a:solidFill>
                  <a:srgbClr val="0000FF"/>
                </a:solidFill>
              </a:rPr>
              <a:t>break</a:t>
            </a:r>
            <a:r>
              <a:rPr lang="en-US" sz="2400" b="0">
                <a:solidFill>
                  <a:srgbClr val="000000"/>
                </a:solidFill>
              </a:rPr>
              <a:t>;</a:t>
            </a:r>
          </a:p>
          <a:p>
            <a:pPr marL="342900" indent="-342900">
              <a:lnSpc>
                <a:spcPct val="80000"/>
              </a:lnSpc>
              <a:spcBef>
                <a:spcPct val="20000"/>
              </a:spcBef>
              <a:buFont typeface="Wingdings" pitchFamily="2" charset="2"/>
              <a:buNone/>
            </a:pPr>
            <a:r>
              <a:rPr lang="en-US" sz="2400" b="0">
                <a:solidFill>
                  <a:srgbClr val="000000"/>
                </a:solidFill>
              </a:rPr>
              <a:t>		}</a:t>
            </a:r>
          </a:p>
          <a:p>
            <a:pPr marL="342900" indent="-342900">
              <a:lnSpc>
                <a:spcPct val="80000"/>
              </a:lnSpc>
              <a:spcBef>
                <a:spcPct val="20000"/>
              </a:spcBef>
              <a:buFont typeface="Wingdings" pitchFamily="2" charset="2"/>
              <a:buNone/>
            </a:pPr>
            <a:r>
              <a:rPr lang="en-US" sz="2400" b="0">
                <a:solidFill>
                  <a:srgbClr val="000000"/>
                </a:solidFill>
              </a:rPr>
              <a:t>		cout &lt;&lt; "\n";</a:t>
            </a:r>
          </a:p>
          <a:p>
            <a:pPr marL="342900" indent="-342900">
              <a:lnSpc>
                <a:spcPct val="80000"/>
              </a:lnSpc>
              <a:spcBef>
                <a:spcPct val="20000"/>
              </a:spcBef>
              <a:buFont typeface="Wingdings" pitchFamily="2" charset="2"/>
              <a:buNone/>
            </a:pPr>
            <a:r>
              <a:rPr lang="en-US" sz="2400" b="0">
                <a:solidFill>
                  <a:srgbClr val="000000"/>
                </a:solidFill>
              </a:rPr>
              <a:t>	}</a:t>
            </a:r>
          </a:p>
          <a:p>
            <a:pPr marL="342900" indent="-342900">
              <a:lnSpc>
                <a:spcPct val="90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Dùng vùng chọn kiểu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18</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300" b="0">
                <a:solidFill>
                  <a:srgbClr val="0000FF"/>
                </a:solidFill>
              </a:rPr>
              <a:t>const int</a:t>
            </a:r>
            <a:r>
              <a:rPr lang="en-US" sz="2300" b="0">
                <a:solidFill>
                  <a:srgbClr val="000000"/>
                </a:solidFill>
              </a:rPr>
              <a:t> N = 4;</a:t>
            </a:r>
          </a:p>
          <a:p>
            <a:pPr marL="342900" indent="-342900">
              <a:spcBef>
                <a:spcPct val="20000"/>
              </a:spcBef>
              <a:buFont typeface="Wingdings" pitchFamily="2" charset="2"/>
              <a:buNone/>
            </a:pPr>
            <a:r>
              <a:rPr lang="en-US" sz="2300" b="0">
                <a:solidFill>
                  <a:srgbClr val="0000FF"/>
                </a:solidFill>
              </a:rPr>
              <a:t>void</a:t>
            </a:r>
            <a:r>
              <a:rPr lang="en-US" sz="2300" b="0">
                <a:solidFill>
                  <a:srgbClr val="000000"/>
                </a:solidFill>
              </a:rPr>
              <a:t> main(){</a:t>
            </a:r>
          </a:p>
          <a:p>
            <a:pPr marL="342900" indent="-342900">
              <a:lnSpc>
                <a:spcPct val="120000"/>
              </a:lnSpc>
              <a:spcBef>
                <a:spcPct val="20000"/>
              </a:spcBef>
              <a:buFont typeface="Wingdings" pitchFamily="2" charset="2"/>
              <a:buNone/>
            </a:pPr>
            <a:r>
              <a:rPr lang="en-US" sz="2300" b="0">
                <a:solidFill>
                  <a:srgbClr val="000000"/>
                </a:solidFill>
              </a:rPr>
              <a:t>	Nguoi *a[N];</a:t>
            </a:r>
          </a:p>
          <a:p>
            <a:pPr marL="342900" indent="-342900">
              <a:lnSpc>
                <a:spcPct val="120000"/>
              </a:lnSpc>
              <a:spcBef>
                <a:spcPct val="20000"/>
              </a:spcBef>
              <a:buFont typeface="Wingdings" pitchFamily="2" charset="2"/>
              <a:buNone/>
            </a:pPr>
            <a:r>
              <a:rPr lang="en-US" sz="2300" b="0">
                <a:solidFill>
                  <a:srgbClr val="000000"/>
                </a:solidFill>
              </a:rPr>
              <a:t>	a[0] = </a:t>
            </a:r>
            <a:r>
              <a:rPr lang="en-US" sz="2300" b="0">
                <a:solidFill>
                  <a:srgbClr val="0000FF"/>
                </a:solidFill>
              </a:rPr>
              <a:t>new</a:t>
            </a:r>
            <a:r>
              <a:rPr lang="en-US" sz="2300" b="0">
                <a:solidFill>
                  <a:srgbClr val="000000"/>
                </a:solidFill>
              </a:rPr>
              <a:t> SinhVien(“Vien Van Sinh”, “200001234”, 1982);</a:t>
            </a:r>
          </a:p>
          <a:p>
            <a:pPr marL="342900" indent="-342900">
              <a:lnSpc>
                <a:spcPct val="120000"/>
              </a:lnSpc>
              <a:spcBef>
                <a:spcPct val="20000"/>
              </a:spcBef>
              <a:buFont typeface="Wingdings" pitchFamily="2" charset="2"/>
              <a:buNone/>
            </a:pPr>
            <a:r>
              <a:rPr lang="en-US" sz="2300" b="0">
                <a:solidFill>
                  <a:srgbClr val="000000"/>
                </a:solidFill>
              </a:rPr>
              <a:t>	a[1] = </a:t>
            </a:r>
            <a:r>
              <a:rPr lang="en-US" sz="2300" b="0">
                <a:solidFill>
                  <a:srgbClr val="0000FF"/>
                </a:solidFill>
              </a:rPr>
              <a:t>new</a:t>
            </a:r>
            <a:r>
              <a:rPr lang="en-US" sz="2300" b="0">
                <a:solidFill>
                  <a:srgbClr val="000000"/>
                </a:solidFill>
              </a:rPr>
              <a:t> NuSinh(“Le Thi Ha Dong”, “200001235”, 1984);</a:t>
            </a:r>
          </a:p>
          <a:p>
            <a:pPr marL="342900" indent="-342900">
              <a:lnSpc>
                <a:spcPct val="120000"/>
              </a:lnSpc>
              <a:spcBef>
                <a:spcPct val="20000"/>
              </a:spcBef>
              <a:buFont typeface="Wingdings" pitchFamily="2" charset="2"/>
              <a:buNone/>
            </a:pPr>
            <a:r>
              <a:rPr lang="en-US" sz="2300" b="0">
                <a:solidFill>
                  <a:srgbClr val="000000"/>
                </a:solidFill>
              </a:rPr>
              <a:t>	a[2] = </a:t>
            </a:r>
            <a:r>
              <a:rPr lang="en-US" sz="2300" b="0">
                <a:solidFill>
                  <a:srgbClr val="0000FF"/>
                </a:solidFill>
              </a:rPr>
              <a:t>new</a:t>
            </a:r>
            <a:r>
              <a:rPr lang="en-US" sz="2300" b="0">
                <a:solidFill>
                  <a:srgbClr val="000000"/>
                </a:solidFill>
              </a:rPr>
              <a:t> CongNhan(“Tran Nhan Cong”, 1000000, 1984);</a:t>
            </a:r>
          </a:p>
          <a:p>
            <a:pPr marL="342900" indent="-342900">
              <a:lnSpc>
                <a:spcPct val="120000"/>
              </a:lnSpc>
              <a:spcBef>
                <a:spcPct val="20000"/>
              </a:spcBef>
              <a:buFont typeface="Wingdings" pitchFamily="2" charset="2"/>
              <a:buNone/>
            </a:pPr>
            <a:r>
              <a:rPr lang="en-US" sz="2300" b="0">
                <a:solidFill>
                  <a:srgbClr val="000000"/>
                </a:solidFill>
              </a:rPr>
              <a:t>	a[3] = </a:t>
            </a:r>
            <a:r>
              <a:rPr lang="en-US" sz="2300" b="0">
                <a:solidFill>
                  <a:srgbClr val="0000FF"/>
                </a:solidFill>
              </a:rPr>
              <a:t>new</a:t>
            </a:r>
            <a:r>
              <a:rPr lang="en-US" sz="2300" b="0">
                <a:solidFill>
                  <a:srgbClr val="000000"/>
                </a:solidFill>
              </a:rPr>
              <a:t> Nguoi(“Nguyen Thanh Nhan”, 1960);</a:t>
            </a:r>
          </a:p>
          <a:p>
            <a:pPr marL="342900" indent="-342900">
              <a:lnSpc>
                <a:spcPct val="120000"/>
              </a:lnSpc>
              <a:spcBef>
                <a:spcPct val="20000"/>
              </a:spcBef>
              <a:buFont typeface="Wingdings" pitchFamily="2" charset="2"/>
              <a:buNone/>
            </a:pPr>
            <a:r>
              <a:rPr lang="en-US" sz="2300" b="0">
                <a:solidFill>
                  <a:srgbClr val="000000"/>
                </a:solidFill>
              </a:rPr>
              <a:t>	XuatDs(4,a);</a:t>
            </a:r>
          </a:p>
          <a:p>
            <a:pPr marL="342900" indent="-342900">
              <a:spcBef>
                <a:spcPct val="20000"/>
              </a:spcBef>
              <a:buFont typeface="Wingdings" pitchFamily="2" charset="2"/>
              <a:buNone/>
            </a:pPr>
            <a:r>
              <a:rPr lang="en-US" sz="2300" b="0">
                <a:solidFill>
                  <a:srgbClr val="000000"/>
                </a:solidFill>
              </a:rPr>
              <a:t>}</a:t>
            </a:r>
          </a:p>
        </p:txBody>
      </p:sp>
      <p:sp>
        <p:nvSpPr>
          <p:cNvPr id="8" name="Rectangle 4"/>
          <p:cNvSpPr>
            <a:spLocks noChangeArrowheads="1"/>
          </p:cNvSpPr>
          <p:nvPr/>
        </p:nvSpPr>
        <p:spPr bwMode="auto">
          <a:xfrm>
            <a:off x="2743200" y="4755932"/>
            <a:ext cx="6172200" cy="1752600"/>
          </a:xfrm>
          <a:prstGeom prst="rect">
            <a:avLst/>
          </a:prstGeom>
          <a:solidFill>
            <a:srgbClr val="CC99FF"/>
          </a:solidFill>
          <a:ln w="9525">
            <a:solidFill>
              <a:schemeClr val="tx1"/>
            </a:solidFill>
            <a:miter lim="800000"/>
            <a:headEnd/>
            <a:tailEnd/>
          </a:ln>
          <a:effectLst/>
        </p:spPr>
        <p:txBody>
          <a:bodyPr wrap="none" anchor="ctr"/>
          <a:lstStyle/>
          <a:p>
            <a:pPr>
              <a:lnSpc>
                <a:spcPct val="120000"/>
              </a:lnSpc>
            </a:pPr>
            <a:r>
              <a:rPr lang="en-US" sz="2000" b="0"/>
              <a:t>Sinh vien Vien Van Sinh, ma so 200001234</a:t>
            </a:r>
          </a:p>
          <a:p>
            <a:pPr>
              <a:lnSpc>
                <a:spcPct val="120000"/>
              </a:lnSpc>
            </a:pPr>
            <a:r>
              <a:rPr lang="en-US" sz="2000" b="0"/>
              <a:t>Sinh vien Le Thi Ha Dong, ma so 200001235</a:t>
            </a:r>
          </a:p>
          <a:p>
            <a:pPr>
              <a:lnSpc>
                <a:spcPct val="120000"/>
              </a:lnSpc>
            </a:pPr>
            <a:r>
              <a:rPr lang="en-US" sz="2000" b="0"/>
              <a:t>Cong nhan, ten Tran Nhan Cong muc luong:1000000</a:t>
            </a:r>
          </a:p>
          <a:p>
            <a:pPr>
              <a:lnSpc>
                <a:spcPct val="120000"/>
              </a:lnSpc>
            </a:pPr>
            <a:r>
              <a:rPr lang="en-US" sz="2000" b="0"/>
              <a:t>Nguoi, ho ten: Nguyen Thanh Nhan sinh 1960</a:t>
            </a:r>
          </a:p>
        </p:txBody>
      </p:sp>
    </p:spTree>
    <p:extLst>
      <p:ext uri="{BB962C8B-B14F-4D97-AF65-F5344CB8AC3E}">
        <p14:creationId xmlns:p14="http://schemas.microsoft.com/office/powerpoint/2010/main" val="1029817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Dùng vùng chọn kiểu</a:t>
            </a:r>
          </a:p>
        </p:txBody>
      </p:sp>
      <p:sp>
        <p:nvSpPr>
          <p:cNvPr id="3" name="Content Placeholder 2"/>
          <p:cNvSpPr>
            <a:spLocks noGrp="1"/>
          </p:cNvSpPr>
          <p:nvPr>
            <p:ph idx="1"/>
          </p:nvPr>
        </p:nvSpPr>
        <p:spPr>
          <a:xfrm>
            <a:off x="457200" y="1447800"/>
            <a:ext cx="8382000" cy="4953000"/>
          </a:xfrm>
        </p:spPr>
        <p:txBody>
          <a:bodyPr>
            <a:noAutofit/>
          </a:bodyPr>
          <a:lstStyle/>
          <a:p>
            <a:pPr algn="just">
              <a:lnSpc>
                <a:spcPct val="130000"/>
              </a:lnSpc>
              <a:spcBef>
                <a:spcPts val="300"/>
              </a:spcBef>
              <a:spcAft>
                <a:spcPts val="300"/>
              </a:spcAft>
              <a:buFont typeface="Wingdings" pitchFamily="2" charset="2"/>
              <a:buChar char="v"/>
            </a:pPr>
            <a:r>
              <a:rPr lang="en-US" sz="2800">
                <a:latin typeface="Arial" pitchFamily="34" charset="0"/>
                <a:cs typeface="Arial" pitchFamily="34" charset="0"/>
              </a:rPr>
              <a:t>Cách tiếp cận trên giải quyết được vấn đề: </a:t>
            </a:r>
            <a:r>
              <a:rPr lang="en-US" sz="2800">
                <a:solidFill>
                  <a:srgbClr val="0070C0"/>
                </a:solidFill>
                <a:latin typeface="Arial" pitchFamily="34" charset="0"/>
                <a:cs typeface="Arial" pitchFamily="34" charset="0"/>
              </a:rPr>
              <a:t>Lưu trữ các đối tượng khác kiểu nhau</a:t>
            </a:r>
            <a:r>
              <a:rPr lang="en-US" sz="2800">
                <a:solidFill>
                  <a:srgbClr val="0000FF"/>
                </a:solidFill>
                <a:latin typeface="Arial" pitchFamily="34" charset="0"/>
                <a:cs typeface="Arial" pitchFamily="34" charset="0"/>
              </a:rPr>
              <a:t> </a:t>
            </a:r>
            <a:r>
              <a:rPr lang="en-US" sz="2800">
                <a:solidFill>
                  <a:srgbClr val="FF3300"/>
                </a:solidFill>
                <a:latin typeface="Arial" pitchFamily="34" charset="0"/>
                <a:cs typeface="Arial" pitchFamily="34" charset="0"/>
              </a:rPr>
              <a:t>và thao tác khác nhau tương ứng từng đối tượng</a:t>
            </a:r>
            <a:r>
              <a:rPr lang="en-US" sz="2800">
                <a:latin typeface="Arial" pitchFamily="34" charset="0"/>
                <a:cs typeface="Arial" pitchFamily="34" charset="0"/>
              </a:rPr>
              <a:t>. Tuy nhiên, </a:t>
            </a:r>
            <a:r>
              <a:rPr lang="en-US" sz="2800">
                <a:solidFill>
                  <a:schemeClr val="tx1">
                    <a:lumMod val="95000"/>
                    <a:lumOff val="5000"/>
                  </a:schemeClr>
                </a:solidFill>
                <a:latin typeface="Arial" pitchFamily="34" charset="0"/>
                <a:cs typeface="Arial" pitchFamily="34" charset="0"/>
              </a:rPr>
              <a:t>tồn tại một số khuyết điểm:</a:t>
            </a:r>
          </a:p>
          <a:p>
            <a:pPr lvl="1" algn="just">
              <a:spcBef>
                <a:spcPts val="300"/>
              </a:spcBef>
              <a:spcAft>
                <a:spcPts val="300"/>
              </a:spcAft>
              <a:buFont typeface="Wingdings" pitchFamily="2" charset="2"/>
              <a:buChar char="§"/>
            </a:pPr>
            <a:r>
              <a:rPr lang="en-US" sz="2400">
                <a:latin typeface="Arial" pitchFamily="34" charset="0"/>
                <a:cs typeface="Arial" pitchFamily="34" charset="0"/>
              </a:rPr>
              <a:t>Mã lệnh dài dòng (nhiều switch case)</a:t>
            </a:r>
          </a:p>
          <a:p>
            <a:pPr lvl="1" algn="just">
              <a:spcBef>
                <a:spcPts val="300"/>
              </a:spcBef>
              <a:spcAft>
                <a:spcPts val="300"/>
              </a:spcAft>
              <a:buFont typeface="Wingdings" pitchFamily="2" charset="2"/>
              <a:buChar char="§"/>
            </a:pPr>
            <a:r>
              <a:rPr lang="en-US" sz="2400">
                <a:latin typeface="Arial" pitchFamily="34" charset="0"/>
                <a:cs typeface="Arial" pitchFamily="34" charset="0"/>
              </a:rPr>
              <a:t>Dễ sai sót, khó sửa</a:t>
            </a:r>
          </a:p>
          <a:p>
            <a:pPr lvl="1" algn="just">
              <a:spcBef>
                <a:spcPts val="300"/>
              </a:spcBef>
              <a:spcAft>
                <a:spcPts val="300"/>
              </a:spcAft>
              <a:buFont typeface="Wingdings" pitchFamily="2" charset="2"/>
              <a:buChar char="§"/>
            </a:pPr>
            <a:r>
              <a:rPr lang="en-US" sz="2400">
                <a:latin typeface="Arial" pitchFamily="34" charset="0"/>
                <a:cs typeface="Arial" pitchFamily="34" charset="0"/>
              </a:rPr>
              <a:t>Khó nâng cấp, bảo trì</a:t>
            </a:r>
          </a:p>
          <a:p>
            <a:pPr algn="just">
              <a:lnSpc>
                <a:spcPct val="130000"/>
              </a:lnSpc>
              <a:spcBef>
                <a:spcPts val="300"/>
              </a:spcBef>
              <a:spcAft>
                <a:spcPts val="300"/>
              </a:spcAft>
              <a:buFont typeface="Wingdings" pitchFamily="2" charset="2"/>
              <a:buChar char="v"/>
            </a:pPr>
            <a:r>
              <a:rPr lang="en-US" sz="2800">
                <a:latin typeface="Arial" pitchFamily="34" charset="0"/>
                <a:cs typeface="Arial" pitchFamily="34" charset="0"/>
              </a:rPr>
              <a:t>Các nhược điểm trên </a:t>
            </a:r>
            <a:r>
              <a:rPr lang="en-US" sz="2800">
                <a:solidFill>
                  <a:srgbClr val="0000FF"/>
                </a:solidFill>
                <a:latin typeface="Arial" pitchFamily="34" charset="0"/>
                <a:cs typeface="Arial" pitchFamily="34" charset="0"/>
              </a:rPr>
              <a:t>có thể khắc phục được nhờ phương thức ảo</a:t>
            </a:r>
            <a:r>
              <a:rPr lang="en-US" sz="2800">
                <a:latin typeface="Arial" pitchFamily="34" charset="0"/>
                <a:cs typeface="Arial" pitchFamily="34" charset="0"/>
              </a:rPr>
              <a: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19</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Phương thức ảo</a:t>
            </a:r>
          </a:p>
        </p:txBody>
      </p:sp>
      <p:sp>
        <p:nvSpPr>
          <p:cNvPr id="3" name="Content Placeholder 2"/>
          <p:cNvSpPr>
            <a:spLocks noGrp="1"/>
          </p:cNvSpPr>
          <p:nvPr>
            <p:ph idx="1"/>
          </p:nvPr>
        </p:nvSpPr>
        <p:spPr>
          <a:xfrm>
            <a:off x="457200" y="1447800"/>
            <a:ext cx="8382000" cy="5105400"/>
          </a:xfrm>
        </p:spPr>
        <p:txBody>
          <a:bodyPr>
            <a:normAutofit/>
          </a:bodyPr>
          <a:lstStyle/>
          <a:p>
            <a:pPr algn="just">
              <a:lnSpc>
                <a:spcPct val="130000"/>
              </a:lnSpc>
              <a:spcBef>
                <a:spcPts val="300"/>
              </a:spcBef>
              <a:spcAft>
                <a:spcPts val="300"/>
              </a:spcAft>
              <a:buFont typeface="Wingdings" pitchFamily="2" charset="2"/>
              <a:buChar char="v"/>
            </a:pPr>
            <a:r>
              <a:rPr lang="en-US">
                <a:solidFill>
                  <a:srgbClr val="FF3300"/>
                </a:solidFill>
                <a:latin typeface="Arial" pitchFamily="34" charset="0"/>
                <a:cs typeface="Arial" pitchFamily="34" charset="0"/>
              </a:rPr>
              <a:t>Phương thức ảo</a:t>
            </a:r>
            <a:r>
              <a:rPr lang="vi-VN">
                <a:solidFill>
                  <a:schemeClr val="tx1">
                    <a:lumMod val="95000"/>
                    <a:lumOff val="5000"/>
                  </a:schemeClr>
                </a:solidFill>
                <a:latin typeface="Arial" pitchFamily="34" charset="0"/>
                <a:cs typeface="Arial" pitchFamily="34" charset="0"/>
              </a:rPr>
              <a:t>:</a:t>
            </a: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Là cách </a:t>
            </a:r>
            <a:r>
              <a:rPr lang="vi-VN">
                <a:solidFill>
                  <a:srgbClr val="0066FF"/>
                </a:solidFill>
                <a:latin typeface="Arial" pitchFamily="34" charset="0"/>
                <a:cs typeface="Arial" pitchFamily="34" charset="0"/>
              </a:rPr>
              <a:t>thể hiện tính đa hình </a:t>
            </a:r>
            <a:r>
              <a:rPr lang="vi-VN">
                <a:solidFill>
                  <a:schemeClr val="tx1">
                    <a:lumMod val="95000"/>
                    <a:lumOff val="5000"/>
                  </a:schemeClr>
                </a:solidFill>
                <a:latin typeface="Arial" pitchFamily="34" charset="0"/>
                <a:cs typeface="Arial" pitchFamily="34" charset="0"/>
              </a:rPr>
              <a:t>trong ngôn ngữ C++.</a:t>
            </a: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Các phương thức ở lớp cơ sở có tính đa hình phải được định nghĩa là một phương thức ảo</a:t>
            </a:r>
            <a:endParaRPr lang="en-US">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a:solidFill>
                  <a:srgbClr val="FF3300"/>
                </a:solidFill>
                <a:latin typeface="Arial" pitchFamily="34" charset="0"/>
                <a:cs typeface="Arial" pitchFamily="34" charset="0"/>
              </a:rPr>
              <a:t>Con trỏ thuộc lớp cơ sở có thể trỏ đến lớp con:</a:t>
            </a:r>
          </a:p>
          <a:p>
            <a:pPr lvl="1" algn="just">
              <a:lnSpc>
                <a:spcPct val="130000"/>
              </a:lnSpc>
              <a:spcBef>
                <a:spcPts val="300"/>
              </a:spcBef>
              <a:spcAft>
                <a:spcPts val="300"/>
              </a:spcAft>
              <a:buNone/>
            </a:pPr>
            <a:r>
              <a:rPr lang="fr-FR" sz="2400">
                <a:solidFill>
                  <a:schemeClr val="tx1">
                    <a:lumMod val="95000"/>
                    <a:lumOff val="5000"/>
                  </a:schemeClr>
                </a:solidFill>
                <a:latin typeface="Arial" pitchFamily="34" charset="0"/>
                <a:cs typeface="Arial" pitchFamily="34" charset="0"/>
              </a:rPr>
              <a:t>Nguoi* pn=new SinhVien(“Le Vien Sinh”,TH11001,1982);</a:t>
            </a:r>
            <a:endParaRPr lang="en-US" sz="24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20</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Phương thức ảo</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Ta mong muốn thông qua con trỏ thuộc lớp cơ sở có thể </a:t>
            </a:r>
            <a:r>
              <a:rPr lang="vi-VN">
                <a:solidFill>
                  <a:srgbClr val="FF3300"/>
                </a:solidFill>
                <a:latin typeface="Arial" pitchFamily="34" charset="0"/>
                <a:cs typeface="Arial" pitchFamily="34" charset="0"/>
              </a:rPr>
              <a:t>truy xuất hàm thành phần được định nghĩa lại ở lớp con</a:t>
            </a:r>
            <a:endParaRPr lang="vi-VN">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None/>
            </a:pPr>
            <a:r>
              <a:rPr lang="en-US" sz="3200">
                <a:solidFill>
                  <a:schemeClr val="tx1">
                    <a:lumMod val="95000"/>
                    <a:lumOff val="5000"/>
                  </a:schemeClr>
                </a:solidFill>
                <a:latin typeface="Arial" pitchFamily="34" charset="0"/>
                <a:cs typeface="Arial" pitchFamily="34" charset="0"/>
              </a:rPr>
              <a:t>pn-&gt;Xuat(); </a:t>
            </a:r>
          </a:p>
          <a:p>
            <a:pPr lvl="1" algn="just">
              <a:lnSpc>
                <a:spcPct val="130000"/>
              </a:lnSpc>
              <a:spcBef>
                <a:spcPts val="300"/>
              </a:spcBef>
              <a:spcAft>
                <a:spcPts val="300"/>
              </a:spcAft>
              <a:buNone/>
            </a:pPr>
            <a:r>
              <a:rPr lang="en-US" sz="3200">
                <a:solidFill>
                  <a:srgbClr val="00B050"/>
                </a:solidFill>
                <a:latin typeface="Arial" pitchFamily="34" charset="0"/>
                <a:cs typeface="Arial" pitchFamily="34" charset="0"/>
              </a:rPr>
              <a:t>//Mong muon: goi Xuat cua lop sinh vien,</a:t>
            </a:r>
          </a:p>
          <a:p>
            <a:pPr lvl="1" algn="just">
              <a:lnSpc>
                <a:spcPct val="130000"/>
              </a:lnSpc>
              <a:spcBef>
                <a:spcPts val="300"/>
              </a:spcBef>
              <a:spcAft>
                <a:spcPts val="300"/>
              </a:spcAft>
              <a:buNone/>
            </a:pPr>
            <a:r>
              <a:rPr lang="en-US" sz="3200">
                <a:solidFill>
                  <a:srgbClr val="00B050"/>
                </a:solidFill>
                <a:latin typeface="Arial" pitchFamily="34" charset="0"/>
                <a:cs typeface="Arial" pitchFamily="34" charset="0"/>
              </a:rPr>
              <a:t>//Thuc te: goi Xuat cua lop Nguoi</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21</a:t>
            </a:fld>
            <a:endParaRPr lang="en-US"/>
          </a:p>
        </p:txBody>
      </p:sp>
    </p:spTree>
    <p:extLst>
      <p:ext uri="{BB962C8B-B14F-4D97-AF65-F5344CB8AC3E}">
        <p14:creationId xmlns:p14="http://schemas.microsoft.com/office/powerpoint/2010/main" val="1029817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Phương thức ảo</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Phương thức ảo cho phép giải quyết vấn đề trên.</a:t>
            </a:r>
          </a:p>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Ta qui định một hàm thành phần là phương thức ảo bằng cách thêm từ kh</a:t>
            </a:r>
            <a:r>
              <a:rPr lang="en-US">
                <a:solidFill>
                  <a:schemeClr val="tx1">
                    <a:lumMod val="95000"/>
                    <a:lumOff val="5000"/>
                  </a:schemeClr>
                </a:solidFill>
                <a:latin typeface="Arial" pitchFamily="34" charset="0"/>
                <a:cs typeface="Arial" pitchFamily="34" charset="0"/>
              </a:rPr>
              <a:t>óa</a:t>
            </a:r>
            <a:r>
              <a:rPr lang="vi-VN">
                <a:solidFill>
                  <a:schemeClr val="tx1">
                    <a:lumMod val="95000"/>
                    <a:lumOff val="5000"/>
                  </a:schemeClr>
                </a:solidFill>
                <a:latin typeface="Arial" pitchFamily="34" charset="0"/>
                <a:cs typeface="Arial" pitchFamily="34" charset="0"/>
              </a:rPr>
              <a:t> </a:t>
            </a:r>
            <a:r>
              <a:rPr lang="vi-VN">
                <a:solidFill>
                  <a:srgbClr val="FF3300"/>
                </a:solidFill>
                <a:latin typeface="Arial" pitchFamily="34" charset="0"/>
                <a:cs typeface="Arial" pitchFamily="34" charset="0"/>
              </a:rPr>
              <a:t>virtual</a:t>
            </a:r>
            <a:r>
              <a:rPr lang="vi-VN">
                <a:solidFill>
                  <a:schemeClr val="tx1">
                    <a:lumMod val="95000"/>
                    <a:lumOff val="5000"/>
                  </a:schemeClr>
                </a:solidFill>
                <a:latin typeface="Arial" pitchFamily="34" charset="0"/>
                <a:cs typeface="Arial" pitchFamily="34" charset="0"/>
              </a:rPr>
              <a:t> vào trước khai báo hàm.</a:t>
            </a:r>
          </a:p>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Trong ví dụ trên, ta </a:t>
            </a:r>
            <a:r>
              <a:rPr lang="vi-VN">
                <a:solidFill>
                  <a:srgbClr val="FF3300"/>
                </a:solidFill>
                <a:latin typeface="Arial" pitchFamily="34" charset="0"/>
                <a:cs typeface="Arial" pitchFamily="34" charset="0"/>
              </a:rPr>
              <a:t>thêm từ kh</a:t>
            </a:r>
            <a:r>
              <a:rPr lang="en-US">
                <a:solidFill>
                  <a:srgbClr val="FF3300"/>
                </a:solidFill>
                <a:latin typeface="Arial" pitchFamily="34" charset="0"/>
                <a:cs typeface="Arial" pitchFamily="34" charset="0"/>
              </a:rPr>
              <a:t>óa</a:t>
            </a:r>
            <a:r>
              <a:rPr lang="vi-VN">
                <a:solidFill>
                  <a:srgbClr val="FF3300"/>
                </a:solidFill>
                <a:latin typeface="Arial" pitchFamily="34" charset="0"/>
                <a:cs typeface="Arial" pitchFamily="34" charset="0"/>
              </a:rPr>
              <a:t> virtual vào trước khai báo của hàm Xuat</a:t>
            </a:r>
            <a:r>
              <a:rPr lang="vi-VN">
                <a:solidFill>
                  <a:schemeClr val="tx1">
                    <a:lumMod val="95000"/>
                    <a:lumOff val="5000"/>
                  </a:schemeClr>
                </a:solidFill>
                <a:latin typeface="Arial" pitchFamily="34" charset="0"/>
                <a:cs typeface="Arial" pitchFamily="34" charset="0"/>
              </a:rPr>
              <a: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22</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Phương thức ảo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23</a:t>
            </a:fld>
            <a:endParaRPr lang="en-US"/>
          </a:p>
        </p:txBody>
      </p:sp>
      <p:sp>
        <p:nvSpPr>
          <p:cNvPr id="8"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90000"/>
              </a:lnSpc>
              <a:spcBef>
                <a:spcPct val="20000"/>
              </a:spcBef>
              <a:buFont typeface="Wingdings" pitchFamily="2" charset="2"/>
              <a:buNone/>
            </a:pPr>
            <a:r>
              <a:rPr lang="en-US" sz="2400" b="0">
                <a:solidFill>
                  <a:srgbClr val="0000FF"/>
                </a:solidFill>
              </a:rPr>
              <a:t>class</a:t>
            </a:r>
            <a:r>
              <a:rPr lang="en-US" sz="2400" b="0">
                <a:solidFill>
                  <a:srgbClr val="000000"/>
                </a:solidFill>
              </a:rPr>
              <a:t> Nguoi {</a:t>
            </a:r>
          </a:p>
          <a:p>
            <a:pPr marL="342900" indent="-342900">
              <a:lnSpc>
                <a:spcPct val="90000"/>
              </a:lnSpc>
              <a:spcBef>
                <a:spcPct val="20000"/>
              </a:spcBef>
              <a:buFont typeface="Wingdings" pitchFamily="2" charset="2"/>
              <a:buNone/>
            </a:pPr>
            <a:r>
              <a:rPr lang="en-US" sz="2400" b="0">
                <a:solidFill>
                  <a:srgbClr val="0000FF"/>
                </a:solidFill>
              </a:rPr>
              <a:t>protected</a:t>
            </a:r>
            <a:r>
              <a:rPr lang="en-US" sz="2400" b="0">
                <a:solidFill>
                  <a:srgbClr val="000000"/>
                </a:solidFill>
              </a:rPr>
              <a:t>:</a:t>
            </a:r>
          </a:p>
          <a:p>
            <a:pPr marL="342900" indent="-342900">
              <a:lnSpc>
                <a:spcPct val="90000"/>
              </a:lnSpc>
              <a:spcBef>
                <a:spcPct val="20000"/>
              </a:spcBef>
              <a:buFont typeface="Wingdings" pitchFamily="2" charset="2"/>
              <a:buNone/>
            </a:pPr>
            <a:r>
              <a:rPr lang="en-US" sz="2400" b="0">
                <a:solidFill>
                  <a:srgbClr val="000000"/>
                </a:solidFill>
              </a:rPr>
              <a:t>	char *HoTen;</a:t>
            </a:r>
          </a:p>
          <a:p>
            <a:pPr marL="342900" indent="-342900">
              <a:lnSpc>
                <a:spcPct val="90000"/>
              </a:lnSpc>
              <a:spcBef>
                <a:spcPct val="20000"/>
              </a:spcBef>
              <a:buFont typeface="Wingdings" pitchFamily="2" charset="2"/>
              <a:buNone/>
            </a:pPr>
            <a:r>
              <a:rPr lang="en-US" sz="2400" b="0">
                <a:solidFill>
                  <a:srgbClr val="000000"/>
                </a:solidFill>
              </a:rPr>
              <a:t>	int NamSinh;</a:t>
            </a:r>
          </a:p>
          <a:p>
            <a:pPr marL="342900" indent="-342900">
              <a:lnSpc>
                <a:spcPct val="90000"/>
              </a:lnSpc>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lnSpc>
                <a:spcPct val="90000"/>
              </a:lnSpc>
              <a:spcBef>
                <a:spcPct val="20000"/>
              </a:spcBef>
              <a:buFont typeface="Wingdings" pitchFamily="2" charset="2"/>
              <a:buNone/>
            </a:pPr>
            <a:r>
              <a:rPr lang="en-US" sz="2400" b="0">
                <a:solidFill>
                  <a:srgbClr val="000000"/>
                </a:solidFill>
              </a:rPr>
              <a:t>	Nguoi( </a:t>
            </a:r>
            <a:r>
              <a:rPr lang="en-US" sz="2400" b="0">
                <a:solidFill>
                  <a:srgbClr val="0000FF"/>
                </a:solidFill>
              </a:rPr>
              <a:t>char</a:t>
            </a:r>
            <a:r>
              <a:rPr lang="en-US" sz="2400" b="0">
                <a:solidFill>
                  <a:srgbClr val="000000"/>
                </a:solidFill>
              </a:rPr>
              <a:t> *ht,</a:t>
            </a:r>
            <a:r>
              <a:rPr lang="en-US" sz="2400" b="0">
                <a:solidFill>
                  <a:srgbClr val="0000FF"/>
                </a:solidFill>
              </a:rPr>
              <a:t>int</a:t>
            </a:r>
            <a:r>
              <a:rPr lang="en-US" sz="2400" b="0">
                <a:solidFill>
                  <a:srgbClr val="000000"/>
                </a:solidFill>
              </a:rPr>
              <a:t> ns):NamSinh(ns){HoTen = strdup(ht);}</a:t>
            </a:r>
          </a:p>
          <a:p>
            <a:pPr marL="342900" indent="-342900">
              <a:lnSpc>
                <a:spcPct val="90000"/>
              </a:lnSpc>
              <a:spcBef>
                <a:spcPct val="20000"/>
              </a:spcBef>
              <a:buFont typeface="Wingdings" pitchFamily="2" charset="2"/>
              <a:buNone/>
            </a:pPr>
            <a:r>
              <a:rPr lang="en-US" sz="2400" b="0">
                <a:solidFill>
                  <a:srgbClr val="000000"/>
                </a:solidFill>
              </a:rPr>
              <a:t>	~Nguoi() {</a:t>
            </a:r>
            <a:r>
              <a:rPr lang="en-US" sz="2400" b="0">
                <a:solidFill>
                  <a:srgbClr val="0000FF"/>
                </a:solidFill>
              </a:rPr>
              <a:t>delete</a:t>
            </a:r>
            <a:r>
              <a:rPr lang="en-US" sz="2400" b="0">
                <a:solidFill>
                  <a:srgbClr val="000000"/>
                </a:solidFill>
              </a:rPr>
              <a:t> [ ] HoTen;}</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An() </a:t>
            </a:r>
            <a:r>
              <a:rPr lang="en-US" sz="2400" b="0">
                <a:solidFill>
                  <a:srgbClr val="0000FF"/>
                </a:solidFill>
              </a:rPr>
              <a:t>const</a:t>
            </a:r>
            <a:r>
              <a:rPr lang="en-US" sz="2400" b="0">
                <a:solidFill>
                  <a:srgbClr val="000000"/>
                </a:solidFill>
              </a:rPr>
              <a:t> { cout &lt;&lt; HoTen &lt;&lt; " an 3 chen com";}</a:t>
            </a:r>
          </a:p>
          <a:p>
            <a:pPr marL="342900" indent="-342900">
              <a:lnSpc>
                <a:spcPct val="90000"/>
              </a:lnSpc>
              <a:spcBef>
                <a:spcPct val="20000"/>
              </a:spcBef>
              <a:buFont typeface="Wingdings" pitchFamily="2" charset="2"/>
              <a:buNone/>
            </a:pPr>
            <a:r>
              <a:rPr lang="en-US" sz="2400" b="0">
                <a:solidFill>
                  <a:srgbClr val="000000"/>
                </a:solidFill>
              </a:rPr>
              <a:t>	</a:t>
            </a:r>
            <a:r>
              <a:rPr lang="en-US" sz="2400" b="0">
                <a:solidFill>
                  <a:srgbClr val="FF0303"/>
                </a:solidFill>
              </a:rPr>
              <a:t>virtual</a:t>
            </a:r>
            <a:r>
              <a:rPr lang="en-US" sz="2400" b="0">
                <a:solidFill>
                  <a:srgbClr val="000000"/>
                </a:solidFill>
              </a:rPr>
              <a:t> </a:t>
            </a:r>
            <a:r>
              <a:rPr lang="en-US" sz="2400" b="0">
                <a:solidFill>
                  <a:srgbClr val="0000FF"/>
                </a:solidFill>
              </a:rPr>
              <a:t>void</a:t>
            </a:r>
            <a:r>
              <a:rPr lang="en-US" sz="2400" b="0">
                <a:solidFill>
                  <a:srgbClr val="000000"/>
                </a:solidFill>
              </a:rPr>
              <a:t> Xuat() </a:t>
            </a:r>
            <a:r>
              <a:rPr lang="en-US" sz="2400" b="0">
                <a:solidFill>
                  <a:srgbClr val="0000FF"/>
                </a:solidFill>
              </a:rPr>
              <a:t>const</a:t>
            </a:r>
            <a:r>
              <a:rPr lang="en-US" sz="2400" b="0">
                <a:solidFill>
                  <a:srgbClr val="000000"/>
                </a:solidFill>
              </a:rPr>
              <a:t> { </a:t>
            </a:r>
          </a:p>
          <a:p>
            <a:pPr marL="342900" indent="-342900">
              <a:lnSpc>
                <a:spcPct val="80000"/>
              </a:lnSpc>
              <a:spcBef>
                <a:spcPct val="20000"/>
              </a:spcBef>
              <a:buFont typeface="Wingdings" pitchFamily="2" charset="2"/>
              <a:buNone/>
            </a:pPr>
            <a:r>
              <a:rPr lang="en-US" sz="2400" b="0">
                <a:solidFill>
                  <a:srgbClr val="000000"/>
                </a:solidFill>
              </a:rPr>
              <a:t>		cout &lt;&lt; "Nguoi, ho ten: " &lt;&lt; HoTen </a:t>
            </a:r>
          </a:p>
          <a:p>
            <a:pPr marL="342900" indent="-342900">
              <a:lnSpc>
                <a:spcPct val="80000"/>
              </a:lnSpc>
              <a:spcBef>
                <a:spcPct val="20000"/>
              </a:spcBef>
              <a:buFont typeface="Wingdings" pitchFamily="2" charset="2"/>
              <a:buNone/>
            </a:pPr>
            <a:r>
              <a:rPr lang="en-US" sz="2400" b="0">
                <a:solidFill>
                  <a:srgbClr val="000000"/>
                </a:solidFill>
              </a:rPr>
              <a:t>		cout &lt;&lt; " sinh " &lt;&lt; NamSinh; </a:t>
            </a:r>
          </a:p>
          <a:p>
            <a:pPr marL="342900" indent="-342900">
              <a:lnSpc>
                <a:spcPct val="80000"/>
              </a:lnSpc>
              <a:spcBef>
                <a:spcPct val="20000"/>
              </a:spcBef>
              <a:buFont typeface="Wingdings" pitchFamily="2" charset="2"/>
              <a:buNone/>
            </a:pPr>
            <a:r>
              <a:rPr lang="en-US" sz="2400" b="0">
                <a:solidFill>
                  <a:srgbClr val="000000"/>
                </a:solidFill>
              </a:rPr>
              <a:t>	}</a:t>
            </a:r>
          </a:p>
          <a:p>
            <a:pPr marL="342900" indent="-342900">
              <a:lnSpc>
                <a:spcPct val="80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Thêm lớp con mới</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Dùng phương thức ảo, ta </a:t>
            </a:r>
            <a:r>
              <a:rPr lang="vi-VN">
                <a:solidFill>
                  <a:srgbClr val="FF3300"/>
                </a:solidFill>
                <a:latin typeface="Arial" pitchFamily="34" charset="0"/>
                <a:cs typeface="Arial" pitchFamily="34" charset="0"/>
              </a:rPr>
              <a:t>dễ dàng nâng cấp sửa chữa</a:t>
            </a:r>
            <a:r>
              <a:rPr lang="vi-VN">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Thêm một loại đối tượng mới rất đơn giản, </a:t>
            </a:r>
            <a:r>
              <a:rPr lang="vi-VN">
                <a:solidFill>
                  <a:srgbClr val="0070C0"/>
                </a:solidFill>
                <a:latin typeface="Arial" pitchFamily="34" charset="0"/>
                <a:cs typeface="Arial" pitchFamily="34" charset="0"/>
              </a:rPr>
              <a:t>không cần sửa đổi thao tác xử lý </a:t>
            </a:r>
            <a:r>
              <a:rPr lang="vi-VN">
                <a:solidFill>
                  <a:schemeClr val="tx1">
                    <a:lumMod val="95000"/>
                    <a:lumOff val="5000"/>
                  </a:schemeClr>
                </a:solidFill>
                <a:latin typeface="Arial" pitchFamily="34" charset="0"/>
                <a:cs typeface="Arial" pitchFamily="34" charset="0"/>
              </a:rPr>
              <a:t>(Xuat</a:t>
            </a:r>
            <a:r>
              <a:rPr lang="en-US">
                <a:solidFill>
                  <a:schemeClr val="tx1">
                    <a:lumMod val="95000"/>
                    <a:lumOff val="5000"/>
                  </a:schemeClr>
                </a:solidFill>
                <a:latin typeface="Arial" pitchFamily="34" charset="0"/>
                <a:cs typeface="Arial" pitchFamily="34" charset="0"/>
              </a:rPr>
              <a:t>Ds</a:t>
            </a:r>
            <a:r>
              <a:rPr lang="vi-VN">
                <a:solidFill>
                  <a:schemeClr val="tx1">
                    <a:lumMod val="95000"/>
                    <a:lumOff val="5000"/>
                  </a:schemeClr>
                </a:solidFill>
                <a:latin typeface="Arial" pitchFamily="34" charset="0"/>
                <a:cs typeface="Arial" pitchFamily="34" charset="0"/>
              </a:rPr>
              <a:t>).</a:t>
            </a:r>
            <a:endParaRPr lang="en-US">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Qui trình thêm chỉ là </a:t>
            </a:r>
            <a:r>
              <a:rPr lang="vi-VN">
                <a:solidFill>
                  <a:srgbClr val="0070C0"/>
                </a:solidFill>
                <a:latin typeface="Arial" pitchFamily="34" charset="0"/>
                <a:cs typeface="Arial" pitchFamily="34" charset="0"/>
              </a:rPr>
              <a:t>xây dựng lớp con kế thừa lớp cơ sở </a:t>
            </a:r>
            <a:r>
              <a:rPr lang="vi-VN">
                <a:solidFill>
                  <a:schemeClr val="tx1">
                    <a:lumMod val="95000"/>
                    <a:lumOff val="5000"/>
                  </a:schemeClr>
                </a:solidFill>
                <a:latin typeface="Arial" pitchFamily="34" charset="0"/>
                <a:cs typeface="Arial" pitchFamily="34" charset="0"/>
              </a:rPr>
              <a:t>và </a:t>
            </a:r>
            <a:r>
              <a:rPr lang="vi-VN">
                <a:solidFill>
                  <a:srgbClr val="FF3300"/>
                </a:solidFill>
                <a:latin typeface="Arial" pitchFamily="34" charset="0"/>
                <a:cs typeface="Arial" pitchFamily="34" charset="0"/>
              </a:rPr>
              <a:t>định nghĩa lại phương thức (ảo) ở lớp mới </a:t>
            </a:r>
            <a:r>
              <a:rPr lang="vi-VN">
                <a:solidFill>
                  <a:schemeClr val="tx1">
                    <a:lumMod val="95000"/>
                    <a:lumOff val="5000"/>
                  </a:schemeClr>
                </a:solidFill>
                <a:latin typeface="Arial" pitchFamily="34" charset="0"/>
                <a:cs typeface="Arial" pitchFamily="34" charset="0"/>
              </a:rPr>
              <a:t>tạo nếu cần.</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24</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Thêm lớp con mới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25</a:t>
            </a:fld>
            <a:endParaRPr lang="en-US"/>
          </a:p>
        </p:txBody>
      </p:sp>
      <p:sp>
        <p:nvSpPr>
          <p:cNvPr id="8"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130000"/>
              </a:lnSpc>
              <a:spcBef>
                <a:spcPts val="0"/>
              </a:spcBef>
              <a:buFont typeface="Wingdings" pitchFamily="2" charset="2"/>
              <a:buNone/>
            </a:pPr>
            <a:r>
              <a:rPr lang="en-US" sz="2400" b="0">
                <a:solidFill>
                  <a:srgbClr val="0000FF"/>
                </a:solidFill>
              </a:rPr>
              <a:t>class</a:t>
            </a:r>
            <a:r>
              <a:rPr lang="en-US" sz="2400" b="0">
                <a:solidFill>
                  <a:srgbClr val="000000"/>
                </a:solidFill>
              </a:rPr>
              <a:t> CaSi : </a:t>
            </a:r>
            <a:r>
              <a:rPr lang="en-US" sz="2400" b="0">
                <a:solidFill>
                  <a:srgbClr val="0000FF"/>
                </a:solidFill>
              </a:rPr>
              <a:t>public</a:t>
            </a:r>
            <a:r>
              <a:rPr lang="en-US" sz="2400" b="0">
                <a:solidFill>
                  <a:srgbClr val="000000"/>
                </a:solidFill>
              </a:rPr>
              <a:t> Nguoi{</a:t>
            </a:r>
          </a:p>
          <a:p>
            <a:pPr marL="342900" indent="-342900">
              <a:lnSpc>
                <a:spcPct val="130000"/>
              </a:lnSpc>
              <a:spcBef>
                <a:spcPts val="0"/>
              </a:spcBef>
              <a:buFont typeface="Wingdings" pitchFamily="2" charset="2"/>
              <a:buNone/>
            </a:pPr>
            <a:r>
              <a:rPr lang="en-US" sz="2400" b="0">
                <a:solidFill>
                  <a:srgbClr val="0000FF"/>
                </a:solidFill>
              </a:rPr>
              <a:t>protected</a:t>
            </a:r>
            <a:r>
              <a:rPr lang="en-US" sz="2400" b="0">
                <a:solidFill>
                  <a:srgbClr val="000000"/>
                </a:solidFill>
              </a:rPr>
              <a:t>:</a:t>
            </a:r>
          </a:p>
          <a:p>
            <a:pPr marL="342900" indent="-342900">
              <a:lnSpc>
                <a:spcPct val="130000"/>
              </a:lnSpc>
              <a:spcBef>
                <a:spcPts val="0"/>
              </a:spcBef>
              <a:buFont typeface="Wingdings" pitchFamily="2" charset="2"/>
              <a:buNone/>
            </a:pPr>
            <a:r>
              <a:rPr lang="en-US" sz="2400" b="0">
                <a:solidFill>
                  <a:srgbClr val="000000"/>
                </a:solidFill>
              </a:rPr>
              <a:t>	</a:t>
            </a:r>
            <a:r>
              <a:rPr lang="en-US" sz="2400" b="0">
                <a:solidFill>
                  <a:srgbClr val="0000FF"/>
                </a:solidFill>
              </a:rPr>
              <a:t>double</a:t>
            </a:r>
            <a:r>
              <a:rPr lang="en-US" sz="2400" b="0">
                <a:solidFill>
                  <a:srgbClr val="000000"/>
                </a:solidFill>
              </a:rPr>
              <a:t> CatXe;</a:t>
            </a:r>
          </a:p>
          <a:p>
            <a:pPr marL="342900" indent="-342900">
              <a:lnSpc>
                <a:spcPct val="130000"/>
              </a:lnSpc>
              <a:spcBef>
                <a:spcPts val="0"/>
              </a:spcBef>
              <a:buFont typeface="Wingdings" pitchFamily="2" charset="2"/>
              <a:buNone/>
            </a:pPr>
            <a:r>
              <a:rPr lang="en-US" sz="2400" b="0">
                <a:solidFill>
                  <a:srgbClr val="0000FF"/>
                </a:solidFill>
              </a:rPr>
              <a:t>public</a:t>
            </a:r>
            <a:r>
              <a:rPr lang="en-US" sz="2400" b="0">
                <a:solidFill>
                  <a:srgbClr val="000000"/>
                </a:solidFill>
              </a:rPr>
              <a:t>:</a:t>
            </a:r>
          </a:p>
          <a:p>
            <a:pPr marL="342900" indent="-342900">
              <a:lnSpc>
                <a:spcPct val="130000"/>
              </a:lnSpc>
              <a:spcBef>
                <a:spcPts val="0"/>
              </a:spcBef>
              <a:buFont typeface="Wingdings" pitchFamily="2" charset="2"/>
              <a:buNone/>
            </a:pPr>
            <a:r>
              <a:rPr lang="en-US" sz="2400" b="0">
                <a:solidFill>
                  <a:srgbClr val="000000"/>
                </a:solidFill>
              </a:rPr>
              <a:t>	CaSi( </a:t>
            </a:r>
            <a:r>
              <a:rPr lang="en-US" sz="2400" b="0">
                <a:solidFill>
                  <a:srgbClr val="0000FF"/>
                </a:solidFill>
              </a:rPr>
              <a:t>char</a:t>
            </a:r>
            <a:r>
              <a:rPr lang="en-US" sz="2400" b="0">
                <a:solidFill>
                  <a:srgbClr val="000000"/>
                </a:solidFill>
              </a:rPr>
              <a:t> *ht, </a:t>
            </a:r>
            <a:r>
              <a:rPr lang="en-US" sz="2400" b="0">
                <a:solidFill>
                  <a:srgbClr val="0000FF"/>
                </a:solidFill>
              </a:rPr>
              <a:t>double</a:t>
            </a:r>
            <a:r>
              <a:rPr lang="en-US" sz="2400" b="0">
                <a:solidFill>
                  <a:srgbClr val="000000"/>
                </a:solidFill>
              </a:rPr>
              <a:t> cx, </a:t>
            </a:r>
            <a:r>
              <a:rPr lang="en-US" sz="2400" b="0">
                <a:solidFill>
                  <a:srgbClr val="0000FF"/>
                </a:solidFill>
              </a:rPr>
              <a:t>int</a:t>
            </a:r>
            <a:r>
              <a:rPr lang="en-US" sz="2400" b="0">
                <a:solidFill>
                  <a:srgbClr val="000000"/>
                </a:solidFill>
              </a:rPr>
              <a:t> ns): Nguoi(ht,ns),CatXe(cx) { }</a:t>
            </a:r>
          </a:p>
          <a:p>
            <a:pPr marL="342900" indent="-342900">
              <a:lnSpc>
                <a:spcPct val="130000"/>
              </a:lnSpc>
              <a:spcBef>
                <a:spcPts val="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Xuat() </a:t>
            </a:r>
            <a:r>
              <a:rPr lang="en-US" sz="2400" b="0">
                <a:solidFill>
                  <a:srgbClr val="0000FF"/>
                </a:solidFill>
              </a:rPr>
              <a:t>const</a:t>
            </a:r>
            <a:r>
              <a:rPr lang="en-US" sz="2400" b="0">
                <a:solidFill>
                  <a:srgbClr val="000000"/>
                </a:solidFill>
              </a:rPr>
              <a:t> { </a:t>
            </a:r>
          </a:p>
          <a:p>
            <a:pPr marL="342900" indent="-342900">
              <a:lnSpc>
                <a:spcPct val="130000"/>
              </a:lnSpc>
              <a:spcBef>
                <a:spcPts val="0"/>
              </a:spcBef>
              <a:buFont typeface="Wingdings" pitchFamily="2" charset="2"/>
              <a:buNone/>
            </a:pPr>
            <a:r>
              <a:rPr lang="en-US" sz="2400" b="0">
                <a:solidFill>
                  <a:srgbClr val="000000"/>
                </a:solidFill>
              </a:rPr>
              <a:t>		cout&lt;&lt;"Ca si, "&lt;&lt;HoTen&lt;&lt;" co cat xe "&lt;&lt; CatXe;</a:t>
            </a:r>
          </a:p>
          <a:p>
            <a:pPr marL="342900" indent="-342900">
              <a:lnSpc>
                <a:spcPct val="130000"/>
              </a:lnSpc>
              <a:spcBef>
                <a:spcPts val="0"/>
              </a:spcBef>
              <a:buFont typeface="Wingdings" pitchFamily="2" charset="2"/>
              <a:buNone/>
            </a:pPr>
            <a:r>
              <a:rPr lang="en-US" sz="2400" b="0">
                <a:solidFill>
                  <a:srgbClr val="000000"/>
                </a:solidFill>
              </a:rPr>
              <a:t>	}</a:t>
            </a:r>
          </a:p>
          <a:p>
            <a:pPr marL="342900" indent="-342900">
              <a:lnSpc>
                <a:spcPct val="130000"/>
              </a:lnSpc>
              <a:spcBef>
                <a:spcPts val="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Thêm lớp con mới</a:t>
            </a:r>
          </a:p>
        </p:txBody>
      </p:sp>
      <p:sp>
        <p:nvSpPr>
          <p:cNvPr id="3" name="Content Placeholder 2"/>
          <p:cNvSpPr>
            <a:spLocks noGrp="1"/>
          </p:cNvSpPr>
          <p:nvPr>
            <p:ph idx="1"/>
          </p:nvPr>
        </p:nvSpPr>
        <p:spPr>
          <a:xfrm>
            <a:off x="457200" y="4676056"/>
            <a:ext cx="8382000" cy="18009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Hàm </a:t>
            </a:r>
            <a:r>
              <a:rPr lang="vi-VN" sz="2800">
                <a:solidFill>
                  <a:srgbClr val="0066FF"/>
                </a:solidFill>
                <a:latin typeface="Arial" pitchFamily="34" charset="0"/>
                <a:cs typeface="Arial" pitchFamily="34" charset="0"/>
              </a:rPr>
              <a:t>XuatDs</a:t>
            </a:r>
            <a:r>
              <a:rPr lang="vi-VN" sz="2800">
                <a:solidFill>
                  <a:schemeClr val="tx1">
                    <a:lumMod val="95000"/>
                    <a:lumOff val="5000"/>
                  </a:schemeClr>
                </a:solidFill>
                <a:latin typeface="Arial" pitchFamily="34" charset="0"/>
                <a:cs typeface="Arial" pitchFamily="34" charset="0"/>
              </a:rPr>
              <a:t> </a:t>
            </a:r>
            <a:r>
              <a:rPr lang="vi-VN" sz="2800">
                <a:solidFill>
                  <a:srgbClr val="FF3300"/>
                </a:solidFill>
                <a:latin typeface="Arial" pitchFamily="34" charset="0"/>
                <a:cs typeface="Arial" pitchFamily="34" charset="0"/>
              </a:rPr>
              <a:t>không thay đổi</a:t>
            </a:r>
            <a:r>
              <a:rPr lang="vi-VN" sz="2800">
                <a:solidFill>
                  <a:schemeClr val="tx1">
                    <a:lumMod val="95000"/>
                    <a:lumOff val="5000"/>
                  </a:schemeClr>
                </a:solidFill>
                <a:latin typeface="Arial" pitchFamily="34" charset="0"/>
                <a:cs typeface="Arial" pitchFamily="34" charset="0"/>
              </a:rPr>
              <a:t>, nhưng nó có thể hoạt động cho các loại đối tượng ca sĩ thuộc lớp mới ra đời</a:t>
            </a:r>
            <a:r>
              <a:rPr lang="en-US" sz="280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26</a:t>
            </a:fld>
            <a:endParaRPr lang="en-US"/>
          </a:p>
        </p:txBody>
      </p:sp>
      <p:sp>
        <p:nvSpPr>
          <p:cNvPr id="7" name="Rectangle 3"/>
          <p:cNvSpPr>
            <a:spLocks noChangeArrowheads="1"/>
          </p:cNvSpPr>
          <p:nvPr/>
        </p:nvSpPr>
        <p:spPr bwMode="auto">
          <a:xfrm>
            <a:off x="609600" y="1447800"/>
            <a:ext cx="8153400" cy="3200400"/>
          </a:xfrm>
          <a:prstGeom prst="rect">
            <a:avLst/>
          </a:prstGeom>
          <a:solidFill>
            <a:srgbClr val="CCFFFF"/>
          </a:solidFill>
          <a:ln w="9525">
            <a:noFill/>
            <a:miter lim="800000"/>
            <a:headEnd/>
            <a:tailEnd/>
          </a:ln>
        </p:spPr>
        <p:txBody>
          <a:bodyPr/>
          <a:lstStyle/>
          <a:p>
            <a:pPr marL="342900" indent="-342900">
              <a:lnSpc>
                <a:spcPct val="110000"/>
              </a:lnSpc>
              <a:spcBef>
                <a:spcPct val="20000"/>
              </a:spcBef>
              <a:buFont typeface="Wingdings" pitchFamily="2" charset="2"/>
              <a:buNone/>
            </a:pPr>
            <a:r>
              <a:rPr lang="en-US" sz="2800" b="0">
                <a:solidFill>
                  <a:srgbClr val="0000FF"/>
                </a:solidFill>
              </a:rPr>
              <a:t>void</a:t>
            </a:r>
            <a:r>
              <a:rPr lang="en-US" sz="2800" b="0">
                <a:solidFill>
                  <a:srgbClr val="000000"/>
                </a:solidFill>
              </a:rPr>
              <a:t> XuatDs( </a:t>
            </a:r>
            <a:r>
              <a:rPr lang="en-US" sz="2800" b="0">
                <a:solidFill>
                  <a:srgbClr val="0000FF"/>
                </a:solidFill>
              </a:rPr>
              <a:t>int</a:t>
            </a:r>
            <a:r>
              <a:rPr lang="en-US" sz="2800" b="0">
                <a:solidFill>
                  <a:srgbClr val="000000"/>
                </a:solidFill>
              </a:rPr>
              <a:t> n, Nguoi *an[]){</a:t>
            </a:r>
          </a:p>
          <a:p>
            <a:pPr marL="342900" indent="-342900">
              <a:lnSpc>
                <a:spcPct val="110000"/>
              </a:lnSpc>
              <a:spcBef>
                <a:spcPct val="20000"/>
              </a:spcBef>
              <a:buFont typeface="Wingdings" pitchFamily="2" charset="2"/>
              <a:buNone/>
            </a:pPr>
            <a:r>
              <a:rPr lang="en-US" sz="2800" b="0">
                <a:solidFill>
                  <a:srgbClr val="000000"/>
                </a:solidFill>
              </a:rPr>
              <a:t>	</a:t>
            </a:r>
            <a:r>
              <a:rPr lang="en-US" sz="2800" b="0">
                <a:solidFill>
                  <a:srgbClr val="0000FF"/>
                </a:solidFill>
              </a:rPr>
              <a:t>for</a:t>
            </a:r>
            <a:r>
              <a:rPr lang="en-US" sz="2800" b="0">
                <a:solidFill>
                  <a:srgbClr val="000000"/>
                </a:solidFill>
              </a:rPr>
              <a:t> ( </a:t>
            </a:r>
            <a:r>
              <a:rPr lang="en-US" sz="2800" b="0">
                <a:solidFill>
                  <a:srgbClr val="0000FF"/>
                </a:solidFill>
              </a:rPr>
              <a:t>int</a:t>
            </a:r>
            <a:r>
              <a:rPr lang="en-US" sz="2800" b="0">
                <a:solidFill>
                  <a:srgbClr val="000000"/>
                </a:solidFill>
              </a:rPr>
              <a:t> i = 0; i &lt; n; i++){</a:t>
            </a:r>
          </a:p>
          <a:p>
            <a:pPr marL="342900" indent="-342900">
              <a:lnSpc>
                <a:spcPct val="110000"/>
              </a:lnSpc>
              <a:spcBef>
                <a:spcPct val="20000"/>
              </a:spcBef>
              <a:buFont typeface="Wingdings" pitchFamily="2" charset="2"/>
              <a:buNone/>
            </a:pPr>
            <a:r>
              <a:rPr lang="en-US" sz="2800" b="0">
                <a:solidFill>
                  <a:srgbClr val="000000"/>
                </a:solidFill>
              </a:rPr>
              <a:t>		an[i]-&gt;Xuat();</a:t>
            </a:r>
          </a:p>
          <a:p>
            <a:pPr marL="342900" indent="-342900">
              <a:lnSpc>
                <a:spcPct val="110000"/>
              </a:lnSpc>
              <a:spcBef>
                <a:spcPct val="20000"/>
              </a:spcBef>
              <a:buFont typeface="Wingdings" pitchFamily="2" charset="2"/>
              <a:buNone/>
            </a:pPr>
            <a:r>
              <a:rPr lang="en-US" sz="2800" b="0">
                <a:solidFill>
                  <a:srgbClr val="000000"/>
                </a:solidFill>
              </a:rPr>
              <a:t>		cout &lt;&lt; "\n";</a:t>
            </a:r>
          </a:p>
          <a:p>
            <a:pPr marL="342900" indent="-342900">
              <a:lnSpc>
                <a:spcPct val="110000"/>
              </a:lnSpc>
              <a:spcBef>
                <a:spcPct val="20000"/>
              </a:spcBef>
              <a:buFont typeface="Wingdings" pitchFamily="2" charset="2"/>
              <a:buNone/>
            </a:pPr>
            <a:r>
              <a:rPr lang="en-US" sz="2800" b="0">
                <a:solidFill>
                  <a:srgbClr val="000000"/>
                </a:solidFill>
              </a:rPr>
              <a:t>	}</a:t>
            </a:r>
          </a:p>
          <a:p>
            <a:pPr marL="342900" indent="-342900">
              <a:lnSpc>
                <a:spcPct val="110000"/>
              </a:lnSpc>
              <a:spcBef>
                <a:spcPct val="20000"/>
              </a:spcBef>
              <a:buFont typeface="Wingdings" pitchFamily="2" charset="2"/>
              <a:buNone/>
            </a:pPr>
            <a:r>
              <a:rPr lang="en-US" sz="28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fontScale="90000"/>
          </a:bodyPr>
          <a:lstStyle/>
          <a:p>
            <a:r>
              <a:rPr lang="en-US" b="1">
                <a:effectLst>
                  <a:outerShdw blurRad="38100" dist="38100" dir="2700000" algn="tl">
                    <a:srgbClr val="000000">
                      <a:alpha val="43137"/>
                    </a:srgbClr>
                  </a:outerShdw>
                </a:effectLst>
                <a:latin typeface="Arial" pitchFamily="34" charset="0"/>
                <a:cs typeface="Arial" pitchFamily="34" charset="0"/>
              </a:rPr>
              <a:t>L</a:t>
            </a:r>
            <a:r>
              <a:rPr lang="vi-VN" b="1">
                <a:effectLst>
                  <a:outerShdw blurRad="38100" dist="38100" dir="2700000" algn="tl">
                    <a:srgbClr val="000000">
                      <a:alpha val="43137"/>
                    </a:srgbClr>
                  </a:outerShdw>
                </a:effectLst>
                <a:latin typeface="Arial" pitchFamily="34" charset="0"/>
                <a:cs typeface="Arial" pitchFamily="34" charset="0"/>
              </a:rPr>
              <a:t>ưu ý khi sử dụng phương thức ảo</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a:solidFill>
                  <a:srgbClr val="0066FF"/>
                </a:solidFill>
                <a:latin typeface="Arial" pitchFamily="34" charset="0"/>
                <a:cs typeface="Arial" pitchFamily="34" charset="0"/>
              </a:rPr>
              <a:t>Phương thức ảo </a:t>
            </a:r>
            <a:r>
              <a:rPr lang="vi-VN">
                <a:solidFill>
                  <a:schemeClr val="tx1">
                    <a:lumMod val="95000"/>
                    <a:lumOff val="5000"/>
                  </a:schemeClr>
                </a:solidFill>
                <a:latin typeface="Arial" pitchFamily="34" charset="0"/>
                <a:cs typeface="Arial" pitchFamily="34" charset="0"/>
              </a:rPr>
              <a:t>chỉ hoạt động thông qua </a:t>
            </a:r>
            <a:r>
              <a:rPr lang="vi-VN">
                <a:solidFill>
                  <a:srgbClr val="FF3300"/>
                </a:solidFill>
                <a:latin typeface="Arial" pitchFamily="34" charset="0"/>
                <a:cs typeface="Arial" pitchFamily="34" charset="0"/>
              </a:rPr>
              <a:t>con trỏ</a:t>
            </a:r>
            <a:r>
              <a:rPr lang="vi-VN">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Muốn một hàm trở thành phương thức ảo có hai cách:</a:t>
            </a: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Khai báo với từ khoá </a:t>
            </a:r>
            <a:r>
              <a:rPr lang="vi-VN">
                <a:solidFill>
                  <a:srgbClr val="FF3300"/>
                </a:solidFill>
                <a:latin typeface="Arial" pitchFamily="34" charset="0"/>
                <a:cs typeface="Arial" pitchFamily="34" charset="0"/>
              </a:rPr>
              <a:t>virtual</a:t>
            </a: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Hoặc phương thức tương ứng ở lớp cơ sở đã là phương thức ảo.</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27</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fontScale="90000"/>
          </a:bodyPr>
          <a:lstStyle/>
          <a:p>
            <a:r>
              <a:rPr lang="en-US" b="1">
                <a:effectLst>
                  <a:outerShdw blurRad="38100" dist="38100" dir="2700000" algn="tl">
                    <a:srgbClr val="000000">
                      <a:alpha val="43137"/>
                    </a:srgbClr>
                  </a:outerShdw>
                </a:effectLst>
                <a:latin typeface="Arial" pitchFamily="34" charset="0"/>
                <a:cs typeface="Arial" pitchFamily="34" charset="0"/>
              </a:rPr>
              <a:t>L</a:t>
            </a:r>
            <a:r>
              <a:rPr lang="vi-VN" b="1">
                <a:effectLst>
                  <a:outerShdw blurRad="38100" dist="38100" dir="2700000" algn="tl">
                    <a:srgbClr val="000000">
                      <a:alpha val="43137"/>
                    </a:srgbClr>
                  </a:outerShdw>
                </a:effectLst>
                <a:latin typeface="Arial" pitchFamily="34" charset="0"/>
                <a:cs typeface="Arial" pitchFamily="34" charset="0"/>
              </a:rPr>
              <a:t>ưu ý khi sử dụng phương thức ảo</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Phương thức ảo chỉ hoạt động nếu các phương thức ở lớp cơ sở và lớp con có </a:t>
            </a:r>
            <a:r>
              <a:rPr lang="vi-VN">
                <a:solidFill>
                  <a:srgbClr val="0066FF"/>
                </a:solidFill>
                <a:latin typeface="Arial" pitchFamily="34" charset="0"/>
                <a:cs typeface="Arial" pitchFamily="34" charset="0"/>
              </a:rPr>
              <a:t>nghi thức giao tiếp giống hệt nhau</a:t>
            </a:r>
            <a:r>
              <a:rPr lang="vi-VN">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Nếu ở lớp con định nghĩa lại phương thức ảo thì sẽ gọi phương thức ở lớp cơ sở (gần nhất có định nghĩa).</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28</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fontScale="90000"/>
          </a:bodyPr>
          <a:lstStyle/>
          <a:p>
            <a:r>
              <a:rPr lang="vi-VN" b="1">
                <a:effectLst>
                  <a:outerShdw blurRad="38100" dist="38100" dir="2700000" algn="tl">
                    <a:srgbClr val="000000">
                      <a:alpha val="43137"/>
                    </a:srgbClr>
                  </a:outerShdw>
                </a:effectLst>
                <a:latin typeface="Arial" pitchFamily="34" charset="0"/>
                <a:cs typeface="Arial" pitchFamily="34" charset="0"/>
              </a:rPr>
              <a:t>Cơ chế thực hiện phương thức ảo</a:t>
            </a:r>
          </a:p>
        </p:txBody>
      </p:sp>
      <p:sp>
        <p:nvSpPr>
          <p:cNvPr id="3" name="Content Placeholder 2"/>
          <p:cNvSpPr>
            <a:spLocks noGrp="1"/>
          </p:cNvSpPr>
          <p:nvPr>
            <p:ph idx="1"/>
          </p:nvPr>
        </p:nvSpPr>
        <p:spPr>
          <a:xfrm>
            <a:off x="457200" y="1447800"/>
            <a:ext cx="8382000" cy="5181600"/>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gọi một thao tác, khả năng </a:t>
            </a:r>
            <a:r>
              <a:rPr lang="vi-VN" sz="2800">
                <a:solidFill>
                  <a:srgbClr val="0070C0"/>
                </a:solidFill>
                <a:latin typeface="Arial" pitchFamily="34" charset="0"/>
                <a:cs typeface="Arial" pitchFamily="34" charset="0"/>
              </a:rPr>
              <a:t>chọn đúng phiên bản</a:t>
            </a:r>
            <a:r>
              <a:rPr lang="vi-VN" sz="2800">
                <a:solidFill>
                  <a:schemeClr val="tx1">
                    <a:lumMod val="95000"/>
                    <a:lumOff val="5000"/>
                  </a:schemeClr>
                </a:solidFill>
                <a:latin typeface="Arial" pitchFamily="34" charset="0"/>
                <a:cs typeface="Arial" pitchFamily="34" charset="0"/>
              </a:rPr>
              <a:t> tùy theo đối tượng để thực hiện thông qua </a:t>
            </a:r>
            <a:r>
              <a:rPr lang="vi-VN" sz="2800">
                <a:solidFill>
                  <a:srgbClr val="FF3300"/>
                </a:solidFill>
                <a:latin typeface="Arial" pitchFamily="34" charset="0"/>
                <a:cs typeface="Arial" pitchFamily="34" charset="0"/>
              </a:rPr>
              <a:t>con trỏ </a:t>
            </a:r>
            <a:r>
              <a:rPr lang="vi-VN" sz="2800">
                <a:solidFill>
                  <a:schemeClr val="tx1">
                    <a:lumMod val="95000"/>
                    <a:lumOff val="5000"/>
                  </a:schemeClr>
                </a:solidFill>
                <a:latin typeface="Arial" pitchFamily="34" charset="0"/>
                <a:cs typeface="Arial" pitchFamily="34" charset="0"/>
              </a:rPr>
              <a:t>đến lớp cơ sở được gọi là </a:t>
            </a:r>
            <a:r>
              <a:rPr lang="vi-VN" sz="2800">
                <a:solidFill>
                  <a:srgbClr val="002060"/>
                </a:solidFill>
                <a:latin typeface="Arial" pitchFamily="34" charset="0"/>
                <a:cs typeface="Arial" pitchFamily="34" charset="0"/>
              </a:rPr>
              <a:t>tính đa hình (polymorphisms)</a:t>
            </a:r>
            <a:r>
              <a:rPr lang="vi-VN" sz="280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Cơ chế đa hình được thực hiện nhờ ở mỗi đối tượng có thêm một </a:t>
            </a:r>
            <a:r>
              <a:rPr lang="vi-VN" sz="2800">
                <a:solidFill>
                  <a:srgbClr val="0070C0"/>
                </a:solidFill>
                <a:latin typeface="Arial" pitchFamily="34" charset="0"/>
                <a:cs typeface="Arial" pitchFamily="34" charset="0"/>
              </a:rPr>
              <a:t>bảng phương thức ảo</a:t>
            </a:r>
            <a:r>
              <a:rPr lang="vi-VN" sz="2800">
                <a:solidFill>
                  <a:schemeClr val="tx1">
                    <a:lumMod val="95000"/>
                    <a:lumOff val="5000"/>
                  </a:schemeClr>
                </a:solidFill>
                <a:latin typeface="Arial" pitchFamily="34" charset="0"/>
                <a:cs typeface="Arial" pitchFamily="34" charset="0"/>
              </a:rPr>
              <a:t>. Bảng này chứa địa chỉ của các phương thức ảo và nó được trình biên dịch khởi tạo một cách ngầm định khi thiết lập đối tượng.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29</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fontScale="90000"/>
          </a:bodyPr>
          <a:lstStyle/>
          <a:p>
            <a:r>
              <a:rPr lang="vi-VN" b="1">
                <a:effectLst>
                  <a:outerShdw blurRad="38100" dist="38100" dir="2700000" algn="tl">
                    <a:srgbClr val="000000">
                      <a:alpha val="43137"/>
                    </a:srgbClr>
                  </a:outerShdw>
                </a:effectLst>
                <a:latin typeface="Arial" pitchFamily="34" charset="0"/>
                <a:cs typeface="Arial" pitchFamily="34" charset="0"/>
              </a:rPr>
              <a:t>Cơ chế thực hiện phương thức ảo</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thao tác được thực hiện thông qua con trỏ, hàm có địa chỉ trong bảng phương thức ảo sẽ được gọi.</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Trong ví dụ trên, mỗi đối tượng thuộc lớp cơ sở </a:t>
            </a:r>
            <a:r>
              <a:rPr lang="en-US" sz="2800">
                <a:solidFill>
                  <a:srgbClr val="0070C0"/>
                </a:solidFill>
                <a:latin typeface="Arial" pitchFamily="34" charset="0"/>
                <a:cs typeface="Arial" pitchFamily="34" charset="0"/>
              </a:rPr>
              <a:t>Nguoi</a:t>
            </a:r>
            <a:r>
              <a:rPr lang="vi-VN" sz="2800">
                <a:solidFill>
                  <a:schemeClr val="tx1">
                    <a:lumMod val="95000"/>
                    <a:lumOff val="5000"/>
                  </a:schemeClr>
                </a:solidFill>
                <a:latin typeface="Arial" pitchFamily="34" charset="0"/>
                <a:cs typeface="Arial" pitchFamily="34" charset="0"/>
              </a:rPr>
              <a:t> có bảng phương thức ảo có một phần tử là địa chỉ hàm </a:t>
            </a:r>
            <a:r>
              <a:rPr lang="vi-VN" sz="2800">
                <a:solidFill>
                  <a:srgbClr val="0070C0"/>
                </a:solidFill>
                <a:latin typeface="Arial" pitchFamily="34" charset="0"/>
                <a:cs typeface="Arial" pitchFamily="34" charset="0"/>
              </a:rPr>
              <a:t>Nguoi::Xuat</a:t>
            </a:r>
            <a:r>
              <a:rPr lang="vi-VN" sz="2800">
                <a:solidFill>
                  <a:schemeClr val="tx1">
                    <a:lumMod val="95000"/>
                    <a:lumOff val="5000"/>
                  </a:schemeClr>
                </a:solidFill>
                <a:latin typeface="Arial" pitchFamily="34" charset="0"/>
                <a:cs typeface="Arial" pitchFamily="34" charset="0"/>
              </a:rPr>
              <a:t>. Mỗi đối tượng thuộc lớp </a:t>
            </a:r>
            <a:r>
              <a:rPr lang="vi-VN" sz="2800">
                <a:solidFill>
                  <a:srgbClr val="FF3300"/>
                </a:solidFill>
                <a:latin typeface="Arial" pitchFamily="34" charset="0"/>
                <a:cs typeface="Arial" pitchFamily="34" charset="0"/>
              </a:rPr>
              <a:t>SinhVien</a:t>
            </a:r>
            <a:r>
              <a:rPr lang="vi-VN" sz="2800">
                <a:solidFill>
                  <a:schemeClr val="tx1">
                    <a:lumMod val="95000"/>
                    <a:lumOff val="5000"/>
                  </a:schemeClr>
                </a:solidFill>
                <a:latin typeface="Arial" pitchFamily="34" charset="0"/>
                <a:cs typeface="Arial" pitchFamily="34" charset="0"/>
              </a:rPr>
              <a:t> có bảng tương tự nhưng nội dung là địa chỉ của hàm </a:t>
            </a:r>
            <a:r>
              <a:rPr lang="vi-VN" sz="2800">
                <a:solidFill>
                  <a:srgbClr val="FF3300"/>
                </a:solidFill>
                <a:latin typeface="Arial" pitchFamily="34" charset="0"/>
                <a:cs typeface="Arial" pitchFamily="34" charset="0"/>
              </a:rPr>
              <a:t>SinhVien::Xuat</a:t>
            </a:r>
            <a:r>
              <a:rPr lang="vi-VN" sz="2800">
                <a:solidFill>
                  <a:schemeClr val="tx1">
                    <a:lumMod val="95000"/>
                    <a:lumOff val="5000"/>
                  </a:schemeClr>
                </a:solidFill>
                <a:latin typeface="Arial" pitchFamily="34" charset="0"/>
                <a:cs typeface="Arial" pitchFamily="34" charset="0"/>
              </a:rPr>
              <a: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30</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Phương thức hủy bỏ ảo</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Trong ví dụ quản lý danh sách các đối tượng thuộc các lớp </a:t>
            </a:r>
            <a:r>
              <a:rPr lang="vi-VN" sz="2800">
                <a:solidFill>
                  <a:srgbClr val="FF3300"/>
                </a:solidFill>
                <a:latin typeface="Arial" pitchFamily="34" charset="0"/>
                <a:cs typeface="Arial" pitchFamily="34" charset="0"/>
              </a:rPr>
              <a:t>Nguoi, SinhVien, CongNhan,… </a:t>
            </a:r>
            <a:r>
              <a:rPr lang="vi-VN" sz="2800">
                <a:solidFill>
                  <a:srgbClr val="0066FF"/>
                </a:solidFill>
                <a:latin typeface="Arial" pitchFamily="34" charset="0"/>
                <a:cs typeface="Arial" pitchFamily="34" charset="0"/>
              </a:rPr>
              <a:t>Thao tác dọn dẹp đối tượng là cần thiết</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31</a:t>
            </a:fld>
            <a:endParaRPr lang="en-US"/>
          </a:p>
        </p:txBody>
      </p:sp>
      <p:sp>
        <p:nvSpPr>
          <p:cNvPr id="7" name="Rectangle 3"/>
          <p:cNvSpPr>
            <a:spLocks noChangeArrowheads="1"/>
          </p:cNvSpPr>
          <p:nvPr/>
        </p:nvSpPr>
        <p:spPr bwMode="auto">
          <a:xfrm>
            <a:off x="472966" y="1463566"/>
            <a:ext cx="8305800" cy="5029200"/>
          </a:xfrm>
          <a:prstGeom prst="rect">
            <a:avLst/>
          </a:prstGeom>
          <a:solidFill>
            <a:srgbClr val="CCFFFF"/>
          </a:solidFill>
          <a:ln w="9525">
            <a:noFill/>
            <a:miter lim="800000"/>
            <a:headEnd/>
            <a:tailEnd/>
          </a:ln>
        </p:spPr>
        <p:txBody>
          <a:bodyPr/>
          <a:lstStyle/>
          <a:p>
            <a:pPr marL="342900" indent="-342900">
              <a:lnSpc>
                <a:spcPct val="105000"/>
              </a:lnSpc>
              <a:spcBef>
                <a:spcPct val="20000"/>
              </a:spcBef>
              <a:buFont typeface="Wingdings" pitchFamily="2" charset="2"/>
              <a:buNone/>
            </a:pPr>
            <a:r>
              <a:rPr lang="en-US" sz="2400" b="0">
                <a:solidFill>
                  <a:srgbClr val="0000FF"/>
                </a:solidFill>
              </a:rPr>
              <a:t>const</a:t>
            </a:r>
            <a:r>
              <a:rPr lang="en-US" sz="2400" b="0">
                <a:solidFill>
                  <a:srgbClr val="000000"/>
                </a:solidFill>
              </a:rPr>
              <a:t> </a:t>
            </a:r>
            <a:r>
              <a:rPr lang="en-US" sz="2400" b="0">
                <a:solidFill>
                  <a:srgbClr val="0000FF"/>
                </a:solidFill>
              </a:rPr>
              <a:t>int</a:t>
            </a:r>
            <a:r>
              <a:rPr lang="en-US" sz="2400" b="0">
                <a:solidFill>
                  <a:srgbClr val="000000"/>
                </a:solidFill>
              </a:rPr>
              <a:t> N = 4;</a:t>
            </a:r>
          </a:p>
          <a:p>
            <a:pPr marL="342900" indent="-342900">
              <a:lnSpc>
                <a:spcPct val="105000"/>
              </a:lnSpc>
              <a:spcBef>
                <a:spcPct val="20000"/>
              </a:spcBef>
              <a:buFont typeface="Wingdings" pitchFamily="2" charset="2"/>
              <a:buNone/>
            </a:pPr>
            <a:r>
              <a:rPr lang="en-US" sz="2400" b="0">
                <a:solidFill>
                  <a:srgbClr val="0000FF"/>
                </a:solidFill>
              </a:rPr>
              <a:t>void</a:t>
            </a:r>
            <a:r>
              <a:rPr lang="en-US" sz="2400" b="0">
                <a:solidFill>
                  <a:srgbClr val="000000"/>
                </a:solidFill>
              </a:rPr>
              <a:t> main(){</a:t>
            </a:r>
          </a:p>
          <a:p>
            <a:pPr marL="342900" indent="-342900">
              <a:lnSpc>
                <a:spcPct val="105000"/>
              </a:lnSpc>
              <a:spcBef>
                <a:spcPct val="20000"/>
              </a:spcBef>
              <a:buFont typeface="Wingdings" pitchFamily="2" charset="2"/>
              <a:buNone/>
            </a:pPr>
            <a:r>
              <a:rPr lang="en-US" sz="2400" b="0">
                <a:solidFill>
                  <a:srgbClr val="000000"/>
                </a:solidFill>
              </a:rPr>
              <a:t>	Nguoi *a[N];</a:t>
            </a:r>
          </a:p>
          <a:p>
            <a:pPr marL="342900" indent="-342900">
              <a:lnSpc>
                <a:spcPct val="105000"/>
              </a:lnSpc>
              <a:spcBef>
                <a:spcPct val="20000"/>
              </a:spcBef>
              <a:buFont typeface="Wingdings" pitchFamily="2" charset="2"/>
              <a:buNone/>
            </a:pPr>
            <a:r>
              <a:rPr lang="en-US" sz="2400" b="0">
                <a:solidFill>
                  <a:srgbClr val="000000"/>
                </a:solidFill>
              </a:rPr>
              <a:t>	a[0] = </a:t>
            </a:r>
            <a:r>
              <a:rPr lang="en-US" sz="2400" b="0">
                <a:solidFill>
                  <a:srgbClr val="0000FF"/>
                </a:solidFill>
              </a:rPr>
              <a:t>new</a:t>
            </a:r>
            <a:r>
              <a:rPr lang="en-US" sz="2400" b="0">
                <a:solidFill>
                  <a:srgbClr val="000000"/>
                </a:solidFill>
              </a:rPr>
              <a:t> SinhVien("Vien Van Sinh", "20001234“,1982);</a:t>
            </a:r>
          </a:p>
          <a:p>
            <a:pPr marL="342900" indent="-342900">
              <a:lnSpc>
                <a:spcPct val="105000"/>
              </a:lnSpc>
              <a:spcBef>
                <a:spcPct val="20000"/>
              </a:spcBef>
              <a:buFont typeface="Wingdings" pitchFamily="2" charset="2"/>
              <a:buNone/>
            </a:pPr>
            <a:r>
              <a:rPr lang="en-US" sz="2400" b="0">
                <a:solidFill>
                  <a:srgbClr val="000000"/>
                </a:solidFill>
              </a:rPr>
              <a:t>	a[1] = </a:t>
            </a:r>
            <a:r>
              <a:rPr lang="en-US" sz="2400" b="0">
                <a:solidFill>
                  <a:srgbClr val="0000FF"/>
                </a:solidFill>
              </a:rPr>
              <a:t>new</a:t>
            </a:r>
            <a:r>
              <a:rPr lang="en-US" sz="2400" b="0">
                <a:solidFill>
                  <a:srgbClr val="000000"/>
                </a:solidFill>
              </a:rPr>
              <a:t> NuSinh("Le Thi Ha Dong", "20001235“,1984);</a:t>
            </a:r>
          </a:p>
          <a:p>
            <a:pPr marL="342900" indent="-342900">
              <a:lnSpc>
                <a:spcPct val="105000"/>
              </a:lnSpc>
              <a:spcBef>
                <a:spcPct val="20000"/>
              </a:spcBef>
              <a:buFont typeface="Wingdings" pitchFamily="2" charset="2"/>
              <a:buNone/>
            </a:pPr>
            <a:r>
              <a:rPr lang="en-US" sz="2400" b="0">
                <a:solidFill>
                  <a:srgbClr val="000000"/>
                </a:solidFill>
              </a:rPr>
              <a:t>	a[2] = </a:t>
            </a:r>
            <a:r>
              <a:rPr lang="en-US" sz="2400" b="0">
                <a:solidFill>
                  <a:srgbClr val="0000FF"/>
                </a:solidFill>
              </a:rPr>
              <a:t>new</a:t>
            </a:r>
            <a:r>
              <a:rPr lang="en-US" sz="2400" b="0">
                <a:solidFill>
                  <a:srgbClr val="000000"/>
                </a:solidFill>
              </a:rPr>
              <a:t> CongNhan("Tran Nan Cong", 1000000, 1984);</a:t>
            </a:r>
          </a:p>
          <a:p>
            <a:pPr marL="342900" indent="-342900">
              <a:lnSpc>
                <a:spcPct val="105000"/>
              </a:lnSpc>
              <a:spcBef>
                <a:spcPct val="20000"/>
              </a:spcBef>
              <a:buFont typeface="Wingdings" pitchFamily="2" charset="2"/>
              <a:buNone/>
            </a:pPr>
            <a:r>
              <a:rPr lang="en-US" sz="2400" b="0">
                <a:solidFill>
                  <a:srgbClr val="000000"/>
                </a:solidFill>
              </a:rPr>
              <a:t>	a[3] = </a:t>
            </a:r>
            <a:r>
              <a:rPr lang="en-US" sz="2400" b="0">
                <a:solidFill>
                  <a:srgbClr val="0000FF"/>
                </a:solidFill>
              </a:rPr>
              <a:t>new</a:t>
            </a:r>
            <a:r>
              <a:rPr lang="en-US" sz="2400" b="0">
                <a:solidFill>
                  <a:srgbClr val="000000"/>
                </a:solidFill>
              </a:rPr>
              <a:t> Nguoi("Nguyen Thanh Nhan", 1960);</a:t>
            </a:r>
          </a:p>
          <a:p>
            <a:pPr marL="342900" indent="-342900">
              <a:lnSpc>
                <a:spcPct val="105000"/>
              </a:lnSpc>
              <a:spcBef>
                <a:spcPct val="20000"/>
              </a:spcBef>
              <a:buFont typeface="Wingdings" pitchFamily="2" charset="2"/>
              <a:buNone/>
            </a:pPr>
            <a:r>
              <a:rPr lang="en-US" sz="2400" b="0">
                <a:solidFill>
                  <a:srgbClr val="000000"/>
                </a:solidFill>
              </a:rPr>
              <a:t>	XuatDs(4,a);</a:t>
            </a:r>
          </a:p>
          <a:p>
            <a:pPr marL="342900" indent="-342900">
              <a:lnSpc>
                <a:spcPct val="105000"/>
              </a:lnSpc>
              <a:spcBef>
                <a:spcPct val="20000"/>
              </a:spcBef>
              <a:buFont typeface="Wingdings" pitchFamily="2" charset="2"/>
              <a:buNone/>
            </a:pPr>
            <a:r>
              <a:rPr lang="en-US" sz="2400" b="0">
                <a:solidFill>
                  <a:srgbClr val="000000"/>
                </a:solidFill>
              </a:rPr>
              <a:t>	</a:t>
            </a:r>
            <a:r>
              <a:rPr lang="en-US" sz="2400" b="0">
                <a:solidFill>
                  <a:srgbClr val="0000FF"/>
                </a:solidFill>
              </a:rPr>
              <a:t>for</a:t>
            </a:r>
            <a:r>
              <a:rPr lang="en-US" sz="2400" b="0">
                <a:solidFill>
                  <a:srgbClr val="000000"/>
                </a:solidFill>
              </a:rPr>
              <a:t> ( </a:t>
            </a:r>
            <a:r>
              <a:rPr lang="en-US" sz="2400" b="0">
                <a:solidFill>
                  <a:srgbClr val="0000FF"/>
                </a:solidFill>
              </a:rPr>
              <a:t>int</a:t>
            </a:r>
            <a:r>
              <a:rPr lang="en-US" sz="2400" b="0">
                <a:solidFill>
                  <a:srgbClr val="000000"/>
                </a:solidFill>
              </a:rPr>
              <a:t> i = 0; i &lt; 4; i++) </a:t>
            </a:r>
          </a:p>
          <a:p>
            <a:pPr marL="342900" indent="-342900">
              <a:lnSpc>
                <a:spcPct val="105000"/>
              </a:lnSpc>
              <a:spcBef>
                <a:spcPct val="20000"/>
              </a:spcBef>
              <a:buFont typeface="Wingdings" pitchFamily="2" charset="2"/>
              <a:buNone/>
            </a:pPr>
            <a:r>
              <a:rPr lang="en-US" sz="2400" b="0">
                <a:solidFill>
                  <a:srgbClr val="000000"/>
                </a:solidFill>
              </a:rPr>
              <a:t>		</a:t>
            </a:r>
            <a:r>
              <a:rPr lang="en-US" sz="2400" b="0">
                <a:solidFill>
                  <a:srgbClr val="0000FF"/>
                </a:solidFill>
              </a:rPr>
              <a:t>delete</a:t>
            </a:r>
            <a:r>
              <a:rPr lang="en-US" sz="2400" b="0">
                <a:solidFill>
                  <a:srgbClr val="000000"/>
                </a:solidFill>
              </a:rPr>
              <a:t> a[i];</a:t>
            </a:r>
          </a:p>
          <a:p>
            <a:pPr marL="342900" indent="-342900">
              <a:lnSpc>
                <a:spcPct val="105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Phương thức hủy bỏ ảo</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Thông qua con trỏ thuộc lớp cơ sở Nguoi, </a:t>
            </a:r>
            <a:r>
              <a:rPr lang="vi-VN" sz="2800">
                <a:solidFill>
                  <a:srgbClr val="0066FF"/>
                </a:solidFill>
                <a:latin typeface="Arial" pitchFamily="34" charset="0"/>
                <a:cs typeface="Arial" pitchFamily="34" charset="0"/>
              </a:rPr>
              <a:t>chỉ có phương thức hủy bỏ của lớp Nguoi được gọi</a:t>
            </a:r>
            <a:r>
              <a:rPr lang="vi-VN" sz="2800">
                <a:solidFill>
                  <a:schemeClr val="tx1">
                    <a:lumMod val="95000"/>
                    <a:lumOff val="5000"/>
                  </a:schemeClr>
                </a:solidFill>
                <a:latin typeface="Arial" pitchFamily="34" charset="0"/>
                <a:cs typeface="Arial" pitchFamily="34" charset="0"/>
              </a:rPr>
              <a:t>.</a:t>
            </a: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Để bảo đảm việc </a:t>
            </a:r>
            <a:r>
              <a:rPr lang="vi-VN" sz="2800">
                <a:solidFill>
                  <a:srgbClr val="FF3300"/>
                </a:solidFill>
                <a:latin typeface="Arial" pitchFamily="34" charset="0"/>
                <a:cs typeface="Arial" pitchFamily="34" charset="0"/>
              </a:rPr>
              <a:t>dọn dẹp là đầy đủ</a:t>
            </a:r>
            <a:r>
              <a:rPr lang="vi-VN" sz="2800">
                <a:solidFill>
                  <a:schemeClr val="tx1">
                    <a:lumMod val="95000"/>
                    <a:lumOff val="5000"/>
                  </a:schemeClr>
                </a:solidFill>
                <a:latin typeface="Arial" pitchFamily="34" charset="0"/>
                <a:cs typeface="Arial" pitchFamily="34" charset="0"/>
              </a:rPr>
              <a:t>, ta </a:t>
            </a:r>
            <a:r>
              <a:rPr lang="en-US" sz="2800">
                <a:solidFill>
                  <a:schemeClr val="tx1">
                    <a:lumMod val="95000"/>
                    <a:lumOff val="5000"/>
                  </a:schemeClr>
                </a:solidFill>
                <a:latin typeface="Arial" pitchFamily="34" charset="0"/>
                <a:cs typeface="Arial" pitchFamily="34" charset="0"/>
              </a:rPr>
              <a:t>phải </a:t>
            </a:r>
            <a:r>
              <a:rPr lang="vi-VN" sz="2800">
                <a:solidFill>
                  <a:schemeClr val="tx1">
                    <a:lumMod val="95000"/>
                    <a:lumOff val="5000"/>
                  </a:schemeClr>
                </a:solidFill>
                <a:latin typeface="Arial" pitchFamily="34" charset="0"/>
                <a:cs typeface="Arial" pitchFamily="34" charset="0"/>
              </a:rPr>
              <a:t>dùng </a:t>
            </a:r>
            <a:r>
              <a:rPr lang="vi-VN" sz="2800">
                <a:solidFill>
                  <a:srgbClr val="FF3300"/>
                </a:solidFill>
                <a:latin typeface="Arial" pitchFamily="34" charset="0"/>
                <a:cs typeface="Arial" pitchFamily="34" charset="0"/>
              </a:rPr>
              <a:t>phương thức hủy bỏ ảo</a:t>
            </a:r>
            <a:r>
              <a:rPr lang="vi-VN" sz="2800">
                <a:solidFill>
                  <a:schemeClr val="tx1">
                    <a:lumMod val="95000"/>
                    <a:lumOff val="5000"/>
                  </a:schemeClr>
                </a:solidFill>
                <a:latin typeface="Arial" pitchFamily="34" charset="0"/>
                <a:cs typeface="Arial" pitchFamily="34" charset="0"/>
              </a:rPr>
              <a: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32</a:t>
            </a:fld>
            <a:endParaRPr lang="en-US"/>
          </a:p>
        </p:txBody>
      </p:sp>
      <p:sp>
        <p:nvSpPr>
          <p:cNvPr id="7" name="Rectangle 3"/>
          <p:cNvSpPr>
            <a:spLocks noChangeArrowheads="1"/>
          </p:cNvSpPr>
          <p:nvPr/>
        </p:nvSpPr>
        <p:spPr bwMode="auto">
          <a:xfrm>
            <a:off x="457200" y="1447800"/>
            <a:ext cx="8305800" cy="5029200"/>
          </a:xfrm>
          <a:prstGeom prst="rect">
            <a:avLst/>
          </a:prstGeom>
          <a:solidFill>
            <a:srgbClr val="CCFFFF"/>
          </a:solidFill>
          <a:ln w="9525">
            <a:noFill/>
            <a:miter lim="800000"/>
            <a:headEnd/>
            <a:tailEnd/>
          </a:ln>
        </p:spPr>
        <p:txBody>
          <a:bodyPr/>
          <a:lstStyle/>
          <a:p>
            <a:pPr marL="342900" indent="-342900">
              <a:lnSpc>
                <a:spcPct val="110000"/>
              </a:lnSpc>
              <a:spcBef>
                <a:spcPts val="0"/>
              </a:spcBef>
              <a:buFont typeface="Wingdings" pitchFamily="2" charset="2"/>
              <a:buNone/>
            </a:pPr>
            <a:r>
              <a:rPr lang="en-US" sz="2400" b="0">
                <a:solidFill>
                  <a:srgbClr val="0000FF"/>
                </a:solidFill>
              </a:rPr>
              <a:t>class</a:t>
            </a:r>
            <a:r>
              <a:rPr lang="en-US" sz="2400" b="0">
                <a:solidFill>
                  <a:srgbClr val="000000"/>
                </a:solidFill>
              </a:rPr>
              <a:t> Nguoi{</a:t>
            </a:r>
          </a:p>
          <a:p>
            <a:pPr marL="342900" indent="-342900">
              <a:lnSpc>
                <a:spcPct val="110000"/>
              </a:lnSpc>
              <a:spcBef>
                <a:spcPts val="0"/>
              </a:spcBef>
              <a:buFont typeface="Wingdings" pitchFamily="2" charset="2"/>
              <a:buNone/>
            </a:pPr>
            <a:r>
              <a:rPr lang="en-US" sz="2400" b="0">
                <a:solidFill>
                  <a:srgbClr val="0000FF"/>
                </a:solidFill>
              </a:rPr>
              <a:t>	protected</a:t>
            </a:r>
            <a:r>
              <a:rPr lang="en-US" sz="2400" b="0">
                <a:solidFill>
                  <a:srgbClr val="000000"/>
                </a:solidFill>
              </a:rPr>
              <a:t>:</a:t>
            </a:r>
          </a:p>
          <a:p>
            <a:pPr marL="342900" indent="-342900">
              <a:lnSpc>
                <a:spcPct val="110000"/>
              </a:lnSpc>
              <a:spcBef>
                <a:spcPts val="0"/>
              </a:spcBef>
              <a:buFont typeface="Wingdings" pitchFamily="2" charset="2"/>
              <a:buNone/>
            </a:pPr>
            <a:r>
              <a:rPr lang="en-US" sz="2400" b="0">
                <a:solidFill>
                  <a:srgbClr val="000000"/>
                </a:solidFill>
              </a:rPr>
              <a:t>		</a:t>
            </a:r>
            <a:r>
              <a:rPr lang="en-US" sz="2400" b="0">
                <a:solidFill>
                  <a:srgbClr val="0000FF"/>
                </a:solidFill>
              </a:rPr>
              <a:t>char</a:t>
            </a:r>
            <a:r>
              <a:rPr lang="en-US" sz="2400" b="0">
                <a:solidFill>
                  <a:srgbClr val="000000"/>
                </a:solidFill>
              </a:rPr>
              <a:t> *HoTen; </a:t>
            </a:r>
            <a:r>
              <a:rPr lang="en-US" sz="2400" b="0">
                <a:solidFill>
                  <a:srgbClr val="0000FF"/>
                </a:solidFill>
              </a:rPr>
              <a:t>int</a:t>
            </a:r>
            <a:r>
              <a:rPr lang="en-US" sz="2400" b="0">
                <a:solidFill>
                  <a:srgbClr val="000000"/>
                </a:solidFill>
              </a:rPr>
              <a:t> NamSinh;</a:t>
            </a:r>
          </a:p>
          <a:p>
            <a:pPr marL="342900" indent="-342900">
              <a:lnSpc>
                <a:spcPct val="110000"/>
              </a:lnSpc>
              <a:spcBef>
                <a:spcPts val="0"/>
              </a:spcBef>
              <a:buFont typeface="Wingdings" pitchFamily="2" charset="2"/>
              <a:buNone/>
            </a:pPr>
            <a:r>
              <a:rPr lang="en-US" sz="2400" b="0">
                <a:solidFill>
                  <a:srgbClr val="0000FF"/>
                </a:solidFill>
              </a:rPr>
              <a:t>	public</a:t>
            </a:r>
            <a:r>
              <a:rPr lang="en-US" sz="2400" b="0">
                <a:solidFill>
                  <a:srgbClr val="000000"/>
                </a:solidFill>
              </a:rPr>
              <a:t>:</a:t>
            </a:r>
          </a:p>
          <a:p>
            <a:pPr marL="342900" indent="-342900">
              <a:lnSpc>
                <a:spcPct val="110000"/>
              </a:lnSpc>
              <a:spcBef>
                <a:spcPts val="0"/>
              </a:spcBef>
              <a:buFont typeface="Wingdings" pitchFamily="2" charset="2"/>
              <a:buNone/>
            </a:pPr>
            <a:r>
              <a:rPr lang="en-US" sz="2400" b="0">
                <a:solidFill>
                  <a:srgbClr val="000000"/>
                </a:solidFill>
              </a:rPr>
              <a:t>		Nguoi(</a:t>
            </a:r>
            <a:r>
              <a:rPr lang="en-US" sz="2400" b="0">
                <a:solidFill>
                  <a:srgbClr val="0000FF"/>
                </a:solidFill>
              </a:rPr>
              <a:t>char</a:t>
            </a:r>
            <a:r>
              <a:rPr lang="en-US" sz="2400" b="0">
                <a:solidFill>
                  <a:srgbClr val="000000"/>
                </a:solidFill>
              </a:rPr>
              <a:t> *ht, </a:t>
            </a:r>
            <a:r>
              <a:rPr lang="en-US" sz="2400" b="0">
                <a:solidFill>
                  <a:srgbClr val="0000FF"/>
                </a:solidFill>
              </a:rPr>
              <a:t>int</a:t>
            </a:r>
            <a:r>
              <a:rPr lang="en-US" sz="2400" b="0">
                <a:solidFill>
                  <a:srgbClr val="000000"/>
                </a:solidFill>
              </a:rPr>
              <a:t> ns):NamSinh(ns) {</a:t>
            </a:r>
          </a:p>
          <a:p>
            <a:pPr marL="342900" indent="-342900">
              <a:lnSpc>
                <a:spcPct val="110000"/>
              </a:lnSpc>
              <a:spcBef>
                <a:spcPts val="0"/>
              </a:spcBef>
              <a:buFont typeface="Wingdings" pitchFamily="2" charset="2"/>
              <a:buNone/>
            </a:pPr>
            <a:r>
              <a:rPr lang="en-US" sz="2400" b="0">
                <a:solidFill>
                  <a:srgbClr val="000000"/>
                </a:solidFill>
              </a:rPr>
              <a:t>			HoTen = strdup(ht);</a:t>
            </a:r>
          </a:p>
          <a:p>
            <a:pPr marL="342900" indent="-342900">
              <a:lnSpc>
                <a:spcPct val="110000"/>
              </a:lnSpc>
              <a:spcBef>
                <a:spcPts val="0"/>
              </a:spcBef>
              <a:buFont typeface="Wingdings" pitchFamily="2" charset="2"/>
              <a:buNone/>
            </a:pPr>
            <a:r>
              <a:rPr lang="en-US" sz="2400" b="0">
                <a:solidFill>
                  <a:srgbClr val="000000"/>
                </a:solidFill>
              </a:rPr>
              <a:t>		}</a:t>
            </a:r>
          </a:p>
          <a:p>
            <a:pPr marL="342900" indent="-342900">
              <a:lnSpc>
                <a:spcPct val="110000"/>
              </a:lnSpc>
              <a:spcBef>
                <a:spcPts val="0"/>
              </a:spcBef>
              <a:buFont typeface="Wingdings" pitchFamily="2" charset="2"/>
              <a:buNone/>
            </a:pPr>
            <a:r>
              <a:rPr lang="en-US" sz="2400" b="0">
                <a:solidFill>
                  <a:srgbClr val="000000"/>
                </a:solidFill>
              </a:rPr>
              <a:t>		</a:t>
            </a:r>
            <a:r>
              <a:rPr lang="en-US" sz="2400" b="0">
                <a:solidFill>
                  <a:srgbClr val="FF0303"/>
                </a:solidFill>
              </a:rPr>
              <a:t>virtual ~Nguoi() {</a:t>
            </a:r>
          </a:p>
          <a:p>
            <a:pPr marL="342900" indent="-342900">
              <a:lnSpc>
                <a:spcPct val="110000"/>
              </a:lnSpc>
              <a:spcBef>
                <a:spcPts val="0"/>
              </a:spcBef>
              <a:buFont typeface="Wingdings" pitchFamily="2" charset="2"/>
              <a:buNone/>
            </a:pPr>
            <a:r>
              <a:rPr lang="en-US" sz="2400" b="0">
                <a:solidFill>
                  <a:srgbClr val="FF0303"/>
                </a:solidFill>
              </a:rPr>
              <a:t>			delete [ ] HoTen;</a:t>
            </a:r>
          </a:p>
          <a:p>
            <a:pPr marL="342900" indent="-342900">
              <a:lnSpc>
                <a:spcPct val="110000"/>
              </a:lnSpc>
              <a:spcBef>
                <a:spcPts val="0"/>
              </a:spcBef>
              <a:buFont typeface="Wingdings" pitchFamily="2" charset="2"/>
              <a:buNone/>
            </a:pPr>
            <a:r>
              <a:rPr lang="en-US" sz="2400" b="0">
                <a:solidFill>
                  <a:srgbClr val="FF0303"/>
                </a:solidFill>
              </a:rPr>
              <a:t>		}</a:t>
            </a:r>
          </a:p>
          <a:p>
            <a:pPr marL="342900" indent="-342900">
              <a:lnSpc>
                <a:spcPct val="110000"/>
              </a:lnSpc>
              <a:spcBef>
                <a:spcPts val="0"/>
              </a:spcBef>
              <a:buFont typeface="Wingdings" pitchFamily="2" charset="2"/>
              <a:buNone/>
            </a:pPr>
            <a:r>
              <a:rPr lang="en-US" sz="2400" b="0">
                <a:solidFill>
                  <a:srgbClr val="000000"/>
                </a:solidFill>
              </a:rPr>
              <a:t>		</a:t>
            </a:r>
            <a:r>
              <a:rPr lang="en-US" sz="2400" b="0">
                <a:solidFill>
                  <a:srgbClr val="0000FF"/>
                </a:solidFill>
              </a:rPr>
              <a:t>virtual</a:t>
            </a:r>
            <a:r>
              <a:rPr lang="en-US" sz="2400" b="0">
                <a:solidFill>
                  <a:srgbClr val="000000"/>
                </a:solidFill>
              </a:rPr>
              <a:t> </a:t>
            </a:r>
            <a:r>
              <a:rPr lang="en-US" sz="2400" b="0">
                <a:solidFill>
                  <a:srgbClr val="0000FF"/>
                </a:solidFill>
              </a:rPr>
              <a:t>void</a:t>
            </a:r>
            <a:r>
              <a:rPr lang="en-US" sz="2400" b="0">
                <a:solidFill>
                  <a:srgbClr val="000000"/>
                </a:solidFill>
              </a:rPr>
              <a:t> Xuat(ostream &amp;os) const {//…}</a:t>
            </a:r>
          </a:p>
          <a:p>
            <a:pPr marL="342900" indent="-342900">
              <a:lnSpc>
                <a:spcPct val="110000"/>
              </a:lnSpc>
              <a:spcBef>
                <a:spcPts val="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ox(in)">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vi-VN" sz="3600" b="1">
                <a:effectLst>
                  <a:outerShdw blurRad="38100" dist="38100" dir="2700000" algn="tl">
                    <a:srgbClr val="000000">
                      <a:alpha val="43137"/>
                    </a:srgbClr>
                  </a:outerShdw>
                </a:effectLst>
                <a:latin typeface="Arial" pitchFamily="34" charset="0"/>
                <a:cs typeface="Arial" pitchFamily="34" charset="0"/>
              </a:rPr>
              <a:t>Phương thức thuần ảo</a:t>
            </a:r>
            <a:br>
              <a:rPr lang="en-US" sz="3600" b="1">
                <a:effectLst>
                  <a:outerShdw blurRad="38100" dist="38100" dir="2700000" algn="tl">
                    <a:srgbClr val="000000">
                      <a:alpha val="43137"/>
                    </a:srgbClr>
                  </a:outerShdw>
                </a:effectLst>
                <a:latin typeface="Arial" pitchFamily="34" charset="0"/>
                <a:cs typeface="Arial" pitchFamily="34" charset="0"/>
              </a:rPr>
            </a:br>
            <a:r>
              <a:rPr lang="vi-VN" sz="3600" b="1">
                <a:effectLst>
                  <a:outerShdw blurRad="38100" dist="38100" dir="2700000" algn="tl">
                    <a:srgbClr val="000000">
                      <a:alpha val="43137"/>
                    </a:srgbClr>
                  </a:outerShdw>
                </a:effectLst>
                <a:latin typeface="Arial" pitchFamily="34" charset="0"/>
                <a:cs typeface="Arial" pitchFamily="34" charset="0"/>
              </a:rPr>
              <a:t>và lớp cơ sở trừu tượng</a:t>
            </a:r>
            <a:endParaRPr lang="en-US" sz="3600"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5105400"/>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FF3300"/>
                </a:solidFill>
                <a:latin typeface="Arial" pitchFamily="34" charset="0"/>
                <a:cs typeface="Arial" pitchFamily="34" charset="0"/>
              </a:rPr>
              <a:t>Lớp cơ sở trừu tượng </a:t>
            </a:r>
            <a:r>
              <a:rPr lang="vi-VN" sz="2800">
                <a:solidFill>
                  <a:srgbClr val="0066FF"/>
                </a:solidFill>
                <a:latin typeface="Arial" pitchFamily="34" charset="0"/>
                <a:cs typeface="Arial" pitchFamily="34" charset="0"/>
              </a:rPr>
              <a:t>là lớp cơ sở không có đối tượng nào thuộc chính nó</a:t>
            </a:r>
            <a:r>
              <a:rPr lang="vi-VN" sz="280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Xét các lớp Circle, Rectangle, Square kế thừa từ lớp Shape</a:t>
            </a:r>
          </a:p>
          <a:p>
            <a:pPr algn="just">
              <a:lnSpc>
                <a:spcPct val="12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Trong ví dụ trên, các hàm trong lớp Shape có nội dung nhưng nội dung không có ý nghĩa. Đồng thời ta luôn luôn có thể tạo được đối tượng thuộc lớp Shape, điều này không đúng với tư tưởng của </a:t>
            </a:r>
            <a:r>
              <a:rPr lang="vi-VN" sz="2800">
                <a:solidFill>
                  <a:srgbClr val="0066FF"/>
                </a:solidFill>
                <a:latin typeface="Arial" pitchFamily="34" charset="0"/>
                <a:cs typeface="Arial" pitchFamily="34" charset="0"/>
              </a:rPr>
              <a:t>phương pháp luận hướng đối tượng</a:t>
            </a:r>
            <a:r>
              <a:rPr lang="vi-VN" sz="2800">
                <a:solidFill>
                  <a:schemeClr val="tx1">
                    <a:lumMod val="95000"/>
                    <a:lumOff val="5000"/>
                  </a:schemeClr>
                </a:solidFill>
                <a:latin typeface="Arial" pitchFamily="34" charset="0"/>
                <a:cs typeface="Arial" pitchFamily="34" charset="0"/>
              </a:rPr>
              <a: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33</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vi-VN" sz="3600" b="1">
                <a:effectLst>
                  <a:outerShdw blurRad="38100" dist="38100" dir="2700000" algn="tl">
                    <a:srgbClr val="000000">
                      <a:alpha val="43137"/>
                    </a:srgbClr>
                  </a:outerShdw>
                </a:effectLst>
                <a:latin typeface="Arial" pitchFamily="34" charset="0"/>
                <a:cs typeface="Arial" pitchFamily="34" charset="0"/>
              </a:rPr>
              <a:t>Phương thức thuần ảo</a:t>
            </a:r>
            <a:br>
              <a:rPr lang="en-US" sz="3600" b="1">
                <a:effectLst>
                  <a:outerShdw blurRad="38100" dist="38100" dir="2700000" algn="tl">
                    <a:srgbClr val="000000">
                      <a:alpha val="43137"/>
                    </a:srgbClr>
                  </a:outerShdw>
                </a:effectLst>
                <a:latin typeface="Arial" pitchFamily="34" charset="0"/>
                <a:cs typeface="Arial" pitchFamily="34" charset="0"/>
              </a:rPr>
            </a:br>
            <a:r>
              <a:rPr lang="vi-VN" sz="3600" b="1">
                <a:effectLst>
                  <a:outerShdw blurRad="38100" dist="38100" dir="2700000" algn="tl">
                    <a:srgbClr val="000000">
                      <a:alpha val="43137"/>
                    </a:srgbClr>
                  </a:outerShdw>
                </a:effectLst>
                <a:latin typeface="Arial" pitchFamily="34" charset="0"/>
                <a:cs typeface="Arial" pitchFamily="34" charset="0"/>
              </a:rPr>
              <a:t>và lớp cơ sở trừu tượng</a:t>
            </a:r>
            <a:endParaRPr lang="en-US" sz="3600"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5181600"/>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có thể thay thế cho nội dung không có ý nghĩa bằng </a:t>
            </a:r>
            <a:r>
              <a:rPr lang="vi-VN" sz="2800">
                <a:solidFill>
                  <a:srgbClr val="0066FF"/>
                </a:solidFill>
                <a:latin typeface="Arial" pitchFamily="34" charset="0"/>
                <a:cs typeface="Arial" pitchFamily="34" charset="0"/>
              </a:rPr>
              <a:t>phương thức ảo thuần tuý</a:t>
            </a:r>
            <a:r>
              <a:rPr lang="vi-VN" sz="2800">
                <a:solidFill>
                  <a:schemeClr val="tx1">
                    <a:lumMod val="95000"/>
                    <a:lumOff val="5000"/>
                  </a:schemeClr>
                </a:solidFill>
                <a:latin typeface="Arial" pitchFamily="34" charset="0"/>
                <a:cs typeface="Arial" pitchFamily="34" charset="0"/>
              </a:rPr>
              <a:t>. Phương thức ảo thuần tuý là </a:t>
            </a:r>
            <a:r>
              <a:rPr lang="vi-VN" sz="2800">
                <a:solidFill>
                  <a:srgbClr val="FF3300"/>
                </a:solidFill>
                <a:latin typeface="Arial" pitchFamily="34" charset="0"/>
                <a:cs typeface="Arial" pitchFamily="34" charset="0"/>
              </a:rPr>
              <a:t>phương thức ảo không có nội dung</a:t>
            </a:r>
            <a:r>
              <a:rPr lang="vi-VN" sz="280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Khi lớp có phương thức ảo thuần tuý, lớp trở thành lớp cơ sở trừu tượng. Ta không thể tạo đối tượng thuộc lớp cơ sở thuần tuý.</a:t>
            </a:r>
          </a:p>
          <a:p>
            <a:pPr algn="just">
              <a:lnSpc>
                <a:spcPct val="12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có thể định nghĩa phương thức ảo thuần tuý, nhưng chỉ có các đối tượng thuộc lớp con có thể gọi nó.</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34</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vi-VN" sz="3600" b="1">
                <a:effectLst>
                  <a:outerShdw blurRad="38100" dist="38100" dir="2700000" algn="tl">
                    <a:srgbClr val="000000">
                      <a:alpha val="43137"/>
                    </a:srgbClr>
                  </a:outerShdw>
                </a:effectLst>
                <a:latin typeface="Arial" pitchFamily="34" charset="0"/>
                <a:cs typeface="Arial" pitchFamily="34" charset="0"/>
              </a:rPr>
              <a:t>Phương thức thuần ảo</a:t>
            </a:r>
            <a:br>
              <a:rPr lang="en-US" sz="3600" b="1">
                <a:effectLst>
                  <a:outerShdw blurRad="38100" dist="38100" dir="2700000" algn="tl">
                    <a:srgbClr val="000000">
                      <a:alpha val="43137"/>
                    </a:srgbClr>
                  </a:outerShdw>
                </a:effectLst>
                <a:latin typeface="Arial" pitchFamily="34" charset="0"/>
                <a:cs typeface="Arial" pitchFamily="34" charset="0"/>
              </a:rPr>
            </a:br>
            <a:r>
              <a:rPr lang="vi-VN" sz="3600" b="1">
                <a:effectLst>
                  <a:outerShdw blurRad="38100" dist="38100" dir="2700000" algn="tl">
                    <a:srgbClr val="000000">
                      <a:alpha val="43137"/>
                    </a:srgbClr>
                  </a:outerShdw>
                </a:effectLst>
                <a:latin typeface="Arial" pitchFamily="34" charset="0"/>
                <a:cs typeface="Arial" pitchFamily="34" charset="0"/>
              </a:rPr>
              <a:t>và lớp cơ sở trừu tượng</a:t>
            </a:r>
            <a:endParaRPr lang="en-US" sz="3600"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Trong ví dụ trên, </a:t>
            </a:r>
            <a:r>
              <a:rPr lang="vi-VN" sz="2800">
                <a:solidFill>
                  <a:srgbClr val="FF3300"/>
                </a:solidFill>
                <a:latin typeface="Arial" pitchFamily="34" charset="0"/>
                <a:cs typeface="Arial" pitchFamily="34" charset="0"/>
              </a:rPr>
              <a:t>các hàm thành phần trong lớp Shape là phương thức ảo thuần tuý</a:t>
            </a:r>
            <a:r>
              <a:rPr lang="vi-VN" sz="2800">
                <a:solidFill>
                  <a:schemeClr val="tx1">
                    <a:lumMod val="95000"/>
                    <a:lumOff val="5000"/>
                  </a:schemeClr>
                </a:solidFill>
                <a:latin typeface="Arial" pitchFamily="34" charset="0"/>
                <a:cs typeface="Arial" pitchFamily="34" charset="0"/>
              </a:rPr>
              <a:t>. Nó bảo đảm không thể tạo được đối tượng thuộc lớp Shape.</a:t>
            </a: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Ví dụ trên cũng định nghĩa nội dung cho phương thức ảo thuần tuý, nhưng chỉ có các đối tượng thuộc lớp con có thể gọi.</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35</a:t>
            </a:fld>
            <a:endParaRPr lang="en-US"/>
          </a:p>
        </p:txBody>
      </p:sp>
    </p:spTree>
    <p:extLst>
      <p:ext uri="{BB962C8B-B14F-4D97-AF65-F5344CB8AC3E}">
        <p14:creationId xmlns:p14="http://schemas.microsoft.com/office/powerpoint/2010/main" val="1029817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vi-VN" sz="3600" b="1">
                <a:effectLst>
                  <a:outerShdw blurRad="38100" dist="38100" dir="2700000" algn="tl">
                    <a:srgbClr val="000000">
                      <a:alpha val="43137"/>
                    </a:srgbClr>
                  </a:outerShdw>
                </a:effectLst>
                <a:latin typeface="Arial" pitchFamily="34" charset="0"/>
                <a:cs typeface="Arial" pitchFamily="34" charset="0"/>
              </a:rPr>
              <a:t>Phương thức thuần ảo</a:t>
            </a:r>
            <a:br>
              <a:rPr lang="en-US" sz="3600" b="1">
                <a:effectLst>
                  <a:outerShdw blurRad="38100" dist="38100" dir="2700000" algn="tl">
                    <a:srgbClr val="000000">
                      <a:alpha val="43137"/>
                    </a:srgbClr>
                  </a:outerShdw>
                </a:effectLst>
                <a:latin typeface="Arial" pitchFamily="34" charset="0"/>
                <a:cs typeface="Arial" pitchFamily="34" charset="0"/>
              </a:rPr>
            </a:br>
            <a:r>
              <a:rPr lang="vi-VN" sz="3600" b="1">
                <a:effectLst>
                  <a:outerShdw blurRad="38100" dist="38100" dir="2700000" algn="tl">
                    <a:srgbClr val="000000">
                      <a:alpha val="43137"/>
                    </a:srgbClr>
                  </a:outerShdw>
                </a:effectLst>
                <a:latin typeface="Arial" pitchFamily="34" charset="0"/>
                <a:cs typeface="Arial" pitchFamily="34" charset="0"/>
              </a:rPr>
              <a:t>và lớp cơ sở trừu tượng</a:t>
            </a:r>
            <a:endParaRPr lang="en-US" sz="3600"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Phương thức ảo thuần tuý </a:t>
            </a:r>
            <a:r>
              <a:rPr lang="vi-VN" sz="2800">
                <a:solidFill>
                  <a:schemeClr val="tx1">
                    <a:lumMod val="95000"/>
                    <a:lumOff val="5000"/>
                  </a:schemeClr>
                </a:solidFill>
                <a:latin typeface="Arial" pitchFamily="34" charset="0"/>
                <a:cs typeface="Arial" pitchFamily="34" charset="0"/>
              </a:rPr>
              <a:t>có ý nghĩa cho việc </a:t>
            </a:r>
            <a:r>
              <a:rPr lang="vi-VN" sz="2800">
                <a:solidFill>
                  <a:srgbClr val="FF3300"/>
                </a:solidFill>
                <a:latin typeface="Arial" pitchFamily="34" charset="0"/>
                <a:cs typeface="Arial" pitchFamily="34" charset="0"/>
              </a:rPr>
              <a:t>tổ chức sơ đồ phân cấp các lớp</a:t>
            </a:r>
            <a:r>
              <a:rPr lang="vi-VN" sz="2800">
                <a:solidFill>
                  <a:schemeClr val="tx1">
                    <a:lumMod val="95000"/>
                    <a:lumOff val="5000"/>
                  </a:schemeClr>
                </a:solidFill>
                <a:latin typeface="Arial" pitchFamily="34" charset="0"/>
                <a:cs typeface="Arial" pitchFamily="34" charset="0"/>
              </a:rPr>
              <a:t>, nó đóng vai trò chừa sẵn chỗ trống cho các lớp con điền vào với phiên bản phù hợp.</a:t>
            </a: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endParaRPr lang="vi-VN"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Bản thân các lớp con của lớp cơ sở trừu tượng cũng có thể là lớp cơ sở trừu tượng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36</a:t>
            </a:fld>
            <a:endParaRPr lang="en-US"/>
          </a:p>
        </p:txBody>
      </p:sp>
    </p:spTree>
    <p:extLst>
      <p:ext uri="{BB962C8B-B14F-4D97-AF65-F5344CB8AC3E}">
        <p14:creationId xmlns:p14="http://schemas.microsoft.com/office/powerpoint/2010/main" val="1029817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b="1">
                <a:effectLst>
                  <a:outerShdw blurRad="38100" dist="38100" dir="2700000" algn="tl">
                    <a:srgbClr val="000000">
                      <a:alpha val="43137"/>
                    </a:srgbClr>
                  </a:outerShdw>
                </a:effectLst>
                <a:latin typeface="Arial" pitchFamily="34" charset="0"/>
                <a:cs typeface="Arial" pitchFamily="34" charset="0"/>
              </a:rPr>
              <a:t>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37</a:t>
            </a:fld>
            <a:endParaRPr lang="en-US"/>
          </a:p>
        </p:txBody>
      </p:sp>
      <p:sp>
        <p:nvSpPr>
          <p:cNvPr id="8" name="AutoShape 6"/>
          <p:cNvSpPr>
            <a:spLocks noChangeArrowheads="1"/>
          </p:cNvSpPr>
          <p:nvPr/>
        </p:nvSpPr>
        <p:spPr bwMode="auto">
          <a:xfrm>
            <a:off x="4605368" y="2801937"/>
            <a:ext cx="2057400" cy="1084263"/>
          </a:xfrm>
          <a:prstGeom prst="flowChartAlternateProcess">
            <a:avLst/>
          </a:prstGeom>
          <a:solidFill>
            <a:srgbClr val="00E4A8"/>
          </a:solidFill>
          <a:ln w="9525" algn="ctr">
            <a:solidFill>
              <a:schemeClr val="tx1"/>
            </a:solidFill>
            <a:miter lim="800000"/>
            <a:headEnd/>
            <a:tailEnd/>
          </a:ln>
          <a:effectLst/>
        </p:spPr>
        <p:txBody>
          <a:bodyPr wrap="none" anchor="ctr"/>
          <a:lstStyle/>
          <a:p>
            <a:endParaRPr lang="en-US"/>
          </a:p>
        </p:txBody>
      </p:sp>
      <p:sp>
        <p:nvSpPr>
          <p:cNvPr id="9" name="Text Box 7"/>
          <p:cNvSpPr txBox="1">
            <a:spLocks noChangeArrowheads="1"/>
          </p:cNvSpPr>
          <p:nvPr/>
        </p:nvSpPr>
        <p:spPr bwMode="auto">
          <a:xfrm>
            <a:off x="5291168" y="2786058"/>
            <a:ext cx="892175" cy="400110"/>
          </a:xfrm>
          <a:prstGeom prst="rect">
            <a:avLst/>
          </a:prstGeom>
          <a:noFill/>
          <a:ln w="9525" algn="ctr">
            <a:noFill/>
            <a:miter lim="800000"/>
            <a:headEnd/>
            <a:tailEnd/>
          </a:ln>
          <a:effectLst/>
        </p:spPr>
        <p:txBody>
          <a:bodyPr>
            <a:spAutoFit/>
          </a:bodyPr>
          <a:lstStyle/>
          <a:p>
            <a:pPr>
              <a:spcBef>
                <a:spcPct val="50000"/>
              </a:spcBef>
              <a:buFont typeface="Wingdings" pitchFamily="2" charset="2"/>
              <a:buNone/>
            </a:pPr>
            <a:r>
              <a:rPr lang="en-US">
                <a:latin typeface="Times New Roman" pitchFamily="18" charset="0"/>
              </a:rPr>
              <a:t>Shape</a:t>
            </a:r>
          </a:p>
        </p:txBody>
      </p:sp>
      <p:sp>
        <p:nvSpPr>
          <p:cNvPr id="10" name="Line 8"/>
          <p:cNvSpPr>
            <a:spLocks noChangeShapeType="1"/>
          </p:cNvSpPr>
          <p:nvPr/>
        </p:nvSpPr>
        <p:spPr bwMode="auto">
          <a:xfrm>
            <a:off x="4605368" y="3219446"/>
            <a:ext cx="2057400" cy="0"/>
          </a:xfrm>
          <a:prstGeom prst="line">
            <a:avLst/>
          </a:prstGeom>
          <a:noFill/>
          <a:ln w="9525">
            <a:solidFill>
              <a:schemeClr val="tx1"/>
            </a:solidFill>
            <a:round/>
            <a:headEnd/>
            <a:tailEnd/>
          </a:ln>
          <a:effectLst/>
        </p:spPr>
        <p:txBody>
          <a:bodyPr/>
          <a:lstStyle/>
          <a:p>
            <a:endParaRPr lang="en-US"/>
          </a:p>
        </p:txBody>
      </p:sp>
      <p:sp>
        <p:nvSpPr>
          <p:cNvPr id="11" name="Text Box 9"/>
          <p:cNvSpPr txBox="1">
            <a:spLocks noChangeArrowheads="1"/>
          </p:cNvSpPr>
          <p:nvPr/>
        </p:nvSpPr>
        <p:spPr bwMode="auto">
          <a:xfrm>
            <a:off x="4605368" y="3363908"/>
            <a:ext cx="2057400" cy="400110"/>
          </a:xfrm>
          <a:prstGeom prst="rect">
            <a:avLst/>
          </a:prstGeom>
          <a:noFill/>
          <a:ln w="9525" algn="ctr">
            <a:noFill/>
            <a:miter lim="800000"/>
            <a:headEnd/>
            <a:tailEnd/>
          </a:ln>
          <a:effectLst/>
        </p:spPr>
        <p:txBody>
          <a:bodyPr wrap="square" lIns="0" rIns="0">
            <a:spAutoFit/>
          </a:bodyPr>
          <a:lstStyle/>
          <a:p>
            <a:pPr>
              <a:spcBef>
                <a:spcPct val="50000"/>
              </a:spcBef>
              <a:buFont typeface="Wingdings" pitchFamily="2" charset="2"/>
              <a:buNone/>
            </a:pPr>
            <a:r>
              <a:rPr lang="en-US" b="0">
                <a:latin typeface="Times New Roman" pitchFamily="18" charset="0"/>
              </a:rPr>
              <a:t> virtual void draw()</a:t>
            </a:r>
          </a:p>
        </p:txBody>
      </p:sp>
      <p:sp>
        <p:nvSpPr>
          <p:cNvPr id="12" name="AutoShape 11"/>
          <p:cNvSpPr>
            <a:spLocks noChangeArrowheads="1"/>
          </p:cNvSpPr>
          <p:nvPr/>
        </p:nvSpPr>
        <p:spPr bwMode="auto">
          <a:xfrm>
            <a:off x="2452718" y="4749796"/>
            <a:ext cx="2057400" cy="1084262"/>
          </a:xfrm>
          <a:prstGeom prst="flowChartAlternateProcess">
            <a:avLst/>
          </a:prstGeom>
          <a:solidFill>
            <a:srgbClr val="00E4A8"/>
          </a:solidFill>
          <a:ln w="9525" algn="ctr">
            <a:solidFill>
              <a:schemeClr val="tx1"/>
            </a:solidFill>
            <a:miter lim="800000"/>
            <a:headEnd/>
            <a:tailEnd/>
          </a:ln>
          <a:effectLst/>
        </p:spPr>
        <p:txBody>
          <a:bodyPr wrap="none" anchor="ctr"/>
          <a:lstStyle/>
          <a:p>
            <a:endParaRPr lang="en-US"/>
          </a:p>
        </p:txBody>
      </p:sp>
      <p:sp>
        <p:nvSpPr>
          <p:cNvPr id="13" name="Text Box 12"/>
          <p:cNvSpPr txBox="1">
            <a:spLocks noChangeArrowheads="1"/>
          </p:cNvSpPr>
          <p:nvPr/>
        </p:nvSpPr>
        <p:spPr bwMode="auto">
          <a:xfrm>
            <a:off x="3138518" y="4749796"/>
            <a:ext cx="892175" cy="400110"/>
          </a:xfrm>
          <a:prstGeom prst="rect">
            <a:avLst/>
          </a:prstGeom>
          <a:noFill/>
          <a:ln w="9525" algn="ctr">
            <a:noFill/>
            <a:miter lim="800000"/>
            <a:headEnd/>
            <a:tailEnd/>
          </a:ln>
          <a:effectLst/>
        </p:spPr>
        <p:txBody>
          <a:bodyPr>
            <a:spAutoFit/>
          </a:bodyPr>
          <a:lstStyle/>
          <a:p>
            <a:pPr>
              <a:spcBef>
                <a:spcPct val="50000"/>
              </a:spcBef>
              <a:buFont typeface="Wingdings" pitchFamily="2" charset="2"/>
              <a:buNone/>
            </a:pPr>
            <a:r>
              <a:rPr lang="en-US">
                <a:latin typeface="Times New Roman" pitchFamily="18" charset="0"/>
              </a:rPr>
              <a:t>Circle</a:t>
            </a:r>
          </a:p>
        </p:txBody>
      </p:sp>
      <p:sp>
        <p:nvSpPr>
          <p:cNvPr id="14" name="Line 13"/>
          <p:cNvSpPr>
            <a:spLocks noChangeShapeType="1"/>
          </p:cNvSpPr>
          <p:nvPr/>
        </p:nvSpPr>
        <p:spPr bwMode="auto">
          <a:xfrm>
            <a:off x="2452718" y="5183183"/>
            <a:ext cx="2057400" cy="0"/>
          </a:xfrm>
          <a:prstGeom prst="line">
            <a:avLst/>
          </a:prstGeom>
          <a:noFill/>
          <a:ln w="9525">
            <a:solidFill>
              <a:schemeClr val="tx1"/>
            </a:solidFill>
            <a:round/>
            <a:headEnd/>
            <a:tailEnd/>
          </a:ln>
          <a:effectLst/>
        </p:spPr>
        <p:txBody>
          <a:bodyPr/>
          <a:lstStyle/>
          <a:p>
            <a:endParaRPr lang="en-US"/>
          </a:p>
        </p:txBody>
      </p:sp>
      <p:sp>
        <p:nvSpPr>
          <p:cNvPr id="15" name="Text Box 14"/>
          <p:cNvSpPr txBox="1">
            <a:spLocks noChangeArrowheads="1"/>
          </p:cNvSpPr>
          <p:nvPr/>
        </p:nvSpPr>
        <p:spPr bwMode="auto">
          <a:xfrm>
            <a:off x="2452719" y="5300658"/>
            <a:ext cx="2057400" cy="400110"/>
          </a:xfrm>
          <a:prstGeom prst="rect">
            <a:avLst/>
          </a:prstGeom>
          <a:noFill/>
          <a:ln w="9525" algn="ctr">
            <a:noFill/>
            <a:miter lim="800000"/>
            <a:headEnd/>
            <a:tailEnd/>
          </a:ln>
          <a:effectLst/>
        </p:spPr>
        <p:txBody>
          <a:bodyPr wrap="square" lIns="0" rIns="0">
            <a:spAutoFit/>
          </a:bodyPr>
          <a:lstStyle/>
          <a:p>
            <a:pPr>
              <a:spcBef>
                <a:spcPct val="50000"/>
              </a:spcBef>
              <a:buFont typeface="Wingdings" pitchFamily="2" charset="2"/>
              <a:buNone/>
            </a:pPr>
            <a:r>
              <a:rPr lang="en-US" b="0">
                <a:latin typeface="Times New Roman" pitchFamily="18" charset="0"/>
              </a:rPr>
              <a:t> public void draw()</a:t>
            </a:r>
          </a:p>
        </p:txBody>
      </p:sp>
      <p:sp>
        <p:nvSpPr>
          <p:cNvPr id="16" name="Line 15"/>
          <p:cNvSpPr>
            <a:spLocks noChangeShapeType="1"/>
          </p:cNvSpPr>
          <p:nvPr/>
        </p:nvSpPr>
        <p:spPr bwMode="auto">
          <a:xfrm>
            <a:off x="3519518" y="4532308"/>
            <a:ext cx="4343400" cy="0"/>
          </a:xfrm>
          <a:prstGeom prst="line">
            <a:avLst/>
          </a:prstGeom>
          <a:noFill/>
          <a:ln w="28575">
            <a:solidFill>
              <a:schemeClr val="tx1"/>
            </a:solidFill>
            <a:round/>
            <a:headEnd/>
            <a:tailEnd/>
          </a:ln>
          <a:effectLst/>
        </p:spPr>
        <p:txBody>
          <a:bodyPr/>
          <a:lstStyle/>
          <a:p>
            <a:endParaRPr lang="en-US"/>
          </a:p>
        </p:txBody>
      </p:sp>
      <p:sp>
        <p:nvSpPr>
          <p:cNvPr id="17" name="Line 16"/>
          <p:cNvSpPr>
            <a:spLocks noChangeShapeType="1"/>
          </p:cNvSpPr>
          <p:nvPr/>
        </p:nvSpPr>
        <p:spPr bwMode="auto">
          <a:xfrm>
            <a:off x="3519518" y="4532308"/>
            <a:ext cx="0" cy="217488"/>
          </a:xfrm>
          <a:prstGeom prst="line">
            <a:avLst/>
          </a:prstGeom>
          <a:noFill/>
          <a:ln w="28575">
            <a:solidFill>
              <a:schemeClr val="tx1"/>
            </a:solidFill>
            <a:round/>
            <a:headEnd/>
            <a:tailEnd/>
          </a:ln>
          <a:effectLst/>
        </p:spPr>
        <p:txBody>
          <a:bodyPr/>
          <a:lstStyle/>
          <a:p>
            <a:endParaRPr lang="en-US"/>
          </a:p>
        </p:txBody>
      </p:sp>
      <p:sp>
        <p:nvSpPr>
          <p:cNvPr id="18" name="Line 17"/>
          <p:cNvSpPr>
            <a:spLocks noChangeShapeType="1"/>
          </p:cNvSpPr>
          <p:nvPr/>
        </p:nvSpPr>
        <p:spPr bwMode="auto">
          <a:xfrm>
            <a:off x="5653118" y="4321171"/>
            <a:ext cx="0" cy="217487"/>
          </a:xfrm>
          <a:prstGeom prst="line">
            <a:avLst/>
          </a:prstGeom>
          <a:noFill/>
          <a:ln w="28575">
            <a:solidFill>
              <a:schemeClr val="tx1"/>
            </a:solidFill>
            <a:round/>
            <a:headEnd/>
            <a:tailEnd/>
          </a:ln>
          <a:effectLst/>
        </p:spPr>
        <p:txBody>
          <a:bodyPr/>
          <a:lstStyle/>
          <a:p>
            <a:endParaRPr lang="en-US"/>
          </a:p>
        </p:txBody>
      </p:sp>
      <p:sp>
        <p:nvSpPr>
          <p:cNvPr id="19" name="Line 18"/>
          <p:cNvSpPr>
            <a:spLocks noChangeShapeType="1"/>
          </p:cNvSpPr>
          <p:nvPr/>
        </p:nvSpPr>
        <p:spPr bwMode="auto">
          <a:xfrm flipV="1">
            <a:off x="5653118" y="3887783"/>
            <a:ext cx="0" cy="433388"/>
          </a:xfrm>
          <a:prstGeom prst="line">
            <a:avLst/>
          </a:prstGeom>
          <a:noFill/>
          <a:ln w="28575">
            <a:solidFill>
              <a:schemeClr val="tx1"/>
            </a:solidFill>
            <a:round/>
            <a:headEnd/>
            <a:tailEnd type="triangle" w="med" len="lg"/>
          </a:ln>
          <a:effectLst/>
        </p:spPr>
        <p:txBody>
          <a:bodyPr/>
          <a:lstStyle/>
          <a:p>
            <a:endParaRPr lang="en-US"/>
          </a:p>
        </p:txBody>
      </p:sp>
      <p:sp>
        <p:nvSpPr>
          <p:cNvPr id="20" name="AutoShape 20"/>
          <p:cNvSpPr>
            <a:spLocks noChangeArrowheads="1"/>
          </p:cNvSpPr>
          <p:nvPr/>
        </p:nvSpPr>
        <p:spPr bwMode="auto">
          <a:xfrm>
            <a:off x="6872318" y="4749796"/>
            <a:ext cx="2057400" cy="1084262"/>
          </a:xfrm>
          <a:prstGeom prst="flowChartAlternateProcess">
            <a:avLst/>
          </a:prstGeom>
          <a:solidFill>
            <a:srgbClr val="00E4A8"/>
          </a:solidFill>
          <a:ln w="9525" algn="ctr">
            <a:solidFill>
              <a:schemeClr val="tx1"/>
            </a:solidFill>
            <a:miter lim="800000"/>
            <a:headEnd/>
            <a:tailEnd/>
          </a:ln>
          <a:effectLst/>
        </p:spPr>
        <p:txBody>
          <a:bodyPr wrap="none" anchor="ctr"/>
          <a:lstStyle/>
          <a:p>
            <a:endParaRPr lang="en-US"/>
          </a:p>
        </p:txBody>
      </p:sp>
      <p:sp>
        <p:nvSpPr>
          <p:cNvPr id="21" name="Text Box 21"/>
          <p:cNvSpPr txBox="1">
            <a:spLocks noChangeArrowheads="1"/>
          </p:cNvSpPr>
          <p:nvPr/>
        </p:nvSpPr>
        <p:spPr bwMode="auto">
          <a:xfrm>
            <a:off x="7405718" y="4749796"/>
            <a:ext cx="1219200" cy="400110"/>
          </a:xfrm>
          <a:prstGeom prst="rect">
            <a:avLst/>
          </a:prstGeom>
          <a:noFill/>
          <a:ln w="9525" algn="ctr">
            <a:noFill/>
            <a:miter lim="800000"/>
            <a:headEnd/>
            <a:tailEnd/>
          </a:ln>
          <a:effectLst/>
        </p:spPr>
        <p:txBody>
          <a:bodyPr>
            <a:spAutoFit/>
          </a:bodyPr>
          <a:lstStyle/>
          <a:p>
            <a:pPr>
              <a:spcBef>
                <a:spcPct val="50000"/>
              </a:spcBef>
              <a:buFont typeface="Wingdings" pitchFamily="2" charset="2"/>
              <a:buNone/>
            </a:pPr>
            <a:r>
              <a:rPr lang="en-US">
                <a:latin typeface="Times New Roman" pitchFamily="18" charset="0"/>
              </a:rPr>
              <a:t>Triangle</a:t>
            </a:r>
          </a:p>
        </p:txBody>
      </p:sp>
      <p:sp>
        <p:nvSpPr>
          <p:cNvPr id="22" name="Line 22"/>
          <p:cNvSpPr>
            <a:spLocks noChangeShapeType="1"/>
          </p:cNvSpPr>
          <p:nvPr/>
        </p:nvSpPr>
        <p:spPr bwMode="auto">
          <a:xfrm>
            <a:off x="6872318" y="5183183"/>
            <a:ext cx="2057400" cy="0"/>
          </a:xfrm>
          <a:prstGeom prst="line">
            <a:avLst/>
          </a:prstGeom>
          <a:noFill/>
          <a:ln w="9525">
            <a:solidFill>
              <a:schemeClr val="tx1"/>
            </a:solidFill>
            <a:round/>
            <a:headEnd/>
            <a:tailEnd/>
          </a:ln>
          <a:effectLst/>
        </p:spPr>
        <p:txBody>
          <a:bodyPr/>
          <a:lstStyle/>
          <a:p>
            <a:endParaRPr lang="en-US"/>
          </a:p>
        </p:txBody>
      </p:sp>
      <p:sp>
        <p:nvSpPr>
          <p:cNvPr id="23" name="Text Box 23"/>
          <p:cNvSpPr txBox="1">
            <a:spLocks noChangeArrowheads="1"/>
          </p:cNvSpPr>
          <p:nvPr/>
        </p:nvSpPr>
        <p:spPr bwMode="auto">
          <a:xfrm>
            <a:off x="6872319" y="5268908"/>
            <a:ext cx="2057400" cy="400110"/>
          </a:xfrm>
          <a:prstGeom prst="rect">
            <a:avLst/>
          </a:prstGeom>
          <a:noFill/>
          <a:ln w="9525" algn="ctr">
            <a:noFill/>
            <a:miter lim="800000"/>
            <a:headEnd/>
            <a:tailEnd/>
          </a:ln>
          <a:effectLst/>
        </p:spPr>
        <p:txBody>
          <a:bodyPr wrap="square" lIns="0" rIns="0">
            <a:spAutoFit/>
          </a:bodyPr>
          <a:lstStyle/>
          <a:p>
            <a:pPr>
              <a:spcBef>
                <a:spcPct val="50000"/>
              </a:spcBef>
              <a:buFont typeface="Wingdings" pitchFamily="2" charset="2"/>
              <a:buNone/>
            </a:pPr>
            <a:r>
              <a:rPr lang="en-US" b="0">
                <a:latin typeface="Times New Roman" pitchFamily="18" charset="0"/>
              </a:rPr>
              <a:t> public void draw()</a:t>
            </a:r>
          </a:p>
        </p:txBody>
      </p:sp>
      <p:sp>
        <p:nvSpPr>
          <p:cNvPr id="24" name="Line 24"/>
          <p:cNvSpPr>
            <a:spLocks noChangeShapeType="1"/>
          </p:cNvSpPr>
          <p:nvPr/>
        </p:nvSpPr>
        <p:spPr bwMode="auto">
          <a:xfrm>
            <a:off x="7862918" y="4532308"/>
            <a:ext cx="0" cy="217488"/>
          </a:xfrm>
          <a:prstGeom prst="line">
            <a:avLst/>
          </a:prstGeom>
          <a:noFill/>
          <a:ln w="28575">
            <a:solidFill>
              <a:schemeClr val="tx1"/>
            </a:solidFill>
            <a:round/>
            <a:headEnd/>
            <a:tailEnd/>
          </a:ln>
          <a:effectLst/>
        </p:spPr>
        <p:txBody>
          <a:bodyPr/>
          <a:lstStyle/>
          <a:p>
            <a:endParaRPr lang="en-US"/>
          </a:p>
        </p:txBody>
      </p:sp>
      <p:sp>
        <p:nvSpPr>
          <p:cNvPr id="25" name="Text Box 4"/>
          <p:cNvSpPr txBox="1">
            <a:spLocks noChangeArrowheads="1"/>
          </p:cNvSpPr>
          <p:nvPr/>
        </p:nvSpPr>
        <p:spPr bwMode="auto">
          <a:xfrm>
            <a:off x="381000" y="1643050"/>
            <a:ext cx="4224368" cy="2419124"/>
          </a:xfrm>
          <a:prstGeom prst="rect">
            <a:avLst/>
          </a:prstGeom>
          <a:solidFill>
            <a:srgbClr val="FFFFC5"/>
          </a:solidFill>
          <a:ln w="9525" algn="ctr">
            <a:noFill/>
            <a:miter lim="800000"/>
            <a:headEnd/>
            <a:tailEnd/>
          </a:ln>
          <a:effectLst/>
        </p:spPr>
        <p:txBody>
          <a:bodyPr wrap="square">
            <a:spAutoFit/>
          </a:bodyPr>
          <a:lstStyle/>
          <a:p>
            <a:pPr>
              <a:lnSpc>
                <a:spcPct val="90000"/>
              </a:lnSpc>
              <a:buClr>
                <a:schemeClr val="bg2"/>
              </a:buClr>
              <a:buFont typeface="Wingdings" pitchFamily="2" charset="2"/>
              <a:buNone/>
            </a:pPr>
            <a:r>
              <a:rPr lang="en-US" sz="2800" b="0">
                <a:solidFill>
                  <a:srgbClr val="0000FF"/>
                </a:solidFill>
                <a:latin typeface="Arial" pitchFamily="34" charset="0"/>
                <a:cs typeface="Arial" pitchFamily="34" charset="0"/>
              </a:rPr>
              <a:t>class</a:t>
            </a:r>
            <a:r>
              <a:rPr lang="en-US" sz="2800" b="0">
                <a:latin typeface="Arial" pitchFamily="34" charset="0"/>
                <a:cs typeface="Arial" pitchFamily="34" charset="0"/>
              </a:rPr>
              <a:t> Shape    </a:t>
            </a:r>
            <a:r>
              <a:rPr lang="en-US" sz="2800" b="0">
                <a:solidFill>
                  <a:srgbClr val="339933"/>
                </a:solidFill>
                <a:latin typeface="Arial" pitchFamily="34" charset="0"/>
                <a:cs typeface="Arial" pitchFamily="34" charset="0"/>
              </a:rPr>
              <a:t>//Abstract</a:t>
            </a:r>
            <a:r>
              <a:rPr lang="en-US" sz="2800" b="0">
                <a:latin typeface="Arial" pitchFamily="34" charset="0"/>
                <a:cs typeface="Arial" pitchFamily="34" charset="0"/>
              </a:rPr>
              <a:t> </a:t>
            </a:r>
          </a:p>
          <a:p>
            <a:pPr>
              <a:lnSpc>
                <a:spcPct val="90000"/>
              </a:lnSpc>
              <a:buClr>
                <a:schemeClr val="bg2"/>
              </a:buClr>
              <a:buFont typeface="Wingdings" pitchFamily="2" charset="2"/>
              <a:buNone/>
            </a:pPr>
            <a:r>
              <a:rPr lang="en-US" sz="2800" b="0">
                <a:latin typeface="Arial" pitchFamily="34" charset="0"/>
                <a:cs typeface="Arial" pitchFamily="34" charset="0"/>
              </a:rPr>
              <a:t>{</a:t>
            </a:r>
            <a:br>
              <a:rPr lang="en-US" sz="2800" b="0">
                <a:latin typeface="Arial" pitchFamily="34" charset="0"/>
                <a:cs typeface="Arial" pitchFamily="34" charset="0"/>
              </a:rPr>
            </a:br>
            <a:r>
              <a:rPr lang="en-US" sz="2800" b="0">
                <a:latin typeface="Arial" pitchFamily="34" charset="0"/>
                <a:cs typeface="Arial" pitchFamily="34" charset="0"/>
              </a:rPr>
              <a:t>    </a:t>
            </a:r>
            <a:r>
              <a:rPr lang="en-US" sz="2800" b="0">
                <a:solidFill>
                  <a:srgbClr val="0000FF"/>
                </a:solidFill>
                <a:latin typeface="Arial" pitchFamily="34" charset="0"/>
                <a:cs typeface="Arial" pitchFamily="34" charset="0"/>
              </a:rPr>
              <a:t>public</a:t>
            </a:r>
            <a:r>
              <a:rPr lang="en-US" sz="2800" b="0">
                <a:latin typeface="Arial" pitchFamily="34" charset="0"/>
                <a:cs typeface="Arial" pitchFamily="34" charset="0"/>
              </a:rPr>
              <a:t> :</a:t>
            </a:r>
            <a:br>
              <a:rPr lang="en-US" sz="2800" b="0">
                <a:latin typeface="Arial" pitchFamily="34" charset="0"/>
                <a:cs typeface="Arial" pitchFamily="34" charset="0"/>
              </a:rPr>
            </a:br>
            <a:r>
              <a:rPr lang="en-US" sz="2800" b="0">
                <a:latin typeface="Arial" pitchFamily="34" charset="0"/>
                <a:cs typeface="Arial" pitchFamily="34" charset="0"/>
              </a:rPr>
              <a:t>    </a:t>
            </a:r>
            <a:r>
              <a:rPr lang="en-US" sz="2800" b="0">
                <a:solidFill>
                  <a:srgbClr val="339933"/>
                </a:solidFill>
                <a:latin typeface="Arial" pitchFamily="34" charset="0"/>
                <a:cs typeface="Arial" pitchFamily="34" charset="0"/>
              </a:rPr>
              <a:t>//Pure virtual Function</a:t>
            </a:r>
            <a:br>
              <a:rPr lang="en-US" sz="2800" b="0">
                <a:latin typeface="Arial" pitchFamily="34" charset="0"/>
                <a:cs typeface="Arial" pitchFamily="34" charset="0"/>
              </a:rPr>
            </a:br>
            <a:r>
              <a:rPr lang="en-US" sz="2800" b="0">
                <a:latin typeface="Arial" pitchFamily="34" charset="0"/>
                <a:cs typeface="Arial" pitchFamily="34" charset="0"/>
              </a:rPr>
              <a:t>    </a:t>
            </a:r>
            <a:r>
              <a:rPr lang="en-US" sz="2800" b="0">
                <a:solidFill>
                  <a:srgbClr val="0000FF"/>
                </a:solidFill>
                <a:latin typeface="Arial" pitchFamily="34" charset="0"/>
                <a:cs typeface="Arial" pitchFamily="34" charset="0"/>
              </a:rPr>
              <a:t>virtual void</a:t>
            </a:r>
            <a:r>
              <a:rPr lang="en-US" sz="2800" b="0">
                <a:latin typeface="Arial" pitchFamily="34" charset="0"/>
                <a:cs typeface="Arial" pitchFamily="34" charset="0"/>
              </a:rPr>
              <a:t> draw() </a:t>
            </a:r>
            <a:r>
              <a:rPr lang="en-US" sz="2800" b="0" u="sng">
                <a:latin typeface="Arial" pitchFamily="34" charset="0"/>
                <a:cs typeface="Arial" pitchFamily="34" charset="0"/>
              </a:rPr>
              <a:t>= 0;</a:t>
            </a:r>
          </a:p>
          <a:p>
            <a:pPr>
              <a:lnSpc>
                <a:spcPct val="90000"/>
              </a:lnSpc>
              <a:buClr>
                <a:schemeClr val="bg2"/>
              </a:buClr>
              <a:buFont typeface="Wingdings" pitchFamily="2" charset="2"/>
              <a:buNone/>
            </a:pPr>
            <a:r>
              <a:rPr lang="en-US" sz="2800" b="0">
                <a:latin typeface="Arial" pitchFamily="34" charset="0"/>
                <a:cs typeface="Arial" pitchFamily="34" charset="0"/>
              </a:rPr>
              <a:t>}</a:t>
            </a:r>
          </a:p>
        </p:txBody>
      </p:sp>
    </p:spTree>
    <p:extLst>
      <p:ext uri="{BB962C8B-B14F-4D97-AF65-F5344CB8AC3E}">
        <p14:creationId xmlns:p14="http://schemas.microsoft.com/office/powerpoint/2010/main" val="19303677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b="1">
                <a:effectLst>
                  <a:outerShdw blurRad="38100" dist="38100" dir="2700000" algn="tl">
                    <a:srgbClr val="000000">
                      <a:alpha val="43137"/>
                    </a:srgbClr>
                  </a:outerShdw>
                </a:effectLst>
                <a:latin typeface="Arial" pitchFamily="34" charset="0"/>
                <a:cs typeface="Arial" pitchFamily="34" charset="0"/>
              </a:rPr>
              <a:t>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38</a:t>
            </a:fld>
            <a:endParaRPr lang="en-US"/>
          </a:p>
        </p:txBody>
      </p:sp>
      <p:sp>
        <p:nvSpPr>
          <p:cNvPr id="8" name="Rectangle 7"/>
          <p:cNvSpPr>
            <a:spLocks noChangeArrowheads="1"/>
          </p:cNvSpPr>
          <p:nvPr/>
        </p:nvSpPr>
        <p:spPr bwMode="auto">
          <a:xfrm>
            <a:off x="457200" y="1447800"/>
            <a:ext cx="8229600" cy="3352800"/>
          </a:xfrm>
          <a:prstGeom prst="rect">
            <a:avLst/>
          </a:prstGeom>
          <a:solidFill>
            <a:srgbClr val="CCFFFF"/>
          </a:solidFill>
          <a:ln w="9525">
            <a:noFill/>
            <a:miter lim="800000"/>
            <a:headEnd/>
            <a:tailEnd/>
          </a:ln>
          <a:effectLst/>
        </p:spPr>
        <p:txBody>
          <a:bodyPr/>
          <a:lstStyle/>
          <a:p>
            <a:pPr marL="342900" indent="-342900">
              <a:lnSpc>
                <a:spcPct val="90000"/>
              </a:lnSpc>
              <a:buClr>
                <a:schemeClr val="bg2"/>
              </a:buClr>
              <a:buFont typeface="Wingdings" pitchFamily="2" charset="2"/>
              <a:buNone/>
            </a:pPr>
            <a:r>
              <a:rPr lang="en-US" sz="2400" b="0">
                <a:solidFill>
                  <a:srgbClr val="0000FF"/>
                </a:solidFill>
                <a:latin typeface="Arial" pitchFamily="34" charset="0"/>
                <a:cs typeface="Arial" pitchFamily="34" charset="0"/>
              </a:rPr>
              <a:t>class</a:t>
            </a:r>
            <a:r>
              <a:rPr lang="en-US" sz="2400" b="0">
                <a:latin typeface="Arial" pitchFamily="34" charset="0"/>
                <a:cs typeface="Arial" pitchFamily="34" charset="0"/>
              </a:rPr>
              <a:t> </a:t>
            </a:r>
            <a:r>
              <a:rPr lang="en-US" sz="2400" b="0">
                <a:solidFill>
                  <a:srgbClr val="FF0000"/>
                </a:solidFill>
                <a:latin typeface="Arial" pitchFamily="34" charset="0"/>
                <a:cs typeface="Arial" pitchFamily="34" charset="0"/>
              </a:rPr>
              <a:t>Circle</a:t>
            </a:r>
            <a:r>
              <a:rPr lang="en-US" sz="2400" b="0">
                <a:latin typeface="Arial" pitchFamily="34" charset="0"/>
                <a:cs typeface="Arial" pitchFamily="34" charset="0"/>
              </a:rPr>
              <a:t> : </a:t>
            </a:r>
            <a:r>
              <a:rPr lang="en-US" sz="2400" b="0">
                <a:solidFill>
                  <a:srgbClr val="0000FF"/>
                </a:solidFill>
                <a:latin typeface="Arial" pitchFamily="34" charset="0"/>
                <a:cs typeface="Arial" pitchFamily="34" charset="0"/>
              </a:rPr>
              <a:t>public</a:t>
            </a:r>
            <a:r>
              <a:rPr lang="en-US" sz="2400" b="0">
                <a:latin typeface="Arial" pitchFamily="34" charset="0"/>
                <a:cs typeface="Arial" pitchFamily="34" charset="0"/>
              </a:rPr>
              <a:t> Shape { 	</a:t>
            </a:r>
            <a:r>
              <a:rPr lang="en-US" sz="2400" b="0">
                <a:solidFill>
                  <a:srgbClr val="339933"/>
                </a:solidFill>
                <a:latin typeface="Arial" pitchFamily="34" charset="0"/>
                <a:cs typeface="Arial" pitchFamily="34" charset="0"/>
              </a:rPr>
              <a:t>//No draw() - Abstract</a:t>
            </a:r>
            <a:br>
              <a:rPr lang="en-US" sz="2400" b="0">
                <a:solidFill>
                  <a:srgbClr val="339933"/>
                </a:solidFill>
                <a:latin typeface="Arial" pitchFamily="34" charset="0"/>
                <a:cs typeface="Arial" pitchFamily="34" charset="0"/>
              </a:rPr>
            </a:br>
            <a:r>
              <a:rPr lang="en-US" sz="2400" b="0">
                <a:solidFill>
                  <a:srgbClr val="0000FF"/>
                </a:solidFill>
                <a:latin typeface="Arial" pitchFamily="34" charset="0"/>
                <a:cs typeface="Arial" pitchFamily="34" charset="0"/>
              </a:rPr>
              <a:t>public</a:t>
            </a:r>
            <a:r>
              <a:rPr lang="en-US" sz="2400" b="0">
                <a:latin typeface="Arial" pitchFamily="34" charset="0"/>
                <a:cs typeface="Arial" pitchFamily="34" charset="0"/>
              </a:rPr>
              <a:t>:</a:t>
            </a:r>
            <a:br>
              <a:rPr lang="en-US" sz="2400" b="0">
                <a:latin typeface="Arial" pitchFamily="34" charset="0"/>
                <a:cs typeface="Arial" pitchFamily="34" charset="0"/>
              </a:rPr>
            </a:br>
            <a:r>
              <a:rPr lang="en-US" sz="2400" b="0">
                <a:solidFill>
                  <a:srgbClr val="0000FF"/>
                </a:solidFill>
                <a:latin typeface="Arial" pitchFamily="34" charset="0"/>
                <a:cs typeface="Arial" pitchFamily="34" charset="0"/>
              </a:rPr>
              <a:t>void</a:t>
            </a:r>
            <a:r>
              <a:rPr lang="en-US" sz="2400" b="0">
                <a:latin typeface="Arial" pitchFamily="34" charset="0"/>
                <a:cs typeface="Arial" pitchFamily="34" charset="0"/>
              </a:rPr>
              <a:t> print(){</a:t>
            </a:r>
            <a:br>
              <a:rPr lang="en-US" sz="2400" b="0">
                <a:latin typeface="Arial" pitchFamily="34" charset="0"/>
                <a:cs typeface="Arial" pitchFamily="34" charset="0"/>
              </a:rPr>
            </a:br>
            <a:r>
              <a:rPr lang="en-US" sz="2400" b="0">
                <a:latin typeface="Arial" pitchFamily="34" charset="0"/>
                <a:cs typeface="Arial" pitchFamily="34" charset="0"/>
              </a:rPr>
              <a:t>  </a:t>
            </a:r>
            <a:r>
              <a:rPr lang="en-US" sz="2400" b="0">
                <a:solidFill>
                  <a:srgbClr val="0000FF"/>
                </a:solidFill>
                <a:latin typeface="Arial" pitchFamily="34" charset="0"/>
                <a:cs typeface="Arial" pitchFamily="34" charset="0"/>
              </a:rPr>
              <a:t>cout</a:t>
            </a:r>
            <a:r>
              <a:rPr lang="en-US" sz="2400" b="0">
                <a:latin typeface="Arial" pitchFamily="34" charset="0"/>
                <a:cs typeface="Arial" pitchFamily="34" charset="0"/>
              </a:rPr>
              <a:t> &lt;&lt; “I am a circle” &lt;&lt; endl;</a:t>
            </a:r>
            <a:br>
              <a:rPr lang="en-US" sz="2400" b="0">
                <a:latin typeface="Arial" pitchFamily="34" charset="0"/>
                <a:cs typeface="Arial" pitchFamily="34" charset="0"/>
              </a:rPr>
            </a:br>
            <a:r>
              <a:rPr lang="en-US" sz="2400" b="0">
                <a:latin typeface="Arial" pitchFamily="34" charset="0"/>
                <a:cs typeface="Arial" pitchFamily="34" charset="0"/>
              </a:rPr>
              <a:t>}</a:t>
            </a:r>
          </a:p>
          <a:p>
            <a:pPr marL="342900" indent="-342900">
              <a:lnSpc>
                <a:spcPct val="90000"/>
              </a:lnSpc>
              <a:buClr>
                <a:schemeClr val="bg2"/>
              </a:buClr>
              <a:buFont typeface="Wingdings" pitchFamily="2" charset="2"/>
              <a:buNone/>
            </a:pPr>
            <a:r>
              <a:rPr lang="en-US" sz="2400" b="0">
                <a:solidFill>
                  <a:srgbClr val="0000FF"/>
                </a:solidFill>
                <a:latin typeface="Arial" pitchFamily="34" charset="0"/>
                <a:cs typeface="Arial" pitchFamily="34" charset="0"/>
              </a:rPr>
              <a:t>class</a:t>
            </a:r>
            <a:r>
              <a:rPr lang="en-US" sz="2400" b="0">
                <a:latin typeface="Arial" pitchFamily="34" charset="0"/>
                <a:cs typeface="Arial" pitchFamily="34" charset="0"/>
              </a:rPr>
              <a:t> </a:t>
            </a:r>
            <a:r>
              <a:rPr lang="en-US" sz="2400" b="0">
                <a:solidFill>
                  <a:srgbClr val="FF0000"/>
                </a:solidFill>
                <a:latin typeface="Arial" pitchFamily="34" charset="0"/>
                <a:cs typeface="Arial" pitchFamily="34" charset="0"/>
              </a:rPr>
              <a:t>Rectangle</a:t>
            </a:r>
            <a:r>
              <a:rPr lang="en-US" sz="2400" b="0">
                <a:latin typeface="Arial" pitchFamily="34" charset="0"/>
                <a:cs typeface="Arial" pitchFamily="34" charset="0"/>
              </a:rPr>
              <a:t> : </a:t>
            </a:r>
            <a:r>
              <a:rPr lang="en-US" sz="2400" b="0">
                <a:solidFill>
                  <a:srgbClr val="0000FF"/>
                </a:solidFill>
                <a:latin typeface="Arial" pitchFamily="34" charset="0"/>
                <a:cs typeface="Arial" pitchFamily="34" charset="0"/>
              </a:rPr>
              <a:t>public</a:t>
            </a:r>
            <a:r>
              <a:rPr lang="en-US" sz="2400" b="0">
                <a:latin typeface="Arial" pitchFamily="34" charset="0"/>
                <a:cs typeface="Arial" pitchFamily="34" charset="0"/>
              </a:rPr>
              <a:t> Shape {</a:t>
            </a:r>
            <a:br>
              <a:rPr lang="en-US" sz="2400" b="0">
                <a:latin typeface="Arial" pitchFamily="34" charset="0"/>
                <a:cs typeface="Arial" pitchFamily="34" charset="0"/>
              </a:rPr>
            </a:br>
            <a:r>
              <a:rPr lang="en-US" sz="2400" b="0">
                <a:solidFill>
                  <a:srgbClr val="0000FF"/>
                </a:solidFill>
                <a:latin typeface="Arial" pitchFamily="34" charset="0"/>
                <a:cs typeface="Arial" pitchFamily="34" charset="0"/>
              </a:rPr>
              <a:t>public</a:t>
            </a:r>
            <a:r>
              <a:rPr lang="en-US" sz="2400" b="0">
                <a:latin typeface="Arial" pitchFamily="34" charset="0"/>
                <a:cs typeface="Arial" pitchFamily="34" charset="0"/>
              </a:rPr>
              <a:t> :</a:t>
            </a:r>
            <a:br>
              <a:rPr lang="en-US" sz="2400" b="0">
                <a:latin typeface="Arial" pitchFamily="34" charset="0"/>
                <a:cs typeface="Arial" pitchFamily="34" charset="0"/>
              </a:rPr>
            </a:br>
            <a:r>
              <a:rPr lang="en-US" sz="2400" b="0">
                <a:solidFill>
                  <a:srgbClr val="0000FF"/>
                </a:solidFill>
                <a:latin typeface="Arial" pitchFamily="34" charset="0"/>
                <a:cs typeface="Arial" pitchFamily="34" charset="0"/>
              </a:rPr>
              <a:t>void</a:t>
            </a:r>
            <a:r>
              <a:rPr lang="en-US" sz="2400" b="0">
                <a:latin typeface="Arial" pitchFamily="34" charset="0"/>
                <a:cs typeface="Arial" pitchFamily="34" charset="0"/>
              </a:rPr>
              <a:t> draw(){ 	</a:t>
            </a:r>
            <a:r>
              <a:rPr lang="en-US" sz="2400" b="0">
                <a:solidFill>
                  <a:srgbClr val="339933"/>
                </a:solidFill>
                <a:latin typeface="Arial" pitchFamily="34" charset="0"/>
                <a:cs typeface="Arial" pitchFamily="34" charset="0"/>
              </a:rPr>
              <a:t>// Override Shape::draw()</a:t>
            </a:r>
            <a:br>
              <a:rPr lang="en-US" sz="2400" b="0">
                <a:latin typeface="Arial" pitchFamily="34" charset="0"/>
                <a:cs typeface="Arial" pitchFamily="34" charset="0"/>
              </a:rPr>
            </a:br>
            <a:r>
              <a:rPr lang="en-US" sz="2400" b="0">
                <a:latin typeface="Arial" pitchFamily="34" charset="0"/>
                <a:cs typeface="Arial" pitchFamily="34" charset="0"/>
              </a:rPr>
              <a:t>  </a:t>
            </a:r>
            <a:r>
              <a:rPr lang="en-US" sz="2400" b="0">
                <a:solidFill>
                  <a:srgbClr val="0000FF"/>
                </a:solidFill>
                <a:latin typeface="Arial" pitchFamily="34" charset="0"/>
                <a:cs typeface="Arial" pitchFamily="34" charset="0"/>
              </a:rPr>
              <a:t>cout</a:t>
            </a:r>
            <a:r>
              <a:rPr lang="en-US" sz="2400" b="0">
                <a:latin typeface="Arial" pitchFamily="34" charset="0"/>
                <a:cs typeface="Arial" pitchFamily="34" charset="0"/>
              </a:rPr>
              <a:t> &lt;&lt; “Drawing Rectangle” &lt;&lt; endl;</a:t>
            </a:r>
            <a:br>
              <a:rPr lang="en-US" sz="2400" b="0">
                <a:latin typeface="Arial" pitchFamily="34" charset="0"/>
                <a:cs typeface="Arial" pitchFamily="34" charset="0"/>
              </a:rPr>
            </a:br>
            <a:r>
              <a:rPr lang="en-US" sz="2400" b="0">
                <a:latin typeface="Arial" pitchFamily="34" charset="0"/>
                <a:cs typeface="Arial" pitchFamily="34" charset="0"/>
              </a:rPr>
              <a:t>}</a:t>
            </a:r>
            <a:endParaRPr lang="en-US" sz="2400" b="0">
              <a:solidFill>
                <a:srgbClr val="FF0000"/>
              </a:solidFill>
              <a:latin typeface="Arial" pitchFamily="34" charset="0"/>
              <a:cs typeface="Arial" pitchFamily="34" charset="0"/>
            </a:endParaRPr>
          </a:p>
        </p:txBody>
      </p:sp>
      <p:sp>
        <p:nvSpPr>
          <p:cNvPr id="9" name="Rectangle 8"/>
          <p:cNvSpPr>
            <a:spLocks noChangeArrowheads="1"/>
          </p:cNvSpPr>
          <p:nvPr/>
        </p:nvSpPr>
        <p:spPr bwMode="auto">
          <a:xfrm>
            <a:off x="457200" y="4929198"/>
            <a:ext cx="8229600" cy="1547802"/>
          </a:xfrm>
          <a:prstGeom prst="rect">
            <a:avLst/>
          </a:prstGeom>
          <a:solidFill>
            <a:srgbClr val="FFE4C9"/>
          </a:solidFill>
          <a:ln w="9525">
            <a:noFill/>
            <a:miter lim="800000"/>
            <a:headEnd/>
            <a:tailEnd/>
          </a:ln>
          <a:effectLst/>
        </p:spPr>
        <p:txBody>
          <a:bodyPr/>
          <a:lstStyle/>
          <a:p>
            <a:pPr marL="342900" indent="-342900">
              <a:lnSpc>
                <a:spcPct val="120000"/>
              </a:lnSpc>
              <a:buClr>
                <a:schemeClr val="bg2"/>
              </a:buClr>
              <a:buFont typeface="Wingdings" pitchFamily="2" charset="2"/>
              <a:buNone/>
            </a:pPr>
            <a:r>
              <a:rPr lang="en-US" sz="2400" b="0">
                <a:latin typeface="Arial" pitchFamily="34" charset="0"/>
                <a:cs typeface="Arial" pitchFamily="34" charset="0"/>
              </a:rPr>
              <a:t>Shape *s;</a:t>
            </a:r>
          </a:p>
          <a:p>
            <a:pPr marL="342900" indent="-342900">
              <a:lnSpc>
                <a:spcPct val="120000"/>
              </a:lnSpc>
              <a:buClr>
                <a:schemeClr val="bg2"/>
              </a:buClr>
              <a:buFont typeface="Wingdings" pitchFamily="2" charset="2"/>
              <a:buNone/>
            </a:pPr>
            <a:r>
              <a:rPr lang="en-US" sz="2400" b="0">
                <a:latin typeface="Arial" pitchFamily="34" charset="0"/>
                <a:cs typeface="Arial" pitchFamily="34" charset="0"/>
              </a:rPr>
              <a:t>Rectangle r; 	</a:t>
            </a:r>
            <a:r>
              <a:rPr lang="en-US" sz="2400" b="0">
                <a:solidFill>
                  <a:srgbClr val="339933"/>
                </a:solidFill>
                <a:latin typeface="Arial" pitchFamily="34" charset="0"/>
                <a:cs typeface="Arial" pitchFamily="34" charset="0"/>
              </a:rPr>
              <a:t>// Valid</a:t>
            </a:r>
          </a:p>
          <a:p>
            <a:pPr marL="342900" indent="-342900">
              <a:lnSpc>
                <a:spcPct val="120000"/>
              </a:lnSpc>
              <a:buClr>
                <a:schemeClr val="bg2"/>
              </a:buClr>
              <a:buFont typeface="Wingdings" pitchFamily="2" charset="2"/>
              <a:buNone/>
            </a:pPr>
            <a:r>
              <a:rPr lang="en-US" sz="2400" b="0">
                <a:latin typeface="Arial" pitchFamily="34" charset="0"/>
                <a:cs typeface="Arial" pitchFamily="34" charset="0"/>
              </a:rPr>
              <a:t>Circle c; 	</a:t>
            </a:r>
            <a:r>
              <a:rPr lang="en-US" sz="2400" b="0">
                <a:solidFill>
                  <a:srgbClr val="FF0000"/>
                </a:solidFill>
                <a:latin typeface="Arial" pitchFamily="34" charset="0"/>
                <a:cs typeface="Arial" pitchFamily="34" charset="0"/>
              </a:rPr>
              <a:t>// error : variable of an abstract class</a:t>
            </a:r>
          </a:p>
        </p:txBody>
      </p:sp>
    </p:spTree>
    <p:extLst>
      <p:ext uri="{BB962C8B-B14F-4D97-AF65-F5344CB8AC3E}">
        <p14:creationId xmlns:p14="http://schemas.microsoft.com/office/powerpoint/2010/main" val="1930367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strVal val="#ppt_w*0.70"/>
                                          </p:val>
                                        </p:tav>
                                        <p:tav tm="100000">
                                          <p:val>
                                            <p:strVal val="#ppt_w"/>
                                          </p:val>
                                        </p:tav>
                                      </p:tavLst>
                                    </p:anim>
                                    <p:anim calcmode="lin" valueType="num">
                                      <p:cBhvr>
                                        <p:cTn id="8" dur="500" fill="hold"/>
                                        <p:tgtEl>
                                          <p:spTgt spid="9"/>
                                        </p:tgtEl>
                                        <p:attrNameLst>
                                          <p:attrName>ppt_h</p:attrName>
                                        </p:attrNameLst>
                                      </p:cBhvr>
                                      <p:tavLst>
                                        <p:tav tm="0">
                                          <p:val>
                                            <p:strVal val="#ppt_h"/>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b="1">
                <a:effectLst>
                  <a:outerShdw blurRad="38100" dist="38100" dir="2700000" algn="tl">
                    <a:srgbClr val="000000">
                      <a:alpha val="43137"/>
                    </a:srgbClr>
                  </a:outerShdw>
                </a:effectLst>
                <a:latin typeface="Arial" pitchFamily="34" charset="0"/>
                <a:cs typeface="Arial" pitchFamily="34" charset="0"/>
              </a:rPr>
              <a:t>Bài toán Tính tiền lương</a:t>
            </a:r>
          </a:p>
        </p:txBody>
      </p:sp>
      <p:sp>
        <p:nvSpPr>
          <p:cNvPr id="3" name="Content Placeholder 2"/>
          <p:cNvSpPr>
            <a:spLocks noGrp="1"/>
          </p:cNvSpPr>
          <p:nvPr>
            <p:ph idx="1"/>
          </p:nvPr>
        </p:nvSpPr>
        <p:spPr>
          <a:xfrm>
            <a:off x="457200" y="1447800"/>
            <a:ext cx="8382000" cy="5181600"/>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00FF"/>
                </a:solidFill>
                <a:latin typeface="Arial" pitchFamily="34" charset="0"/>
                <a:cs typeface="Arial" pitchFamily="34" charset="0"/>
              </a:rPr>
              <a:t>Bài toán: </a:t>
            </a:r>
            <a:r>
              <a:rPr lang="vi-VN" sz="2800">
                <a:solidFill>
                  <a:schemeClr val="tx1">
                    <a:lumMod val="95000"/>
                    <a:lumOff val="5000"/>
                  </a:schemeClr>
                </a:solidFill>
                <a:latin typeface="Arial" pitchFamily="34" charset="0"/>
                <a:cs typeface="Arial" pitchFamily="34" charset="0"/>
              </a:rPr>
              <a:t>Công ty ABC là công ty sản xuất kinh doanh thú nhồi bông. Công ty có nhiều nhân viên làm việc trong </a:t>
            </a:r>
            <a:r>
              <a:rPr lang="vi-VN" sz="2800">
                <a:solidFill>
                  <a:srgbClr val="FF3300"/>
                </a:solidFill>
                <a:latin typeface="Arial" pitchFamily="34" charset="0"/>
                <a:cs typeface="Arial" pitchFamily="34" charset="0"/>
              </a:rPr>
              <a:t>ba bộ phận </a:t>
            </a:r>
            <a:r>
              <a:rPr lang="vi-VN" sz="2800">
                <a:solidFill>
                  <a:schemeClr val="tx1">
                    <a:lumMod val="95000"/>
                    <a:lumOff val="5000"/>
                  </a:schemeClr>
                </a:solidFill>
                <a:latin typeface="Arial" pitchFamily="34" charset="0"/>
                <a:cs typeface="Arial" pitchFamily="34" charset="0"/>
              </a:rPr>
              <a:t>khác nhau: bộ phận quản lý, bộ phận sản xuất, bộ phận văn phòng. Việc tính lương cho nhân viên dựa vào các yếu tố sau:</a:t>
            </a:r>
            <a:endParaRPr lang="en-US" sz="28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Đối với nhân viên văn phòng</a:t>
            </a:r>
            <a:r>
              <a:rPr lang="en-US" sz="2400">
                <a:solidFill>
                  <a:schemeClr val="tx1">
                    <a:lumMod val="95000"/>
                    <a:lumOff val="5000"/>
                  </a:schemeClr>
                </a:solidFill>
                <a:latin typeface="Arial" pitchFamily="34" charset="0"/>
                <a:cs typeface="Arial" pitchFamily="34" charset="0"/>
              </a:rPr>
              <a:t>:</a:t>
            </a:r>
            <a:r>
              <a:rPr lang="vi-VN" sz="2400">
                <a:solidFill>
                  <a:schemeClr val="tx1">
                    <a:lumMod val="95000"/>
                    <a:lumOff val="5000"/>
                  </a:schemeClr>
                </a:solidFill>
                <a:latin typeface="Arial" pitchFamily="34" charset="0"/>
                <a:cs typeface="Arial" pitchFamily="34" charset="0"/>
              </a:rPr>
              <a:t> Lương = Lương Cơ Bản + Số ngày làm việc *100.000 + Trợ Cấp </a:t>
            </a:r>
            <a:endParaRPr lang="en-US" sz="24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39</a:t>
            </a:fld>
            <a:endParaRPr lang="en-US"/>
          </a:p>
        </p:txBody>
      </p:sp>
    </p:spTree>
    <p:extLst>
      <p:ext uri="{BB962C8B-B14F-4D97-AF65-F5344CB8AC3E}">
        <p14:creationId xmlns:p14="http://schemas.microsoft.com/office/powerpoint/2010/main" val="10298173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b="1">
                <a:effectLst>
                  <a:outerShdw blurRad="38100" dist="38100" dir="2700000" algn="tl">
                    <a:srgbClr val="000000">
                      <a:alpha val="43137"/>
                    </a:srgbClr>
                  </a:outerShdw>
                </a:effectLst>
                <a:latin typeface="Arial" pitchFamily="34" charset="0"/>
                <a:cs typeface="Arial" pitchFamily="34" charset="0"/>
              </a:rPr>
              <a:t>Bài toán Tính tiền lương</a:t>
            </a:r>
          </a:p>
        </p:txBody>
      </p:sp>
      <p:sp>
        <p:nvSpPr>
          <p:cNvPr id="3" name="Content Placeholder 2"/>
          <p:cNvSpPr>
            <a:spLocks noGrp="1"/>
          </p:cNvSpPr>
          <p:nvPr>
            <p:ph idx="1"/>
          </p:nvPr>
        </p:nvSpPr>
        <p:spPr>
          <a:xfrm>
            <a:off x="457200" y="1447800"/>
            <a:ext cx="8382000" cy="4925144"/>
          </a:xfrm>
        </p:spPr>
        <p:txBody>
          <a:bodyPr>
            <a:normAutofit fontScale="70000" lnSpcReduction="20000"/>
          </a:bodyPr>
          <a:lstStyle/>
          <a:p>
            <a:pPr marL="457200" lvl="1" indent="0" algn="just">
              <a:lnSpc>
                <a:spcPct val="130000"/>
              </a:lnSpc>
              <a:spcBef>
                <a:spcPts val="300"/>
              </a:spcBef>
              <a:spcAft>
                <a:spcPts val="300"/>
              </a:spcAft>
              <a:buNone/>
            </a:pPr>
            <a:r>
              <a:rPr lang="vi-VN" sz="2400">
                <a:solidFill>
                  <a:srgbClr val="0000FF"/>
                </a:solidFill>
                <a:cs typeface="Arial" pitchFamily="34" charset="0"/>
              </a:rPr>
              <a:t>Bài toán: </a:t>
            </a:r>
            <a:r>
              <a:rPr lang="vi-VN" sz="2400">
                <a:solidFill>
                  <a:schemeClr val="tx1">
                    <a:lumMod val="95000"/>
                    <a:lumOff val="5000"/>
                  </a:schemeClr>
                </a:solidFill>
                <a:cs typeface="Arial" pitchFamily="34" charset="0"/>
              </a:rPr>
              <a:t>Công ty ABC là công ty sản xuất kinh doanh thú nhồi bông. Công ty có nhiều nhân viên làm việc trong </a:t>
            </a:r>
            <a:r>
              <a:rPr lang="vi-VN" sz="2400">
                <a:solidFill>
                  <a:srgbClr val="FF3300"/>
                </a:solidFill>
                <a:cs typeface="Arial" pitchFamily="34" charset="0"/>
              </a:rPr>
              <a:t>ba bộ phận </a:t>
            </a:r>
            <a:r>
              <a:rPr lang="vi-VN" sz="2400">
                <a:solidFill>
                  <a:schemeClr val="tx1">
                    <a:lumMod val="95000"/>
                    <a:lumOff val="5000"/>
                  </a:schemeClr>
                </a:solidFill>
                <a:cs typeface="Arial" pitchFamily="34" charset="0"/>
              </a:rPr>
              <a:t>khác nhau: bộ phận quản lý, bộ phận sản xuất, bộ phận văn phòng. Việc tính lương cho nhân viên dựa vào các yếu tố sau:</a:t>
            </a:r>
            <a:endParaRPr lang="vi-VN" sz="24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Đối với nhân viên sản xuất</a:t>
            </a:r>
            <a:r>
              <a:rPr lang="en-US" sz="2400">
                <a:solidFill>
                  <a:schemeClr val="tx1">
                    <a:lumMod val="95000"/>
                    <a:lumOff val="5000"/>
                  </a:schemeClr>
                </a:solidFill>
                <a:latin typeface="Arial" pitchFamily="34" charset="0"/>
                <a:cs typeface="Arial" pitchFamily="34" charset="0"/>
              </a:rPr>
              <a:t>:</a:t>
            </a:r>
            <a:r>
              <a:rPr lang="vi-VN" sz="2400">
                <a:solidFill>
                  <a:schemeClr val="tx1">
                    <a:lumMod val="95000"/>
                    <a:lumOff val="5000"/>
                  </a:schemeClr>
                </a:solidFill>
                <a:latin typeface="Arial" pitchFamily="34" charset="0"/>
                <a:cs typeface="Arial" pitchFamily="34" charset="0"/>
              </a:rPr>
              <a:t> Lương = Lương Cơ Bản + Số Sản Phẩm * 2.000</a:t>
            </a:r>
            <a:endParaRPr lang="en-US" sz="24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Đối với nhân viên quản lý</a:t>
            </a:r>
            <a:r>
              <a:rPr lang="en-US" sz="2400">
                <a:solidFill>
                  <a:schemeClr val="tx1">
                    <a:lumMod val="95000"/>
                    <a:lumOff val="5000"/>
                  </a:schemeClr>
                </a:solidFill>
                <a:latin typeface="Arial" pitchFamily="34" charset="0"/>
                <a:cs typeface="Arial" pitchFamily="34" charset="0"/>
              </a:rPr>
              <a:t>:</a:t>
            </a:r>
            <a:r>
              <a:rPr lang="vi-VN" sz="2400">
                <a:solidFill>
                  <a:schemeClr val="tx1">
                    <a:lumMod val="95000"/>
                    <a:lumOff val="5000"/>
                  </a:schemeClr>
                </a:solidFill>
                <a:latin typeface="Arial" pitchFamily="34" charset="0"/>
                <a:cs typeface="Arial" pitchFamily="34" charset="0"/>
              </a:rPr>
              <a:t> Lương = Lương Cơ Bản* Hệ số chức vụ + Thưởng.</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Ngoài ra công ty cần quản lý các thông tin về nhân viên của mình như: </a:t>
            </a:r>
            <a:r>
              <a:rPr lang="vi-VN" sz="2800">
                <a:solidFill>
                  <a:srgbClr val="FF3300"/>
                </a:solidFill>
                <a:latin typeface="Arial" pitchFamily="34" charset="0"/>
                <a:cs typeface="Arial" pitchFamily="34" charset="0"/>
              </a:rPr>
              <a:t>họ tên, ngày sinh và các thông số trên</a:t>
            </a:r>
            <a:r>
              <a:rPr lang="vi-VN" sz="2800">
                <a:solidFill>
                  <a:schemeClr val="tx1">
                    <a:lumMod val="95000"/>
                    <a:lumOff val="5000"/>
                  </a:schemeClr>
                </a:solidFill>
                <a:latin typeface="Arial" pitchFamily="34" charset="0"/>
                <a:cs typeface="Arial" pitchFamily="34" charset="0"/>
              </a:rPr>
              <a:t> để tính lương cho từng nhân viên trong công ty.</a:t>
            </a:r>
          </a:p>
          <a:p>
            <a:pPr algn="just">
              <a:lnSpc>
                <a:spcPct val="130000"/>
              </a:lnSpc>
              <a:spcBef>
                <a:spcPts val="300"/>
              </a:spcBef>
              <a:spcAft>
                <a:spcPts val="300"/>
              </a:spcAft>
              <a:buFont typeface="Wingdings" pitchFamily="2" charset="2"/>
              <a:buChar char="v"/>
            </a:pPr>
            <a:r>
              <a:rPr lang="vi-VN" sz="2800">
                <a:solidFill>
                  <a:srgbClr val="FF3300"/>
                </a:solidFill>
                <a:cs typeface="Arial" pitchFamily="34" charset="0"/>
              </a:rPr>
              <a:t>Yêu cầu:</a:t>
            </a:r>
            <a:r>
              <a:rPr lang="vi-VN" sz="2800">
                <a:solidFill>
                  <a:schemeClr val="tx1">
                    <a:lumMod val="95000"/>
                    <a:lumOff val="5000"/>
                  </a:schemeClr>
                </a:solidFill>
                <a:cs typeface="Arial" pitchFamily="34" charset="0"/>
              </a:rPr>
              <a:t> Sử dụng kế thừa đa hình để implement các method:</a:t>
            </a:r>
          </a:p>
          <a:p>
            <a:pPr algn="just">
              <a:lnSpc>
                <a:spcPct val="130000"/>
              </a:lnSpc>
              <a:spcBef>
                <a:spcPts val="300"/>
              </a:spcBef>
              <a:spcAft>
                <a:spcPts val="300"/>
              </a:spcAft>
              <a:buFontTx/>
              <a:buChar char="-"/>
            </a:pPr>
            <a:r>
              <a:rPr lang="vi-VN" sz="2400">
                <a:solidFill>
                  <a:schemeClr val="tx1">
                    <a:lumMod val="95000"/>
                    <a:lumOff val="5000"/>
                  </a:schemeClr>
                </a:solidFill>
                <a:cs typeface="Arial" pitchFamily="34" charset="0"/>
              </a:rPr>
              <a:t>Thực hiện việc tính lương cho từng nhân viên.</a:t>
            </a:r>
          </a:p>
          <a:p>
            <a:pPr algn="just">
              <a:lnSpc>
                <a:spcPct val="130000"/>
              </a:lnSpc>
              <a:spcBef>
                <a:spcPts val="300"/>
              </a:spcBef>
              <a:spcAft>
                <a:spcPts val="300"/>
              </a:spcAft>
              <a:buFontTx/>
              <a:buChar char="-"/>
            </a:pPr>
            <a:r>
              <a:rPr lang="vi-VN" sz="2400">
                <a:solidFill>
                  <a:schemeClr val="tx1">
                    <a:lumMod val="95000"/>
                    <a:lumOff val="5000"/>
                  </a:schemeClr>
                </a:solidFill>
                <a:cs typeface="Arial" pitchFamily="34" charset="0"/>
              </a:rPr>
              <a:t>Tìm kiếm một nhân viên theo họ tên.</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40</a:t>
            </a:fld>
            <a:endParaRPr lang="en-US"/>
          </a:p>
        </p:txBody>
      </p:sp>
    </p:spTree>
    <p:extLst>
      <p:ext uri="{BB962C8B-B14F-4D97-AF65-F5344CB8AC3E}">
        <p14:creationId xmlns:p14="http://schemas.microsoft.com/office/powerpoint/2010/main" val="222288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b="1">
                <a:effectLst>
                  <a:outerShdw blurRad="38100" dist="38100" dir="2700000" algn="tl">
                    <a:srgbClr val="000000">
                      <a:alpha val="43137"/>
                    </a:srgbClr>
                  </a:outerShdw>
                </a:effectLst>
                <a:latin typeface="Arial" pitchFamily="34" charset="0"/>
                <a:cs typeface="Arial" pitchFamily="34" charset="0"/>
              </a:rPr>
              <a:t>Bài toán Tính tiền lương</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endParaRPr lang="vi-VN" sz="24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31/3/26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41</a:t>
            </a:fld>
            <a:endParaRPr lang="en-US"/>
          </a:p>
        </p:txBody>
      </p:sp>
    </p:spTree>
    <p:extLst>
      <p:ext uri="{BB962C8B-B14F-4D97-AF65-F5344CB8AC3E}">
        <p14:creationId xmlns:p14="http://schemas.microsoft.com/office/powerpoint/2010/main" val="2892499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Q &amp; A</a:t>
            </a:r>
          </a:p>
        </p:txBody>
      </p:sp>
      <p:grpSp>
        <p:nvGrpSpPr>
          <p:cNvPr id="7" name="Group 4"/>
          <p:cNvGrpSpPr>
            <a:grpSpLocks/>
          </p:cNvGrpSpPr>
          <p:nvPr/>
        </p:nvGrpSpPr>
        <p:grpSpPr bwMode="auto">
          <a:xfrm>
            <a:off x="2971800" y="1490663"/>
            <a:ext cx="3352800" cy="4757737"/>
            <a:chOff x="2208" y="768"/>
            <a:chExt cx="1170" cy="2517"/>
          </a:xfrm>
        </p:grpSpPr>
        <p:sp>
          <p:nvSpPr>
            <p:cNvPr id="8" name="AutoShape 5"/>
            <p:cNvSpPr>
              <a:spLocks noChangeAspect="1" noChangeArrowheads="1" noTextEdit="1"/>
            </p:cNvSpPr>
            <p:nvPr/>
          </p:nvSpPr>
          <p:spPr bwMode="auto">
            <a:xfrm>
              <a:off x="2208" y="768"/>
              <a:ext cx="1170" cy="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 name="Freeform 6"/>
            <p:cNvSpPr>
              <a:spLocks/>
            </p:cNvSpPr>
            <p:nvPr/>
          </p:nvSpPr>
          <p:spPr bwMode="auto">
            <a:xfrm>
              <a:off x="2582" y="1093"/>
              <a:ext cx="457" cy="507"/>
            </a:xfrm>
            <a:custGeom>
              <a:avLst/>
              <a:gdLst>
                <a:gd name="T0" fmla="*/ 238 w 457"/>
                <a:gd name="T1" fmla="*/ 117 h 507"/>
                <a:gd name="T2" fmla="*/ 198 w 457"/>
                <a:gd name="T3" fmla="*/ 65 h 507"/>
                <a:gd name="T4" fmla="*/ 142 w 457"/>
                <a:gd name="T5" fmla="*/ 26 h 507"/>
                <a:gd name="T6" fmla="*/ 92 w 457"/>
                <a:gd name="T7" fmla="*/ 0 h 507"/>
                <a:gd name="T8" fmla="*/ 52 w 457"/>
                <a:gd name="T9" fmla="*/ 7 h 507"/>
                <a:gd name="T10" fmla="*/ 23 w 457"/>
                <a:gd name="T11" fmla="*/ 36 h 507"/>
                <a:gd name="T12" fmla="*/ 0 w 457"/>
                <a:gd name="T13" fmla="*/ 124 h 507"/>
                <a:gd name="T14" fmla="*/ 9 w 457"/>
                <a:gd name="T15" fmla="*/ 225 h 507"/>
                <a:gd name="T16" fmla="*/ 33 w 457"/>
                <a:gd name="T17" fmla="*/ 322 h 507"/>
                <a:gd name="T18" fmla="*/ 59 w 457"/>
                <a:gd name="T19" fmla="*/ 397 h 507"/>
                <a:gd name="T20" fmla="*/ 109 w 457"/>
                <a:gd name="T21" fmla="*/ 475 h 507"/>
                <a:gd name="T22" fmla="*/ 152 w 457"/>
                <a:gd name="T23" fmla="*/ 507 h 507"/>
                <a:gd name="T24" fmla="*/ 211 w 457"/>
                <a:gd name="T25" fmla="*/ 507 h 507"/>
                <a:gd name="T26" fmla="*/ 271 w 457"/>
                <a:gd name="T27" fmla="*/ 485 h 507"/>
                <a:gd name="T28" fmla="*/ 301 w 457"/>
                <a:gd name="T29" fmla="*/ 429 h 507"/>
                <a:gd name="T30" fmla="*/ 317 w 457"/>
                <a:gd name="T31" fmla="*/ 358 h 507"/>
                <a:gd name="T32" fmla="*/ 311 w 457"/>
                <a:gd name="T33" fmla="*/ 270 h 507"/>
                <a:gd name="T34" fmla="*/ 450 w 457"/>
                <a:gd name="T35" fmla="*/ 280 h 507"/>
                <a:gd name="T36" fmla="*/ 457 w 457"/>
                <a:gd name="T37" fmla="*/ 241 h 507"/>
                <a:gd name="T38" fmla="*/ 298 w 457"/>
                <a:gd name="T39" fmla="*/ 225 h 507"/>
                <a:gd name="T40" fmla="*/ 258 w 457"/>
                <a:gd name="T41" fmla="*/ 134 h 507"/>
                <a:gd name="T42" fmla="*/ 238 w 457"/>
                <a:gd name="T43" fmla="*/ 117 h 50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7"/>
                <a:gd name="T67" fmla="*/ 0 h 507"/>
                <a:gd name="T68" fmla="*/ 457 w 457"/>
                <a:gd name="T69" fmla="*/ 507 h 50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7" h="507">
                  <a:moveTo>
                    <a:pt x="238" y="117"/>
                  </a:moveTo>
                  <a:lnTo>
                    <a:pt x="198" y="65"/>
                  </a:lnTo>
                  <a:lnTo>
                    <a:pt x="142" y="26"/>
                  </a:lnTo>
                  <a:lnTo>
                    <a:pt x="92" y="0"/>
                  </a:lnTo>
                  <a:lnTo>
                    <a:pt x="52" y="7"/>
                  </a:lnTo>
                  <a:lnTo>
                    <a:pt x="23" y="36"/>
                  </a:lnTo>
                  <a:lnTo>
                    <a:pt x="0" y="124"/>
                  </a:lnTo>
                  <a:lnTo>
                    <a:pt x="9" y="225"/>
                  </a:lnTo>
                  <a:lnTo>
                    <a:pt x="33" y="322"/>
                  </a:lnTo>
                  <a:lnTo>
                    <a:pt x="59" y="397"/>
                  </a:lnTo>
                  <a:lnTo>
                    <a:pt x="109" y="475"/>
                  </a:lnTo>
                  <a:lnTo>
                    <a:pt x="152" y="507"/>
                  </a:lnTo>
                  <a:lnTo>
                    <a:pt x="211" y="507"/>
                  </a:lnTo>
                  <a:lnTo>
                    <a:pt x="271" y="485"/>
                  </a:lnTo>
                  <a:lnTo>
                    <a:pt x="301" y="429"/>
                  </a:lnTo>
                  <a:lnTo>
                    <a:pt x="317" y="358"/>
                  </a:lnTo>
                  <a:lnTo>
                    <a:pt x="311" y="270"/>
                  </a:lnTo>
                  <a:lnTo>
                    <a:pt x="450" y="280"/>
                  </a:lnTo>
                  <a:lnTo>
                    <a:pt x="457" y="241"/>
                  </a:lnTo>
                  <a:lnTo>
                    <a:pt x="298" y="225"/>
                  </a:lnTo>
                  <a:lnTo>
                    <a:pt x="258" y="134"/>
                  </a:lnTo>
                  <a:lnTo>
                    <a:pt x="238" y="117"/>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7"/>
            <p:cNvSpPr>
              <a:spLocks/>
            </p:cNvSpPr>
            <p:nvPr/>
          </p:nvSpPr>
          <p:spPr bwMode="auto">
            <a:xfrm>
              <a:off x="2210" y="963"/>
              <a:ext cx="526" cy="813"/>
            </a:xfrm>
            <a:custGeom>
              <a:avLst/>
              <a:gdLst>
                <a:gd name="T0" fmla="*/ 307 w 526"/>
                <a:gd name="T1" fmla="*/ 19 h 813"/>
                <a:gd name="T2" fmla="*/ 373 w 526"/>
                <a:gd name="T3" fmla="*/ 0 h 813"/>
                <a:gd name="T4" fmla="*/ 426 w 526"/>
                <a:gd name="T5" fmla="*/ 3 h 813"/>
                <a:gd name="T6" fmla="*/ 466 w 526"/>
                <a:gd name="T7" fmla="*/ 32 h 813"/>
                <a:gd name="T8" fmla="*/ 493 w 526"/>
                <a:gd name="T9" fmla="*/ 78 h 813"/>
                <a:gd name="T10" fmla="*/ 483 w 526"/>
                <a:gd name="T11" fmla="*/ 126 h 813"/>
                <a:gd name="T12" fmla="*/ 446 w 526"/>
                <a:gd name="T13" fmla="*/ 126 h 813"/>
                <a:gd name="T14" fmla="*/ 456 w 526"/>
                <a:gd name="T15" fmla="*/ 87 h 813"/>
                <a:gd name="T16" fmla="*/ 426 w 526"/>
                <a:gd name="T17" fmla="*/ 52 h 813"/>
                <a:gd name="T18" fmla="*/ 397 w 526"/>
                <a:gd name="T19" fmla="*/ 39 h 813"/>
                <a:gd name="T20" fmla="*/ 347 w 526"/>
                <a:gd name="T21" fmla="*/ 52 h 813"/>
                <a:gd name="T22" fmla="*/ 367 w 526"/>
                <a:gd name="T23" fmla="*/ 91 h 813"/>
                <a:gd name="T24" fmla="*/ 373 w 526"/>
                <a:gd name="T25" fmla="*/ 126 h 813"/>
                <a:gd name="T26" fmla="*/ 367 w 526"/>
                <a:gd name="T27" fmla="*/ 156 h 813"/>
                <a:gd name="T28" fmla="*/ 317 w 526"/>
                <a:gd name="T29" fmla="*/ 169 h 813"/>
                <a:gd name="T30" fmla="*/ 264 w 526"/>
                <a:gd name="T31" fmla="*/ 159 h 813"/>
                <a:gd name="T32" fmla="*/ 254 w 526"/>
                <a:gd name="T33" fmla="*/ 136 h 813"/>
                <a:gd name="T34" fmla="*/ 198 w 526"/>
                <a:gd name="T35" fmla="*/ 198 h 813"/>
                <a:gd name="T36" fmla="*/ 165 w 526"/>
                <a:gd name="T37" fmla="*/ 266 h 813"/>
                <a:gd name="T38" fmla="*/ 119 w 526"/>
                <a:gd name="T39" fmla="*/ 354 h 813"/>
                <a:gd name="T40" fmla="*/ 89 w 526"/>
                <a:gd name="T41" fmla="*/ 432 h 813"/>
                <a:gd name="T42" fmla="*/ 76 w 526"/>
                <a:gd name="T43" fmla="*/ 507 h 813"/>
                <a:gd name="T44" fmla="*/ 86 w 526"/>
                <a:gd name="T45" fmla="*/ 546 h 813"/>
                <a:gd name="T46" fmla="*/ 139 w 526"/>
                <a:gd name="T47" fmla="*/ 595 h 813"/>
                <a:gd name="T48" fmla="*/ 248 w 526"/>
                <a:gd name="T49" fmla="*/ 637 h 813"/>
                <a:gd name="T50" fmla="*/ 307 w 526"/>
                <a:gd name="T51" fmla="*/ 656 h 813"/>
                <a:gd name="T52" fmla="*/ 367 w 526"/>
                <a:gd name="T53" fmla="*/ 666 h 813"/>
                <a:gd name="T54" fmla="*/ 456 w 526"/>
                <a:gd name="T55" fmla="*/ 702 h 813"/>
                <a:gd name="T56" fmla="*/ 522 w 526"/>
                <a:gd name="T57" fmla="*/ 725 h 813"/>
                <a:gd name="T58" fmla="*/ 526 w 526"/>
                <a:gd name="T59" fmla="*/ 770 h 813"/>
                <a:gd name="T60" fmla="*/ 493 w 526"/>
                <a:gd name="T61" fmla="*/ 803 h 813"/>
                <a:gd name="T62" fmla="*/ 453 w 526"/>
                <a:gd name="T63" fmla="*/ 813 h 813"/>
                <a:gd name="T64" fmla="*/ 393 w 526"/>
                <a:gd name="T65" fmla="*/ 783 h 813"/>
                <a:gd name="T66" fmla="*/ 254 w 526"/>
                <a:gd name="T67" fmla="*/ 712 h 813"/>
                <a:gd name="T68" fmla="*/ 139 w 526"/>
                <a:gd name="T69" fmla="*/ 663 h 813"/>
                <a:gd name="T70" fmla="*/ 59 w 526"/>
                <a:gd name="T71" fmla="*/ 608 h 813"/>
                <a:gd name="T72" fmla="*/ 6 w 526"/>
                <a:gd name="T73" fmla="*/ 559 h 813"/>
                <a:gd name="T74" fmla="*/ 0 w 526"/>
                <a:gd name="T75" fmla="*/ 500 h 813"/>
                <a:gd name="T76" fmla="*/ 29 w 526"/>
                <a:gd name="T77" fmla="*/ 422 h 813"/>
                <a:gd name="T78" fmla="*/ 89 w 526"/>
                <a:gd name="T79" fmla="*/ 305 h 813"/>
                <a:gd name="T80" fmla="*/ 145 w 526"/>
                <a:gd name="T81" fmla="*/ 208 h 813"/>
                <a:gd name="T82" fmla="*/ 215 w 526"/>
                <a:gd name="T83" fmla="*/ 107 h 813"/>
                <a:gd name="T84" fmla="*/ 268 w 526"/>
                <a:gd name="T85" fmla="*/ 48 h 813"/>
                <a:gd name="T86" fmla="*/ 334 w 526"/>
                <a:gd name="T87" fmla="*/ 19 h 813"/>
                <a:gd name="T88" fmla="*/ 307 w 526"/>
                <a:gd name="T89" fmla="*/ 19 h 81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26"/>
                <a:gd name="T136" fmla="*/ 0 h 813"/>
                <a:gd name="T137" fmla="*/ 526 w 526"/>
                <a:gd name="T138" fmla="*/ 813 h 81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26" h="813">
                  <a:moveTo>
                    <a:pt x="307" y="19"/>
                  </a:moveTo>
                  <a:lnTo>
                    <a:pt x="373" y="0"/>
                  </a:lnTo>
                  <a:lnTo>
                    <a:pt x="426" y="3"/>
                  </a:lnTo>
                  <a:lnTo>
                    <a:pt x="466" y="32"/>
                  </a:lnTo>
                  <a:lnTo>
                    <a:pt x="493" y="78"/>
                  </a:lnTo>
                  <a:lnTo>
                    <a:pt x="483" y="126"/>
                  </a:lnTo>
                  <a:lnTo>
                    <a:pt x="446" y="126"/>
                  </a:lnTo>
                  <a:lnTo>
                    <a:pt x="456" y="87"/>
                  </a:lnTo>
                  <a:lnTo>
                    <a:pt x="426" y="52"/>
                  </a:lnTo>
                  <a:lnTo>
                    <a:pt x="397" y="39"/>
                  </a:lnTo>
                  <a:lnTo>
                    <a:pt x="347" y="52"/>
                  </a:lnTo>
                  <a:lnTo>
                    <a:pt x="367" y="91"/>
                  </a:lnTo>
                  <a:lnTo>
                    <a:pt x="373" y="126"/>
                  </a:lnTo>
                  <a:lnTo>
                    <a:pt x="367" y="156"/>
                  </a:lnTo>
                  <a:lnTo>
                    <a:pt x="317" y="169"/>
                  </a:lnTo>
                  <a:lnTo>
                    <a:pt x="264" y="159"/>
                  </a:lnTo>
                  <a:lnTo>
                    <a:pt x="254" y="136"/>
                  </a:lnTo>
                  <a:lnTo>
                    <a:pt x="198" y="198"/>
                  </a:lnTo>
                  <a:lnTo>
                    <a:pt x="165" y="266"/>
                  </a:lnTo>
                  <a:lnTo>
                    <a:pt x="119" y="354"/>
                  </a:lnTo>
                  <a:lnTo>
                    <a:pt x="89" y="432"/>
                  </a:lnTo>
                  <a:lnTo>
                    <a:pt x="76" y="507"/>
                  </a:lnTo>
                  <a:lnTo>
                    <a:pt x="86" y="546"/>
                  </a:lnTo>
                  <a:lnTo>
                    <a:pt x="139" y="595"/>
                  </a:lnTo>
                  <a:lnTo>
                    <a:pt x="248" y="637"/>
                  </a:lnTo>
                  <a:lnTo>
                    <a:pt x="307" y="656"/>
                  </a:lnTo>
                  <a:lnTo>
                    <a:pt x="367" y="666"/>
                  </a:lnTo>
                  <a:lnTo>
                    <a:pt x="456" y="702"/>
                  </a:lnTo>
                  <a:lnTo>
                    <a:pt x="522" y="725"/>
                  </a:lnTo>
                  <a:lnTo>
                    <a:pt x="526" y="770"/>
                  </a:lnTo>
                  <a:lnTo>
                    <a:pt x="493" y="803"/>
                  </a:lnTo>
                  <a:lnTo>
                    <a:pt x="453" y="813"/>
                  </a:lnTo>
                  <a:lnTo>
                    <a:pt x="393" y="783"/>
                  </a:lnTo>
                  <a:lnTo>
                    <a:pt x="254" y="712"/>
                  </a:lnTo>
                  <a:lnTo>
                    <a:pt x="139" y="663"/>
                  </a:lnTo>
                  <a:lnTo>
                    <a:pt x="59" y="608"/>
                  </a:lnTo>
                  <a:lnTo>
                    <a:pt x="6" y="559"/>
                  </a:lnTo>
                  <a:lnTo>
                    <a:pt x="0" y="500"/>
                  </a:lnTo>
                  <a:lnTo>
                    <a:pt x="29" y="422"/>
                  </a:lnTo>
                  <a:lnTo>
                    <a:pt x="89" y="305"/>
                  </a:lnTo>
                  <a:lnTo>
                    <a:pt x="145" y="208"/>
                  </a:lnTo>
                  <a:lnTo>
                    <a:pt x="215" y="107"/>
                  </a:lnTo>
                  <a:lnTo>
                    <a:pt x="268" y="48"/>
                  </a:lnTo>
                  <a:lnTo>
                    <a:pt x="334" y="19"/>
                  </a:lnTo>
                  <a:lnTo>
                    <a:pt x="307" y="1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8"/>
            <p:cNvSpPr>
              <a:spLocks/>
            </p:cNvSpPr>
            <p:nvPr/>
          </p:nvSpPr>
          <p:spPr bwMode="auto">
            <a:xfrm>
              <a:off x="2706" y="1637"/>
              <a:ext cx="275" cy="763"/>
            </a:xfrm>
            <a:custGeom>
              <a:avLst/>
              <a:gdLst>
                <a:gd name="T0" fmla="*/ 17 w 275"/>
                <a:gd name="T1" fmla="*/ 59 h 763"/>
                <a:gd name="T2" fmla="*/ 27 w 275"/>
                <a:gd name="T3" fmla="*/ 20 h 763"/>
                <a:gd name="T4" fmla="*/ 70 w 275"/>
                <a:gd name="T5" fmla="*/ 0 h 763"/>
                <a:gd name="T6" fmla="*/ 109 w 275"/>
                <a:gd name="T7" fmla="*/ 0 h 763"/>
                <a:gd name="T8" fmla="*/ 159 w 275"/>
                <a:gd name="T9" fmla="*/ 29 h 763"/>
                <a:gd name="T10" fmla="*/ 206 w 275"/>
                <a:gd name="T11" fmla="*/ 98 h 763"/>
                <a:gd name="T12" fmla="*/ 239 w 275"/>
                <a:gd name="T13" fmla="*/ 169 h 763"/>
                <a:gd name="T14" fmla="*/ 255 w 275"/>
                <a:gd name="T15" fmla="*/ 266 h 763"/>
                <a:gd name="T16" fmla="*/ 269 w 275"/>
                <a:gd name="T17" fmla="*/ 380 h 763"/>
                <a:gd name="T18" fmla="*/ 275 w 275"/>
                <a:gd name="T19" fmla="*/ 490 h 763"/>
                <a:gd name="T20" fmla="*/ 275 w 275"/>
                <a:gd name="T21" fmla="*/ 633 h 763"/>
                <a:gd name="T22" fmla="*/ 255 w 275"/>
                <a:gd name="T23" fmla="*/ 721 h 763"/>
                <a:gd name="T24" fmla="*/ 219 w 275"/>
                <a:gd name="T25" fmla="*/ 753 h 763"/>
                <a:gd name="T26" fmla="*/ 156 w 275"/>
                <a:gd name="T27" fmla="*/ 763 h 763"/>
                <a:gd name="T28" fmla="*/ 90 w 275"/>
                <a:gd name="T29" fmla="*/ 760 h 763"/>
                <a:gd name="T30" fmla="*/ 56 w 275"/>
                <a:gd name="T31" fmla="*/ 721 h 763"/>
                <a:gd name="T32" fmla="*/ 37 w 275"/>
                <a:gd name="T33" fmla="*/ 653 h 763"/>
                <a:gd name="T34" fmla="*/ 20 w 275"/>
                <a:gd name="T35" fmla="*/ 585 h 763"/>
                <a:gd name="T36" fmla="*/ 7 w 275"/>
                <a:gd name="T37" fmla="*/ 461 h 763"/>
                <a:gd name="T38" fmla="*/ 0 w 275"/>
                <a:gd name="T39" fmla="*/ 322 h 763"/>
                <a:gd name="T40" fmla="*/ 0 w 275"/>
                <a:gd name="T41" fmla="*/ 159 h 763"/>
                <a:gd name="T42" fmla="*/ 17 w 275"/>
                <a:gd name="T43" fmla="*/ 88 h 763"/>
                <a:gd name="T44" fmla="*/ 17 w 275"/>
                <a:gd name="T45" fmla="*/ 59 h 7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5"/>
                <a:gd name="T70" fmla="*/ 0 h 763"/>
                <a:gd name="T71" fmla="*/ 275 w 275"/>
                <a:gd name="T72" fmla="*/ 763 h 76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5" h="763">
                  <a:moveTo>
                    <a:pt x="17" y="59"/>
                  </a:moveTo>
                  <a:lnTo>
                    <a:pt x="27" y="20"/>
                  </a:lnTo>
                  <a:lnTo>
                    <a:pt x="70" y="0"/>
                  </a:lnTo>
                  <a:lnTo>
                    <a:pt x="109" y="0"/>
                  </a:lnTo>
                  <a:lnTo>
                    <a:pt x="159" y="29"/>
                  </a:lnTo>
                  <a:lnTo>
                    <a:pt x="206" y="98"/>
                  </a:lnTo>
                  <a:lnTo>
                    <a:pt x="239" y="169"/>
                  </a:lnTo>
                  <a:lnTo>
                    <a:pt x="255" y="266"/>
                  </a:lnTo>
                  <a:lnTo>
                    <a:pt x="269" y="380"/>
                  </a:lnTo>
                  <a:lnTo>
                    <a:pt x="275" y="490"/>
                  </a:lnTo>
                  <a:lnTo>
                    <a:pt x="275" y="633"/>
                  </a:lnTo>
                  <a:lnTo>
                    <a:pt x="255" y="721"/>
                  </a:lnTo>
                  <a:lnTo>
                    <a:pt x="219" y="753"/>
                  </a:lnTo>
                  <a:lnTo>
                    <a:pt x="156" y="763"/>
                  </a:lnTo>
                  <a:lnTo>
                    <a:pt x="90" y="760"/>
                  </a:lnTo>
                  <a:lnTo>
                    <a:pt x="56" y="721"/>
                  </a:lnTo>
                  <a:lnTo>
                    <a:pt x="37" y="653"/>
                  </a:lnTo>
                  <a:lnTo>
                    <a:pt x="20" y="585"/>
                  </a:lnTo>
                  <a:lnTo>
                    <a:pt x="7" y="461"/>
                  </a:lnTo>
                  <a:lnTo>
                    <a:pt x="0" y="322"/>
                  </a:lnTo>
                  <a:lnTo>
                    <a:pt x="0" y="159"/>
                  </a:lnTo>
                  <a:lnTo>
                    <a:pt x="17" y="88"/>
                  </a:lnTo>
                  <a:lnTo>
                    <a:pt x="17" y="5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9"/>
            <p:cNvSpPr>
              <a:spLocks/>
            </p:cNvSpPr>
            <p:nvPr/>
          </p:nvSpPr>
          <p:spPr bwMode="auto">
            <a:xfrm>
              <a:off x="2833" y="1658"/>
              <a:ext cx="420" cy="586"/>
            </a:xfrm>
            <a:custGeom>
              <a:avLst/>
              <a:gdLst>
                <a:gd name="T0" fmla="*/ 23 w 420"/>
                <a:gd name="T1" fmla="*/ 0 h 586"/>
                <a:gd name="T2" fmla="*/ 109 w 420"/>
                <a:gd name="T3" fmla="*/ 10 h 586"/>
                <a:gd name="T4" fmla="*/ 198 w 420"/>
                <a:gd name="T5" fmla="*/ 26 h 586"/>
                <a:gd name="T6" fmla="*/ 291 w 420"/>
                <a:gd name="T7" fmla="*/ 78 h 586"/>
                <a:gd name="T8" fmla="*/ 357 w 420"/>
                <a:gd name="T9" fmla="*/ 117 h 586"/>
                <a:gd name="T10" fmla="*/ 400 w 420"/>
                <a:gd name="T11" fmla="*/ 173 h 586"/>
                <a:gd name="T12" fmla="*/ 420 w 420"/>
                <a:gd name="T13" fmla="*/ 205 h 586"/>
                <a:gd name="T14" fmla="*/ 380 w 420"/>
                <a:gd name="T15" fmla="*/ 300 h 586"/>
                <a:gd name="T16" fmla="*/ 317 w 420"/>
                <a:gd name="T17" fmla="*/ 358 h 586"/>
                <a:gd name="T18" fmla="*/ 241 w 420"/>
                <a:gd name="T19" fmla="*/ 400 h 586"/>
                <a:gd name="T20" fmla="*/ 201 w 420"/>
                <a:gd name="T21" fmla="*/ 426 h 586"/>
                <a:gd name="T22" fmla="*/ 132 w 420"/>
                <a:gd name="T23" fmla="*/ 439 h 586"/>
                <a:gd name="T24" fmla="*/ 129 w 420"/>
                <a:gd name="T25" fmla="*/ 465 h 586"/>
                <a:gd name="T26" fmla="*/ 182 w 420"/>
                <a:gd name="T27" fmla="*/ 488 h 586"/>
                <a:gd name="T28" fmla="*/ 258 w 420"/>
                <a:gd name="T29" fmla="*/ 508 h 586"/>
                <a:gd name="T30" fmla="*/ 330 w 420"/>
                <a:gd name="T31" fmla="*/ 547 h 586"/>
                <a:gd name="T32" fmla="*/ 301 w 420"/>
                <a:gd name="T33" fmla="*/ 576 h 586"/>
                <a:gd name="T34" fmla="*/ 271 w 420"/>
                <a:gd name="T35" fmla="*/ 586 h 586"/>
                <a:gd name="T36" fmla="*/ 228 w 420"/>
                <a:gd name="T37" fmla="*/ 543 h 586"/>
                <a:gd name="T38" fmla="*/ 162 w 420"/>
                <a:gd name="T39" fmla="*/ 517 h 586"/>
                <a:gd name="T40" fmla="*/ 109 w 420"/>
                <a:gd name="T41" fmla="*/ 498 h 586"/>
                <a:gd name="T42" fmla="*/ 109 w 420"/>
                <a:gd name="T43" fmla="*/ 459 h 586"/>
                <a:gd name="T44" fmla="*/ 119 w 420"/>
                <a:gd name="T45" fmla="*/ 417 h 586"/>
                <a:gd name="T46" fmla="*/ 152 w 420"/>
                <a:gd name="T47" fmla="*/ 400 h 586"/>
                <a:gd name="T48" fmla="*/ 258 w 420"/>
                <a:gd name="T49" fmla="*/ 358 h 586"/>
                <a:gd name="T50" fmla="*/ 317 w 420"/>
                <a:gd name="T51" fmla="*/ 293 h 586"/>
                <a:gd name="T52" fmla="*/ 360 w 420"/>
                <a:gd name="T53" fmla="*/ 225 h 586"/>
                <a:gd name="T54" fmla="*/ 350 w 420"/>
                <a:gd name="T55" fmla="*/ 192 h 586"/>
                <a:gd name="T56" fmla="*/ 317 w 420"/>
                <a:gd name="T57" fmla="*/ 153 h 586"/>
                <a:gd name="T58" fmla="*/ 238 w 420"/>
                <a:gd name="T59" fmla="*/ 98 h 586"/>
                <a:gd name="T60" fmla="*/ 142 w 420"/>
                <a:gd name="T61" fmla="*/ 78 h 586"/>
                <a:gd name="T62" fmla="*/ 79 w 420"/>
                <a:gd name="T63" fmla="*/ 75 h 586"/>
                <a:gd name="T64" fmla="*/ 23 w 420"/>
                <a:gd name="T65" fmla="*/ 75 h 586"/>
                <a:gd name="T66" fmla="*/ 0 w 420"/>
                <a:gd name="T67" fmla="*/ 39 h 586"/>
                <a:gd name="T68" fmla="*/ 23 w 420"/>
                <a:gd name="T69" fmla="*/ 0 h 5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20"/>
                <a:gd name="T106" fmla="*/ 0 h 586"/>
                <a:gd name="T107" fmla="*/ 420 w 420"/>
                <a:gd name="T108" fmla="*/ 586 h 58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20" h="586">
                  <a:moveTo>
                    <a:pt x="23" y="0"/>
                  </a:moveTo>
                  <a:lnTo>
                    <a:pt x="109" y="10"/>
                  </a:lnTo>
                  <a:lnTo>
                    <a:pt x="198" y="26"/>
                  </a:lnTo>
                  <a:lnTo>
                    <a:pt x="291" y="78"/>
                  </a:lnTo>
                  <a:lnTo>
                    <a:pt x="357" y="117"/>
                  </a:lnTo>
                  <a:lnTo>
                    <a:pt x="400" y="173"/>
                  </a:lnTo>
                  <a:lnTo>
                    <a:pt x="420" y="205"/>
                  </a:lnTo>
                  <a:lnTo>
                    <a:pt x="380" y="300"/>
                  </a:lnTo>
                  <a:lnTo>
                    <a:pt x="317" y="358"/>
                  </a:lnTo>
                  <a:lnTo>
                    <a:pt x="241" y="400"/>
                  </a:lnTo>
                  <a:lnTo>
                    <a:pt x="201" y="426"/>
                  </a:lnTo>
                  <a:lnTo>
                    <a:pt x="132" y="439"/>
                  </a:lnTo>
                  <a:lnTo>
                    <a:pt x="129" y="465"/>
                  </a:lnTo>
                  <a:lnTo>
                    <a:pt x="182" y="488"/>
                  </a:lnTo>
                  <a:lnTo>
                    <a:pt x="258" y="508"/>
                  </a:lnTo>
                  <a:lnTo>
                    <a:pt x="330" y="547"/>
                  </a:lnTo>
                  <a:lnTo>
                    <a:pt x="301" y="576"/>
                  </a:lnTo>
                  <a:lnTo>
                    <a:pt x="271" y="586"/>
                  </a:lnTo>
                  <a:lnTo>
                    <a:pt x="228" y="543"/>
                  </a:lnTo>
                  <a:lnTo>
                    <a:pt x="162" y="517"/>
                  </a:lnTo>
                  <a:lnTo>
                    <a:pt x="109" y="498"/>
                  </a:lnTo>
                  <a:lnTo>
                    <a:pt x="109" y="459"/>
                  </a:lnTo>
                  <a:lnTo>
                    <a:pt x="119" y="417"/>
                  </a:lnTo>
                  <a:lnTo>
                    <a:pt x="152" y="400"/>
                  </a:lnTo>
                  <a:lnTo>
                    <a:pt x="258" y="358"/>
                  </a:lnTo>
                  <a:lnTo>
                    <a:pt x="317" y="293"/>
                  </a:lnTo>
                  <a:lnTo>
                    <a:pt x="360" y="225"/>
                  </a:lnTo>
                  <a:lnTo>
                    <a:pt x="350" y="192"/>
                  </a:lnTo>
                  <a:lnTo>
                    <a:pt x="317" y="153"/>
                  </a:lnTo>
                  <a:lnTo>
                    <a:pt x="238" y="98"/>
                  </a:lnTo>
                  <a:lnTo>
                    <a:pt x="142" y="78"/>
                  </a:lnTo>
                  <a:lnTo>
                    <a:pt x="79" y="75"/>
                  </a:lnTo>
                  <a:lnTo>
                    <a:pt x="23" y="75"/>
                  </a:lnTo>
                  <a:lnTo>
                    <a:pt x="0" y="39"/>
                  </a:lnTo>
                  <a:lnTo>
                    <a:pt x="23"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0"/>
            <p:cNvSpPr>
              <a:spLocks/>
            </p:cNvSpPr>
            <p:nvPr/>
          </p:nvSpPr>
          <p:spPr bwMode="auto">
            <a:xfrm>
              <a:off x="2866" y="2322"/>
              <a:ext cx="511" cy="947"/>
            </a:xfrm>
            <a:custGeom>
              <a:avLst/>
              <a:gdLst>
                <a:gd name="T0" fmla="*/ 59 w 511"/>
                <a:gd name="T1" fmla="*/ 0 h 947"/>
                <a:gd name="T2" fmla="*/ 13 w 511"/>
                <a:gd name="T3" fmla="*/ 0 h 947"/>
                <a:gd name="T4" fmla="*/ 0 w 511"/>
                <a:gd name="T5" fmla="*/ 68 h 947"/>
                <a:gd name="T6" fmla="*/ 33 w 511"/>
                <a:gd name="T7" fmla="*/ 108 h 947"/>
                <a:gd name="T8" fmla="*/ 139 w 511"/>
                <a:gd name="T9" fmla="*/ 202 h 947"/>
                <a:gd name="T10" fmla="*/ 232 w 511"/>
                <a:gd name="T11" fmla="*/ 322 h 947"/>
                <a:gd name="T12" fmla="*/ 292 w 511"/>
                <a:gd name="T13" fmla="*/ 446 h 947"/>
                <a:gd name="T14" fmla="*/ 301 w 511"/>
                <a:gd name="T15" fmla="*/ 527 h 947"/>
                <a:gd name="T16" fmla="*/ 298 w 511"/>
                <a:gd name="T17" fmla="*/ 586 h 947"/>
                <a:gd name="T18" fmla="*/ 272 w 511"/>
                <a:gd name="T19" fmla="*/ 719 h 947"/>
                <a:gd name="T20" fmla="*/ 238 w 511"/>
                <a:gd name="T21" fmla="*/ 827 h 947"/>
                <a:gd name="T22" fmla="*/ 209 w 511"/>
                <a:gd name="T23" fmla="*/ 889 h 947"/>
                <a:gd name="T24" fmla="*/ 202 w 511"/>
                <a:gd name="T25" fmla="*/ 928 h 947"/>
                <a:gd name="T26" fmla="*/ 232 w 511"/>
                <a:gd name="T27" fmla="*/ 928 h 947"/>
                <a:gd name="T28" fmla="*/ 278 w 511"/>
                <a:gd name="T29" fmla="*/ 915 h 947"/>
                <a:gd name="T30" fmla="*/ 292 w 511"/>
                <a:gd name="T31" fmla="*/ 918 h 947"/>
                <a:gd name="T32" fmla="*/ 388 w 511"/>
                <a:gd name="T33" fmla="*/ 924 h 947"/>
                <a:gd name="T34" fmla="*/ 461 w 511"/>
                <a:gd name="T35" fmla="*/ 947 h 947"/>
                <a:gd name="T36" fmla="*/ 487 w 511"/>
                <a:gd name="T37" fmla="*/ 934 h 947"/>
                <a:gd name="T38" fmla="*/ 511 w 511"/>
                <a:gd name="T39" fmla="*/ 885 h 947"/>
                <a:gd name="T40" fmla="*/ 487 w 511"/>
                <a:gd name="T41" fmla="*/ 859 h 947"/>
                <a:gd name="T42" fmla="*/ 378 w 511"/>
                <a:gd name="T43" fmla="*/ 856 h 947"/>
                <a:gd name="T44" fmla="*/ 301 w 511"/>
                <a:gd name="T45" fmla="*/ 866 h 947"/>
                <a:gd name="T46" fmla="*/ 262 w 511"/>
                <a:gd name="T47" fmla="*/ 885 h 947"/>
                <a:gd name="T48" fmla="*/ 268 w 511"/>
                <a:gd name="T49" fmla="*/ 840 h 947"/>
                <a:gd name="T50" fmla="*/ 308 w 511"/>
                <a:gd name="T51" fmla="*/ 771 h 947"/>
                <a:gd name="T52" fmla="*/ 341 w 511"/>
                <a:gd name="T53" fmla="*/ 664 h 947"/>
                <a:gd name="T54" fmla="*/ 368 w 511"/>
                <a:gd name="T55" fmla="*/ 573 h 947"/>
                <a:gd name="T56" fmla="*/ 348 w 511"/>
                <a:gd name="T57" fmla="*/ 469 h 947"/>
                <a:gd name="T58" fmla="*/ 318 w 511"/>
                <a:gd name="T59" fmla="*/ 358 h 947"/>
                <a:gd name="T60" fmla="*/ 258 w 511"/>
                <a:gd name="T61" fmla="*/ 231 h 947"/>
                <a:gd name="T62" fmla="*/ 172 w 511"/>
                <a:gd name="T63" fmla="*/ 114 h 947"/>
                <a:gd name="T64" fmla="*/ 99 w 511"/>
                <a:gd name="T65" fmla="*/ 29 h 947"/>
                <a:gd name="T66" fmla="*/ 59 w 511"/>
                <a:gd name="T67" fmla="*/ 0 h 9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1"/>
                <a:gd name="T103" fmla="*/ 0 h 947"/>
                <a:gd name="T104" fmla="*/ 511 w 511"/>
                <a:gd name="T105" fmla="*/ 947 h 94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1" h="947">
                  <a:moveTo>
                    <a:pt x="59" y="0"/>
                  </a:moveTo>
                  <a:lnTo>
                    <a:pt x="13" y="0"/>
                  </a:lnTo>
                  <a:lnTo>
                    <a:pt x="0" y="68"/>
                  </a:lnTo>
                  <a:lnTo>
                    <a:pt x="33" y="108"/>
                  </a:lnTo>
                  <a:lnTo>
                    <a:pt x="139" y="202"/>
                  </a:lnTo>
                  <a:lnTo>
                    <a:pt x="232" y="322"/>
                  </a:lnTo>
                  <a:lnTo>
                    <a:pt x="292" y="446"/>
                  </a:lnTo>
                  <a:lnTo>
                    <a:pt x="301" y="527"/>
                  </a:lnTo>
                  <a:lnTo>
                    <a:pt x="298" y="586"/>
                  </a:lnTo>
                  <a:lnTo>
                    <a:pt x="272" y="719"/>
                  </a:lnTo>
                  <a:lnTo>
                    <a:pt x="238" y="827"/>
                  </a:lnTo>
                  <a:lnTo>
                    <a:pt x="209" y="889"/>
                  </a:lnTo>
                  <a:lnTo>
                    <a:pt x="202" y="928"/>
                  </a:lnTo>
                  <a:lnTo>
                    <a:pt x="232" y="928"/>
                  </a:lnTo>
                  <a:lnTo>
                    <a:pt x="278" y="915"/>
                  </a:lnTo>
                  <a:lnTo>
                    <a:pt x="292" y="918"/>
                  </a:lnTo>
                  <a:lnTo>
                    <a:pt x="388" y="924"/>
                  </a:lnTo>
                  <a:lnTo>
                    <a:pt x="461" y="947"/>
                  </a:lnTo>
                  <a:lnTo>
                    <a:pt x="487" y="934"/>
                  </a:lnTo>
                  <a:lnTo>
                    <a:pt x="511" y="885"/>
                  </a:lnTo>
                  <a:lnTo>
                    <a:pt x="487" y="859"/>
                  </a:lnTo>
                  <a:lnTo>
                    <a:pt x="378" y="856"/>
                  </a:lnTo>
                  <a:lnTo>
                    <a:pt x="301" y="866"/>
                  </a:lnTo>
                  <a:lnTo>
                    <a:pt x="262" y="885"/>
                  </a:lnTo>
                  <a:lnTo>
                    <a:pt x="268" y="840"/>
                  </a:lnTo>
                  <a:lnTo>
                    <a:pt x="308" y="771"/>
                  </a:lnTo>
                  <a:lnTo>
                    <a:pt x="341" y="664"/>
                  </a:lnTo>
                  <a:lnTo>
                    <a:pt x="368" y="573"/>
                  </a:lnTo>
                  <a:lnTo>
                    <a:pt x="348" y="469"/>
                  </a:lnTo>
                  <a:lnTo>
                    <a:pt x="318" y="358"/>
                  </a:lnTo>
                  <a:lnTo>
                    <a:pt x="258" y="231"/>
                  </a:lnTo>
                  <a:lnTo>
                    <a:pt x="172" y="114"/>
                  </a:lnTo>
                  <a:lnTo>
                    <a:pt x="99" y="29"/>
                  </a:lnTo>
                  <a:lnTo>
                    <a:pt x="59"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11"/>
            <p:cNvSpPr>
              <a:spLocks/>
            </p:cNvSpPr>
            <p:nvPr/>
          </p:nvSpPr>
          <p:spPr bwMode="auto">
            <a:xfrm>
              <a:off x="2545" y="2320"/>
              <a:ext cx="344" cy="965"/>
            </a:xfrm>
            <a:custGeom>
              <a:avLst/>
              <a:gdLst>
                <a:gd name="T0" fmla="*/ 238 w 344"/>
                <a:gd name="T1" fmla="*/ 0 h 965"/>
                <a:gd name="T2" fmla="*/ 195 w 344"/>
                <a:gd name="T3" fmla="*/ 91 h 965"/>
                <a:gd name="T4" fmla="*/ 165 w 344"/>
                <a:gd name="T5" fmla="*/ 224 h 965"/>
                <a:gd name="T6" fmla="*/ 129 w 344"/>
                <a:gd name="T7" fmla="*/ 371 h 965"/>
                <a:gd name="T8" fmla="*/ 96 w 344"/>
                <a:gd name="T9" fmla="*/ 520 h 965"/>
                <a:gd name="T10" fmla="*/ 96 w 344"/>
                <a:gd name="T11" fmla="*/ 575 h 965"/>
                <a:gd name="T12" fmla="*/ 129 w 344"/>
                <a:gd name="T13" fmla="*/ 673 h 965"/>
                <a:gd name="T14" fmla="*/ 175 w 344"/>
                <a:gd name="T15" fmla="*/ 725 h 965"/>
                <a:gd name="T16" fmla="*/ 218 w 344"/>
                <a:gd name="T17" fmla="*/ 790 h 965"/>
                <a:gd name="T18" fmla="*/ 248 w 344"/>
                <a:gd name="T19" fmla="*/ 838 h 965"/>
                <a:gd name="T20" fmla="*/ 235 w 344"/>
                <a:gd name="T21" fmla="*/ 861 h 965"/>
                <a:gd name="T22" fmla="*/ 159 w 344"/>
                <a:gd name="T23" fmla="*/ 871 h 965"/>
                <a:gd name="T24" fmla="*/ 36 w 344"/>
                <a:gd name="T25" fmla="*/ 890 h 965"/>
                <a:gd name="T26" fmla="*/ 0 w 344"/>
                <a:gd name="T27" fmla="*/ 920 h 965"/>
                <a:gd name="T28" fmla="*/ 30 w 344"/>
                <a:gd name="T29" fmla="*/ 946 h 965"/>
                <a:gd name="T30" fmla="*/ 99 w 344"/>
                <a:gd name="T31" fmla="*/ 965 h 965"/>
                <a:gd name="T32" fmla="*/ 179 w 344"/>
                <a:gd name="T33" fmla="*/ 926 h 965"/>
                <a:gd name="T34" fmla="*/ 238 w 344"/>
                <a:gd name="T35" fmla="*/ 900 h 965"/>
                <a:gd name="T36" fmla="*/ 314 w 344"/>
                <a:gd name="T37" fmla="*/ 890 h 965"/>
                <a:gd name="T38" fmla="*/ 344 w 344"/>
                <a:gd name="T39" fmla="*/ 881 h 965"/>
                <a:gd name="T40" fmla="*/ 334 w 344"/>
                <a:gd name="T41" fmla="*/ 848 h 965"/>
                <a:gd name="T42" fmla="*/ 248 w 344"/>
                <a:gd name="T43" fmla="*/ 764 h 965"/>
                <a:gd name="T44" fmla="*/ 198 w 344"/>
                <a:gd name="T45" fmla="*/ 676 h 965"/>
                <a:gd name="T46" fmla="*/ 155 w 344"/>
                <a:gd name="T47" fmla="*/ 617 h 965"/>
                <a:gd name="T48" fmla="*/ 149 w 344"/>
                <a:gd name="T49" fmla="*/ 559 h 965"/>
                <a:gd name="T50" fmla="*/ 169 w 344"/>
                <a:gd name="T51" fmla="*/ 462 h 965"/>
                <a:gd name="T52" fmla="*/ 215 w 344"/>
                <a:gd name="T53" fmla="*/ 361 h 965"/>
                <a:gd name="T54" fmla="*/ 265 w 344"/>
                <a:gd name="T55" fmla="*/ 189 h 965"/>
                <a:gd name="T56" fmla="*/ 308 w 344"/>
                <a:gd name="T57" fmla="*/ 88 h 965"/>
                <a:gd name="T58" fmla="*/ 304 w 344"/>
                <a:gd name="T59" fmla="*/ 29 h 965"/>
                <a:gd name="T60" fmla="*/ 265 w 344"/>
                <a:gd name="T61" fmla="*/ 0 h 965"/>
                <a:gd name="T62" fmla="*/ 238 w 344"/>
                <a:gd name="T63" fmla="*/ 0 h 9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44"/>
                <a:gd name="T97" fmla="*/ 0 h 965"/>
                <a:gd name="T98" fmla="*/ 344 w 344"/>
                <a:gd name="T99" fmla="*/ 965 h 96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44" h="965">
                  <a:moveTo>
                    <a:pt x="238" y="0"/>
                  </a:moveTo>
                  <a:lnTo>
                    <a:pt x="195" y="91"/>
                  </a:lnTo>
                  <a:lnTo>
                    <a:pt x="165" y="224"/>
                  </a:lnTo>
                  <a:lnTo>
                    <a:pt x="129" y="371"/>
                  </a:lnTo>
                  <a:lnTo>
                    <a:pt x="96" y="520"/>
                  </a:lnTo>
                  <a:lnTo>
                    <a:pt x="96" y="575"/>
                  </a:lnTo>
                  <a:lnTo>
                    <a:pt x="129" y="673"/>
                  </a:lnTo>
                  <a:lnTo>
                    <a:pt x="175" y="725"/>
                  </a:lnTo>
                  <a:lnTo>
                    <a:pt x="218" y="790"/>
                  </a:lnTo>
                  <a:lnTo>
                    <a:pt x="248" y="838"/>
                  </a:lnTo>
                  <a:lnTo>
                    <a:pt x="235" y="861"/>
                  </a:lnTo>
                  <a:lnTo>
                    <a:pt x="159" y="871"/>
                  </a:lnTo>
                  <a:lnTo>
                    <a:pt x="36" y="890"/>
                  </a:lnTo>
                  <a:lnTo>
                    <a:pt x="0" y="920"/>
                  </a:lnTo>
                  <a:lnTo>
                    <a:pt x="30" y="946"/>
                  </a:lnTo>
                  <a:lnTo>
                    <a:pt x="99" y="965"/>
                  </a:lnTo>
                  <a:lnTo>
                    <a:pt x="179" y="926"/>
                  </a:lnTo>
                  <a:lnTo>
                    <a:pt x="238" y="900"/>
                  </a:lnTo>
                  <a:lnTo>
                    <a:pt x="314" y="890"/>
                  </a:lnTo>
                  <a:lnTo>
                    <a:pt x="344" y="881"/>
                  </a:lnTo>
                  <a:lnTo>
                    <a:pt x="334" y="848"/>
                  </a:lnTo>
                  <a:lnTo>
                    <a:pt x="248" y="764"/>
                  </a:lnTo>
                  <a:lnTo>
                    <a:pt x="198" y="676"/>
                  </a:lnTo>
                  <a:lnTo>
                    <a:pt x="155" y="617"/>
                  </a:lnTo>
                  <a:lnTo>
                    <a:pt x="149" y="559"/>
                  </a:lnTo>
                  <a:lnTo>
                    <a:pt x="169" y="462"/>
                  </a:lnTo>
                  <a:lnTo>
                    <a:pt x="215" y="361"/>
                  </a:lnTo>
                  <a:lnTo>
                    <a:pt x="265" y="189"/>
                  </a:lnTo>
                  <a:lnTo>
                    <a:pt x="308" y="88"/>
                  </a:lnTo>
                  <a:lnTo>
                    <a:pt x="304" y="29"/>
                  </a:lnTo>
                  <a:lnTo>
                    <a:pt x="265" y="0"/>
                  </a:lnTo>
                  <a:lnTo>
                    <a:pt x="238"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12"/>
            <p:cNvSpPr>
              <a:spLocks/>
            </p:cNvSpPr>
            <p:nvPr/>
          </p:nvSpPr>
          <p:spPr bwMode="auto">
            <a:xfrm>
              <a:off x="2954" y="770"/>
              <a:ext cx="170" cy="198"/>
            </a:xfrm>
            <a:custGeom>
              <a:avLst/>
              <a:gdLst>
                <a:gd name="T0" fmla="*/ 20 w 170"/>
                <a:gd name="T1" fmla="*/ 9 h 198"/>
                <a:gd name="T2" fmla="*/ 66 w 170"/>
                <a:gd name="T3" fmla="*/ 0 h 198"/>
                <a:gd name="T4" fmla="*/ 110 w 170"/>
                <a:gd name="T5" fmla="*/ 3 h 198"/>
                <a:gd name="T6" fmla="*/ 150 w 170"/>
                <a:gd name="T7" fmla="*/ 22 h 198"/>
                <a:gd name="T8" fmla="*/ 170 w 170"/>
                <a:gd name="T9" fmla="*/ 58 h 198"/>
                <a:gd name="T10" fmla="*/ 170 w 170"/>
                <a:gd name="T11" fmla="*/ 87 h 198"/>
                <a:gd name="T12" fmla="*/ 150 w 170"/>
                <a:gd name="T13" fmla="*/ 126 h 198"/>
                <a:gd name="T14" fmla="*/ 116 w 170"/>
                <a:gd name="T15" fmla="*/ 149 h 198"/>
                <a:gd name="T16" fmla="*/ 66 w 170"/>
                <a:gd name="T17" fmla="*/ 149 h 198"/>
                <a:gd name="T18" fmla="*/ 36 w 170"/>
                <a:gd name="T19" fmla="*/ 168 h 198"/>
                <a:gd name="T20" fmla="*/ 26 w 170"/>
                <a:gd name="T21" fmla="*/ 198 h 198"/>
                <a:gd name="T22" fmla="*/ 0 w 170"/>
                <a:gd name="T23" fmla="*/ 188 h 198"/>
                <a:gd name="T24" fmla="*/ 10 w 170"/>
                <a:gd name="T25" fmla="*/ 149 h 198"/>
                <a:gd name="T26" fmla="*/ 46 w 170"/>
                <a:gd name="T27" fmla="*/ 126 h 198"/>
                <a:gd name="T28" fmla="*/ 106 w 170"/>
                <a:gd name="T29" fmla="*/ 120 h 198"/>
                <a:gd name="T30" fmla="*/ 130 w 170"/>
                <a:gd name="T31" fmla="*/ 97 h 198"/>
                <a:gd name="T32" fmla="*/ 136 w 170"/>
                <a:gd name="T33" fmla="*/ 61 h 198"/>
                <a:gd name="T34" fmla="*/ 110 w 170"/>
                <a:gd name="T35" fmla="*/ 29 h 198"/>
                <a:gd name="T36" fmla="*/ 70 w 170"/>
                <a:gd name="T37" fmla="*/ 29 h 198"/>
                <a:gd name="T38" fmla="*/ 26 w 170"/>
                <a:gd name="T39" fmla="*/ 39 h 198"/>
                <a:gd name="T40" fmla="*/ 10 w 170"/>
                <a:gd name="T41" fmla="*/ 29 h 198"/>
                <a:gd name="T42" fmla="*/ 20 w 170"/>
                <a:gd name="T43" fmla="*/ 9 h 19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0"/>
                <a:gd name="T67" fmla="*/ 0 h 198"/>
                <a:gd name="T68" fmla="*/ 170 w 170"/>
                <a:gd name="T69" fmla="*/ 198 h 19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0" h="198">
                  <a:moveTo>
                    <a:pt x="20" y="9"/>
                  </a:moveTo>
                  <a:lnTo>
                    <a:pt x="66" y="0"/>
                  </a:lnTo>
                  <a:lnTo>
                    <a:pt x="110" y="3"/>
                  </a:lnTo>
                  <a:lnTo>
                    <a:pt x="150" y="22"/>
                  </a:lnTo>
                  <a:lnTo>
                    <a:pt x="170" y="58"/>
                  </a:lnTo>
                  <a:lnTo>
                    <a:pt x="170" y="87"/>
                  </a:lnTo>
                  <a:lnTo>
                    <a:pt x="150" y="126"/>
                  </a:lnTo>
                  <a:lnTo>
                    <a:pt x="116" y="149"/>
                  </a:lnTo>
                  <a:lnTo>
                    <a:pt x="66" y="149"/>
                  </a:lnTo>
                  <a:lnTo>
                    <a:pt x="36" y="168"/>
                  </a:lnTo>
                  <a:lnTo>
                    <a:pt x="26" y="198"/>
                  </a:lnTo>
                  <a:lnTo>
                    <a:pt x="0" y="188"/>
                  </a:lnTo>
                  <a:lnTo>
                    <a:pt x="10" y="149"/>
                  </a:lnTo>
                  <a:lnTo>
                    <a:pt x="46" y="126"/>
                  </a:lnTo>
                  <a:lnTo>
                    <a:pt x="106" y="120"/>
                  </a:lnTo>
                  <a:lnTo>
                    <a:pt x="130" y="97"/>
                  </a:lnTo>
                  <a:lnTo>
                    <a:pt x="136" y="61"/>
                  </a:lnTo>
                  <a:lnTo>
                    <a:pt x="110" y="29"/>
                  </a:lnTo>
                  <a:lnTo>
                    <a:pt x="70" y="29"/>
                  </a:lnTo>
                  <a:lnTo>
                    <a:pt x="26" y="39"/>
                  </a:lnTo>
                  <a:lnTo>
                    <a:pt x="10" y="29"/>
                  </a:lnTo>
                  <a:lnTo>
                    <a:pt x="20" y="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13"/>
            <p:cNvSpPr>
              <a:spLocks/>
            </p:cNvSpPr>
            <p:nvPr/>
          </p:nvSpPr>
          <p:spPr bwMode="auto">
            <a:xfrm>
              <a:off x="2913" y="1001"/>
              <a:ext cx="53" cy="54"/>
            </a:xfrm>
            <a:custGeom>
              <a:avLst/>
              <a:gdLst>
                <a:gd name="T0" fmla="*/ 53 w 53"/>
                <a:gd name="T1" fmla="*/ 3 h 54"/>
                <a:gd name="T2" fmla="*/ 26 w 53"/>
                <a:gd name="T3" fmla="*/ 0 h 54"/>
                <a:gd name="T4" fmla="*/ 8 w 53"/>
                <a:gd name="T5" fmla="*/ 20 h 54"/>
                <a:gd name="T6" fmla="*/ 0 w 53"/>
                <a:gd name="T7" fmla="*/ 51 h 54"/>
                <a:gd name="T8" fmla="*/ 26 w 53"/>
                <a:gd name="T9" fmla="*/ 54 h 54"/>
                <a:gd name="T10" fmla="*/ 48 w 53"/>
                <a:gd name="T11" fmla="*/ 40 h 54"/>
                <a:gd name="T12" fmla="*/ 53 w 53"/>
                <a:gd name="T13" fmla="*/ 3 h 54"/>
                <a:gd name="T14" fmla="*/ 0 60000 65536"/>
                <a:gd name="T15" fmla="*/ 0 60000 65536"/>
                <a:gd name="T16" fmla="*/ 0 60000 65536"/>
                <a:gd name="T17" fmla="*/ 0 60000 65536"/>
                <a:gd name="T18" fmla="*/ 0 60000 65536"/>
                <a:gd name="T19" fmla="*/ 0 60000 65536"/>
                <a:gd name="T20" fmla="*/ 0 60000 65536"/>
                <a:gd name="T21" fmla="*/ 0 w 53"/>
                <a:gd name="T22" fmla="*/ 0 h 54"/>
                <a:gd name="T23" fmla="*/ 53 w 53"/>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54">
                  <a:moveTo>
                    <a:pt x="53" y="3"/>
                  </a:moveTo>
                  <a:lnTo>
                    <a:pt x="26" y="0"/>
                  </a:lnTo>
                  <a:lnTo>
                    <a:pt x="8" y="20"/>
                  </a:lnTo>
                  <a:lnTo>
                    <a:pt x="0" y="51"/>
                  </a:lnTo>
                  <a:lnTo>
                    <a:pt x="26" y="54"/>
                  </a:lnTo>
                  <a:lnTo>
                    <a:pt x="48" y="40"/>
                  </a:lnTo>
                  <a:lnTo>
                    <a:pt x="53" y="3"/>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931890426"/>
      </p:ext>
    </p:extLst>
  </p:cSld>
  <p:clrMapOvr>
    <a:masterClrMapping/>
  </p:clrMapOvr>
  <p:transition/>
</p:sld>
</file>

<file path=ppt/theme/theme1.xml><?xml version="1.0" encoding="utf-8"?>
<a:theme xmlns:a="http://schemas.openxmlformats.org/drawingml/2006/main" name="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16237</TotalTime>
  <Words>4343</Words>
  <Application>Microsoft Macintosh PowerPoint</Application>
  <PresentationFormat>On-screen Show (4:3)</PresentationFormat>
  <Paragraphs>507</Paragraphs>
  <Slides>42</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Times New Roman</vt:lpstr>
      <vt:lpstr>Wingdings</vt:lpstr>
      <vt:lpstr>Template</vt:lpstr>
      <vt:lpstr>CHƯƠNG 6. TÍNH ĐA HÌNH</vt:lpstr>
      <vt:lpstr>Nội dung</vt:lpstr>
      <vt:lpstr>Giới thiệu</vt:lpstr>
      <vt:lpstr>Giới thiệu</vt:lpstr>
      <vt:lpstr>Bài toán</vt:lpstr>
      <vt:lpstr>Bài toán</vt:lpstr>
      <vt:lpstr>Ví dụ</vt:lpstr>
      <vt:lpstr>Ví dụ</vt:lpstr>
      <vt:lpstr>Ví dụ</vt:lpstr>
      <vt:lpstr>Ví dụ</vt:lpstr>
      <vt:lpstr>Ví dụ</vt:lpstr>
      <vt:lpstr>Ví dụ</vt:lpstr>
      <vt:lpstr>Dùng vùng chọn kiểu</vt:lpstr>
      <vt:lpstr>Dùng vùng chọn kiểu – Ví dụ</vt:lpstr>
      <vt:lpstr>Dùng vùng chọn kiểu – Ví dụ</vt:lpstr>
      <vt:lpstr>Dùng vùng chọn kiểu – Ví dụ</vt:lpstr>
      <vt:lpstr>Dùng vùng chọn kiểu – Ví dụ</vt:lpstr>
      <vt:lpstr>Dùng vùng chọn kiểu – Ví dụ</vt:lpstr>
      <vt:lpstr>Dùng vùng chọn kiểu</vt:lpstr>
      <vt:lpstr>Phương thức ảo</vt:lpstr>
      <vt:lpstr>Phương thức ảo</vt:lpstr>
      <vt:lpstr>Phương thức ảo</vt:lpstr>
      <vt:lpstr>Phương thức ảo – Ví dụ</vt:lpstr>
      <vt:lpstr>Thêm lớp con mới</vt:lpstr>
      <vt:lpstr>Thêm lớp con mới – Ví dụ</vt:lpstr>
      <vt:lpstr>Thêm lớp con mới</vt:lpstr>
      <vt:lpstr>Lưu ý khi sử dụng phương thức ảo</vt:lpstr>
      <vt:lpstr>Lưu ý khi sử dụng phương thức ảo</vt:lpstr>
      <vt:lpstr>Cơ chế thực hiện phương thức ảo</vt:lpstr>
      <vt:lpstr>Cơ chế thực hiện phương thức ảo</vt:lpstr>
      <vt:lpstr>Phương thức hủy bỏ ảo</vt:lpstr>
      <vt:lpstr>Phương thức hủy bỏ ảo</vt:lpstr>
      <vt:lpstr>Phương thức thuần ảo và lớp cơ sở trừu tượng</vt:lpstr>
      <vt:lpstr>Phương thức thuần ảo và lớp cơ sở trừu tượng</vt:lpstr>
      <vt:lpstr>Phương thức thuần ảo và lớp cơ sở trừu tượng</vt:lpstr>
      <vt:lpstr>Phương thức thuần ảo và lớp cơ sở trừu tượng</vt:lpstr>
      <vt:lpstr>Ví dụ</vt:lpstr>
      <vt:lpstr>Ví dụ</vt:lpstr>
      <vt:lpstr>Bài toán Tính tiền lương</vt:lpstr>
      <vt:lpstr>Bài toán Tính tiền lương</vt:lpstr>
      <vt:lpstr>Bài toán Tính tiền lương</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Nguyet Minh</dc:creator>
  <cp:lastModifiedBy>Tuan Hai Vu</cp:lastModifiedBy>
  <cp:revision>700</cp:revision>
  <cp:lastPrinted>1601-01-01T00:00:00Z</cp:lastPrinted>
  <dcterms:created xsi:type="dcterms:W3CDTF">1601-01-01T00:00:00Z</dcterms:created>
  <dcterms:modified xsi:type="dcterms:W3CDTF">2026-04-03T00:35:10Z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