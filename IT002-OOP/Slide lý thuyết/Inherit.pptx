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1012" r:id="rId3"/>
    <p:sldId id="1013" r:id="rId4"/>
    <p:sldId id="1014" r:id="rId5"/>
    <p:sldId id="1015" r:id="rId6"/>
    <p:sldId id="1016" r:id="rId7"/>
    <p:sldId id="1017" r:id="rId8"/>
    <p:sldId id="1018" r:id="rId9"/>
    <p:sldId id="1019" r:id="rId10"/>
    <p:sldId id="1020" r:id="rId11"/>
    <p:sldId id="1022" r:id="rId12"/>
    <p:sldId id="1021" r:id="rId13"/>
    <p:sldId id="1023" r:id="rId14"/>
    <p:sldId id="1024" r:id="rId15"/>
    <p:sldId id="1025" r:id="rId16"/>
    <p:sldId id="1027" r:id="rId17"/>
    <p:sldId id="1026" r:id="rId18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35"/>
    <p:restoredTop sz="94490"/>
  </p:normalViewPr>
  <p:slideViewPr>
    <p:cSldViewPr snapToGrid="0">
      <p:cViewPr>
        <p:scale>
          <a:sx n="125" d="100"/>
          <a:sy n="125" d="100"/>
        </p:scale>
        <p:origin x="144" y="-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5E20D-330D-AE4A-A6A6-1850AD2ED2D6}" type="datetimeFigureOut">
              <a:t>24/3/26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D1A52-94DB-CE4E-80E4-5A5A3CBD908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4126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D1A52-94DB-CE4E-80E4-5A5A3CBD908E}" type="slidenum">
              <a:t>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60914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A3BBE-F333-88AB-86D5-AE1DCF7F5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32BDD-4558-C263-5C23-599AA2F91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D7372-97F5-D1EB-44FE-F7668A8F5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277B3-D206-0107-F8FA-1DD97E846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D1A52-94DB-CE4E-80E4-5A5A3CBD908E}" type="slidenum"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28312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390F0-29E3-0CF3-BB56-97201E84B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51179-4F5E-8D4D-6CE0-A96E72145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D2020-14FA-BE08-27DD-D98260A18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3555B-C40F-CDEF-B8C9-757E39DB5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D1A52-94DB-CE4E-80E4-5A5A3CBD908E}" type="slidenum"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50968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0FD1A-41A1-AD71-6942-C16138E8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8876C-4891-2346-2B50-5053BA73C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EA3429-2FE5-2F3C-3DAD-B3CED5B10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EB9B3-BDE3-C49B-1710-5E8E302CC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D1A52-94DB-CE4E-80E4-5A5A3CBD908E}" type="slidenum"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95560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03A29-78C2-68E4-6373-FE670837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6C014-2089-0516-6223-ACB9A3602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14A1A-64B8-6DBD-55AA-0194FAAF4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BA78A-664D-737C-6CBB-B8B806C6C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D1A52-94DB-CE4E-80E4-5A5A3CBD908E}" type="slidenum">
              <a:t>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48958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4D42E-6647-100E-95D9-BA675B771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271C9-49C9-4D7B-3A54-AFE152991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E40B6-4F52-B41E-2609-D0F4C7F8E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8B16F-2AE9-2A66-AA7A-1CE0EB781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D1A52-94DB-CE4E-80E4-5A5A3CBD908E}" type="slidenum">
              <a:t>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93609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64FF-7DF4-41D7-99B5-2D441C2C5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E4A33-2DEA-9442-4397-591847472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9ED7A-7B08-DB28-4655-1C30750A7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94BCD-4733-9D5E-4CBA-40F29400E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D1A52-94DB-CE4E-80E4-5A5A3CBD908E}" type="slidenum"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48678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E9733-B76E-3335-2153-74A049D72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44C4B-C460-074A-5886-100E13A89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766E5-B9D1-77EC-27A3-102424E05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F2579-8069-06A8-FA74-3742F1266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D1A52-94DB-CE4E-80E4-5A5A3CBD908E}" type="slidenum">
              <a:t>10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61013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D1A52-94DB-CE4E-80E4-5A5A3CBD908E}" type="slidenum">
              <a:rPr lang="en-VN"/>
              <a:t>12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6864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879C-66BC-BE38-71AE-B0A52BE99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E43DC-52BF-FFC7-A6F7-77C3F65F6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B3760-1A42-A517-B329-17A032D0F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CC23C-BA29-DE42-B018-0A671B23AB5C}" type="datetime1">
              <a:t>24/3/26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3FEB5-9A1D-C760-3A59-6961C418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C8E25-5819-D9BB-2B7B-FD89ADD9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83324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E967-6FF5-2AB7-5A89-60DD8D39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E7CEF-4815-3E95-7909-2FA3AD96C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71C15-89E5-727B-1490-05CC5367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D96D-7531-BC47-A011-B5D6B3D43310}" type="datetime1">
              <a:t>24/3/26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CB36A-D94F-AC92-80B1-8040A94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88F61-1BFA-0780-D5CD-C8709F5C0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6BE16-5785-3287-F219-A63A98C1F6B4}"/>
              </a:ext>
            </a:extLst>
          </p:cNvPr>
          <p:cNvSpPr txBox="1"/>
          <p:nvPr userDrawn="1"/>
        </p:nvSpPr>
        <p:spPr>
          <a:xfrm>
            <a:off x="10025743" y="180459"/>
            <a:ext cx="2008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VN" b="1"/>
              <a:t>IT002 - OOP</a:t>
            </a:r>
          </a:p>
        </p:txBody>
      </p:sp>
    </p:spTree>
    <p:extLst>
      <p:ext uri="{BB962C8B-B14F-4D97-AF65-F5344CB8AC3E}">
        <p14:creationId xmlns:p14="http://schemas.microsoft.com/office/powerpoint/2010/main" val="3226230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098A-1FF5-4E9C-3958-AAAE5EB1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3F6B0-B22B-B8B5-5476-1A0488046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31000-AB74-AEFD-50FE-977A929A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F25-CCF5-1749-B789-DEA9DF3915D1}" type="datetime1">
              <a:t>24/3/26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11593-2B6B-2CA0-DB2F-19489B8C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FED81-0B56-6FA2-95D2-CECADDCD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69224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CBAD-C94E-8462-42F7-6CE1DEB6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A8E9-46E4-3722-3678-DB1E6624F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D4EB0-C0BC-93AB-256D-477F0B020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385DA-986F-905C-F93C-11946E71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BD3F-C60C-8F40-A1AA-746E79F526C8}" type="datetime1">
              <a:t>24/3/26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EEC57-B8A1-E8E8-D3C6-C712BD1EB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D3BD5-89C2-ABF6-BC50-26CCE3F3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7107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AD908-C8FB-B40D-5338-B12F38A31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DDE4-2F4D-BD99-A231-CA6008F12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206A1-A852-DFD4-176B-D30D76696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BD5B1-0FAD-D905-193A-A988870AE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492ABD-06A7-0A8A-B162-6B100DD63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FA0F5E-BC75-DA33-C23A-2C084BB4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63D55-6338-8241-BEA3-C8267015B326}" type="datetime1">
              <a:t>24/3/26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F6DAFF-76C5-9BAB-7595-F3D8650BF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A2C9E-5705-21CC-7F2F-2C316299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899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4701-A80A-232F-0854-5DA8AFC2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11774C-BD97-3E58-CD40-4C950D60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82EF4-4D34-8E49-9BB8-7FCD8F64F56C}" type="datetime1">
              <a:t>24/3/26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13042-37A8-CF0D-C96F-6512F274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67E85-AB14-0D13-176E-0A06051F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737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EB413-185C-B41C-723A-9D4A6A67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5D4F-1253-B847-8798-F89DBC53ECA3}" type="datetime1">
              <a:t>24/3/26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4A144-520E-E52F-DDF2-1E748F63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450AA-C86A-7829-97FB-257B463C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2151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9349-7940-BEF0-B4D4-5A7C8268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6DDD3-2B20-C5F9-4DC4-024003B7A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E6026-5F77-9B71-E592-DF3B22831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51FFE-290A-F231-2373-CB0706827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E56D-C72A-354F-B0FC-65EC27F745C6}" type="datetime1">
              <a:t>24/3/26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C637D-0DBB-9D94-B84C-DD221A50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D7C7B-EC72-7C24-BC80-9FF123A0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2212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795E-B04D-560C-A632-0313EB8BD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418B6-E0F2-379C-988E-BFAA86E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D15F2-ED27-6782-8C8C-9B6E07184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F3CA7-0F96-3431-B3F4-06BC0EFD0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E616-05B3-E949-A580-BAD4E917BCA4}" type="datetime1">
              <a:t>24/3/26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5F99E-A59B-DABF-2474-1B2A079D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90139-F785-8A64-8D32-C52E8E26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4178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89D33-1B65-702E-AF68-091EFE88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663F3-7D0E-B1DA-F503-E4430BF7B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C38CE-AAC4-CCE9-CDB5-8A582C91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8E9E1-1963-2549-A392-0CE442C818D3}" type="datetime1">
              <a:t>24/3/26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90330-95FE-A9AD-654D-097C1AB4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1C464-4061-61F4-DFB5-70DE041B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48787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DDA118-9B30-AADB-BB00-1A29AD187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6A5B8-6D26-4874-BB54-AAA2C8A08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A1E27-ACFA-67B6-8F29-D119DAA1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FA920-85BE-4747-816A-47AD76A510FA}" type="datetime1">
              <a:t>24/3/26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8A6B8-C0F3-CDF8-2607-D9CE1D13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331BE-9413-D25C-37C9-D572037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8142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82CA9-C9D9-B13F-66CB-521D6AC8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7227C-7C52-761E-38B0-5791D2198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0B1A1-6E5E-9BBC-C985-0A43829F9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08FC7-06EA-184C-B437-1FD4117B159D}" type="datetime1">
              <a:t>24/3/26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9B3D4-A45B-92A5-6062-5A7DF6FA3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62E2A-F337-A4D9-6F2A-F99944438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99396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0750B-39EE-3B01-075B-7F8F628047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VN"/>
              <a:t>Inheritance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2B4C0-AF9F-C53E-D24C-0775EFEFB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VN"/>
              <a:t>Vu Tuan Hai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02840-6693-8282-76B9-EE98C0B0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780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6661-DCCB-C459-A07C-3806672A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Relationships (1/4)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C1F96-7405-8B8F-D4A0-576D09884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43805" cy="4351338"/>
          </a:xfrm>
        </p:spPr>
        <p:txBody>
          <a:bodyPr/>
          <a:lstStyle/>
          <a:p>
            <a:pPr>
              <a:buFontTx/>
              <a:buChar char="-"/>
            </a:pPr>
            <a:r>
              <a:rPr lang="en-VN"/>
              <a:t>1-1</a:t>
            </a:r>
          </a:p>
          <a:p>
            <a:pPr>
              <a:buFontTx/>
              <a:buChar char="-"/>
            </a:pPr>
            <a:r>
              <a:rPr lang="en-VN"/>
              <a:t>1-N</a:t>
            </a:r>
          </a:p>
          <a:p>
            <a:pPr>
              <a:buFontTx/>
              <a:buChar char="-"/>
            </a:pPr>
            <a:r>
              <a:rPr lang="en-VN"/>
              <a:t>N-N</a:t>
            </a:r>
          </a:p>
          <a:p>
            <a:pPr>
              <a:buFontTx/>
              <a:buChar char="-"/>
            </a:pPr>
            <a:r>
              <a:rPr lang="en-VN"/>
              <a:t>Generalization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0672263-55EC-248B-0E08-F9FC462F50C4}"/>
                  </a:ext>
                </a:extLst>
              </p:cNvPr>
              <p:cNvSpPr/>
              <p:nvPr/>
            </p:nvSpPr>
            <p:spPr>
              <a:xfrm>
                <a:off x="5718586" y="1866736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0672263-55EC-248B-0E08-F9FC462F50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586" y="1866736"/>
                <a:ext cx="1524000" cy="609600"/>
              </a:xfrm>
              <a:prstGeom prst="rect">
                <a:avLst/>
              </a:prstGeom>
              <a:blipFill>
                <a:blip r:embed="rId2"/>
                <a:stretch>
                  <a:fillRect t="-2000" b="-1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EAE8EEB-A2AF-5248-524F-0365F1344FCC}"/>
                  </a:ext>
                </a:extLst>
              </p:cNvPr>
              <p:cNvSpPr/>
              <p:nvPr/>
            </p:nvSpPr>
            <p:spPr>
              <a:xfrm>
                <a:off x="9299986" y="1866736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𝐵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EAE8EEB-A2AF-5248-524F-0365F1344F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9986" y="1866736"/>
                <a:ext cx="1524000" cy="609600"/>
              </a:xfrm>
              <a:prstGeom prst="rect">
                <a:avLst/>
              </a:prstGeom>
              <a:blipFill>
                <a:blip r:embed="rId3"/>
                <a:stretch>
                  <a:fillRect t="-2000" b="-1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D4FCF4-0F7B-123F-5830-7AF2F1C07FE5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242586" y="2171536"/>
            <a:ext cx="2057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321BF2-7D6F-120E-936C-BA2FED7854C2}"/>
              </a:ext>
            </a:extLst>
          </p:cNvPr>
          <p:cNvSpPr txBox="1"/>
          <p:nvPr/>
        </p:nvSpPr>
        <p:spPr>
          <a:xfrm>
            <a:off x="7547386" y="1690688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~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A3EDC5-6564-8E23-D55E-25CAAB875779}"/>
              </a:ext>
            </a:extLst>
          </p:cNvPr>
          <p:cNvSpPr/>
          <p:nvPr/>
        </p:nvSpPr>
        <p:spPr>
          <a:xfrm>
            <a:off x="4461285" y="2957184"/>
            <a:ext cx="2057399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Wife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1A4E60-8DEB-18F4-3CB2-AE13ED77328F}"/>
              </a:ext>
            </a:extLst>
          </p:cNvPr>
          <p:cNvSpPr/>
          <p:nvPr/>
        </p:nvSpPr>
        <p:spPr>
          <a:xfrm>
            <a:off x="8576086" y="2957184"/>
            <a:ext cx="22479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Husband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2707A5-7F93-F879-9DD6-74BF8523234C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518684" y="3261984"/>
            <a:ext cx="20574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10D744F-6B1E-425C-917C-B4928D4D3FB3}"/>
              </a:ext>
            </a:extLst>
          </p:cNvPr>
          <p:cNvSpPr txBox="1"/>
          <p:nvPr/>
        </p:nvSpPr>
        <p:spPr>
          <a:xfrm>
            <a:off x="6518686" y="2804784"/>
            <a:ext cx="18288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???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A71E53-8649-486E-4D93-6B2F88EBF4E7}"/>
              </a:ext>
            </a:extLst>
          </p:cNvPr>
          <p:cNvSpPr/>
          <p:nvPr/>
        </p:nvSpPr>
        <p:spPr>
          <a:xfrm>
            <a:off x="4461286" y="3788408"/>
            <a:ext cx="20574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Country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D79F1E-A01B-8297-4513-F68D708E0086}"/>
              </a:ext>
            </a:extLst>
          </p:cNvPr>
          <p:cNvSpPr/>
          <p:nvPr/>
        </p:nvSpPr>
        <p:spPr>
          <a:xfrm>
            <a:off x="8576086" y="3788408"/>
            <a:ext cx="22479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Capital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66E0F61-F742-6CAA-EBD7-DD045FD3B8CC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6518686" y="4093208"/>
            <a:ext cx="2057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FB5D62-744A-39CE-4371-FD9129C9CDF8}"/>
              </a:ext>
            </a:extLst>
          </p:cNvPr>
          <p:cNvSpPr txBox="1"/>
          <p:nvPr/>
        </p:nvSpPr>
        <p:spPr>
          <a:xfrm>
            <a:off x="6671086" y="3636008"/>
            <a:ext cx="16764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has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0080D1-874E-5F32-53FC-BD09CC3972A3}"/>
              </a:ext>
            </a:extLst>
          </p:cNvPr>
          <p:cNvSpPr/>
          <p:nvPr/>
        </p:nvSpPr>
        <p:spPr>
          <a:xfrm>
            <a:off x="742278" y="1804108"/>
            <a:ext cx="1032734" cy="498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A5FB59C0-231F-2763-9238-62776A446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72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08003-E15F-2F44-3E06-9246E43FD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4722B-5D93-F43F-B204-09B428DA1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Relationships (2/4)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ECDB5-71EB-1C31-412F-52C99C784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43805" cy="4351338"/>
          </a:xfrm>
        </p:spPr>
        <p:txBody>
          <a:bodyPr/>
          <a:lstStyle/>
          <a:p>
            <a:pPr>
              <a:buFontTx/>
              <a:buChar char="-"/>
            </a:pPr>
            <a:r>
              <a:rPr lang="en-VN"/>
              <a:t>1-1</a:t>
            </a:r>
          </a:p>
          <a:p>
            <a:pPr>
              <a:buFontTx/>
              <a:buChar char="-"/>
            </a:pPr>
            <a:r>
              <a:rPr lang="en-VN"/>
              <a:t>1-N</a:t>
            </a:r>
          </a:p>
          <a:p>
            <a:pPr>
              <a:buFontTx/>
              <a:buChar char="-"/>
            </a:pPr>
            <a:r>
              <a:rPr lang="en-VN"/>
              <a:t>N-N</a:t>
            </a:r>
          </a:p>
          <a:p>
            <a:pPr>
              <a:buFontTx/>
              <a:buChar char="-"/>
            </a:pPr>
            <a:r>
              <a:rPr lang="en-VN"/>
              <a:t>Generalization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A92C28B-230B-C92E-FFB9-C59D3E9E0395}"/>
                  </a:ext>
                </a:extLst>
              </p:cNvPr>
              <p:cNvSpPr/>
              <p:nvPr/>
            </p:nvSpPr>
            <p:spPr>
              <a:xfrm>
                <a:off x="5718586" y="1866736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A92C28B-230B-C92E-FFB9-C59D3E9E03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586" y="1866736"/>
                <a:ext cx="1524000" cy="609600"/>
              </a:xfrm>
              <a:prstGeom prst="rect">
                <a:avLst/>
              </a:prstGeom>
              <a:blipFill>
                <a:blip r:embed="rId3"/>
                <a:stretch>
                  <a:fillRect t="-2000" b="-1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F378C7F-3293-A37A-F3E4-53E428B87E31}"/>
                  </a:ext>
                </a:extLst>
              </p:cNvPr>
              <p:cNvSpPr/>
              <p:nvPr/>
            </p:nvSpPr>
            <p:spPr>
              <a:xfrm>
                <a:off x="9299986" y="1866736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𝐵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F378C7F-3293-A37A-F3E4-53E428B87E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9986" y="1866736"/>
                <a:ext cx="1524000" cy="609600"/>
              </a:xfrm>
              <a:prstGeom prst="rect">
                <a:avLst/>
              </a:prstGeom>
              <a:blipFill>
                <a:blip r:embed="rId4"/>
                <a:stretch>
                  <a:fillRect t="-2000" b="-1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D90145-AD06-34DA-6ABF-AF8B1B61A216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242586" y="2171536"/>
            <a:ext cx="2057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A0BA9D-388E-8558-0360-D25E5A76C2F2}"/>
              </a:ext>
            </a:extLst>
          </p:cNvPr>
          <p:cNvSpPr txBox="1"/>
          <p:nvPr/>
        </p:nvSpPr>
        <p:spPr>
          <a:xfrm>
            <a:off x="7547386" y="1690688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~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F33923-2296-6DDB-9C28-636727A93487}"/>
              </a:ext>
            </a:extLst>
          </p:cNvPr>
          <p:cNvSpPr/>
          <p:nvPr/>
        </p:nvSpPr>
        <p:spPr>
          <a:xfrm>
            <a:off x="4461285" y="2957184"/>
            <a:ext cx="2057399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Employee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148B8C-6154-9279-80C3-A709B46D6DCE}"/>
              </a:ext>
            </a:extLst>
          </p:cNvPr>
          <p:cNvSpPr/>
          <p:nvPr/>
        </p:nvSpPr>
        <p:spPr>
          <a:xfrm>
            <a:off x="8576086" y="2957184"/>
            <a:ext cx="22479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Company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CF3A64-468B-1811-035C-35E42DB45F6E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518684" y="3261984"/>
            <a:ext cx="20574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DF4B979-B312-C9D3-4FB9-D9D914E0C198}"/>
              </a:ext>
            </a:extLst>
          </p:cNvPr>
          <p:cNvSpPr txBox="1"/>
          <p:nvPr/>
        </p:nvSpPr>
        <p:spPr>
          <a:xfrm>
            <a:off x="6518686" y="2804784"/>
            <a:ext cx="18288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has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B97D77-8984-6380-BE47-2C6EE94709E0}"/>
              </a:ext>
            </a:extLst>
          </p:cNvPr>
          <p:cNvSpPr/>
          <p:nvPr/>
        </p:nvSpPr>
        <p:spPr>
          <a:xfrm>
            <a:off x="4461286" y="3788408"/>
            <a:ext cx="20574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Class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D5E645-6294-0A2F-9551-44665A7469CA}"/>
              </a:ext>
            </a:extLst>
          </p:cNvPr>
          <p:cNvSpPr/>
          <p:nvPr/>
        </p:nvSpPr>
        <p:spPr>
          <a:xfrm>
            <a:off x="8576086" y="3788408"/>
            <a:ext cx="22479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Student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47786C8-DA2B-DB00-F355-133FBB3449ED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6518686" y="4093208"/>
            <a:ext cx="2057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4F60A80-DD86-AB77-ABB6-9F49FFDCC956}"/>
              </a:ext>
            </a:extLst>
          </p:cNvPr>
          <p:cNvSpPr txBox="1"/>
          <p:nvPr/>
        </p:nvSpPr>
        <p:spPr>
          <a:xfrm>
            <a:off x="6671086" y="3636008"/>
            <a:ext cx="16764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has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25492C-7D72-C5B8-962D-8973CBA7EAB3}"/>
              </a:ext>
            </a:extLst>
          </p:cNvPr>
          <p:cNvSpPr/>
          <p:nvPr/>
        </p:nvSpPr>
        <p:spPr>
          <a:xfrm>
            <a:off x="794273" y="2306757"/>
            <a:ext cx="1032734" cy="498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88A82A0-B663-42CA-D87E-28BDDC2AC3CB}"/>
              </a:ext>
            </a:extLst>
          </p:cNvPr>
          <p:cNvSpPr/>
          <p:nvPr/>
        </p:nvSpPr>
        <p:spPr>
          <a:xfrm>
            <a:off x="9187031" y="2043953"/>
            <a:ext cx="258183" cy="2628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94AC87-9C15-466F-FAEE-92DE1CE8EADB}"/>
              </a:ext>
            </a:extLst>
          </p:cNvPr>
          <p:cNvSpPr/>
          <p:nvPr/>
        </p:nvSpPr>
        <p:spPr>
          <a:xfrm>
            <a:off x="8995186" y="1690688"/>
            <a:ext cx="629322" cy="9425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D82152-AE7D-025E-E2E7-04C60E9EAB77}"/>
              </a:ext>
            </a:extLst>
          </p:cNvPr>
          <p:cNvSpPr txBox="1"/>
          <p:nvPr/>
        </p:nvSpPr>
        <p:spPr>
          <a:xfrm>
            <a:off x="8875059" y="1265598"/>
            <a:ext cx="1807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New notation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4F07490-F08D-CD68-8250-2E6168E28070}"/>
              </a:ext>
            </a:extLst>
          </p:cNvPr>
          <p:cNvSpPr/>
          <p:nvPr/>
        </p:nvSpPr>
        <p:spPr>
          <a:xfrm>
            <a:off x="8446994" y="3964059"/>
            <a:ext cx="258183" cy="2628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510598D-A19A-E1BA-4F2D-9F4E30093862}"/>
              </a:ext>
            </a:extLst>
          </p:cNvPr>
          <p:cNvSpPr/>
          <p:nvPr/>
        </p:nvSpPr>
        <p:spPr>
          <a:xfrm>
            <a:off x="6362252" y="3130582"/>
            <a:ext cx="258183" cy="2628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9E5D0B-8E93-A44F-29E3-11ED9BC30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3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3962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A808E-3BD4-6D04-7E27-4F39D932F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8221E-D4BA-A066-45B3-BA48073ED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Relationships (3/4)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E1E77-CD7A-48AA-12DB-F47A41CB0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43805" cy="4351338"/>
          </a:xfrm>
        </p:spPr>
        <p:txBody>
          <a:bodyPr/>
          <a:lstStyle/>
          <a:p>
            <a:pPr>
              <a:buFontTx/>
              <a:buChar char="-"/>
            </a:pPr>
            <a:r>
              <a:rPr lang="en-VN"/>
              <a:t>1-1</a:t>
            </a:r>
          </a:p>
          <a:p>
            <a:pPr>
              <a:buFontTx/>
              <a:buChar char="-"/>
            </a:pPr>
            <a:r>
              <a:rPr lang="en-VN"/>
              <a:t>1-N</a:t>
            </a:r>
          </a:p>
          <a:p>
            <a:pPr>
              <a:buFontTx/>
              <a:buChar char="-"/>
            </a:pPr>
            <a:r>
              <a:rPr lang="en-VN"/>
              <a:t>N-N</a:t>
            </a:r>
          </a:p>
          <a:p>
            <a:pPr>
              <a:buFontTx/>
              <a:buChar char="-"/>
            </a:pPr>
            <a:r>
              <a:rPr lang="en-VN"/>
              <a:t>Generalization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335FAC7-C2C5-5D2E-F3B6-D0B540ACC9D9}"/>
                  </a:ext>
                </a:extLst>
              </p:cNvPr>
              <p:cNvSpPr/>
              <p:nvPr/>
            </p:nvSpPr>
            <p:spPr>
              <a:xfrm>
                <a:off x="5718586" y="1866736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335FAC7-C2C5-5D2E-F3B6-D0B540ACC9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586" y="1866736"/>
                <a:ext cx="1524000" cy="609600"/>
              </a:xfrm>
              <a:prstGeom prst="rect">
                <a:avLst/>
              </a:prstGeom>
              <a:blipFill>
                <a:blip r:embed="rId3"/>
                <a:stretch>
                  <a:fillRect t="-2000" b="-1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4037070-0843-9129-B25A-00FAB20E0FE2}"/>
                  </a:ext>
                </a:extLst>
              </p:cNvPr>
              <p:cNvSpPr/>
              <p:nvPr/>
            </p:nvSpPr>
            <p:spPr>
              <a:xfrm>
                <a:off x="9299986" y="1866736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𝐵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4037070-0843-9129-B25A-00FAB20E0F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9986" y="1866736"/>
                <a:ext cx="1524000" cy="609600"/>
              </a:xfrm>
              <a:prstGeom prst="rect">
                <a:avLst/>
              </a:prstGeom>
              <a:blipFill>
                <a:blip r:embed="rId4"/>
                <a:stretch>
                  <a:fillRect t="-2000" b="-1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01E2DF-DA1B-64FF-6604-33B11FA0301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242586" y="2171536"/>
            <a:ext cx="2057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884BD30-C61D-74B3-C598-BC05039C2459}"/>
              </a:ext>
            </a:extLst>
          </p:cNvPr>
          <p:cNvSpPr txBox="1"/>
          <p:nvPr/>
        </p:nvSpPr>
        <p:spPr>
          <a:xfrm>
            <a:off x="7547386" y="1690688"/>
            <a:ext cx="144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~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20286-4249-A332-83E6-4916D791C9DC}"/>
              </a:ext>
            </a:extLst>
          </p:cNvPr>
          <p:cNvSpPr/>
          <p:nvPr/>
        </p:nvSpPr>
        <p:spPr>
          <a:xfrm>
            <a:off x="4461285" y="2957184"/>
            <a:ext cx="2057399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Doctor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8364AC-DE7C-1CF2-B3D7-BFB4B9BEEAD9}"/>
              </a:ext>
            </a:extLst>
          </p:cNvPr>
          <p:cNvSpPr/>
          <p:nvPr/>
        </p:nvSpPr>
        <p:spPr>
          <a:xfrm>
            <a:off x="8576086" y="2957184"/>
            <a:ext cx="22479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Patient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E11C04-1AD1-A7AF-D879-E143AF442AE5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518684" y="3261984"/>
            <a:ext cx="205740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0580C3-ECB2-8FFB-BF35-2F0E526F8D07}"/>
              </a:ext>
            </a:extLst>
          </p:cNvPr>
          <p:cNvSpPr txBox="1"/>
          <p:nvPr/>
        </p:nvSpPr>
        <p:spPr>
          <a:xfrm>
            <a:off x="6518686" y="2804784"/>
            <a:ext cx="18288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has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8D2DA1-DCF5-8347-04A2-FAB12ED06044}"/>
              </a:ext>
            </a:extLst>
          </p:cNvPr>
          <p:cNvSpPr/>
          <p:nvPr/>
        </p:nvSpPr>
        <p:spPr>
          <a:xfrm>
            <a:off x="4461286" y="3962027"/>
            <a:ext cx="20574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Boy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F83A1F-392C-FC50-C4A4-C693E21E540F}"/>
              </a:ext>
            </a:extLst>
          </p:cNvPr>
          <p:cNvSpPr/>
          <p:nvPr/>
        </p:nvSpPr>
        <p:spPr>
          <a:xfrm>
            <a:off x="8576086" y="3962027"/>
            <a:ext cx="22479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Girl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9EF0CEC-E1EA-7BA5-AC2D-FA5D7A8E3BB1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6518686" y="4266827"/>
            <a:ext cx="2057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2EAF9B5-C744-1E41-1C07-3FAC1F448D47}"/>
              </a:ext>
            </a:extLst>
          </p:cNvPr>
          <p:cNvSpPr txBox="1"/>
          <p:nvPr/>
        </p:nvSpPr>
        <p:spPr>
          <a:xfrm>
            <a:off x="6671086" y="3809627"/>
            <a:ext cx="16764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love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C237CC-718A-CD39-4A6F-36BC9C81B9B8}"/>
              </a:ext>
            </a:extLst>
          </p:cNvPr>
          <p:cNvSpPr/>
          <p:nvPr/>
        </p:nvSpPr>
        <p:spPr>
          <a:xfrm>
            <a:off x="794273" y="2823126"/>
            <a:ext cx="1032734" cy="498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8F277F7-87BE-915B-9958-0161DE98DF8F}"/>
              </a:ext>
            </a:extLst>
          </p:cNvPr>
          <p:cNvSpPr/>
          <p:nvPr/>
        </p:nvSpPr>
        <p:spPr>
          <a:xfrm>
            <a:off x="9187031" y="2043953"/>
            <a:ext cx="258183" cy="2628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7226B2-88C7-571C-9BFF-D8CB23CB8514}"/>
              </a:ext>
            </a:extLst>
          </p:cNvPr>
          <p:cNvSpPr/>
          <p:nvPr/>
        </p:nvSpPr>
        <p:spPr>
          <a:xfrm>
            <a:off x="6909997" y="1690688"/>
            <a:ext cx="2714511" cy="9425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7E38F-1B67-6CCE-8CD8-06A8765A134F}"/>
              </a:ext>
            </a:extLst>
          </p:cNvPr>
          <p:cNvSpPr txBox="1"/>
          <p:nvPr/>
        </p:nvSpPr>
        <p:spPr>
          <a:xfrm>
            <a:off x="6768801" y="1308047"/>
            <a:ext cx="1807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New notation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31EAD42-C716-924D-0200-F430EBF80732}"/>
              </a:ext>
            </a:extLst>
          </p:cNvPr>
          <p:cNvSpPr/>
          <p:nvPr/>
        </p:nvSpPr>
        <p:spPr>
          <a:xfrm>
            <a:off x="8446994" y="4137678"/>
            <a:ext cx="258183" cy="2628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B5AB98A-B34E-45CB-75AA-BA09DD4C329C}"/>
              </a:ext>
            </a:extLst>
          </p:cNvPr>
          <p:cNvSpPr/>
          <p:nvPr/>
        </p:nvSpPr>
        <p:spPr>
          <a:xfrm>
            <a:off x="6362252" y="3130582"/>
            <a:ext cx="258183" cy="2628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3F05655-715A-5088-0509-E616FEF7D9F1}"/>
              </a:ext>
            </a:extLst>
          </p:cNvPr>
          <p:cNvSpPr/>
          <p:nvPr/>
        </p:nvSpPr>
        <p:spPr>
          <a:xfrm>
            <a:off x="7113494" y="2045952"/>
            <a:ext cx="258183" cy="2628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F897BD2-D7A0-63D9-198C-603A4562D4B7}"/>
              </a:ext>
            </a:extLst>
          </p:cNvPr>
          <p:cNvSpPr/>
          <p:nvPr/>
        </p:nvSpPr>
        <p:spPr>
          <a:xfrm>
            <a:off x="8430412" y="3130582"/>
            <a:ext cx="258183" cy="2628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2D97D78-2876-9BE7-03E7-1C3CFBDC2CCA}"/>
              </a:ext>
            </a:extLst>
          </p:cNvPr>
          <p:cNvSpPr/>
          <p:nvPr/>
        </p:nvSpPr>
        <p:spPr>
          <a:xfrm>
            <a:off x="6360011" y="4131845"/>
            <a:ext cx="258183" cy="26280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AE1722-338A-21AD-ADA9-5D186AD39DEF}"/>
              </a:ext>
            </a:extLst>
          </p:cNvPr>
          <p:cNvSpPr txBox="1"/>
          <p:nvPr/>
        </p:nvSpPr>
        <p:spPr>
          <a:xfrm>
            <a:off x="6518686" y="3303892"/>
            <a:ext cx="18288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follow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3612347E-FE14-10A0-D876-131EE3634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86258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E9147-4B67-D9B5-B719-5AB32A2E0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B99B4-C4A3-816C-5109-DEB8520A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Relationships (4/4)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1E030-50E5-6BB5-1BF8-8841EC4BE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43805" cy="4351338"/>
          </a:xfrm>
        </p:spPr>
        <p:txBody>
          <a:bodyPr/>
          <a:lstStyle/>
          <a:p>
            <a:pPr>
              <a:buFontTx/>
              <a:buChar char="-"/>
            </a:pPr>
            <a:r>
              <a:rPr lang="en-VN"/>
              <a:t>1-1</a:t>
            </a:r>
          </a:p>
          <a:p>
            <a:pPr>
              <a:buFontTx/>
              <a:buChar char="-"/>
            </a:pPr>
            <a:r>
              <a:rPr lang="en-VN"/>
              <a:t>1-N</a:t>
            </a:r>
          </a:p>
          <a:p>
            <a:pPr>
              <a:buFontTx/>
              <a:buChar char="-"/>
            </a:pPr>
            <a:r>
              <a:rPr lang="en-VN"/>
              <a:t>N-N</a:t>
            </a:r>
          </a:p>
          <a:p>
            <a:pPr>
              <a:buFontTx/>
              <a:buChar char="-"/>
            </a:pPr>
            <a:r>
              <a:rPr lang="en-VN"/>
              <a:t>Generalization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E9B2B78-97AB-D27A-FA3B-9F3F97BBF119}"/>
                  </a:ext>
                </a:extLst>
              </p:cNvPr>
              <p:cNvSpPr/>
              <p:nvPr/>
            </p:nvSpPr>
            <p:spPr>
              <a:xfrm>
                <a:off x="794273" y="4084941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E9B2B78-97AB-D27A-FA3B-9F3F97BBF1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73" y="4084941"/>
                <a:ext cx="1524000" cy="609600"/>
              </a:xfrm>
              <a:prstGeom prst="rect">
                <a:avLst/>
              </a:prstGeom>
              <a:blipFill>
                <a:blip r:embed="rId3"/>
                <a:stretch>
                  <a:fillRect t="-2000" b="-1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B8E4431-97C5-7F7F-BEE1-25C1F4178A0B}"/>
                  </a:ext>
                </a:extLst>
              </p:cNvPr>
              <p:cNvSpPr/>
              <p:nvPr/>
            </p:nvSpPr>
            <p:spPr>
              <a:xfrm>
                <a:off x="794272" y="5567363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𝐵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B8E4431-97C5-7F7F-BEE1-25C1F4178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72" y="5567363"/>
                <a:ext cx="1524000" cy="609600"/>
              </a:xfrm>
              <a:prstGeom prst="rect">
                <a:avLst/>
              </a:prstGeom>
              <a:blipFill>
                <a:blip r:embed="rId4"/>
                <a:stretch>
                  <a:fillRect t="-1961" b="-156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E01714-B40A-919F-B957-CA9222A3A3C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556272" y="4694541"/>
            <a:ext cx="1" cy="872822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75B8B-E785-C833-966F-49B7C9A511AA}"/>
              </a:ext>
            </a:extLst>
          </p:cNvPr>
          <p:cNvSpPr txBox="1"/>
          <p:nvPr/>
        </p:nvSpPr>
        <p:spPr>
          <a:xfrm>
            <a:off x="1470218" y="4959904"/>
            <a:ext cx="525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~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58E38C-0564-D802-E89D-EF0E9316F62E}"/>
              </a:ext>
            </a:extLst>
          </p:cNvPr>
          <p:cNvSpPr/>
          <p:nvPr/>
        </p:nvSpPr>
        <p:spPr>
          <a:xfrm>
            <a:off x="794272" y="3332411"/>
            <a:ext cx="2701281" cy="498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D3AB82-F371-E7B7-268F-B9CD4A093B73}"/>
              </a:ext>
            </a:extLst>
          </p:cNvPr>
          <p:cNvSpPr/>
          <p:nvPr/>
        </p:nvSpPr>
        <p:spPr>
          <a:xfrm>
            <a:off x="1356362" y="4636549"/>
            <a:ext cx="397917" cy="9875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2C913D-06AE-94AE-EE87-F482A64AC705}"/>
              </a:ext>
            </a:extLst>
          </p:cNvPr>
          <p:cNvSpPr txBox="1"/>
          <p:nvPr/>
        </p:nvSpPr>
        <p:spPr>
          <a:xfrm>
            <a:off x="1840333" y="4970220"/>
            <a:ext cx="1807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New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780BE7A-3D95-F94C-316F-D44C945624DE}"/>
                  </a:ext>
                </a:extLst>
              </p:cNvPr>
              <p:cNvSpPr/>
              <p:nvPr/>
            </p:nvSpPr>
            <p:spPr>
              <a:xfrm>
                <a:off x="5885049" y="2548622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cs typeface="Times New Roman" pitchFamily="18" charset="0"/>
                  </a:rPr>
                  <a:t>Animal</a:t>
                </a: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780BE7A-3D95-F94C-316F-D44C945624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049" y="2548622"/>
                <a:ext cx="1524000" cy="609600"/>
              </a:xfrm>
              <a:prstGeom prst="rect">
                <a:avLst/>
              </a:prstGeom>
              <a:blipFill>
                <a:blip r:embed="rId5"/>
                <a:stretch>
                  <a:fillRect t="-2000" r="-3252" b="-2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10D4A81-A705-F64F-BEBA-A4604D780588}"/>
                  </a:ext>
                </a:extLst>
              </p:cNvPr>
              <p:cNvSpPr/>
              <p:nvPr/>
            </p:nvSpPr>
            <p:spPr>
              <a:xfrm>
                <a:off x="5875403" y="4031044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cs typeface="Times New Roman" pitchFamily="18" charset="0"/>
                  </a:rPr>
                  <a:t>Dog</a:t>
                </a: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10D4A81-A705-F64F-BEBA-A4604D7805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5403" y="4031044"/>
                <a:ext cx="1524000" cy="609600"/>
              </a:xfrm>
              <a:prstGeom prst="rect">
                <a:avLst/>
              </a:prstGeom>
              <a:blipFill>
                <a:blip r:embed="rId6"/>
                <a:stretch>
                  <a:fillRect t="-1961" b="-1764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B3A70A0-50D9-C57B-D751-82B9CB1B5390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 flipH="1">
            <a:off x="6637403" y="3158222"/>
            <a:ext cx="9646" cy="872822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E9CEE09-6DCC-5974-4ED6-68D81CCD1D69}"/>
                  </a:ext>
                </a:extLst>
              </p:cNvPr>
              <p:cNvSpPr/>
              <p:nvPr/>
            </p:nvSpPr>
            <p:spPr>
              <a:xfrm>
                <a:off x="3907863" y="4031044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cs typeface="Times New Roman" pitchFamily="18" charset="0"/>
                  </a:rPr>
                  <a:t>Vehicle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E9CEE09-6DCC-5974-4ED6-68D81CCD1D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863" y="4031044"/>
                <a:ext cx="1524000" cy="609600"/>
              </a:xfrm>
              <a:prstGeom prst="rect">
                <a:avLst/>
              </a:prstGeom>
              <a:blipFill>
                <a:blip r:embed="rId7"/>
                <a:stretch>
                  <a:fillRect l="-820" t="-1961" r="-5738" b="-1764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2737D84-E6CC-3D15-D414-5C2194614E0F}"/>
                  </a:ext>
                </a:extLst>
              </p:cNvPr>
              <p:cNvSpPr/>
              <p:nvPr/>
            </p:nvSpPr>
            <p:spPr>
              <a:xfrm>
                <a:off x="3907862" y="5513466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cs typeface="Times New Roman" pitchFamily="18" charset="0"/>
                  </a:rPr>
                  <a:t>Car</a:t>
                </a: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2737D84-E6CC-3D15-D414-5C2194614E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862" y="5513466"/>
                <a:ext cx="1524000" cy="609600"/>
              </a:xfrm>
              <a:prstGeom prst="rect">
                <a:avLst/>
              </a:prstGeom>
              <a:blipFill>
                <a:blip r:embed="rId8"/>
                <a:stretch>
                  <a:fillRect t="-2000" b="-2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2549453-A6D1-108B-E3DE-E0837604C8EA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 flipH="1">
            <a:off x="4669862" y="4640644"/>
            <a:ext cx="1" cy="872822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936C08A-3FDA-B4DD-D583-784B617719B9}"/>
                  </a:ext>
                </a:extLst>
              </p:cNvPr>
              <p:cNvSpPr/>
              <p:nvPr/>
            </p:nvSpPr>
            <p:spPr>
              <a:xfrm>
                <a:off x="7568734" y="4031044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cs typeface="Times New Roman" pitchFamily="18" charset="0"/>
                  </a:rPr>
                  <a:t>Human</a:t>
                </a: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936C08A-3FDA-B4DD-D583-784B61771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734" y="4031044"/>
                <a:ext cx="1524000" cy="609600"/>
              </a:xfrm>
              <a:prstGeom prst="rect">
                <a:avLst/>
              </a:prstGeom>
              <a:blipFill>
                <a:blip r:embed="rId9"/>
                <a:stretch>
                  <a:fillRect l="-1626" t="-1961" r="-4878" b="-1764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BF2BD7E-D87C-737D-E46A-76D9ACE2B3CB}"/>
              </a:ext>
            </a:extLst>
          </p:cNvPr>
          <p:cNvCxnSpPr>
            <a:cxnSpLocks/>
            <a:stCxn id="35" idx="2"/>
            <a:endCxn id="44" idx="0"/>
          </p:cNvCxnSpPr>
          <p:nvPr/>
        </p:nvCxnSpPr>
        <p:spPr>
          <a:xfrm>
            <a:off x="6647049" y="3158222"/>
            <a:ext cx="1683685" cy="872822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AD55A09-9982-15BD-E756-03BF167A5805}"/>
                  </a:ext>
                </a:extLst>
              </p:cNvPr>
              <p:cNvSpPr/>
              <p:nvPr/>
            </p:nvSpPr>
            <p:spPr>
              <a:xfrm>
                <a:off x="5881780" y="5513466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cs typeface="Times New Roman" pitchFamily="18" charset="0"/>
                  </a:rPr>
                  <a:t>Shiba</a:t>
                </a: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0AD55A09-9982-15BD-E756-03BF167A58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1780" y="5513466"/>
                <a:ext cx="1524000" cy="609600"/>
              </a:xfrm>
              <a:prstGeom prst="rect">
                <a:avLst/>
              </a:prstGeom>
              <a:blipFill>
                <a:blip r:embed="rId10"/>
                <a:stretch>
                  <a:fillRect t="-2000" b="-2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6A6AA69-1810-41FB-ABEF-F453B4F2EEAB}"/>
                  </a:ext>
                </a:extLst>
              </p:cNvPr>
              <p:cNvSpPr/>
              <p:nvPr/>
            </p:nvSpPr>
            <p:spPr>
              <a:xfrm>
                <a:off x="7586527" y="5513525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cs typeface="Times New Roman" pitchFamily="18" charset="0"/>
                  </a:rPr>
                  <a:t>Pug</a:t>
                </a: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6A6AA69-1810-41FB-ABEF-F453B4F2EE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527" y="5513525"/>
                <a:ext cx="1524000" cy="609600"/>
              </a:xfrm>
              <a:prstGeom prst="rect">
                <a:avLst/>
              </a:prstGeom>
              <a:blipFill>
                <a:blip r:embed="rId11"/>
                <a:stretch>
                  <a:fillRect t="-2000" b="-2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25E36AA-A031-87D2-1B71-AFA0143AC84E}"/>
              </a:ext>
            </a:extLst>
          </p:cNvPr>
          <p:cNvCxnSpPr>
            <a:cxnSpLocks/>
            <a:stCxn id="36" idx="2"/>
            <a:endCxn id="48" idx="0"/>
          </p:cNvCxnSpPr>
          <p:nvPr/>
        </p:nvCxnSpPr>
        <p:spPr>
          <a:xfrm>
            <a:off x="6637403" y="4640644"/>
            <a:ext cx="6377" cy="872822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160A01D-16C3-B938-D1D2-96CA48E29836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>
            <a:off x="6637403" y="4640644"/>
            <a:ext cx="1711124" cy="872881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A28E6F88-3EF3-D202-0039-22A89F8FBA20}"/>
              </a:ext>
            </a:extLst>
          </p:cNvPr>
          <p:cNvSpPr/>
          <p:nvPr/>
        </p:nvSpPr>
        <p:spPr>
          <a:xfrm>
            <a:off x="5743062" y="2430683"/>
            <a:ext cx="3513646" cy="37641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FBD4FA-E174-C4C1-831C-5CB50384E3DB}"/>
              </a:ext>
            </a:extLst>
          </p:cNvPr>
          <p:cNvSpPr txBox="1"/>
          <p:nvPr/>
        </p:nvSpPr>
        <p:spPr>
          <a:xfrm>
            <a:off x="5628632" y="2035784"/>
            <a:ext cx="1807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D-level tree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9954C4A-384C-EBAA-F1CF-F56B94C3380F}"/>
              </a:ext>
            </a:extLst>
          </p:cNvPr>
          <p:cNvSpPr/>
          <p:nvPr/>
        </p:nvSpPr>
        <p:spPr>
          <a:xfrm>
            <a:off x="3788189" y="3935392"/>
            <a:ext cx="1734776" cy="22594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20A403-C35E-2908-254D-7B201405CEE7}"/>
              </a:ext>
            </a:extLst>
          </p:cNvPr>
          <p:cNvSpPr txBox="1"/>
          <p:nvPr/>
        </p:nvSpPr>
        <p:spPr>
          <a:xfrm>
            <a:off x="3703102" y="3012311"/>
            <a:ext cx="1877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Vehicle is the generalization version of car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E6F48AD-A373-4D64-A3AE-7EE40633343C}"/>
                  </a:ext>
                </a:extLst>
              </p:cNvPr>
              <p:cNvSpPr/>
              <p:nvPr/>
            </p:nvSpPr>
            <p:spPr>
              <a:xfrm>
                <a:off x="9592155" y="4031044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E6F48AD-A373-4D64-A3AE-7EE4063334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155" y="4031044"/>
                <a:ext cx="1524000" cy="609600"/>
              </a:xfrm>
              <a:prstGeom prst="rect">
                <a:avLst/>
              </a:prstGeom>
              <a:blipFill>
                <a:blip r:embed="rId12"/>
                <a:stretch>
                  <a:fillRect t="-1961" b="-156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053C6482-065F-8626-8828-F0629406B8B0}"/>
                  </a:ext>
                </a:extLst>
              </p:cNvPr>
              <p:cNvSpPr/>
              <p:nvPr/>
            </p:nvSpPr>
            <p:spPr>
              <a:xfrm>
                <a:off x="9592154" y="5513466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𝐵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053C6482-065F-8626-8828-F0629406B8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154" y="5513466"/>
                <a:ext cx="1524000" cy="609600"/>
              </a:xfrm>
              <a:prstGeom prst="rect">
                <a:avLst/>
              </a:prstGeom>
              <a:blipFill>
                <a:blip r:embed="rId13"/>
                <a:stretch>
                  <a:fillRect t="-2000" b="-1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0E1ABD5-84C9-FA74-6D65-564EA531AAF0}"/>
              </a:ext>
            </a:extLst>
          </p:cNvPr>
          <p:cNvCxnSpPr>
            <a:cxnSpLocks/>
            <a:stCxn id="60" idx="2"/>
            <a:endCxn id="61" idx="0"/>
          </p:cNvCxnSpPr>
          <p:nvPr/>
        </p:nvCxnSpPr>
        <p:spPr>
          <a:xfrm flipH="1">
            <a:off x="10354154" y="4640644"/>
            <a:ext cx="1" cy="872822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678C6D64-2B04-E9E2-6F07-7687664DF550}"/>
              </a:ext>
            </a:extLst>
          </p:cNvPr>
          <p:cNvSpPr/>
          <p:nvPr/>
        </p:nvSpPr>
        <p:spPr>
          <a:xfrm>
            <a:off x="9472481" y="3935392"/>
            <a:ext cx="1734776" cy="22594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06A669-0EEB-3F67-88CC-BB605E1B5C44}"/>
              </a:ext>
            </a:extLst>
          </p:cNvPr>
          <p:cNvSpPr txBox="1"/>
          <p:nvPr/>
        </p:nvSpPr>
        <p:spPr>
          <a:xfrm>
            <a:off x="9329342" y="3518234"/>
            <a:ext cx="1877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b="1">
                <a:solidFill>
                  <a:srgbClr val="FF0000"/>
                </a:solidFill>
              </a:rPr>
              <a:t>NOT allowed</a:t>
            </a:r>
          </a:p>
        </p:txBody>
      </p:sp>
      <p:sp>
        <p:nvSpPr>
          <p:cNvPr id="65" name="Slide Number Placeholder 64">
            <a:extLst>
              <a:ext uri="{FF2B5EF4-FFF2-40B4-BE49-F238E27FC236}">
                <a16:creationId xmlns:a16="http://schemas.microsoft.com/office/drawing/2014/main" id="{E781BA82-C8E0-A916-CDB4-DF519D87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5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77229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1263B-C989-D200-C10E-230081412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AF4A-AF4B-6824-5A01-5455631EE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 (1/4)</a:t>
            </a:r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70F769F-06CC-C276-3B8F-415EFB681E5B}"/>
                  </a:ext>
                </a:extLst>
              </p:cNvPr>
              <p:cNvSpPr/>
              <p:nvPr/>
            </p:nvSpPr>
            <p:spPr>
              <a:xfrm>
                <a:off x="838201" y="1797805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70F769F-06CC-C276-3B8F-415EFB681E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797805"/>
                <a:ext cx="1524000" cy="609600"/>
              </a:xfrm>
              <a:prstGeom prst="rect">
                <a:avLst/>
              </a:prstGeom>
              <a:blipFill>
                <a:blip r:embed="rId3"/>
                <a:stretch>
                  <a:fillRect t="-2000" b="-1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09E376E-AF62-5DDB-DE56-197C5495EF84}"/>
                  </a:ext>
                </a:extLst>
              </p:cNvPr>
              <p:cNvSpPr/>
              <p:nvPr/>
            </p:nvSpPr>
            <p:spPr>
              <a:xfrm>
                <a:off x="838200" y="3280227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𝐵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09E376E-AF62-5DDB-DE56-197C5495EF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80227"/>
                <a:ext cx="1524000" cy="609600"/>
              </a:xfrm>
              <a:prstGeom prst="rect">
                <a:avLst/>
              </a:prstGeom>
              <a:blipFill>
                <a:blip r:embed="rId4"/>
                <a:stretch>
                  <a:fillRect t="-1961" b="-156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71C57E-2025-4178-3CF7-466F6E9B7ED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600200" y="2407405"/>
            <a:ext cx="1" cy="872822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AF94BAC-9608-BEE2-069F-6248B8FC734F}"/>
              </a:ext>
            </a:extLst>
          </p:cNvPr>
          <p:cNvSpPr txBox="1"/>
          <p:nvPr/>
        </p:nvSpPr>
        <p:spPr>
          <a:xfrm>
            <a:off x="2406128" y="1779439"/>
            <a:ext cx="2181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Super/Base/Parent class</a:t>
            </a:r>
          </a:p>
        </p:txBody>
      </p:sp>
      <p:pic>
        <p:nvPicPr>
          <p:cNvPr id="30" name="Picture 2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B366D7A-2226-3160-97C8-570039638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490" y="1689827"/>
            <a:ext cx="3128543" cy="4622933"/>
          </a:xfrm>
          <a:prstGeom prst="rect">
            <a:avLst/>
          </a:prstGeom>
        </p:spPr>
      </p:pic>
      <p:pic>
        <p:nvPicPr>
          <p:cNvPr id="32" name="Picture 31" descr="A grey rectangular sign with black text&#10;&#10;AI-generated content may be incorrect.">
            <a:extLst>
              <a:ext uri="{FF2B5EF4-FFF2-40B4-BE49-F238E27FC236}">
                <a16:creationId xmlns:a16="http://schemas.microsoft.com/office/drawing/2014/main" id="{02E37524-0CB5-54A7-7188-63BE2AB05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9700" y="1689827"/>
            <a:ext cx="3893717" cy="1852026"/>
          </a:xfrm>
          <a:prstGeom prst="rect">
            <a:avLst/>
          </a:prstGeom>
        </p:spPr>
      </p:pic>
      <p:pic>
        <p:nvPicPr>
          <p:cNvPr id="34" name="Picture 3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694058B-EE69-207C-E137-243C64EBA9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7244" y="3541853"/>
            <a:ext cx="4443805" cy="191891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95094-F433-F57C-F045-424B4ED6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6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B0216E-496E-2E0D-864A-0A3F2EEA4D53}"/>
              </a:ext>
            </a:extLst>
          </p:cNvPr>
          <p:cNvSpPr txBox="1"/>
          <p:nvPr/>
        </p:nvSpPr>
        <p:spPr>
          <a:xfrm>
            <a:off x="2384164" y="3280227"/>
            <a:ext cx="2181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Sub/Derived/Child </a:t>
            </a:r>
          </a:p>
          <a:p>
            <a:r>
              <a:rPr lang="en-VN">
                <a:solidFill>
                  <a:srgbClr val="FF0000"/>
                </a:solidFill>
              </a:rPr>
              <a:t>class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3F95D0-926F-A886-DD4A-7DBFAEC252B9}"/>
              </a:ext>
            </a:extLst>
          </p:cNvPr>
          <p:cNvSpPr/>
          <p:nvPr/>
        </p:nvSpPr>
        <p:spPr>
          <a:xfrm>
            <a:off x="7914041" y="2606080"/>
            <a:ext cx="4195214" cy="7100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8DC4348-A7F2-06B7-CC67-63CDF708B5D7}"/>
                  </a:ext>
                </a:extLst>
              </p:cNvPr>
              <p:cNvSpPr/>
              <p:nvPr/>
            </p:nvSpPr>
            <p:spPr>
              <a:xfrm>
                <a:off x="838200" y="4799380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C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8DC4348-A7F2-06B7-CC67-63CDF708B5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99380"/>
                <a:ext cx="1524000" cy="609600"/>
              </a:xfrm>
              <a:prstGeom prst="rect">
                <a:avLst/>
              </a:prstGeom>
              <a:blipFill>
                <a:blip r:embed="rId8"/>
                <a:stretch>
                  <a:fillRect t="-2000" b="-1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7BB129-80B3-497D-96EC-5534D2842E8D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1600200" y="3889827"/>
            <a:ext cx="0" cy="909553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6F160C9-25C9-9604-F361-C47CB656C4D3}"/>
              </a:ext>
            </a:extLst>
          </p:cNvPr>
          <p:cNvSpPr/>
          <p:nvPr/>
        </p:nvSpPr>
        <p:spPr>
          <a:xfrm>
            <a:off x="7944683" y="4001294"/>
            <a:ext cx="4164572" cy="350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45D472-AD6D-4EEA-F9B8-70E303AE4768}"/>
              </a:ext>
            </a:extLst>
          </p:cNvPr>
          <p:cNvSpPr/>
          <p:nvPr/>
        </p:nvSpPr>
        <p:spPr>
          <a:xfrm>
            <a:off x="7946475" y="4402393"/>
            <a:ext cx="4164573" cy="11418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61995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EF777-C301-3059-7C53-C143C7DE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C742A-48F5-3906-A918-8EDEAD55A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 (2/4)</a:t>
            </a:r>
            <a:br>
              <a:rPr lang="en-US"/>
            </a:br>
            <a:r>
              <a:rPr lang="en-US" sz="2800"/>
              <a:t>Override</a:t>
            </a:r>
            <a:endParaRPr lang="en-VN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C40504E-B30F-92D9-9CC8-1ADDEF28A0B1}"/>
                  </a:ext>
                </a:extLst>
              </p:cNvPr>
              <p:cNvSpPr/>
              <p:nvPr/>
            </p:nvSpPr>
            <p:spPr>
              <a:xfrm>
                <a:off x="838201" y="1797805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>
                    <a:solidFill>
                      <a:schemeClr val="tx1"/>
                    </a:solidFill>
                    <a:cs typeface="Times New Roman" pitchFamily="18" charset="0"/>
                  </a:rPr>
                  <a:t>Counter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C40504E-B30F-92D9-9CC8-1ADDEF28A0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797805"/>
                <a:ext cx="1524000" cy="609600"/>
              </a:xfrm>
              <a:prstGeom prst="rect">
                <a:avLst/>
              </a:prstGeom>
              <a:blipFill>
                <a:blip r:embed="rId3"/>
                <a:stretch>
                  <a:fillRect l="-4878" t="-2000" r="-8943" b="-2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C0A4736-941B-6A2D-CCAD-B92547BAAD19}"/>
                  </a:ext>
                </a:extLst>
              </p:cNvPr>
              <p:cNvSpPr/>
              <p:nvPr/>
            </p:nvSpPr>
            <p:spPr>
              <a:xfrm>
                <a:off x="838200" y="3280227"/>
                <a:ext cx="1524000" cy="609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>
                    <a:solidFill>
                      <a:schemeClr val="tx1"/>
                    </a:solidFill>
                    <a:cs typeface="Times New Roman" pitchFamily="18" charset="0"/>
                  </a:rPr>
                  <a:t>ExtendCounter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C0A4736-941B-6A2D-CCAD-B92547BAA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80227"/>
                <a:ext cx="1524000" cy="609600"/>
              </a:xfrm>
              <a:prstGeom prst="rect">
                <a:avLst/>
              </a:prstGeom>
              <a:blipFill>
                <a:blip r:embed="rId4"/>
                <a:stretch>
                  <a:fillRect l="-813" r="-32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BD5A05-3890-7847-7BE8-F1238E7B56AF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600200" y="2407405"/>
            <a:ext cx="1" cy="872822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B145EAF-26B5-08C1-E6B9-BACF162B44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0047" y="1689827"/>
            <a:ext cx="3128543" cy="4622933"/>
          </a:xfrm>
          <a:prstGeom prst="rect">
            <a:avLst/>
          </a:prstGeom>
        </p:spPr>
      </p:pic>
      <p:pic>
        <p:nvPicPr>
          <p:cNvPr id="32" name="Picture 31" descr="A grey rectangular sign with black text&#10;&#10;AI-generated content may be incorrect.">
            <a:extLst>
              <a:ext uri="{FF2B5EF4-FFF2-40B4-BE49-F238E27FC236}">
                <a16:creationId xmlns:a16="http://schemas.microsoft.com/office/drawing/2014/main" id="{2A889237-E5E5-8951-1B0E-1256669FD3F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200"/>
          <a:stretch>
            <a:fillRect/>
          </a:stretch>
        </p:blipFill>
        <p:spPr>
          <a:xfrm>
            <a:off x="5838236" y="236813"/>
            <a:ext cx="3893717" cy="9037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015B7-7A76-A9AC-1154-DFA0EAC3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7</a:t>
            </a:fld>
            <a:endParaRPr lang="en-V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89F981-BF80-F97A-E1EF-714D02AC9605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600200" y="3889827"/>
            <a:ext cx="0" cy="909553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CF25BA5-5953-6F90-F778-9A951DBD4328}"/>
              </a:ext>
            </a:extLst>
          </p:cNvPr>
          <p:cNvSpPr/>
          <p:nvPr/>
        </p:nvSpPr>
        <p:spPr>
          <a:xfrm>
            <a:off x="838200" y="4799380"/>
            <a:ext cx="15240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cs typeface="Times New Roman" pitchFamily="18" charset="0"/>
              </a:rPr>
              <a:t>ExtendCounter2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870B8D4-8350-AE2D-1A88-E00C67A2BC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966"/>
          <a:stretch>
            <a:fillRect/>
          </a:stretch>
        </p:blipFill>
        <p:spPr>
          <a:xfrm>
            <a:off x="5771908" y="1203175"/>
            <a:ext cx="3128543" cy="4162215"/>
          </a:xfrm>
          <a:prstGeom prst="rect">
            <a:avLst/>
          </a:prstGeom>
        </p:spPr>
      </p:pic>
      <p:pic>
        <p:nvPicPr>
          <p:cNvPr id="9" name="Picture 8" descr="A grey rectangular sign with black text&#10;&#10;AI-generated content may be incorrect.">
            <a:extLst>
              <a:ext uri="{FF2B5EF4-FFF2-40B4-BE49-F238E27FC236}">
                <a16:creationId xmlns:a16="http://schemas.microsoft.com/office/drawing/2014/main" id="{30BD6275-25AB-8CA6-DB47-A5ACCCFFBF2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1200"/>
          <a:stretch>
            <a:fillRect/>
          </a:stretch>
        </p:blipFill>
        <p:spPr>
          <a:xfrm>
            <a:off x="5838236" y="5408980"/>
            <a:ext cx="3893717" cy="90378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60CD80C-7BE1-A53D-EBC7-4E234CF36153}"/>
              </a:ext>
            </a:extLst>
          </p:cNvPr>
          <p:cNvSpPr/>
          <p:nvPr/>
        </p:nvSpPr>
        <p:spPr>
          <a:xfrm>
            <a:off x="5815086" y="1163743"/>
            <a:ext cx="3128543" cy="41622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4ABD84-A544-4A4B-4732-A1C526988178}"/>
              </a:ext>
            </a:extLst>
          </p:cNvPr>
          <p:cNvSpPr txBox="1"/>
          <p:nvPr/>
        </p:nvSpPr>
        <p:spPr>
          <a:xfrm rot="16200000">
            <a:off x="8080828" y="2891483"/>
            <a:ext cx="218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Inserted code</a:t>
            </a:r>
          </a:p>
        </p:txBody>
      </p:sp>
    </p:spTree>
    <p:extLst>
      <p:ext uri="{BB962C8B-B14F-4D97-AF65-F5344CB8AC3E}">
        <p14:creationId xmlns:p14="http://schemas.microsoft.com/office/powerpoint/2010/main" val="2305811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C033A-CC7C-311A-7C76-B890E648C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3D66221-EB72-4F61-5B09-8B705F207E5B}"/>
              </a:ext>
            </a:extLst>
          </p:cNvPr>
          <p:cNvSpPr/>
          <p:nvPr/>
        </p:nvSpPr>
        <p:spPr>
          <a:xfrm>
            <a:off x="9167149" y="2364243"/>
            <a:ext cx="835876" cy="407405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32" name="Picture 31" descr="A grey rectangular sign with black text&#10;&#10;AI-generated content may be incorrect.">
            <a:extLst>
              <a:ext uri="{FF2B5EF4-FFF2-40B4-BE49-F238E27FC236}">
                <a16:creationId xmlns:a16="http://schemas.microsoft.com/office/drawing/2014/main" id="{A5D2F0C5-3ADE-2327-DE5E-F9C0BE0E9C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200"/>
          <a:stretch>
            <a:fillRect/>
          </a:stretch>
        </p:blipFill>
        <p:spPr>
          <a:xfrm>
            <a:off x="1150490" y="425609"/>
            <a:ext cx="3893717" cy="9037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3B183-F82D-2AB6-476A-E0B43A691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8</a:t>
            </a:fld>
            <a:endParaRPr lang="en-VN"/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3B51AE6-D67D-3730-DC71-D38C27D484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66"/>
          <a:stretch>
            <a:fillRect/>
          </a:stretch>
        </p:blipFill>
        <p:spPr>
          <a:xfrm>
            <a:off x="1084162" y="1391971"/>
            <a:ext cx="3128543" cy="4162215"/>
          </a:xfrm>
          <a:prstGeom prst="rect">
            <a:avLst/>
          </a:prstGeom>
        </p:spPr>
      </p:pic>
      <p:pic>
        <p:nvPicPr>
          <p:cNvPr id="9" name="Picture 8" descr="A grey rectangular sign with black text&#10;&#10;AI-generated content may be incorrect.">
            <a:extLst>
              <a:ext uri="{FF2B5EF4-FFF2-40B4-BE49-F238E27FC236}">
                <a16:creationId xmlns:a16="http://schemas.microsoft.com/office/drawing/2014/main" id="{C5D1B8E8-B84B-9CC3-53F8-55D64A8E5A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200"/>
          <a:stretch>
            <a:fillRect/>
          </a:stretch>
        </p:blipFill>
        <p:spPr>
          <a:xfrm>
            <a:off x="1150490" y="5597776"/>
            <a:ext cx="3893717" cy="90378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DF026CD-5169-8954-8236-43811753B20C}"/>
              </a:ext>
            </a:extLst>
          </p:cNvPr>
          <p:cNvSpPr/>
          <p:nvPr/>
        </p:nvSpPr>
        <p:spPr>
          <a:xfrm>
            <a:off x="1127340" y="1352539"/>
            <a:ext cx="3128543" cy="41622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C75589-4EDB-BB9A-8283-9B19764FC9A0}"/>
              </a:ext>
            </a:extLst>
          </p:cNvPr>
          <p:cNvSpPr txBox="1"/>
          <p:nvPr/>
        </p:nvSpPr>
        <p:spPr>
          <a:xfrm rot="16200000">
            <a:off x="3393082" y="3080279"/>
            <a:ext cx="218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Inserted code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C0C6B3-E3C8-95F8-8DF4-6FD533A34C3B}"/>
              </a:ext>
            </a:extLst>
          </p:cNvPr>
          <p:cNvSpPr/>
          <p:nvPr/>
        </p:nvSpPr>
        <p:spPr>
          <a:xfrm>
            <a:off x="1127339" y="5554186"/>
            <a:ext cx="4011820" cy="9473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A64A2D-2AAA-5E3C-B884-529FFBADDCBE}"/>
              </a:ext>
            </a:extLst>
          </p:cNvPr>
          <p:cNvSpPr/>
          <p:nvPr/>
        </p:nvSpPr>
        <p:spPr>
          <a:xfrm>
            <a:off x="1455405" y="2883857"/>
            <a:ext cx="2410539" cy="7621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F4E231-9624-8868-E0BD-84203674B5EC}"/>
              </a:ext>
            </a:extLst>
          </p:cNvPr>
          <p:cNvSpPr txBox="1"/>
          <p:nvPr/>
        </p:nvSpPr>
        <p:spPr>
          <a:xfrm rot="16200000">
            <a:off x="4276357" y="5330088"/>
            <a:ext cx="218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Override method</a:t>
            </a:r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44FDD775-3B81-13ED-9241-D2204B6E9AAD}"/>
              </a:ext>
            </a:extLst>
          </p:cNvPr>
          <p:cNvCxnSpPr>
            <a:stCxn id="10" idx="1"/>
            <a:endCxn id="11" idx="1"/>
          </p:cNvCxnSpPr>
          <p:nvPr/>
        </p:nvCxnSpPr>
        <p:spPr>
          <a:xfrm rot="10800000" flipH="1">
            <a:off x="1127339" y="3264941"/>
            <a:ext cx="328066" cy="2762930"/>
          </a:xfrm>
          <a:prstGeom prst="curvedConnector3">
            <a:avLst>
              <a:gd name="adj1" fmla="val -12966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F8F15C7-5DE9-EA1D-28F1-3D3D4790074B}"/>
              </a:ext>
            </a:extLst>
          </p:cNvPr>
          <p:cNvSpPr txBox="1"/>
          <p:nvPr/>
        </p:nvSpPr>
        <p:spPr>
          <a:xfrm rot="16200000">
            <a:off x="-174389" y="4239442"/>
            <a:ext cx="1307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Replace</a:t>
            </a:r>
          </a:p>
        </p:txBody>
      </p:sp>
      <p:pic>
        <p:nvPicPr>
          <p:cNvPr id="23" name="Picture 22" descr="A grey rectangular sign with black text&#10;&#10;AI-generated content may be incorrect.">
            <a:extLst>
              <a:ext uri="{FF2B5EF4-FFF2-40B4-BE49-F238E27FC236}">
                <a16:creationId xmlns:a16="http://schemas.microsoft.com/office/drawing/2014/main" id="{8EE99BDB-18DE-47FA-E7CD-06DD96E2FC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200"/>
          <a:stretch>
            <a:fillRect/>
          </a:stretch>
        </p:blipFill>
        <p:spPr>
          <a:xfrm>
            <a:off x="6109308" y="1397880"/>
            <a:ext cx="3893717" cy="903780"/>
          </a:xfrm>
          <a:prstGeom prst="rect">
            <a:avLst/>
          </a:prstGeom>
        </p:spPr>
      </p:pic>
      <p:pic>
        <p:nvPicPr>
          <p:cNvPr id="24" name="Picture 2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9606BDE-D3D3-9F20-0FA2-B1498E07D1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9966" r="-21688"/>
          <a:stretch>
            <a:fillRect/>
          </a:stretch>
        </p:blipFill>
        <p:spPr>
          <a:xfrm>
            <a:off x="6042980" y="2364242"/>
            <a:ext cx="3807076" cy="4162215"/>
          </a:xfrm>
          <a:prstGeom prst="rect">
            <a:avLst/>
          </a:prstGeom>
        </p:spPr>
      </p:pic>
      <p:pic>
        <p:nvPicPr>
          <p:cNvPr id="25" name="Picture 24" descr="A grey rectangular sign with black text&#10;&#10;AI-generated content may be incorrect.">
            <a:extLst>
              <a:ext uri="{FF2B5EF4-FFF2-40B4-BE49-F238E27FC236}">
                <a16:creationId xmlns:a16="http://schemas.microsoft.com/office/drawing/2014/main" id="{11D58079-157C-FF8D-8B67-B5689EA683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200" r="4523" b="15505"/>
          <a:stretch>
            <a:fillRect/>
          </a:stretch>
        </p:blipFill>
        <p:spPr>
          <a:xfrm>
            <a:off x="6132459" y="3917248"/>
            <a:ext cx="3717597" cy="61662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0FFBC2E-F569-DB47-0E4A-263B3DF9C191}"/>
              </a:ext>
            </a:extLst>
          </p:cNvPr>
          <p:cNvSpPr/>
          <p:nvPr/>
        </p:nvSpPr>
        <p:spPr>
          <a:xfrm>
            <a:off x="6294503" y="3873658"/>
            <a:ext cx="3645032" cy="7446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5E3D34E-7962-A265-DDE9-1D97D6A076FD}"/>
                  </a:ext>
                </a:extLst>
              </p:cNvPr>
              <p:cNvSpPr txBox="1"/>
              <p:nvPr/>
            </p:nvSpPr>
            <p:spPr>
              <a:xfrm>
                <a:off x="5139159" y="3019570"/>
                <a:ext cx="54822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40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VN" sz="40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5E3D34E-7962-A265-DDE9-1D97D6A07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159" y="3019570"/>
                <a:ext cx="548227" cy="615553"/>
              </a:xfrm>
              <a:prstGeom prst="rect">
                <a:avLst/>
              </a:prstGeom>
              <a:blipFill>
                <a:blip r:embed="rId5"/>
                <a:stretch>
                  <a:fillRect l="-15909" r="-1590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itle 1">
            <a:extLst>
              <a:ext uri="{FF2B5EF4-FFF2-40B4-BE49-F238E27FC236}">
                <a16:creationId xmlns:a16="http://schemas.microsoft.com/office/drawing/2014/main" id="{553C4BB4-2A80-E0E9-9BF3-7758E18E5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1405" y="365126"/>
            <a:ext cx="5310820" cy="1026846"/>
          </a:xfrm>
        </p:spPr>
        <p:txBody>
          <a:bodyPr>
            <a:normAutofit fontScale="90000"/>
          </a:bodyPr>
          <a:lstStyle/>
          <a:p>
            <a:r>
              <a:rPr lang="en-US"/>
              <a:t>Inheritance (3/4)</a:t>
            </a:r>
            <a:br>
              <a:rPr lang="en-US"/>
            </a:br>
            <a:r>
              <a:rPr lang="en-US" sz="3200"/>
              <a:t>Override</a:t>
            </a:r>
            <a:endParaRPr lang="en-VN" sz="32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89EBDE-8E4D-9352-B6D4-9974CBCD636A}"/>
              </a:ext>
            </a:extLst>
          </p:cNvPr>
          <p:cNvSpPr txBox="1"/>
          <p:nvPr/>
        </p:nvSpPr>
        <p:spPr>
          <a:xfrm rot="16200000">
            <a:off x="9076221" y="3461359"/>
            <a:ext cx="218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Overrided</a:t>
            </a:r>
          </a:p>
        </p:txBody>
      </p:sp>
    </p:spTree>
    <p:extLst>
      <p:ext uri="{BB962C8B-B14F-4D97-AF65-F5344CB8AC3E}">
        <p14:creationId xmlns:p14="http://schemas.microsoft.com/office/powerpoint/2010/main" val="2151971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74150-1F4C-FB35-C3B2-2BC820711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CBC88-602E-EBDA-6204-3FC0A373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 (4/4)</a:t>
            </a:r>
            <a:br>
              <a:rPr lang="en-US"/>
            </a:br>
            <a:r>
              <a:rPr lang="en-US" sz="2800"/>
              <a:t>Shadowing</a:t>
            </a:r>
            <a:endParaRPr lang="en-VN" sz="2800"/>
          </a:p>
        </p:txBody>
      </p:sp>
      <p:pic>
        <p:nvPicPr>
          <p:cNvPr id="32" name="Picture 31" descr="A grey rectangular sign with black text&#10;&#10;AI-generated content may be incorrect.">
            <a:extLst>
              <a:ext uri="{FF2B5EF4-FFF2-40B4-BE49-F238E27FC236}">
                <a16:creationId xmlns:a16="http://schemas.microsoft.com/office/drawing/2014/main" id="{CCE8F59B-94A6-407B-51B5-C18CE73D3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966" y="1728354"/>
            <a:ext cx="4735793" cy="2252555"/>
          </a:xfrm>
          <a:prstGeom prst="rect">
            <a:avLst/>
          </a:prstGeom>
        </p:spPr>
      </p:pic>
      <p:pic>
        <p:nvPicPr>
          <p:cNvPr id="34" name="Picture 3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3387369-1F7C-7745-2E87-9B4DBD0A4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332" y="3976995"/>
            <a:ext cx="6355635" cy="274447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2BF2E-40E2-507E-1061-BF8871A0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9</a:t>
            </a:fld>
            <a:endParaRPr lang="en-V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FB2980-285E-8E54-FD4A-A8ACCB184065}"/>
              </a:ext>
            </a:extLst>
          </p:cNvPr>
          <p:cNvSpPr/>
          <p:nvPr/>
        </p:nvSpPr>
        <p:spPr>
          <a:xfrm>
            <a:off x="2948004" y="2407405"/>
            <a:ext cx="4195214" cy="350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60BE6F-7850-5A54-62B7-842080F5B27D}"/>
              </a:ext>
            </a:extLst>
          </p:cNvPr>
          <p:cNvSpPr/>
          <p:nvPr/>
        </p:nvSpPr>
        <p:spPr>
          <a:xfrm>
            <a:off x="2989021" y="4709596"/>
            <a:ext cx="4164572" cy="350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3DF562-3038-6067-DFE6-637311FA67A0}"/>
              </a:ext>
            </a:extLst>
          </p:cNvPr>
          <p:cNvSpPr/>
          <p:nvPr/>
        </p:nvSpPr>
        <p:spPr>
          <a:xfrm>
            <a:off x="838201" y="1797805"/>
            <a:ext cx="15240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Counter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1765BD-1C71-1B7F-E280-3ED7E703391B}"/>
              </a:ext>
            </a:extLst>
          </p:cNvPr>
          <p:cNvSpPr/>
          <p:nvPr/>
        </p:nvSpPr>
        <p:spPr>
          <a:xfrm>
            <a:off x="838200" y="3280227"/>
            <a:ext cx="15240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cs typeface="Times New Roman" pitchFamily="18" charset="0"/>
              </a:rPr>
              <a:t>ExtendCounter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D4107F-466A-C997-7C63-B8BF432323E9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 flipH="1">
            <a:off x="1600200" y="2407405"/>
            <a:ext cx="1" cy="872822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FACD2D-828B-2E17-8C81-D0469A75465F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600200" y="3889827"/>
            <a:ext cx="0" cy="909553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D72137B-AC27-CEC4-DCBF-02226F3F0AF1}"/>
              </a:ext>
            </a:extLst>
          </p:cNvPr>
          <p:cNvSpPr/>
          <p:nvPr/>
        </p:nvSpPr>
        <p:spPr>
          <a:xfrm>
            <a:off x="838200" y="4799380"/>
            <a:ext cx="15240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cs typeface="Times New Roman" pitchFamily="18" charset="0"/>
              </a:rPr>
              <a:t>ExtendCounter2</a:t>
            </a:r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A4F1788B-7B96-40CD-5938-170B2576FC56}"/>
              </a:ext>
            </a:extLst>
          </p:cNvPr>
          <p:cNvCxnSpPr>
            <a:stCxn id="17" idx="3"/>
            <a:endCxn id="26" idx="3"/>
          </p:cNvCxnSpPr>
          <p:nvPr/>
        </p:nvCxnSpPr>
        <p:spPr>
          <a:xfrm flipH="1" flipV="1">
            <a:off x="7143218" y="2582799"/>
            <a:ext cx="10375" cy="2302191"/>
          </a:xfrm>
          <a:prstGeom prst="curvedConnector3">
            <a:avLst>
              <a:gd name="adj1" fmla="val -408358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B6F8C2E-0939-A851-3E19-8B6A5001DDBD}"/>
              </a:ext>
            </a:extLst>
          </p:cNvPr>
          <p:cNvSpPr txBox="1"/>
          <p:nvPr/>
        </p:nvSpPr>
        <p:spPr>
          <a:xfrm rot="16200000">
            <a:off x="7200271" y="3549227"/>
            <a:ext cx="1151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Shadow</a:t>
            </a:r>
          </a:p>
        </p:txBody>
      </p:sp>
    </p:spTree>
    <p:extLst>
      <p:ext uri="{BB962C8B-B14F-4D97-AF65-F5344CB8AC3E}">
        <p14:creationId xmlns:p14="http://schemas.microsoft.com/office/powerpoint/2010/main" val="2841097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6FD65-BF66-9635-077C-8D0D1F5A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FEAEE841-A9DF-FE16-89A3-D27F81C928A3}"/>
              </a:ext>
            </a:extLst>
          </p:cNvPr>
          <p:cNvSpPr/>
          <p:nvPr/>
        </p:nvSpPr>
        <p:spPr>
          <a:xfrm>
            <a:off x="5397455" y="2197319"/>
            <a:ext cx="6533288" cy="3369431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153312-7931-F0E1-43F5-3786ABBFE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Scope (C++) (1/3)</a:t>
            </a:r>
            <a:endParaRPr lang="en-VN" sz="4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0F1B8-9293-D4C3-6666-C621479C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10</a:t>
            </a:fld>
            <a:endParaRPr lang="en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5EF99B-E222-452D-E537-A42A9127D191}"/>
              </a:ext>
            </a:extLst>
          </p:cNvPr>
          <p:cNvSpPr/>
          <p:nvPr/>
        </p:nvSpPr>
        <p:spPr>
          <a:xfrm>
            <a:off x="953817" y="2103437"/>
            <a:ext cx="1789383" cy="1325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VN" sz="2800">
                <a:solidFill>
                  <a:schemeClr val="tx1"/>
                </a:solidFill>
              </a:rPr>
              <a:t>Private</a:t>
            </a:r>
          </a:p>
          <a:p>
            <a:r>
              <a:rPr lang="en-VN" sz="2800">
                <a:solidFill>
                  <a:schemeClr val="tx1"/>
                </a:solidFill>
              </a:rPr>
              <a:t>Protected</a:t>
            </a:r>
          </a:p>
          <a:p>
            <a:r>
              <a:rPr lang="en-VN" sz="2800">
                <a:solidFill>
                  <a:schemeClr val="tx1"/>
                </a:solidFill>
              </a:rPr>
              <a:t>Public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FCAB69-D753-8139-2483-E83BBECCDBFB}"/>
              </a:ext>
            </a:extLst>
          </p:cNvPr>
          <p:cNvSpPr/>
          <p:nvPr/>
        </p:nvSpPr>
        <p:spPr>
          <a:xfrm>
            <a:off x="953817" y="1572942"/>
            <a:ext cx="1789383" cy="5304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VN" sz="2400">
                <a:solidFill>
                  <a:schemeClr val="tx1"/>
                </a:solidFill>
              </a:rPr>
              <a:t>Superclass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A42F2D-702B-182A-BE7E-091EF652F38F}"/>
              </a:ext>
            </a:extLst>
          </p:cNvPr>
          <p:cNvSpPr/>
          <p:nvPr/>
        </p:nvSpPr>
        <p:spPr>
          <a:xfrm>
            <a:off x="953817" y="4622277"/>
            <a:ext cx="1789383" cy="53049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VN" sz="2800">
              <a:solidFill>
                <a:schemeClr val="accent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283CFD-1536-E1D7-5662-031A33D13E8F}"/>
              </a:ext>
            </a:extLst>
          </p:cNvPr>
          <p:cNvSpPr/>
          <p:nvPr/>
        </p:nvSpPr>
        <p:spPr>
          <a:xfrm>
            <a:off x="953817" y="4091781"/>
            <a:ext cx="1789383" cy="53049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VN" sz="2400">
                <a:solidFill>
                  <a:schemeClr val="accent2"/>
                </a:solidFill>
              </a:rPr>
              <a:t>Subclass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BD1A42-92D6-C261-AB8C-9F38CA1F1076}"/>
              </a:ext>
            </a:extLst>
          </p:cNvPr>
          <p:cNvSpPr/>
          <p:nvPr/>
        </p:nvSpPr>
        <p:spPr>
          <a:xfrm>
            <a:off x="3341829" y="4622277"/>
            <a:ext cx="1789383" cy="5304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VN" sz="28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7298EF-4559-4CAA-FA5B-940426B5ADEA}"/>
              </a:ext>
            </a:extLst>
          </p:cNvPr>
          <p:cNvSpPr/>
          <p:nvPr/>
        </p:nvSpPr>
        <p:spPr>
          <a:xfrm>
            <a:off x="3341829" y="4091781"/>
            <a:ext cx="1789383" cy="5304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VN" sz="2400">
                <a:solidFill>
                  <a:schemeClr val="accent1"/>
                </a:solidFill>
              </a:rPr>
              <a:t>Friendclass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0EE102-7B54-248A-05D1-22D6BDB5499A}"/>
              </a:ext>
            </a:extLst>
          </p:cNvPr>
          <p:cNvSpPr/>
          <p:nvPr/>
        </p:nvSpPr>
        <p:spPr>
          <a:xfrm>
            <a:off x="953815" y="6148480"/>
            <a:ext cx="1789383" cy="5304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VN" sz="280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2D71FC-F2A3-8444-118B-320A9CCBCFC4}"/>
              </a:ext>
            </a:extLst>
          </p:cNvPr>
          <p:cNvSpPr/>
          <p:nvPr/>
        </p:nvSpPr>
        <p:spPr>
          <a:xfrm>
            <a:off x="953815" y="5617984"/>
            <a:ext cx="1789383" cy="5304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VN" sz="2400">
                <a:solidFill>
                  <a:srgbClr val="FF0000"/>
                </a:solidFill>
              </a:rPr>
              <a:t>???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6391BAD7-EFA0-D3D4-67B7-A71B5560E8B1}"/>
              </a:ext>
            </a:extLst>
          </p:cNvPr>
          <p:cNvCxnSpPr>
            <a:stCxn id="14" idx="1"/>
            <a:endCxn id="6" idx="1"/>
          </p:cNvCxnSpPr>
          <p:nvPr/>
        </p:nvCxnSpPr>
        <p:spPr>
          <a:xfrm rot="10800000">
            <a:off x="953817" y="2766219"/>
            <a:ext cx="12700" cy="1590810"/>
          </a:xfrm>
          <a:prstGeom prst="curvedConnector3">
            <a:avLst>
              <a:gd name="adj1" fmla="val 4989874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65ED822D-1BFF-BF16-6F5F-D673B105D7F2}"/>
              </a:ext>
            </a:extLst>
          </p:cNvPr>
          <p:cNvCxnSpPr>
            <a:cxnSpLocks/>
            <a:stCxn id="14" idx="1"/>
            <a:endCxn id="28" idx="1"/>
          </p:cNvCxnSpPr>
          <p:nvPr/>
        </p:nvCxnSpPr>
        <p:spPr>
          <a:xfrm rot="10800000" flipH="1">
            <a:off x="953816" y="3222551"/>
            <a:ext cx="12701" cy="1134479"/>
          </a:xfrm>
          <a:prstGeom prst="curvedConnector3">
            <a:avLst>
              <a:gd name="adj1" fmla="val -3257972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74390CD-666F-EAFE-4DC4-B1DC38F53EC1}"/>
              </a:ext>
            </a:extLst>
          </p:cNvPr>
          <p:cNvSpPr/>
          <p:nvPr/>
        </p:nvSpPr>
        <p:spPr>
          <a:xfrm>
            <a:off x="966518" y="3044142"/>
            <a:ext cx="105136" cy="356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47C31E54-F1E5-8FA5-D2A5-DE4DBBA899B9}"/>
              </a:ext>
            </a:extLst>
          </p:cNvPr>
          <p:cNvCxnSpPr>
            <a:cxnSpLocks/>
            <a:stCxn id="16" idx="1"/>
          </p:cNvCxnSpPr>
          <p:nvPr/>
        </p:nvCxnSpPr>
        <p:spPr>
          <a:xfrm rot="10800000">
            <a:off x="2133601" y="3209197"/>
            <a:ext cx="1208229" cy="1147832"/>
          </a:xfrm>
          <a:prstGeom prst="curvedConnector3">
            <a:avLst>
              <a:gd name="adj1" fmla="val 50000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D9BE883B-07BD-772F-1B42-02299DEC74B7}"/>
              </a:ext>
            </a:extLst>
          </p:cNvPr>
          <p:cNvCxnSpPr>
            <a:cxnSpLocks/>
            <a:stCxn id="16" idx="1"/>
            <a:endCxn id="6" idx="3"/>
          </p:cNvCxnSpPr>
          <p:nvPr/>
        </p:nvCxnSpPr>
        <p:spPr>
          <a:xfrm rot="10800000">
            <a:off x="2743201" y="2766219"/>
            <a:ext cx="598629" cy="1590810"/>
          </a:xfrm>
          <a:prstGeom prst="curvedConnector3">
            <a:avLst>
              <a:gd name="adj1" fmla="val 50000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0581FF2E-793B-27AC-F993-405023859498}"/>
              </a:ext>
            </a:extLst>
          </p:cNvPr>
          <p:cNvCxnSpPr>
            <a:cxnSpLocks/>
            <a:stCxn id="16" idx="1"/>
            <a:endCxn id="44" idx="3"/>
          </p:cNvCxnSpPr>
          <p:nvPr/>
        </p:nvCxnSpPr>
        <p:spPr>
          <a:xfrm rot="10800000">
            <a:off x="2690631" y="2368009"/>
            <a:ext cx="651198" cy="1989021"/>
          </a:xfrm>
          <a:prstGeom prst="curvedConnector3">
            <a:avLst>
              <a:gd name="adj1" fmla="val 20044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8B44E84-EA82-7C44-018B-884BD4F0DCCC}"/>
              </a:ext>
            </a:extLst>
          </p:cNvPr>
          <p:cNvSpPr/>
          <p:nvPr/>
        </p:nvSpPr>
        <p:spPr>
          <a:xfrm>
            <a:off x="2585495" y="2189600"/>
            <a:ext cx="105136" cy="356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F76EA9DB-4773-9B86-843B-83617F89B8B0}"/>
              </a:ext>
            </a:extLst>
          </p:cNvPr>
          <p:cNvCxnSpPr>
            <a:cxnSpLocks/>
            <a:stCxn id="21" idx="1"/>
            <a:endCxn id="28" idx="1"/>
          </p:cNvCxnSpPr>
          <p:nvPr/>
        </p:nvCxnSpPr>
        <p:spPr>
          <a:xfrm rot="10800000" flipH="1">
            <a:off x="953814" y="3222550"/>
            <a:ext cx="12703" cy="2660682"/>
          </a:xfrm>
          <a:prstGeom prst="curvedConnector3">
            <a:avLst>
              <a:gd name="adj1" fmla="val -583062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8633741-8F28-0C78-DDCF-E71AA65872FB}"/>
                  </a:ext>
                </a:extLst>
              </p:cNvPr>
              <p:cNvSpPr txBox="1"/>
              <p:nvPr/>
            </p:nvSpPr>
            <p:spPr>
              <a:xfrm>
                <a:off x="5409345" y="734658"/>
                <a:ext cx="6794545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2800"/>
                  <a:t>Why we need scope?</a:t>
                </a:r>
              </a:p>
              <a:p>
                <a:r>
                  <a:rPr lang="en-VN" sz="2800"/>
                  <a:t>Example: Singleton pattern allow only one instance / class.</a:t>
                </a:r>
              </a:p>
              <a:p>
                <a:endParaRPr lang="en-VN" sz="2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VN" sz="2800" b="1" i="1">
                          <a:latin typeface="Cambria Math" panose="02040503050406030204" pitchFamily="18" charset="0"/>
                        </a:rPr>
                        <m:t>𝒄𝒍𝒂𝒔𝒔</m:t>
                      </m:r>
                      <m:r>
                        <a:rPr lang="en-VN" sz="28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𝐻𝑒𝑟𝑜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VN" sz="2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sz="2800" b="0" i="1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h𝑒𝑟𝑜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800" b="1" i="1"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𝐻𝑒𝑟𝑜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VN" sz="2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sz="2800" b="1" i="1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VN" sz="2800" b="1" i="1">
                          <a:latin typeface="Cambria Math" panose="02040503050406030204" pitchFamily="18" charset="0"/>
                        </a:rPr>
                        <m:t>𝒑𝒓𝒊𝒗𝒂𝒕𝒆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𝐻𝑒𝑟𝑜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(…)</m:t>
                      </m:r>
                    </m:oMath>
                  </m:oMathPara>
                </a14:m>
                <a:endParaRPr lang="en-VN" sz="2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sz="2800" b="0" i="1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𝑔𝑒𝑡𝐼𝑛𝑠𝑡𝑎𝑛𝑐𝑒</m:t>
                      </m:r>
                      <m:d>
                        <m:dPr>
                          <m:ctrlPr>
                            <a:rPr lang="en-V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VN" sz="2800" i="1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  <m:r>
                        <a:rPr lang="en-VN" sz="2800" i="1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VN" sz="2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VN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vi-VN" sz="2800" b="1" i="1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VN" sz="2800" b="1" i="1">
                          <a:latin typeface="Cambria Math" panose="02040503050406030204" pitchFamily="18" charset="0"/>
                        </a:rPr>
                        <m:t>𝒓𝒆𝒕𝒖𝒓𝒏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𝑡h𝑖𝑠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h𝑒𝑟𝑜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== </m:t>
                      </m:r>
                      <m:r>
                        <m:rPr>
                          <m:sty m:val="p"/>
                        </m:rPr>
                        <a:rPr lang="vi-VN" sz="2800" i="1">
                          <a:latin typeface="Cambria Math" panose="02040503050406030204" pitchFamily="18" charset="0"/>
                        </a:rPr>
                        <m:t>null</m:t>
                      </m:r>
                      <m:r>
                        <a:rPr lang="vi-VN" sz="2800" i="1">
                          <a:latin typeface="Cambria Math" panose="02040503050406030204" pitchFamily="18" charset="0"/>
                        </a:rPr>
                        <m:t>? 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VN" sz="2800"/>
              </a:p>
              <a:p>
                <a:r>
                  <a:rPr lang="en-VN" sz="2800"/>
                  <a:t>                  </a:t>
                </a:r>
                <a14:m>
                  <m:oMath xmlns:m="http://schemas.openxmlformats.org/officeDocument/2006/math">
                    <m:r>
                      <a:rPr lang="en-VN" sz="2800" i="1">
                        <a:latin typeface="Cambria Math" panose="02040503050406030204" pitchFamily="18" charset="0"/>
                      </a:rPr>
                      <m:t>𝑡h𝑖𝑠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h𝑒𝑟𝑜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𝑛𝑒𝑤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𝐻𝑒𝑟𝑜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(…)</m:t>
                    </m:r>
                  </m:oMath>
                </a14:m>
                <a:endParaRPr lang="vi-VN" sz="2800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VN" sz="2800" i="1">
                          <a:latin typeface="Cambria Math" panose="02040503050406030204" pitchFamily="18" charset="0"/>
                        </a:rPr>
                        <m:t>                  : 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𝑡h𝑖𝑠</m:t>
                      </m:r>
                      <m:r>
                        <a:rPr lang="vi-VN" sz="2800" b="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h𝑒𝑟</m:t>
                      </m:r>
                      <m:r>
                        <m:rPr>
                          <m:sty m:val="p"/>
                        </m:rPr>
                        <a:rPr lang="en-VN" sz="2800" i="1">
                          <a:latin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vi-VN" sz="2800" b="0" i="1">
                  <a:latin typeface="Cambria Math" panose="02040503050406030204" pitchFamily="18" charset="0"/>
                </a:endParaRPr>
              </a:p>
              <a:p>
                <a:endParaRPr lang="vi-VN" sz="2800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8633741-8F28-0C78-DDCF-E71AA6587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345" y="734658"/>
                <a:ext cx="6794545" cy="5262979"/>
              </a:xfrm>
              <a:prstGeom prst="rect">
                <a:avLst/>
              </a:prstGeom>
              <a:blipFill>
                <a:blip r:embed="rId3"/>
                <a:stretch>
                  <a:fillRect l="-1866" t="-144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7731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483E4-4798-1292-7D6C-17AF013C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Scope (C++) (2/3)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5607D-0268-31A9-88D1-A55DB376C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7112" y="1873249"/>
            <a:ext cx="2990088" cy="2746375"/>
          </a:xfrm>
          <a:solidFill>
            <a:srgbClr val="D9D9D9"/>
          </a:solidFill>
        </p:spPr>
        <p:txBody>
          <a:bodyPr/>
          <a:lstStyle/>
          <a:p>
            <a:pPr marL="0" indent="0">
              <a:buNone/>
            </a:pPr>
            <a:r>
              <a:rPr lang="en-US"/>
              <a:t>c</a:t>
            </a:r>
            <a:r>
              <a:rPr lang="en-VN"/>
              <a:t>lass A1:</a:t>
            </a:r>
          </a:p>
          <a:p>
            <a:pPr marL="0" indent="0">
              <a:buNone/>
            </a:pPr>
            <a:r>
              <a:rPr lang="en-VN"/>
              <a:t>      …</a:t>
            </a:r>
          </a:p>
          <a:p>
            <a:pPr marL="0" indent="0">
              <a:buNone/>
            </a:pPr>
            <a:endParaRPr lang="en-VN"/>
          </a:p>
          <a:p>
            <a:pPr marL="0" indent="0">
              <a:buNone/>
            </a:pPr>
            <a:r>
              <a:rPr lang="en-US"/>
              <a:t>c</a:t>
            </a:r>
            <a:r>
              <a:rPr lang="en-VN"/>
              <a:t>lass B extend A1:</a:t>
            </a:r>
          </a:p>
          <a:p>
            <a:pPr marL="0" indent="0">
              <a:buNone/>
            </a:pPr>
            <a:r>
              <a:rPr lang="en-VN"/>
              <a:t>     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E4D6D-7334-6E13-923F-3B160C664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11</a:t>
            </a:fld>
            <a:endParaRPr lang="en-V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6B8E865-7DCA-6F97-D90B-9FC3674A675B}"/>
              </a:ext>
            </a:extLst>
          </p:cNvPr>
          <p:cNvSpPr txBox="1">
            <a:spLocks/>
          </p:cNvSpPr>
          <p:nvPr/>
        </p:nvSpPr>
        <p:spPr>
          <a:xfrm>
            <a:off x="4477512" y="1873249"/>
            <a:ext cx="1728216" cy="2746375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</a:t>
            </a:r>
            <a:r>
              <a:rPr lang="en-VN"/>
              <a:t>lass A2: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      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VN"/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</a:t>
            </a:r>
            <a:r>
              <a:rPr lang="en-VN"/>
              <a:t>lass B2: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      …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7AD039-966A-99EE-C2BD-E23890BC5278}"/>
              </a:ext>
            </a:extLst>
          </p:cNvPr>
          <p:cNvSpPr txBox="1">
            <a:spLocks/>
          </p:cNvSpPr>
          <p:nvPr/>
        </p:nvSpPr>
        <p:spPr>
          <a:xfrm>
            <a:off x="6416040" y="1873249"/>
            <a:ext cx="1728216" cy="2746375"/>
          </a:xfrm>
          <a:prstGeom prst="rect">
            <a:avLst/>
          </a:prstGeom>
          <a:solidFill>
            <a:srgbClr val="D9D9D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c</a:t>
            </a:r>
            <a:r>
              <a:rPr lang="en-VN"/>
              <a:t>lass A3: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VN"/>
              <a:t>      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V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2F2EF3-65FC-2606-32D2-5A638453A6FE}"/>
              </a:ext>
            </a:extLst>
          </p:cNvPr>
          <p:cNvCxnSpPr/>
          <p:nvPr/>
        </p:nvCxnSpPr>
        <p:spPr>
          <a:xfrm>
            <a:off x="1277112" y="4779264"/>
            <a:ext cx="657453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E2206E-E8F1-D8E0-6A96-7D3545DC97B9}"/>
              </a:ext>
            </a:extLst>
          </p:cNvPr>
          <p:cNvCxnSpPr>
            <a:cxnSpLocks/>
          </p:cNvCxnSpPr>
          <p:nvPr/>
        </p:nvCxnSpPr>
        <p:spPr>
          <a:xfrm flipV="1">
            <a:off x="1100328" y="1883980"/>
            <a:ext cx="0" cy="27356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D1134DE-F186-0C12-5DBD-92BFA0B61D85}"/>
              </a:ext>
            </a:extLst>
          </p:cNvPr>
          <p:cNvSpPr txBox="1"/>
          <p:nvPr/>
        </p:nvSpPr>
        <p:spPr>
          <a:xfrm>
            <a:off x="3270504" y="4789993"/>
            <a:ext cx="2414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Horizontal retrieval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F5F4E7-B516-0A81-06D4-352DF8C280CD}"/>
              </a:ext>
            </a:extLst>
          </p:cNvPr>
          <p:cNvSpPr txBox="1"/>
          <p:nvPr/>
        </p:nvSpPr>
        <p:spPr>
          <a:xfrm rot="16200000">
            <a:off x="-277368" y="2926390"/>
            <a:ext cx="2414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Vertical retrieval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B045D6-B481-7521-0F59-930BFDA5917F}"/>
              </a:ext>
            </a:extLst>
          </p:cNvPr>
          <p:cNvSpPr txBox="1"/>
          <p:nvPr/>
        </p:nvSpPr>
        <p:spPr>
          <a:xfrm>
            <a:off x="838206" y="5216241"/>
            <a:ext cx="112349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/>
              <a:t>Does the subclass's member function have the right to access the parent class's components?</a:t>
            </a:r>
          </a:p>
          <a:p>
            <a:r>
              <a:rPr lang="en-US" sz="2400"/>
              <a:t>Do the components of the parent class, after being inherited down to the subclass, have their access allowed by the outside world through the subclass object?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D23462-07BD-CD24-1B67-082273B7ECD2}"/>
              </a:ext>
            </a:extLst>
          </p:cNvPr>
          <p:cNvSpPr txBox="1"/>
          <p:nvPr/>
        </p:nvSpPr>
        <p:spPr>
          <a:xfrm>
            <a:off x="8354568" y="1776749"/>
            <a:ext cx="37185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/>
              <a:t>There are 3 scopes:</a:t>
            </a:r>
          </a:p>
          <a:p>
            <a:pPr marL="285750" indent="-285750">
              <a:buFontTx/>
              <a:buChar char="-"/>
            </a:pPr>
            <a:r>
              <a:rPr lang="en-VN" sz="2800"/>
              <a:t>Scope of class</a:t>
            </a:r>
          </a:p>
          <a:p>
            <a:pPr marL="285750" indent="-285750">
              <a:buFontTx/>
              <a:buChar char="-"/>
            </a:pPr>
            <a:r>
              <a:rPr lang="en-VN" sz="2800"/>
              <a:t>Scope of attribute/method</a:t>
            </a:r>
          </a:p>
          <a:p>
            <a:pPr marL="285750" indent="-285750">
              <a:buFontTx/>
              <a:buChar char="-"/>
            </a:pPr>
            <a:r>
              <a:rPr lang="en-VN" sz="2800"/>
              <a:t>Scope of inheritance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66CBE5-B4B2-422C-D2AF-DE62AE0DC1FD}"/>
              </a:ext>
            </a:extLst>
          </p:cNvPr>
          <p:cNvSpPr/>
          <p:nvPr/>
        </p:nvSpPr>
        <p:spPr>
          <a:xfrm>
            <a:off x="8354568" y="2283884"/>
            <a:ext cx="3092459" cy="12396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9A9BC9-42CF-0EA9-1741-B9C76346955D}"/>
              </a:ext>
            </a:extLst>
          </p:cNvPr>
          <p:cNvSpPr txBox="1"/>
          <p:nvPr/>
        </p:nvSpPr>
        <p:spPr>
          <a:xfrm>
            <a:off x="11431939" y="2250287"/>
            <a:ext cx="799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Java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35A576-9207-14FD-35F6-11970654E473}"/>
              </a:ext>
            </a:extLst>
          </p:cNvPr>
          <p:cNvSpPr/>
          <p:nvPr/>
        </p:nvSpPr>
        <p:spPr>
          <a:xfrm>
            <a:off x="8290560" y="2674926"/>
            <a:ext cx="3718560" cy="14078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A6A1F9-1720-F233-D703-65ECB31A1AB4}"/>
              </a:ext>
            </a:extLst>
          </p:cNvPr>
          <p:cNvSpPr txBox="1"/>
          <p:nvPr/>
        </p:nvSpPr>
        <p:spPr>
          <a:xfrm>
            <a:off x="11334251" y="4078825"/>
            <a:ext cx="63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C++</a:t>
            </a:r>
          </a:p>
        </p:txBody>
      </p:sp>
    </p:spTree>
    <p:extLst>
      <p:ext uri="{BB962C8B-B14F-4D97-AF65-F5344CB8AC3E}">
        <p14:creationId xmlns:p14="http://schemas.microsoft.com/office/powerpoint/2010/main" val="519569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3C366-FF67-1F57-964A-DCD48735A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2064"/>
            <a:ext cx="10515600" cy="902207"/>
          </a:xfrm>
        </p:spPr>
        <p:txBody>
          <a:bodyPr/>
          <a:lstStyle/>
          <a:p>
            <a:r>
              <a:rPr lang="en-VN"/>
              <a:t>Scope (C++) (3/3)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4B3C2-97D9-0339-E497-21B45AB3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12</a:t>
            </a:fld>
            <a:endParaRPr lang="en-V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6A7D2E-4884-F22C-30BE-44DAAA5E5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468832"/>
              </p:ext>
            </p:extLst>
          </p:nvPr>
        </p:nvGraphicFramePr>
        <p:xfrm>
          <a:off x="838200" y="1731263"/>
          <a:ext cx="10515600" cy="44613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2248">
                  <a:extLst>
                    <a:ext uri="{9D8B030D-6E8A-4147-A177-3AD203B41FA5}">
                      <a16:colId xmlns:a16="http://schemas.microsoft.com/office/drawing/2014/main" val="3776514158"/>
                    </a:ext>
                  </a:extLst>
                </a:gridCol>
                <a:gridCol w="3218688">
                  <a:extLst>
                    <a:ext uri="{9D8B030D-6E8A-4147-A177-3AD203B41FA5}">
                      <a16:colId xmlns:a16="http://schemas.microsoft.com/office/drawing/2014/main" val="3288150895"/>
                    </a:ext>
                  </a:extLst>
                </a:gridCol>
                <a:gridCol w="3681984">
                  <a:extLst>
                    <a:ext uri="{9D8B030D-6E8A-4147-A177-3AD203B41FA5}">
                      <a16:colId xmlns:a16="http://schemas.microsoft.com/office/drawing/2014/main" val="2520037446"/>
                    </a:ext>
                  </a:extLst>
                </a:gridCol>
                <a:gridCol w="2392680">
                  <a:extLst>
                    <a:ext uri="{9D8B030D-6E8A-4147-A177-3AD203B41FA5}">
                      <a16:colId xmlns:a16="http://schemas.microsoft.com/office/drawing/2014/main" val="3536996169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marL="50800">
                        <a:lnSpc>
                          <a:spcPts val="1000"/>
                        </a:lnSpc>
                        <a:spcBef>
                          <a:spcPts val="320"/>
                        </a:spcBef>
                        <a:spcAft>
                          <a:spcPts val="320"/>
                        </a:spcAft>
                        <a:buNone/>
                        <a:tabLst>
                          <a:tab pos="228600" algn="l"/>
                          <a:tab pos="1219200" algn="l"/>
                          <a:tab pos="19431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</a:tabLst>
                      </a:pPr>
                      <a:r>
                        <a:rPr lang="en-US" sz="1800">
                          <a:effectLst/>
                        </a:rPr>
                        <a:t>Base</a:t>
                      </a:r>
                    </a:p>
                    <a:p>
                      <a:pPr marL="50800">
                        <a:lnSpc>
                          <a:spcPts val="1000"/>
                        </a:lnSpc>
                        <a:spcBef>
                          <a:spcPts val="320"/>
                        </a:spcBef>
                        <a:spcAft>
                          <a:spcPts val="320"/>
                        </a:spcAft>
                        <a:buNone/>
                        <a:tabLst>
                          <a:tab pos="228600" algn="l"/>
                          <a:tab pos="1219200" algn="l"/>
                          <a:tab pos="19431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</a:tabLst>
                      </a:pPr>
                      <a:r>
                        <a:rPr lang="en-US" sz="1800">
                          <a:effectLst/>
                        </a:rPr>
                        <a:t>class</a:t>
                      </a:r>
                      <a:endParaRPr lang="en-VN" sz="1800" b="1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50800" algn="ctr">
                        <a:spcBef>
                          <a:spcPts val="320"/>
                        </a:spcBef>
                        <a:spcAft>
                          <a:spcPts val="32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Type of inheritance</a:t>
                      </a:r>
                      <a:endParaRPr lang="en-VN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407735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ts val="1000"/>
                        </a:lnSpc>
                        <a:spcBef>
                          <a:spcPts val="320"/>
                        </a:spcBef>
                        <a:spcAft>
                          <a:spcPts val="320"/>
                        </a:spcAft>
                        <a:buNone/>
                        <a:tabLst>
                          <a:tab pos="228600" algn="l"/>
                          <a:tab pos="1219200" algn="l"/>
                          <a:tab pos="19431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</a:tabLst>
                      </a:pPr>
                      <a:r>
                        <a:rPr lang="en-US" sz="1800">
                          <a:effectLst/>
                        </a:rPr>
                        <a:t>Public</a:t>
                      </a:r>
                      <a:endParaRPr lang="en-VN" sz="1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ts val="1000"/>
                        </a:lnSpc>
                        <a:spcBef>
                          <a:spcPts val="320"/>
                        </a:spcBef>
                        <a:spcAft>
                          <a:spcPts val="320"/>
                        </a:spcAft>
                        <a:buNone/>
                        <a:tabLst>
                          <a:tab pos="228600" algn="l"/>
                          <a:tab pos="1219200" algn="l"/>
                          <a:tab pos="19431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</a:tabLst>
                      </a:pPr>
                      <a:r>
                        <a:rPr lang="en-US" sz="1800">
                          <a:effectLst/>
                        </a:rPr>
                        <a:t>Protected</a:t>
                      </a:r>
                      <a:endParaRPr lang="en-VN" sz="1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ts val="1000"/>
                        </a:lnSpc>
                        <a:spcBef>
                          <a:spcPts val="320"/>
                        </a:spcBef>
                        <a:spcAft>
                          <a:spcPts val="320"/>
                        </a:spcAft>
                        <a:buNone/>
                        <a:tabLst>
                          <a:tab pos="228600" algn="l"/>
                          <a:tab pos="1219200" algn="l"/>
                          <a:tab pos="19431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</a:tabLst>
                      </a:pPr>
                      <a:r>
                        <a:rPr lang="en-US" sz="1800">
                          <a:effectLst/>
                        </a:rPr>
                        <a:t>Private </a:t>
                      </a:r>
                      <a:endParaRPr lang="en-VN" sz="1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925070"/>
                  </a:ext>
                </a:extLst>
              </a:tr>
              <a:tr h="1383457">
                <a:tc>
                  <a:txBody>
                    <a:bodyPr/>
                    <a:lstStyle/>
                    <a:p>
                      <a:pPr marL="50800" algn="just">
                        <a:lnSpc>
                          <a:spcPts val="5"/>
                        </a:lnSpc>
                        <a:spcBef>
                          <a:spcPts val="320"/>
                        </a:spcBef>
                        <a:spcAft>
                          <a:spcPts val="320"/>
                        </a:spcAft>
                        <a:buNone/>
                      </a:pPr>
                      <a:r>
                        <a:rPr lang="en-US" sz="1800" baseline="30000">
                          <a:effectLst/>
                        </a:rPr>
                        <a:t> </a:t>
                      </a:r>
                      <a:endParaRPr lang="en-VN" sz="1800" baseline="300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VN" sz="18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VN" sz="18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800" kern="0">
                          <a:effectLst/>
                        </a:rPr>
                        <a:t>Public</a:t>
                      </a:r>
                      <a:endParaRPr lang="en-VN" sz="1800" b="1" kern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4610">
                        <a:buNone/>
                      </a:pPr>
                      <a:r>
                        <a:rPr lang="en-US" sz="1800">
                          <a:effectLst/>
                        </a:rPr>
                        <a:t>Public in derived class.</a:t>
                      </a:r>
                      <a:endParaRPr lang="en-VN" sz="1800">
                        <a:effectLst/>
                      </a:endParaRPr>
                    </a:p>
                    <a:p>
                      <a:pPr marL="50800">
                        <a:spcAft>
                          <a:spcPts val="32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Can be accessed directly by any non-static member functions,  friend functions and non-mem­ber functions.</a:t>
                      </a:r>
                      <a:endParaRPr lang="en-VN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800">
                        <a:spcAft>
                          <a:spcPts val="32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Protected in de­rived class.</a:t>
                      </a:r>
                      <a:endParaRPr lang="en-VN" sz="1800">
                        <a:effectLst/>
                      </a:endParaRPr>
                    </a:p>
                    <a:p>
                      <a:pPr marL="50800">
                        <a:spcAft>
                          <a:spcPts val="32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Can be accessed directly by all non-static member functions and friend functions.</a:t>
                      </a:r>
                      <a:endParaRPr lang="en-VN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50800">
                        <a:spcAft>
                          <a:spcPts val="32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Private in de­rived class.</a:t>
                      </a:r>
                      <a:endParaRPr lang="en-VN" sz="1800">
                        <a:effectLst/>
                      </a:endParaRPr>
                    </a:p>
                    <a:p>
                      <a:pPr marL="50800">
                        <a:spcAft>
                          <a:spcPts val="32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Can be accessed directly by all non-static member functions and friend functions.</a:t>
                      </a:r>
                      <a:endParaRPr lang="en-VN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452249"/>
                  </a:ext>
                </a:extLst>
              </a:tr>
              <a:tr h="981121">
                <a:tc>
                  <a:txBody>
                    <a:bodyPr/>
                    <a:lstStyle/>
                    <a:p>
                      <a:pPr marL="50800" algn="just">
                        <a:lnSpc>
                          <a:spcPts val="5"/>
                        </a:lnSpc>
                        <a:spcBef>
                          <a:spcPts val="320"/>
                        </a:spcBef>
                        <a:spcAft>
                          <a:spcPts val="320"/>
                        </a:spcAft>
                        <a:buNone/>
                      </a:pPr>
                      <a:r>
                        <a:rPr lang="en-US" sz="1800" baseline="30000">
                          <a:effectLst/>
                        </a:rPr>
                        <a:t> </a:t>
                      </a:r>
                      <a:endParaRPr lang="en-VN" sz="1800" baseline="300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n-VN" sz="1800" kern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VN" sz="18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Protected</a:t>
                      </a:r>
                      <a:endParaRPr lang="en-VN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54610">
                        <a:buNone/>
                      </a:pPr>
                      <a:r>
                        <a:rPr lang="en-US" sz="1800">
                          <a:effectLst/>
                        </a:rPr>
                        <a:t>Protected in de­rived class.</a:t>
                      </a:r>
                      <a:endParaRPr lang="en-VN" sz="1800">
                        <a:effectLst/>
                      </a:endParaRPr>
                    </a:p>
                    <a:p>
                      <a:pPr marL="50800">
                        <a:spcBef>
                          <a:spcPts val="32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Can be accessed directly by all non-static member functions and friend functions.</a:t>
                      </a:r>
                      <a:endParaRPr lang="en-VN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50800">
                        <a:spcAft>
                          <a:spcPts val="320"/>
                        </a:spcAft>
                        <a:buNone/>
                      </a:pPr>
                      <a:endParaRPr lang="en-V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50800">
                        <a:spcAft>
                          <a:spcPts val="320"/>
                        </a:spcAft>
                        <a:buNone/>
                      </a:pPr>
                      <a:endParaRPr lang="en-VN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296741"/>
                  </a:ext>
                </a:extLst>
              </a:tr>
              <a:tr h="1291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n-VN" sz="1800" kern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n-VN" sz="1800" kern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VN" sz="180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en-US" sz="1800" kern="0">
                          <a:effectLst/>
                        </a:rPr>
                        <a:t>Private</a:t>
                      </a:r>
                      <a:endParaRPr lang="en-VN" sz="1800" b="1" kern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>
                        <a:spcAft>
                          <a:spcPts val="32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Hidden in derived class.</a:t>
                      </a:r>
                      <a:endParaRPr lang="en-VN" sz="1800">
                        <a:effectLst/>
                      </a:endParaRPr>
                    </a:p>
                    <a:p>
                      <a:pPr>
                        <a:spcBef>
                          <a:spcPts val="320"/>
                        </a:spcBef>
                        <a:buNone/>
                      </a:pPr>
                      <a:r>
                        <a:rPr lang="en-US" sz="1800">
                          <a:effectLst/>
                        </a:rPr>
                        <a:t>Can be accessed by non-static member functions and friend functions through public or protected member functions of the base class.</a:t>
                      </a:r>
                      <a:endParaRPr lang="en-VN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50800">
                        <a:spcAft>
                          <a:spcPts val="320"/>
                        </a:spcAft>
                        <a:buNone/>
                      </a:pPr>
                      <a:endParaRPr lang="en-V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50800">
                        <a:spcAft>
                          <a:spcPts val="320"/>
                        </a:spcAft>
                        <a:buNone/>
                      </a:pPr>
                      <a:endParaRPr lang="en-VN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26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864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FE63-3F8E-3904-708C-7CDE443A5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VN" sz="4000"/>
              <a:t>Constructor/Destructor chain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F47B8-8C94-2110-795B-342484ECC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209"/>
            <a:ext cx="10515600" cy="91757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Constructor and Destructor methods are automatically called from superclass to subclass and subclass to superclass, respectively. </a:t>
            </a:r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FA511-8399-512D-7376-2837CEC39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13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1377D34-E416-E1D0-C86E-01433027D7C3}"/>
                  </a:ext>
                </a:extLst>
              </p:cNvPr>
              <p:cNvSpPr/>
              <p:nvPr/>
            </p:nvSpPr>
            <p:spPr>
              <a:xfrm>
                <a:off x="941625" y="3172968"/>
                <a:ext cx="1789383" cy="5304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(…);~</m:t>
                      </m:r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1377D34-E416-E1D0-C86E-01433027D7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625" y="3172968"/>
                <a:ext cx="1789383" cy="530496"/>
              </a:xfrm>
              <a:prstGeom prst="rect">
                <a:avLst/>
              </a:prstGeom>
              <a:blipFill>
                <a:blip r:embed="rId2"/>
                <a:stretch>
                  <a:fillRect t="-2273" r="-5556" b="-1590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C704488-5E43-8744-447C-331F5C9DDC6B}"/>
                  </a:ext>
                </a:extLst>
              </p:cNvPr>
              <p:cNvSpPr/>
              <p:nvPr/>
            </p:nvSpPr>
            <p:spPr>
              <a:xfrm>
                <a:off x="941625" y="2642472"/>
                <a:ext cx="1789383" cy="5304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C704488-5E43-8744-447C-331F5C9DDC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625" y="2642472"/>
                <a:ext cx="1789383" cy="530496"/>
              </a:xfrm>
              <a:prstGeom prst="rect">
                <a:avLst/>
              </a:prstGeom>
              <a:blipFill>
                <a:blip r:embed="rId3"/>
                <a:stretch>
                  <a:fillRect t="-2222" b="-13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852AF2F-CD80-9D84-8393-1B6BD91F6E84}"/>
                  </a:ext>
                </a:extLst>
              </p:cNvPr>
              <p:cNvSpPr/>
              <p:nvPr/>
            </p:nvSpPr>
            <p:spPr>
              <a:xfrm>
                <a:off x="941625" y="4584473"/>
                <a:ext cx="1789383" cy="5304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(…) ;~</m:t>
                      </m:r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852AF2F-CD80-9D84-8393-1B6BD91F6E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625" y="4584473"/>
                <a:ext cx="1789383" cy="530496"/>
              </a:xfrm>
              <a:prstGeom prst="rect">
                <a:avLst/>
              </a:prstGeom>
              <a:blipFill>
                <a:blip r:embed="rId4"/>
                <a:stretch>
                  <a:fillRect l="-694" r="-8333" b="-1590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ECCD266-8748-B8BE-9740-8A6E9DB34F30}"/>
                  </a:ext>
                </a:extLst>
              </p:cNvPr>
              <p:cNvSpPr/>
              <p:nvPr/>
            </p:nvSpPr>
            <p:spPr>
              <a:xfrm>
                <a:off x="941625" y="4053977"/>
                <a:ext cx="1789383" cy="5304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ECCD266-8748-B8BE-9740-8A6E9DB34F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625" y="4053977"/>
                <a:ext cx="1789383" cy="530496"/>
              </a:xfrm>
              <a:prstGeom prst="rect">
                <a:avLst/>
              </a:prstGeom>
              <a:blipFill>
                <a:blip r:embed="rId5"/>
                <a:stretch>
                  <a:fillRect b="-1590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A6D6E01-5402-A794-A024-3092B4003CCC}"/>
                  </a:ext>
                </a:extLst>
              </p:cNvPr>
              <p:cNvSpPr/>
              <p:nvPr/>
            </p:nvSpPr>
            <p:spPr>
              <a:xfrm>
                <a:off x="941625" y="5995979"/>
                <a:ext cx="1789383" cy="5304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(…);~</m:t>
                      </m:r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A6D6E01-5402-A794-A024-3092B4003C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625" y="5995979"/>
                <a:ext cx="1789383" cy="530496"/>
              </a:xfrm>
              <a:prstGeom prst="rect">
                <a:avLst/>
              </a:prstGeom>
              <a:blipFill>
                <a:blip r:embed="rId6"/>
                <a:stretch>
                  <a:fillRect r="-5556" b="-13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7059112-B7D4-D8D3-AB7D-5CE68DC203D5}"/>
                  </a:ext>
                </a:extLst>
              </p:cNvPr>
              <p:cNvSpPr/>
              <p:nvPr/>
            </p:nvSpPr>
            <p:spPr>
              <a:xfrm>
                <a:off x="941625" y="5465483"/>
                <a:ext cx="1789383" cy="5304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7059112-B7D4-D8D3-AB7D-5CE68DC203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625" y="5465483"/>
                <a:ext cx="1789383" cy="530496"/>
              </a:xfrm>
              <a:prstGeom prst="rect">
                <a:avLst/>
              </a:prstGeom>
              <a:blipFill>
                <a:blip r:embed="rId7"/>
                <a:stretch>
                  <a:fillRect t="-2273" b="-1363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3918E6-C726-FA0A-3B29-700C8B15CF64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1836317" y="3703464"/>
            <a:ext cx="0" cy="350513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44F081F-2D34-9205-FCD4-A8D1CEB3470A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836317" y="5114969"/>
            <a:ext cx="0" cy="350514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AC4B9B-C4DA-EFD1-2B74-809231907308}"/>
              </a:ext>
            </a:extLst>
          </p:cNvPr>
          <p:cNvCxnSpPr>
            <a:cxnSpLocks/>
          </p:cNvCxnSpPr>
          <p:nvPr/>
        </p:nvCxnSpPr>
        <p:spPr>
          <a:xfrm flipV="1">
            <a:off x="3230880" y="2669745"/>
            <a:ext cx="0" cy="2607937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499C793-E47E-773F-AD87-AA44DCE809EB}"/>
              </a:ext>
            </a:extLst>
          </p:cNvPr>
          <p:cNvSpPr txBox="1"/>
          <p:nvPr/>
        </p:nvSpPr>
        <p:spPr>
          <a:xfrm>
            <a:off x="2852928" y="5391093"/>
            <a:ext cx="797142" cy="36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3527EB-2956-CF4E-F47E-8D41F5E25E06}"/>
                  </a:ext>
                </a:extLst>
              </p:cNvPr>
              <p:cNvSpPr txBox="1"/>
              <p:nvPr/>
            </p:nvSpPr>
            <p:spPr>
              <a:xfrm>
                <a:off x="3328414" y="2618088"/>
                <a:ext cx="28970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(…)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3527EB-2956-CF4E-F47E-8D41F5E25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414" y="2618088"/>
                <a:ext cx="2897021" cy="523220"/>
              </a:xfrm>
              <a:prstGeom prst="rect">
                <a:avLst/>
              </a:prstGeom>
              <a:blipFill>
                <a:blip r:embed="rId8"/>
                <a:stretch>
                  <a:fillRect t="-9302" r="-873" b="-302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005C655-FEB2-3F48-6A21-2DDDD7C97CF0}"/>
                  </a:ext>
                </a:extLst>
              </p:cNvPr>
              <p:cNvSpPr txBox="1"/>
              <p:nvPr/>
            </p:nvSpPr>
            <p:spPr>
              <a:xfrm>
                <a:off x="3328416" y="3228791"/>
                <a:ext cx="12905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(…)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005C655-FEB2-3F48-6A21-2DDDD7C97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416" y="3228791"/>
                <a:ext cx="1290597" cy="523220"/>
              </a:xfrm>
              <a:prstGeom prst="rect">
                <a:avLst/>
              </a:prstGeom>
              <a:blipFill>
                <a:blip r:embed="rId9"/>
                <a:stretch>
                  <a:fillRect t="-11905" r="-5882" b="-309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653CD9A-E1D2-EC81-C4F9-06D30415FE25}"/>
                  </a:ext>
                </a:extLst>
              </p:cNvPr>
              <p:cNvSpPr txBox="1"/>
              <p:nvPr/>
            </p:nvSpPr>
            <p:spPr>
              <a:xfrm>
                <a:off x="3328415" y="3928817"/>
                <a:ext cx="12905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(…)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653CD9A-E1D2-EC81-C4F9-06D30415F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415" y="3928817"/>
                <a:ext cx="1290597" cy="523220"/>
              </a:xfrm>
              <a:prstGeom prst="rect">
                <a:avLst/>
              </a:prstGeom>
              <a:blipFill>
                <a:blip r:embed="rId10"/>
                <a:stretch>
                  <a:fillRect t="-11905" r="-6863" b="-309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F3674B-0D5B-7C47-9E38-EF0881A80790}"/>
                  </a:ext>
                </a:extLst>
              </p:cNvPr>
              <p:cNvSpPr txBox="1"/>
              <p:nvPr/>
            </p:nvSpPr>
            <p:spPr>
              <a:xfrm>
                <a:off x="3328414" y="4661724"/>
                <a:ext cx="12905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(…)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F3674B-0D5B-7C47-9E38-EF0881A80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414" y="4661724"/>
                <a:ext cx="1290597" cy="523220"/>
              </a:xfrm>
              <a:prstGeom prst="rect">
                <a:avLst/>
              </a:prstGeom>
              <a:blipFill>
                <a:blip r:embed="rId11"/>
                <a:stretch>
                  <a:fillRect t="-14286" r="-5882" b="-2857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238D243A-5707-7DDC-30D0-9A8E256AF50F}"/>
              </a:ext>
            </a:extLst>
          </p:cNvPr>
          <p:cNvCxnSpPr>
            <a:cxnSpLocks/>
            <a:stCxn id="27" idx="2"/>
            <a:endCxn id="29" idx="3"/>
          </p:cNvCxnSpPr>
          <p:nvPr/>
        </p:nvCxnSpPr>
        <p:spPr>
          <a:xfrm rot="5400000">
            <a:off x="4523423" y="3236898"/>
            <a:ext cx="349093" cy="157912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9C0B59DF-F177-DE90-6BC5-124E0D40CB74}"/>
              </a:ext>
            </a:extLst>
          </p:cNvPr>
          <p:cNvCxnSpPr>
            <a:cxnSpLocks/>
            <a:stCxn id="29" idx="3"/>
            <a:endCxn id="30" idx="3"/>
          </p:cNvCxnSpPr>
          <p:nvPr/>
        </p:nvCxnSpPr>
        <p:spPr>
          <a:xfrm flipH="1">
            <a:off x="4619012" y="3490401"/>
            <a:ext cx="1" cy="700026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B068445E-698B-BBD1-FEA9-FDE17507929E}"/>
              </a:ext>
            </a:extLst>
          </p:cNvPr>
          <p:cNvCxnSpPr>
            <a:cxnSpLocks/>
            <a:stCxn id="30" idx="3"/>
            <a:endCxn id="31" idx="3"/>
          </p:cNvCxnSpPr>
          <p:nvPr/>
        </p:nvCxnSpPr>
        <p:spPr>
          <a:xfrm flipH="1">
            <a:off x="4619011" y="4190427"/>
            <a:ext cx="1" cy="732907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C60882C-FC2E-C89A-9E07-70F6278B0CEB}"/>
                  </a:ext>
                </a:extLst>
              </p:cNvPr>
              <p:cNvSpPr txBox="1"/>
              <p:nvPr/>
            </p:nvSpPr>
            <p:spPr>
              <a:xfrm>
                <a:off x="6332323" y="2611833"/>
                <a:ext cx="28970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elete</m:t>
                      </m:r>
                      <m:r>
                        <a:rPr lang="vi-V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vi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C60882C-FC2E-C89A-9E07-70F6278B0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323" y="2611833"/>
                <a:ext cx="2897021" cy="523220"/>
              </a:xfrm>
              <a:prstGeom prst="rect">
                <a:avLst/>
              </a:prstGeom>
              <a:blipFill>
                <a:blip r:embed="rId12"/>
                <a:stretch>
                  <a:fillRect t="-11905" b="-309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DBC759E-E83A-3151-A48F-613C71B70DC9}"/>
                  </a:ext>
                </a:extLst>
              </p:cNvPr>
              <p:cNvSpPr txBox="1"/>
              <p:nvPr/>
            </p:nvSpPr>
            <p:spPr>
              <a:xfrm>
                <a:off x="6332325" y="3222536"/>
                <a:ext cx="12905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(…)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DBC759E-E83A-3151-A48F-613C71B70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325" y="3222536"/>
                <a:ext cx="1290597" cy="523220"/>
              </a:xfrm>
              <a:prstGeom prst="rect">
                <a:avLst/>
              </a:prstGeom>
              <a:blipFill>
                <a:blip r:embed="rId13"/>
                <a:stretch>
                  <a:fillRect t="-11905" r="-6863" b="-309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144DA03-75B2-1D6B-0D03-0DF6281FB612}"/>
                  </a:ext>
                </a:extLst>
              </p:cNvPr>
              <p:cNvSpPr txBox="1"/>
              <p:nvPr/>
            </p:nvSpPr>
            <p:spPr>
              <a:xfrm>
                <a:off x="6332324" y="3922562"/>
                <a:ext cx="12905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(…)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144DA03-75B2-1D6B-0D03-0DF6281FB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324" y="3922562"/>
                <a:ext cx="1290597" cy="523220"/>
              </a:xfrm>
              <a:prstGeom prst="rect">
                <a:avLst/>
              </a:prstGeom>
              <a:blipFill>
                <a:blip r:embed="rId14"/>
                <a:stretch>
                  <a:fillRect t="-11905" r="-6863" b="-309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DBE08FF-32BE-0563-717F-C0739B86B411}"/>
                  </a:ext>
                </a:extLst>
              </p:cNvPr>
              <p:cNvSpPr txBox="1"/>
              <p:nvPr/>
            </p:nvSpPr>
            <p:spPr>
              <a:xfrm>
                <a:off x="6332323" y="4655469"/>
                <a:ext cx="129059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(…)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DBE08FF-32BE-0563-717F-C0739B86B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323" y="4655469"/>
                <a:ext cx="1290597" cy="523220"/>
              </a:xfrm>
              <a:prstGeom prst="rect">
                <a:avLst/>
              </a:prstGeom>
              <a:blipFill>
                <a:blip r:embed="rId15"/>
                <a:stretch>
                  <a:fillRect t="-11628" r="-6863" b="-2790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81DC73DE-0595-DEEF-2946-29CB248361B6}"/>
              </a:ext>
            </a:extLst>
          </p:cNvPr>
          <p:cNvCxnSpPr>
            <a:cxnSpLocks/>
            <a:stCxn id="51" idx="2"/>
            <a:endCxn id="52" idx="3"/>
          </p:cNvCxnSpPr>
          <p:nvPr/>
        </p:nvCxnSpPr>
        <p:spPr>
          <a:xfrm rot="5400000">
            <a:off x="7527332" y="3230643"/>
            <a:ext cx="349093" cy="157912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id="{1F2CB067-E616-E4B9-1B9C-548192A8D397}"/>
              </a:ext>
            </a:extLst>
          </p:cNvPr>
          <p:cNvCxnSpPr>
            <a:cxnSpLocks/>
            <a:stCxn id="52" idx="3"/>
            <a:endCxn id="53" idx="3"/>
          </p:cNvCxnSpPr>
          <p:nvPr/>
        </p:nvCxnSpPr>
        <p:spPr>
          <a:xfrm flipH="1">
            <a:off x="7622921" y="3484146"/>
            <a:ext cx="1" cy="700026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210FD328-1DD6-6BB1-534C-358FAB0D4A0A}"/>
              </a:ext>
            </a:extLst>
          </p:cNvPr>
          <p:cNvCxnSpPr>
            <a:cxnSpLocks/>
            <a:stCxn id="53" idx="3"/>
            <a:endCxn id="54" idx="3"/>
          </p:cNvCxnSpPr>
          <p:nvPr/>
        </p:nvCxnSpPr>
        <p:spPr>
          <a:xfrm flipH="1">
            <a:off x="7622920" y="4184172"/>
            <a:ext cx="1" cy="732907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090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3E289-1E7E-690D-31FD-1DBBB718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D3979-030F-2D89-5B9A-4B6DA2C9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VN" sz="4000"/>
              <a:t>Constructor/Destructor chain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996EA-1A55-5859-83EC-7C01DEAEA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209"/>
            <a:ext cx="10515600" cy="95415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/>
              <a:t>If all constructor methods of the base class require parameters, then the subclass must have a constructor method to provide those parameters.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FA979-9DCF-1857-FB00-F1A2F92A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14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073962B-F96E-F022-AD6B-71B1195EFA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" y="2529841"/>
                <a:ext cx="3380232" cy="1371599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   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𝒑𝒖𝒃𝒍𝒊𝒄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</m:ctrlPr>
                        </m:dPr>
                        <m:e>
                          <m:r>
                            <a:rPr lang="vi-VN" altLang="zh-TW" sz="2400" b="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𝒑𝒖𝒃𝒍𝒊𝒄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𝐴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𝑘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 </m:t>
                        </m:r>
                        <m:r>
                          <a:rPr lang="en-US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𝒊𝒔</m:t>
                        </m:r>
                        <m:r>
                          <a:rPr lang="en-US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 </m:t>
                        </m:r>
                        <m:r>
                          <a:rPr lang="en-US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𝒊𝒏𝒕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073962B-F96E-F022-AD6B-71B1195EFA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529841"/>
                <a:ext cx="3380232" cy="1371599"/>
              </a:xfrm>
              <a:prstGeom prst="rect">
                <a:avLst/>
              </a:prstGeom>
              <a:blipFill>
                <a:blip r:embed="rId2"/>
                <a:stretch>
                  <a:fillRect l="-749" r="-1873" b="-183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A04F1FB-440F-F5AD-999E-972840840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200" y="4091941"/>
                <a:ext cx="3380232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𝐵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𝒑𝒖𝒃𝒍𝒊𝒄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𝐵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𝑘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 </m:t>
                        </m:r>
                        <m:r>
                          <a:rPr lang="en-US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𝒊𝒔</m:t>
                        </m:r>
                        <m:r>
                          <a:rPr lang="en-US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 </m:t>
                        </m:r>
                        <m:r>
                          <a:rPr lang="en-US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𝒊𝒏𝒕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A04F1FB-440F-F5AD-999E-9728408406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4091941"/>
                <a:ext cx="3380232" cy="992123"/>
              </a:xfrm>
              <a:prstGeom prst="rect">
                <a:avLst/>
              </a:prstGeom>
              <a:blipFill>
                <a:blip r:embed="rId3"/>
                <a:stretch>
                  <a:fillRect l="-749" r="-2247" b="-37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96EC42-7E12-7BBD-CAF6-A77EAA773FBB}"/>
              </a:ext>
            </a:extLst>
          </p:cNvPr>
          <p:cNvCxnSpPr>
            <a:cxnSpLocks/>
          </p:cNvCxnSpPr>
          <p:nvPr/>
        </p:nvCxnSpPr>
        <p:spPr>
          <a:xfrm flipV="1">
            <a:off x="4706110" y="2534254"/>
            <a:ext cx="0" cy="1813719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A0AC3D0-5619-DFDC-5112-1A3FADD38B5B}"/>
              </a:ext>
            </a:extLst>
          </p:cNvPr>
          <p:cNvSpPr txBox="1"/>
          <p:nvPr/>
        </p:nvSpPr>
        <p:spPr>
          <a:xfrm>
            <a:off x="4389120" y="5223597"/>
            <a:ext cx="797142" cy="36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4A4BF2-4DBE-643A-2229-B979F6361BAA}"/>
                  </a:ext>
                </a:extLst>
              </p:cNvPr>
              <p:cNvSpPr txBox="1"/>
              <p:nvPr/>
            </p:nvSpPr>
            <p:spPr>
              <a:xfrm>
                <a:off x="4632958" y="2511552"/>
                <a:ext cx="30358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vi-V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4A4BF2-4DBE-643A-2229-B979F6361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958" y="2511552"/>
                <a:ext cx="3035810" cy="523220"/>
              </a:xfrm>
              <a:prstGeom prst="rect">
                <a:avLst/>
              </a:prstGeom>
              <a:blipFill>
                <a:blip r:embed="rId4"/>
                <a:stretch>
                  <a:fillRect t="-11628" b="-2790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D387903-7FC9-546B-5BA7-3B5E95BEBB8F}"/>
                  </a:ext>
                </a:extLst>
              </p:cNvPr>
              <p:cNvSpPr txBox="1"/>
              <p:nvPr/>
            </p:nvSpPr>
            <p:spPr>
              <a:xfrm>
                <a:off x="4632960" y="3122255"/>
                <a:ext cx="13524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vi-V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D387903-7FC9-546B-5BA7-3B5E95BEB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960" y="3122255"/>
                <a:ext cx="1352427" cy="523220"/>
              </a:xfrm>
              <a:prstGeom prst="rect">
                <a:avLst/>
              </a:prstGeom>
              <a:blipFill>
                <a:blip r:embed="rId5"/>
                <a:stretch>
                  <a:fillRect t="-11628" b="-2790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DA9DDF8-3A7B-0ACF-5E87-3150DFB3F472}"/>
                  </a:ext>
                </a:extLst>
              </p:cNvPr>
              <p:cNvSpPr txBox="1"/>
              <p:nvPr/>
            </p:nvSpPr>
            <p:spPr>
              <a:xfrm>
                <a:off x="4632959" y="3822281"/>
                <a:ext cx="13524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vi-V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DA9DDF8-3A7B-0ACF-5E87-3150DFB3F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959" y="3822281"/>
                <a:ext cx="1352427" cy="523220"/>
              </a:xfrm>
              <a:prstGeom prst="rect">
                <a:avLst/>
              </a:prstGeom>
              <a:blipFill>
                <a:blip r:embed="rId6"/>
                <a:stretch>
                  <a:fillRect t="-11628" b="-2790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6B98DBD5-4A96-DF0F-CC57-9798E4B8C198}"/>
              </a:ext>
            </a:extLst>
          </p:cNvPr>
          <p:cNvCxnSpPr>
            <a:cxnSpLocks/>
            <a:stCxn id="17" idx="2"/>
            <a:endCxn id="18" idx="3"/>
          </p:cNvCxnSpPr>
          <p:nvPr/>
        </p:nvCxnSpPr>
        <p:spPr>
          <a:xfrm rot="5400000">
            <a:off x="5893579" y="3126580"/>
            <a:ext cx="349093" cy="165476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13C656DE-1900-7F9D-D109-027B3F468329}"/>
              </a:ext>
            </a:extLst>
          </p:cNvPr>
          <p:cNvCxnSpPr>
            <a:cxnSpLocks/>
            <a:stCxn id="18" idx="3"/>
            <a:endCxn id="20" idx="3"/>
          </p:cNvCxnSpPr>
          <p:nvPr/>
        </p:nvCxnSpPr>
        <p:spPr>
          <a:xfrm flipH="1">
            <a:off x="5985386" y="3383865"/>
            <a:ext cx="1" cy="700026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56C8D73-B0B0-D039-9EDA-56C1A8A67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199" y="5274565"/>
                <a:ext cx="5050536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𝐶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𝒑𝒖𝒃𝒍𝒊𝒄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𝐶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𝑘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 </m:t>
                        </m:r>
                        <m:r>
                          <a:rPr lang="en-US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𝒊𝒔</m:t>
                        </m:r>
                        <m:r>
                          <a:rPr lang="en-US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 </m:t>
                        </m:r>
                        <m:r>
                          <a:rPr lang="en-US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𝒊𝒏𝒕</m:t>
                        </m:r>
                      </m:e>
                    </m:d>
                    <m:r>
                      <a:rPr lang="vi-VN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: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𝐴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(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𝑘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𝒊𝒔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𝒊𝒏𝒕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)</m:t>
                    </m:r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56C8D73-B0B0-D039-9EDA-56C1A8A674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199" y="5274565"/>
                <a:ext cx="5050536" cy="992123"/>
              </a:xfrm>
              <a:prstGeom prst="rect">
                <a:avLst/>
              </a:prstGeom>
              <a:blipFill>
                <a:blip r:embed="rId7"/>
                <a:stretch>
                  <a:fillRect l="-251" b="-37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1AC4C7-9F84-1FBC-CA43-8A9FEC66D8EE}"/>
                  </a:ext>
                </a:extLst>
              </p:cNvPr>
              <p:cNvSpPr txBox="1"/>
              <p:nvPr/>
            </p:nvSpPr>
            <p:spPr>
              <a:xfrm>
                <a:off x="7430138" y="2501499"/>
                <a:ext cx="30358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vi-V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1AC4C7-9F84-1FBC-CA43-8A9FEC66D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138" y="2501499"/>
                <a:ext cx="3035810" cy="523220"/>
              </a:xfrm>
              <a:prstGeom prst="rect">
                <a:avLst/>
              </a:prstGeom>
              <a:blipFill>
                <a:blip r:embed="rId8"/>
                <a:stretch>
                  <a:fillRect t="-9302" b="-302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BCAAE3-DBA1-475C-12C2-AC0602F31D18}"/>
                  </a:ext>
                </a:extLst>
              </p:cNvPr>
              <p:cNvSpPr txBox="1"/>
              <p:nvPr/>
            </p:nvSpPr>
            <p:spPr>
              <a:xfrm>
                <a:off x="7430140" y="3112202"/>
                <a:ext cx="13524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vi-V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BCAAE3-DBA1-475C-12C2-AC0602F31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140" y="3112202"/>
                <a:ext cx="1352427" cy="523220"/>
              </a:xfrm>
              <a:prstGeom prst="rect">
                <a:avLst/>
              </a:prstGeom>
              <a:blipFill>
                <a:blip r:embed="rId9"/>
                <a:stretch>
                  <a:fillRect t="-11905" b="-309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A2B2886-8B8E-23A9-C379-8C7073FD5932}"/>
                  </a:ext>
                </a:extLst>
              </p:cNvPr>
              <p:cNvSpPr txBox="1"/>
              <p:nvPr/>
            </p:nvSpPr>
            <p:spPr>
              <a:xfrm>
                <a:off x="7430139" y="3812228"/>
                <a:ext cx="13524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vi-VN" sz="28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V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A2B2886-8B8E-23A9-C379-8C7073FD5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0139" y="3812228"/>
                <a:ext cx="1352427" cy="523220"/>
              </a:xfrm>
              <a:prstGeom prst="rect">
                <a:avLst/>
              </a:prstGeom>
              <a:blipFill>
                <a:blip r:embed="rId10"/>
                <a:stretch>
                  <a:fillRect t="-11905" b="-3095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Curved Connector 40">
            <a:extLst>
              <a:ext uri="{FF2B5EF4-FFF2-40B4-BE49-F238E27FC236}">
                <a16:creationId xmlns:a16="http://schemas.microsoft.com/office/drawing/2014/main" id="{535D4C03-4797-D47C-548A-1BE51A0C4B64}"/>
              </a:ext>
            </a:extLst>
          </p:cNvPr>
          <p:cNvCxnSpPr>
            <a:cxnSpLocks/>
            <a:stCxn id="37" idx="2"/>
            <a:endCxn id="38" idx="3"/>
          </p:cNvCxnSpPr>
          <p:nvPr/>
        </p:nvCxnSpPr>
        <p:spPr>
          <a:xfrm rot="5400000">
            <a:off x="8690759" y="3116527"/>
            <a:ext cx="349093" cy="165476"/>
          </a:xfrm>
          <a:prstGeom prst="curved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D1BBAA95-9EC9-1825-3628-FA880F9C9E5D}"/>
              </a:ext>
            </a:extLst>
          </p:cNvPr>
          <p:cNvCxnSpPr>
            <a:cxnSpLocks/>
            <a:stCxn id="38" idx="3"/>
            <a:endCxn id="40" idx="3"/>
          </p:cNvCxnSpPr>
          <p:nvPr/>
        </p:nvCxnSpPr>
        <p:spPr>
          <a:xfrm flipH="1">
            <a:off x="8782566" y="3373812"/>
            <a:ext cx="1" cy="700026"/>
          </a:xfrm>
          <a:prstGeom prst="curvedConnector3">
            <a:avLst>
              <a:gd name="adj1" fmla="val -228600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7FD7391-518D-E880-B166-5DCADE79D61B}"/>
              </a:ext>
            </a:extLst>
          </p:cNvPr>
          <p:cNvSpPr txBox="1"/>
          <p:nvPr/>
        </p:nvSpPr>
        <p:spPr>
          <a:xfrm>
            <a:off x="4389120" y="4441859"/>
            <a:ext cx="797142" cy="36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700587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44BB3-C61B-22AB-FFBD-4086BE8D0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inheritance (1/2)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79730-AA62-6D08-D9F5-BCD58E2AC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481"/>
            <a:ext cx="10515600" cy="1015111"/>
          </a:xfrm>
        </p:spPr>
        <p:txBody>
          <a:bodyPr/>
          <a:lstStyle/>
          <a:p>
            <a:pPr marL="0" indent="0">
              <a:buNone/>
            </a:pPr>
            <a:r>
              <a:rPr lang="en-VN"/>
              <a:t>Not much languages allow multiple inheritance.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E2C9B-414D-5E7F-2C32-F89709D7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15</a:t>
            </a:fld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2A6CE8-9564-B101-51A5-96CA70ACA7BF}"/>
              </a:ext>
            </a:extLst>
          </p:cNvPr>
          <p:cNvSpPr/>
          <p:nvPr/>
        </p:nvSpPr>
        <p:spPr>
          <a:xfrm>
            <a:off x="971673" y="2043536"/>
            <a:ext cx="15240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Animal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C37718-347E-D2B1-19CD-DD6DCA99FC29}"/>
              </a:ext>
            </a:extLst>
          </p:cNvPr>
          <p:cNvSpPr/>
          <p:nvPr/>
        </p:nvSpPr>
        <p:spPr>
          <a:xfrm>
            <a:off x="962027" y="3525958"/>
            <a:ext cx="15240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Dog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3676B3-83BB-B7A6-C6BA-D733C78D91F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724027" y="2653136"/>
            <a:ext cx="9646" cy="872822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AB17722-EC0D-A5EB-2A44-E2E2A77310D1}"/>
              </a:ext>
            </a:extLst>
          </p:cNvPr>
          <p:cNvSpPr/>
          <p:nvPr/>
        </p:nvSpPr>
        <p:spPr>
          <a:xfrm>
            <a:off x="3023311" y="4306246"/>
            <a:ext cx="15240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Human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7BDA9E-66D8-E92E-0158-424DF38C823B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1733673" y="2653136"/>
            <a:ext cx="2051638" cy="165311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717A8E4-8DEE-3BB3-DA6C-DE35E60BD8B9}"/>
              </a:ext>
            </a:extLst>
          </p:cNvPr>
          <p:cNvSpPr/>
          <p:nvPr/>
        </p:nvSpPr>
        <p:spPr>
          <a:xfrm>
            <a:off x="2665004" y="2043536"/>
            <a:ext cx="15240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Pet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4CBCF5-7BED-AF91-FBEC-F2E1778D11F7}"/>
              </a:ext>
            </a:extLst>
          </p:cNvPr>
          <p:cNvSpPr/>
          <p:nvPr/>
        </p:nvSpPr>
        <p:spPr>
          <a:xfrm>
            <a:off x="3768075" y="3087046"/>
            <a:ext cx="15240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Monkey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CE398FF-1E39-FD03-406D-CBF8676F7FD1}"/>
              </a:ext>
            </a:extLst>
          </p:cNvPr>
          <p:cNvCxnSpPr>
            <a:cxnSpLocks/>
            <a:stCxn id="15" idx="2"/>
            <a:endCxn id="8" idx="0"/>
          </p:cNvCxnSpPr>
          <p:nvPr/>
        </p:nvCxnSpPr>
        <p:spPr>
          <a:xfrm flipH="1">
            <a:off x="3785311" y="3696646"/>
            <a:ext cx="744764" cy="60960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26EF185-3221-CE46-51FB-6397D70B3C8D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>
            <a:off x="1733673" y="2653136"/>
            <a:ext cx="2796402" cy="43391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4A2C3CA-DA80-A453-B1EE-A2566B4A30BF}"/>
              </a:ext>
            </a:extLst>
          </p:cNvPr>
          <p:cNvCxnSpPr>
            <a:cxnSpLocks/>
            <a:stCxn id="14" idx="2"/>
            <a:endCxn id="6" idx="0"/>
          </p:cNvCxnSpPr>
          <p:nvPr/>
        </p:nvCxnSpPr>
        <p:spPr>
          <a:xfrm flipH="1">
            <a:off x="1724027" y="2653136"/>
            <a:ext cx="1702977" cy="872822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8930AB-9EC5-0232-8B0E-9E7C82796208}"/>
                  </a:ext>
                </a:extLst>
              </p:cNvPr>
              <p:cNvSpPr txBox="1"/>
              <p:nvPr/>
            </p:nvSpPr>
            <p:spPr>
              <a:xfrm>
                <a:off x="4867449" y="2041582"/>
                <a:ext cx="54822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vi-VN" sz="40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VN" sz="40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E8930AB-9EC5-0232-8B0E-9E7C82796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449" y="2041582"/>
                <a:ext cx="548227" cy="615553"/>
              </a:xfrm>
              <a:prstGeom prst="rect">
                <a:avLst/>
              </a:prstGeom>
              <a:blipFill>
                <a:blip r:embed="rId2"/>
                <a:stretch>
                  <a:fillRect l="-15909" r="-1590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3B063EA2-0CCF-FCA3-D293-8D33BAE6EBAD}"/>
              </a:ext>
            </a:extLst>
          </p:cNvPr>
          <p:cNvSpPr txBox="1">
            <a:spLocks/>
          </p:cNvSpPr>
          <p:nvPr/>
        </p:nvSpPr>
        <p:spPr>
          <a:xfrm>
            <a:off x="5535168" y="2099494"/>
            <a:ext cx="3937622" cy="10151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VN">
                <a:solidFill>
                  <a:srgbClr val="FF0000"/>
                </a:solidFill>
              </a:rPr>
              <a:t>Got </a:t>
            </a:r>
            <a:r>
              <a:rPr lang="en-VN" b="1">
                <a:solidFill>
                  <a:srgbClr val="FF0000"/>
                </a:solidFill>
              </a:rPr>
              <a:t>DIAMOND</a:t>
            </a:r>
            <a:r>
              <a:rPr lang="en-VN">
                <a:solidFill>
                  <a:srgbClr val="FF0000"/>
                </a:solidFill>
              </a:rPr>
              <a:t> problem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5C51A4-C6C7-7162-A3FA-903C057CDE82}"/>
              </a:ext>
            </a:extLst>
          </p:cNvPr>
          <p:cNvSpPr txBox="1"/>
          <p:nvPr/>
        </p:nvSpPr>
        <p:spPr>
          <a:xfrm>
            <a:off x="5535169" y="2607049"/>
            <a:ext cx="47183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800">
                <a:solidFill>
                  <a:srgbClr val="FF0000"/>
                </a:solidFill>
              </a:rPr>
              <a:t>Request for attribute/method is ambiguous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45F17B5-C9CE-5DC2-F2A8-087768A22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30512" y="3652729"/>
                <a:ext cx="3380232" cy="874256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𝒆𝒂𝒕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45F17B5-C9CE-5DC2-F2A8-087768A22F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0512" y="3652729"/>
                <a:ext cx="3380232" cy="874256"/>
              </a:xfrm>
              <a:prstGeom prst="rect">
                <a:avLst/>
              </a:prstGeom>
              <a:blipFill>
                <a:blip r:embed="rId3"/>
                <a:stretch>
                  <a:fillRect l="-749" b="-857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CFAE1D7-4BCD-20F1-C892-1C9D719DE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30512" y="4612875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𝑀𝑜𝑛𝑘𝑒𝑦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nimal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CFAE1D7-4BCD-20F1-C892-1C9D719DEC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0512" y="4612875"/>
                <a:ext cx="4239964" cy="992123"/>
              </a:xfrm>
              <a:prstGeom prst="rect">
                <a:avLst/>
              </a:prstGeom>
              <a:blipFill>
                <a:blip r:embed="rId4"/>
                <a:stretch>
                  <a:fillRect l="-597" r="-5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7BD8646-5D80-A740-DE02-12BFD30CD9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30512" y="5696776"/>
                <a:ext cx="5415440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𝐻𝑢𝑚𝑎𝑛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,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𝑀𝑜𝑛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𝑘𝑒𝑦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vi-VN" altLang="zh-TW" sz="2400" i="1">
                    <a:latin typeface="Cambria Math" panose="02040503050406030204" pitchFamily="18" charset="0"/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vi-VN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???</m:t>
                    </m:r>
                  </m:oMath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   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7BD8646-5D80-A740-DE02-12BFD30CD9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0512" y="5696776"/>
                <a:ext cx="5415440" cy="992123"/>
              </a:xfrm>
              <a:prstGeom prst="rect">
                <a:avLst/>
              </a:prstGeom>
              <a:blipFill>
                <a:blip r:embed="rId5"/>
                <a:stretch>
                  <a:fillRect l="-468" r="-46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705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F3C16-E474-5230-06FB-E9681CF3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Bài tập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CBF10-D574-4BED-FEA8-0AE25B683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VN"/>
              <a:t>Viết 4 class HocSinhNam, HocSinhNu, GiaoVien, Nguoi.</a:t>
            </a:r>
          </a:p>
          <a:p>
            <a:pPr marL="0" indent="0">
              <a:buNone/>
            </a:pPr>
            <a:r>
              <a:rPr lang="en-VN"/>
              <a:t>Biết rằng người có thuộc tính tên và năm sinh.</a:t>
            </a:r>
          </a:p>
          <a:p>
            <a:pPr marL="0" indent="0">
              <a:buNone/>
            </a:pPr>
            <a:r>
              <a:rPr lang="en-VN"/>
              <a:t>Giáo viên có thêm thuộc tính lương</a:t>
            </a:r>
          </a:p>
          <a:p>
            <a:pPr marL="0" indent="0">
              <a:buNone/>
            </a:pPr>
            <a:r>
              <a:rPr lang="en-VN"/>
              <a:t>Học sinh nam có thêm thuộc tính chiều cao</a:t>
            </a:r>
          </a:p>
          <a:p>
            <a:pPr marL="0" indent="0">
              <a:buNone/>
            </a:pPr>
            <a:r>
              <a:rPr lang="en-VN"/>
              <a:t>Học sinh nữ có thêm thuộc tính cân nặng.</a:t>
            </a:r>
          </a:p>
          <a:p>
            <a:pPr marL="0" indent="0">
              <a:buNone/>
            </a:pPr>
            <a:r>
              <a:rPr lang="en-VN"/>
              <a:t>Yêu cầu: implement 4 class này sử dụng kế thừa và viết </a:t>
            </a:r>
          </a:p>
          <a:p>
            <a:pPr marL="0" indent="0">
              <a:buNone/>
            </a:pPr>
            <a:r>
              <a:rPr lang="en-US"/>
              <a:t>C</a:t>
            </a:r>
            <a:r>
              <a:rPr lang="en-VN"/>
              <a:t>ác contrustor/destructor &amp; operator&lt;&lt; / operator 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FA50D-121D-B2E4-6D2E-980C816E7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62181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05B3F-846C-1748-26A7-94E726E9D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inheritance (2/2)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408C2-0B18-D1D5-72EB-D9D35A18A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How to express the independence of attribute/method with the same name within a derived class?</a:t>
            </a:r>
          </a:p>
          <a:p>
            <a:pPr marL="0" indent="0">
              <a:buNone/>
            </a:pPr>
            <a:r>
              <a:rPr lang="en-US"/>
              <a:t>How about constructor/destructor chain?</a:t>
            </a:r>
          </a:p>
          <a:p>
            <a:pPr marL="0" indent="0">
              <a:buNone/>
            </a:pPr>
            <a:r>
              <a:rPr lang="en-US"/>
              <a:t>How to resolve diamond problem?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6BAF0-6831-EE82-67CD-5D241CE7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65833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11792</TotalTime>
  <Words>816</Words>
  <Application>Microsoft Macintosh PowerPoint</Application>
  <PresentationFormat>Widescreen</PresentationFormat>
  <Paragraphs>250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新細明體</vt:lpstr>
      <vt:lpstr>Aptos</vt:lpstr>
      <vt:lpstr>Aptos Display</vt:lpstr>
      <vt:lpstr>Arial</vt:lpstr>
      <vt:lpstr>Cambria Math</vt:lpstr>
      <vt:lpstr>Times New Roman</vt:lpstr>
      <vt:lpstr>Office Theme</vt:lpstr>
      <vt:lpstr>Inheritance</vt:lpstr>
      <vt:lpstr>Relationships (1/4)</vt:lpstr>
      <vt:lpstr>Relationships (2/4)</vt:lpstr>
      <vt:lpstr>Relationships (3/4)</vt:lpstr>
      <vt:lpstr>Relationships (4/4)</vt:lpstr>
      <vt:lpstr>Inheritance (1/4)</vt:lpstr>
      <vt:lpstr>Inheritance (2/4) Override</vt:lpstr>
      <vt:lpstr>Inheritance (3/4) Override</vt:lpstr>
      <vt:lpstr>Inheritance (4/4) Shadowing</vt:lpstr>
      <vt:lpstr>Scope (C++) (1/3)</vt:lpstr>
      <vt:lpstr>Scope (C++) (2/3)</vt:lpstr>
      <vt:lpstr>Scope (C++) (3/3)</vt:lpstr>
      <vt:lpstr>Constructor/Destructor chain (1/2)</vt:lpstr>
      <vt:lpstr>Constructor/Destructor chain (2/2)</vt:lpstr>
      <vt:lpstr>Multiple inheritance (1/2)</vt:lpstr>
      <vt:lpstr>Bài tập</vt:lpstr>
      <vt:lpstr>Multiple inheritance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Thi Le  Thuy - Y19</dc:creator>
  <cp:lastModifiedBy>Tuan Hai Vu</cp:lastModifiedBy>
  <cp:revision>22</cp:revision>
  <dcterms:created xsi:type="dcterms:W3CDTF">2025-10-12T07:14:27Z</dcterms:created>
  <dcterms:modified xsi:type="dcterms:W3CDTF">2026-03-28T03:05:19Z</dcterms:modified>
</cp:coreProperties>
</file>