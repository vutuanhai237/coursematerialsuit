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1038" r:id="rId3"/>
    <p:sldId id="1039" r:id="rId4"/>
    <p:sldId id="1040" r:id="rId5"/>
    <p:sldId id="1041" r:id="rId6"/>
    <p:sldId id="1043" r:id="rId7"/>
    <p:sldId id="1044" r:id="rId8"/>
    <p:sldId id="1045" r:id="rId9"/>
    <p:sldId id="1046" r:id="rId10"/>
    <p:sldId id="1047" r:id="rId1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6"/>
    <p:restoredTop sz="94478"/>
  </p:normalViewPr>
  <p:slideViewPr>
    <p:cSldViewPr snapToGrid="0">
      <p:cViewPr>
        <p:scale>
          <a:sx n="185" d="100"/>
          <a:sy n="185" d="100"/>
        </p:scale>
        <p:origin x="-4072" y="-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19/5/26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19/5/26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19/5/26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19/5/26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19/5/26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19/5/26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19/5/26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19/5/26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Problems in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F06E-1768-F88C-5C35-0471EF84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Overload operator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590A-239E-43FE-525B-87AB31716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3774" cy="625378"/>
          </a:xfrm>
        </p:spPr>
        <p:txBody>
          <a:bodyPr/>
          <a:lstStyle/>
          <a:p>
            <a:pPr marL="0" indent="0">
              <a:buNone/>
            </a:pPr>
            <a:r>
              <a:rPr lang="en-VN"/>
              <a:t>Replace method() by operator+-*/…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463DB-7199-6A1E-2F5E-343B45E7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72E5B0-DF64-D33A-EC9C-94C7DA200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048" y="2451003"/>
                <a:ext cx="3513881" cy="1414941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vi-VN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𝑀𝑎𝑡𝑟𝑖𝑥</m:t>
                    </m:r>
                  </m:oMath>
                </a14:m>
                <a:r>
                  <a:rPr lang="vi-VN" sz="2800"/>
                  <a:t> </a:t>
                </a:r>
                <a:endParaRPr lang="en-VN" sz="2800"/>
              </a:p>
              <a:p>
                <a14:m>
                  <m:oMath xmlns:m="http://schemas.openxmlformats.org/officeDocument/2006/math">
                    <m:r>
                      <a:rPr lang="vi-VN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𝑀𝑎𝑡𝑟𝑖𝑥</m:t>
                    </m:r>
                  </m:oMath>
                </a14:m>
                <a:r>
                  <a:rPr lang="vi-VN" sz="2800"/>
                  <a:t> </a:t>
                </a:r>
                <a:endParaRPr lang="en-VN" sz="2800"/>
              </a:p>
              <a:p>
                <a14:m>
                  <m:oMath xmlns:m="http://schemas.openxmlformats.org/officeDocument/2006/math">
                    <m:r>
                      <a:rPr lang="vi-VN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𝑚𝑢𝑙𝑡𝑖𝑝𝑙𝑦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2800"/>
                  <a:t> </a:t>
                </a:r>
                <a:endParaRPr lang="en-VN" sz="280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72E5B0-DF64-D33A-EC9C-94C7DA200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048" y="2451003"/>
                <a:ext cx="3513881" cy="1414941"/>
              </a:xfrm>
              <a:prstGeom prst="rect">
                <a:avLst/>
              </a:prstGeom>
              <a:blipFill>
                <a:blip r:embed="rId2"/>
                <a:stretch>
                  <a:fillRect l="-719" b="-531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10B5B7-392B-36E0-6D5D-5450BAAB9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3800" y="4223859"/>
                <a:ext cx="2634205" cy="521761"/>
              </a:xfrm>
              <a:prstGeom prst="rect">
                <a:avLst/>
              </a:prstGeom>
              <a:solidFill>
                <a:srgbClr val="D9D9D9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vi-VN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vi-VN" sz="2800" b="0" i="1">
                        <a:latin typeface="Cambria Math" panose="02040503050406030204" pitchFamily="18" charset="0"/>
                      </a:rPr>
                      <m:t> @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vi-VN" sz="2800"/>
                  <a:t> </a:t>
                </a:r>
                <a:endParaRPr lang="en-VN" sz="280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10B5B7-392B-36E0-6D5D-5450BAAB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800" y="4223859"/>
                <a:ext cx="2634205" cy="521761"/>
              </a:xfrm>
              <a:prstGeom prst="rect">
                <a:avLst/>
              </a:prstGeom>
              <a:blipFill>
                <a:blip r:embed="rId3"/>
                <a:stretch>
                  <a:fillRect l="-952" b="-2142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ED32952-B5BD-37BF-47F7-3D1167E75ACB}"/>
              </a:ext>
            </a:extLst>
          </p:cNvPr>
          <p:cNvSpPr/>
          <p:nvPr/>
        </p:nvSpPr>
        <p:spPr>
          <a:xfrm>
            <a:off x="965525" y="3355442"/>
            <a:ext cx="3236087" cy="419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C0D20-570E-C9DE-C666-ADC018FDEED7}"/>
              </a:ext>
            </a:extLst>
          </p:cNvPr>
          <p:cNvSpPr txBox="1"/>
          <p:nvPr/>
        </p:nvSpPr>
        <p:spPr>
          <a:xfrm>
            <a:off x="2092186" y="4842655"/>
            <a:ext cx="451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Look simple, but w</a:t>
            </a:r>
            <a:r>
              <a:rPr lang="en-US">
                <a:solidFill>
                  <a:srgbClr val="FF0000"/>
                </a:solidFill>
              </a:rPr>
              <a:t>ha</a:t>
            </a:r>
            <a:r>
              <a:rPr lang="en-VN">
                <a:solidFill>
                  <a:srgbClr val="FF0000"/>
                </a:solidFill>
              </a:rPr>
              <a:t>t is the meaning of @?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E392D7A-C049-AE5E-4A79-82DA67147CB3}"/>
              </a:ext>
            </a:extLst>
          </p:cNvPr>
          <p:cNvCxnSpPr>
            <a:cxnSpLocks/>
            <a:stCxn id="9" idx="2"/>
            <a:endCxn id="8" idx="1"/>
          </p:cNvCxnSpPr>
          <p:nvPr/>
        </p:nvCxnSpPr>
        <p:spPr>
          <a:xfrm rot="16200000" flipH="1">
            <a:off x="2803629" y="3554568"/>
            <a:ext cx="710111" cy="115023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1E34E9-6751-40A7-3D9E-20CDF804D5D0}"/>
              </a:ext>
            </a:extLst>
          </p:cNvPr>
          <p:cNvSpPr txBox="1">
            <a:spLocks/>
          </p:cNvSpPr>
          <p:nvPr/>
        </p:nvSpPr>
        <p:spPr>
          <a:xfrm>
            <a:off x="7095313" y="1825625"/>
            <a:ext cx="4258487" cy="368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 b="1"/>
              <a:t>Pros</a:t>
            </a:r>
            <a:r>
              <a:rPr lang="en-VN"/>
              <a:t>:</a:t>
            </a:r>
          </a:p>
          <a:p>
            <a:pPr>
              <a:buFontTx/>
              <a:buChar char="-"/>
            </a:pPr>
            <a:r>
              <a:rPr lang="en-VN"/>
              <a:t>Shorter</a:t>
            </a:r>
          </a:p>
          <a:p>
            <a:pPr>
              <a:buFontTx/>
              <a:buChar char="-"/>
            </a:pPr>
            <a:r>
              <a:rPr lang="en-VN"/>
              <a:t>Better representation</a:t>
            </a:r>
          </a:p>
          <a:p>
            <a:pPr marL="0" indent="0">
              <a:buNone/>
            </a:pPr>
            <a:endParaRPr lang="en-VN"/>
          </a:p>
          <a:p>
            <a:pPr marL="0" indent="0">
              <a:buNone/>
            </a:pPr>
            <a:r>
              <a:rPr lang="en-VN" b="1"/>
              <a:t>Cons</a:t>
            </a:r>
            <a:r>
              <a:rPr lang="en-VN"/>
              <a:t>:</a:t>
            </a:r>
          </a:p>
          <a:p>
            <a:pPr marL="0" indent="0">
              <a:buNone/>
            </a:pPr>
            <a:r>
              <a:rPr lang="en-VN"/>
              <a:t>- Misunderstanding in large projects</a:t>
            </a:r>
          </a:p>
        </p:txBody>
      </p:sp>
    </p:spTree>
    <p:extLst>
      <p:ext uri="{BB962C8B-B14F-4D97-AF65-F5344CB8AC3E}">
        <p14:creationId xmlns:p14="http://schemas.microsoft.com/office/powerpoint/2010/main" val="98685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3594-C396-FDE9-B8B5-B946FD9E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2B00-8024-1651-E488-6B60A2EF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Overload operator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D558-C1A3-17CB-9978-02A6F8533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73" y="1551008"/>
            <a:ext cx="2205941" cy="625378"/>
          </a:xfrm>
        </p:spPr>
        <p:txBody>
          <a:bodyPr/>
          <a:lstStyle/>
          <a:p>
            <a:pPr marL="0" indent="0">
              <a:buNone/>
            </a:pPr>
            <a:r>
              <a:rPr lang="en-VN"/>
              <a:t>In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A7838-643C-0DF2-691D-8AF53B73F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3</a:t>
            </a:fld>
            <a:endParaRPr lang="en-VN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7E28052-103F-8339-BB2A-B404330D8D91}"/>
              </a:ext>
            </a:extLst>
          </p:cNvPr>
          <p:cNvSpPr txBox="1">
            <a:spLocks/>
          </p:cNvSpPr>
          <p:nvPr/>
        </p:nvSpPr>
        <p:spPr>
          <a:xfrm>
            <a:off x="937550" y="1551008"/>
            <a:ext cx="4371856" cy="4132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We already know that there are some type of operators:</a:t>
            </a:r>
          </a:p>
          <a:p>
            <a:pPr>
              <a:buFontTx/>
              <a:buChar char="-"/>
            </a:pPr>
            <a:r>
              <a:rPr lang="en-VN"/>
              <a:t>Unary (a function that require only 1 input)</a:t>
            </a:r>
          </a:p>
          <a:p>
            <a:pPr>
              <a:buFontTx/>
              <a:buChar char="-"/>
            </a:pPr>
            <a:r>
              <a:rPr lang="en-VN"/>
              <a:t>Binary (a function that require only 2 inputs)</a:t>
            </a:r>
          </a:p>
          <a:p>
            <a:pPr marL="0" indent="0">
              <a:buNone/>
            </a:pPr>
            <a:endParaRPr lang="en-VN"/>
          </a:p>
          <a:p>
            <a:pPr>
              <a:buFontTx/>
              <a:buChar char="-"/>
            </a:pPr>
            <a:r>
              <a:rPr lang="en-VN"/>
              <a:t>Tenary (a function that require only 3 inputs)</a:t>
            </a:r>
          </a:p>
          <a:p>
            <a:pPr>
              <a:buFontTx/>
              <a:buChar char="-"/>
            </a:pPr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F6091-0C85-8DD9-9A37-736E96228916}"/>
              </a:ext>
            </a:extLst>
          </p:cNvPr>
          <p:cNvSpPr txBox="1"/>
          <p:nvPr/>
        </p:nvSpPr>
        <p:spPr>
          <a:xfrm>
            <a:off x="838200" y="6123291"/>
            <a:ext cx="9555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 do not teach much about overload operator in C++ because of its range of application.</a:t>
            </a:r>
          </a:p>
          <a:p>
            <a:r>
              <a:rPr lang="en-VN">
                <a:solidFill>
                  <a:srgbClr val="FF0000"/>
                </a:solidFill>
              </a:rPr>
              <a:t>BUT your should learn by yourself for the final examination.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3DDDEB-9697-F878-CDC3-1CE35235F69B}"/>
              </a:ext>
            </a:extLst>
          </p:cNvPr>
          <p:cNvSpPr txBox="1">
            <a:spLocks/>
          </p:cNvSpPr>
          <p:nvPr/>
        </p:nvSpPr>
        <p:spPr>
          <a:xfrm>
            <a:off x="5687028" y="1562928"/>
            <a:ext cx="2205941" cy="625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29D599E-45EE-29DD-7E78-86B1FD02F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8607" y="2627610"/>
                <a:ext cx="2324100" cy="521761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++</m:t>
                      </m:r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29D599E-45EE-29DD-7E78-86B1FD02F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607" y="2627610"/>
                <a:ext cx="2324100" cy="521761"/>
              </a:xfrm>
              <a:prstGeom prst="rect">
                <a:avLst/>
              </a:prstGeom>
              <a:blipFill>
                <a:blip r:embed="rId2"/>
                <a:stretch>
                  <a:fillRect b="-186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ABC845-9307-D3E2-C814-B046C9823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8607" y="3552957"/>
                <a:ext cx="2324100" cy="521761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ABC845-9307-D3E2-C814-B046C9823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607" y="3552957"/>
                <a:ext cx="2324100" cy="521761"/>
              </a:xfrm>
              <a:prstGeom prst="rect">
                <a:avLst/>
              </a:prstGeom>
              <a:blipFill>
                <a:blip r:embed="rId3"/>
                <a:stretch>
                  <a:fillRect b="-2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AA1A7D6-58BB-BBD3-B07F-3E8B8B066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8607" y="4901439"/>
                <a:ext cx="3673997" cy="521761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?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AA1A7D6-58BB-BBD3-B07F-3E8B8B066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607" y="4901439"/>
                <a:ext cx="3673997" cy="521761"/>
              </a:xfrm>
              <a:prstGeom prst="rect">
                <a:avLst/>
              </a:prstGeom>
              <a:blipFill>
                <a:blip r:embed="rId4"/>
                <a:stretch>
                  <a:fillRect b="-186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7DC05A8-DFA1-AC21-2494-520E16C038BA}"/>
              </a:ext>
            </a:extLst>
          </p:cNvPr>
          <p:cNvSpPr/>
          <p:nvPr/>
        </p:nvSpPr>
        <p:spPr>
          <a:xfrm>
            <a:off x="6232007" y="2675295"/>
            <a:ext cx="388712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345FDB-907D-CED6-5AE2-E944AE56740B}"/>
              </a:ext>
            </a:extLst>
          </p:cNvPr>
          <p:cNvSpPr txBox="1"/>
          <p:nvPr/>
        </p:nvSpPr>
        <p:spPr>
          <a:xfrm>
            <a:off x="6255157" y="3219592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1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A72DDE-A761-1B39-9ACF-9B6A3BD03D60}"/>
              </a:ext>
            </a:extLst>
          </p:cNvPr>
          <p:cNvSpPr/>
          <p:nvPr/>
        </p:nvSpPr>
        <p:spPr>
          <a:xfrm>
            <a:off x="6232007" y="3567867"/>
            <a:ext cx="388712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3D46F-4E43-C52A-E959-AF6A2588EE94}"/>
              </a:ext>
            </a:extLst>
          </p:cNvPr>
          <p:cNvSpPr txBox="1"/>
          <p:nvPr/>
        </p:nvSpPr>
        <p:spPr>
          <a:xfrm>
            <a:off x="6255157" y="4112164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1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D955D8-E530-1199-7775-E3AB69748FA5}"/>
              </a:ext>
            </a:extLst>
          </p:cNvPr>
          <p:cNvSpPr/>
          <p:nvPr/>
        </p:nvSpPr>
        <p:spPr>
          <a:xfrm>
            <a:off x="6859207" y="3567867"/>
            <a:ext cx="388712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3B05C2-80CA-C965-99DC-090E262F46CD}"/>
              </a:ext>
            </a:extLst>
          </p:cNvPr>
          <p:cNvSpPr txBox="1"/>
          <p:nvPr/>
        </p:nvSpPr>
        <p:spPr>
          <a:xfrm>
            <a:off x="6882357" y="4112164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2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82EA6E-BB79-F04F-E724-2A185D8FC8E1}"/>
              </a:ext>
            </a:extLst>
          </p:cNvPr>
          <p:cNvSpPr/>
          <p:nvPr/>
        </p:nvSpPr>
        <p:spPr>
          <a:xfrm>
            <a:off x="6198243" y="4936673"/>
            <a:ext cx="1473360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67CD5-CE7C-B57E-1EE0-6D13976EE116}"/>
              </a:ext>
            </a:extLst>
          </p:cNvPr>
          <p:cNvSpPr txBox="1"/>
          <p:nvPr/>
        </p:nvSpPr>
        <p:spPr>
          <a:xfrm>
            <a:off x="6746360" y="5480970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1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021086-4720-951A-5F0C-419455977DD3}"/>
              </a:ext>
            </a:extLst>
          </p:cNvPr>
          <p:cNvSpPr/>
          <p:nvPr/>
        </p:nvSpPr>
        <p:spPr>
          <a:xfrm>
            <a:off x="7876816" y="4936410"/>
            <a:ext cx="388712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08FA8-BA10-405F-9F92-01A445036384}"/>
              </a:ext>
            </a:extLst>
          </p:cNvPr>
          <p:cNvSpPr txBox="1"/>
          <p:nvPr/>
        </p:nvSpPr>
        <p:spPr>
          <a:xfrm>
            <a:off x="7899966" y="5480707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2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87F580-074C-9903-AED2-2A6E5E59409F}"/>
              </a:ext>
            </a:extLst>
          </p:cNvPr>
          <p:cNvSpPr/>
          <p:nvPr/>
        </p:nvSpPr>
        <p:spPr>
          <a:xfrm>
            <a:off x="8304124" y="4936410"/>
            <a:ext cx="388712" cy="53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B09CE1-E02F-C4BD-0023-26D47DCBB1F2}"/>
              </a:ext>
            </a:extLst>
          </p:cNvPr>
          <p:cNvSpPr txBox="1"/>
          <p:nvPr/>
        </p:nvSpPr>
        <p:spPr>
          <a:xfrm>
            <a:off x="8327274" y="5480707"/>
            <a:ext cx="3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3</a:t>
            </a:r>
            <a:endParaRPr lang="en-VN">
              <a:solidFill>
                <a:srgbClr val="FF0000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93C80E-1216-AABB-EBA7-F49FD5C50259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768770" y="3813838"/>
            <a:ext cx="4398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04826B-49EA-0EF5-5EBE-3B6B20E7849D}"/>
                  </a:ext>
                </a:extLst>
              </p:cNvPr>
              <p:cNvSpPr txBox="1"/>
              <p:nvPr/>
            </p:nvSpPr>
            <p:spPr>
              <a:xfrm>
                <a:off x="7846913" y="2710020"/>
                <a:ext cx="4503273" cy="46166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++(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𝒄𝒐𝒏𝒔𝒕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04826B-49EA-0EF5-5EBE-3B6B20E78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913" y="2710020"/>
                <a:ext cx="4503273" cy="461665"/>
              </a:xfrm>
              <a:prstGeom prst="rect">
                <a:avLst/>
              </a:prstGeom>
              <a:blipFill>
                <a:blip r:embed="rId5"/>
                <a:stretch>
                  <a:fillRect t="-10811" r="-2247" b="-270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5492B0-750C-DD58-A07D-87886C45BB66}"/>
              </a:ext>
            </a:extLst>
          </p:cNvPr>
          <p:cNvCxnSpPr>
            <a:cxnSpLocks/>
          </p:cNvCxnSpPr>
          <p:nvPr/>
        </p:nvCxnSpPr>
        <p:spPr>
          <a:xfrm flipV="1">
            <a:off x="4768770" y="5170006"/>
            <a:ext cx="4398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77AA74F-B485-5A28-6095-7C6148EAC2B7}"/>
              </a:ext>
            </a:extLst>
          </p:cNvPr>
          <p:cNvCxnSpPr>
            <a:cxnSpLocks/>
          </p:cNvCxnSpPr>
          <p:nvPr/>
        </p:nvCxnSpPr>
        <p:spPr>
          <a:xfrm flipV="1">
            <a:off x="4768770" y="2866643"/>
            <a:ext cx="4398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26D917-13EE-BA4E-A26E-30D2842AF9DC}"/>
                  </a:ext>
                </a:extLst>
              </p:cNvPr>
              <p:cNvSpPr txBox="1"/>
              <p:nvPr/>
            </p:nvSpPr>
            <p:spPr>
              <a:xfrm>
                <a:off x="7846914" y="2178612"/>
                <a:ext cx="3066329" cy="46166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++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26D917-13EE-BA4E-A26E-30D2842AF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914" y="2178612"/>
                <a:ext cx="3066329" cy="461665"/>
              </a:xfrm>
              <a:prstGeom prst="rect">
                <a:avLst/>
              </a:prstGeom>
              <a:blipFill>
                <a:blip r:embed="rId6"/>
                <a:stretch>
                  <a:fillRect t="-10811" r="-1646" b="-270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C0ABA8-9959-CDFB-0DC0-C15DBE2D99BA}"/>
                  </a:ext>
                </a:extLst>
              </p:cNvPr>
              <p:cNvSpPr txBox="1"/>
              <p:nvPr/>
            </p:nvSpPr>
            <p:spPr>
              <a:xfrm>
                <a:off x="7846914" y="3573134"/>
                <a:ext cx="4285526" cy="46166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𝒄𝒐𝒏𝒔𝒕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C0ABA8-9959-CDFB-0DC0-C15DBE2D9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914" y="3573134"/>
                <a:ext cx="4285526" cy="461665"/>
              </a:xfrm>
              <a:prstGeom prst="rect">
                <a:avLst/>
              </a:prstGeom>
              <a:blipFill>
                <a:blip r:embed="rId7"/>
                <a:stretch>
                  <a:fillRect t="-10811" r="-2065" b="-270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887A431-E64C-00C7-9975-37E67149D477}"/>
                  </a:ext>
                </a:extLst>
              </p:cNvPr>
              <p:cNvSpPr txBox="1"/>
              <p:nvPr/>
            </p:nvSpPr>
            <p:spPr>
              <a:xfrm>
                <a:off x="7846913" y="4326707"/>
                <a:ext cx="4285527" cy="46166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𝒄𝒐𝒏𝒔𝒕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&amp; </m:t>
                      </m:r>
                      <m:sSub>
                        <m:sSub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400" b="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887A431-E64C-00C7-9975-37E67149D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913" y="4326707"/>
                <a:ext cx="4285527" cy="461665"/>
              </a:xfrm>
              <a:prstGeom prst="rect">
                <a:avLst/>
              </a:prstGeom>
              <a:blipFill>
                <a:blip r:embed="rId8"/>
                <a:stretch>
                  <a:fillRect t="-10811" r="-3540" b="-270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A4E63E-F4AD-1DCB-DFD8-16E84EF32A55}"/>
                  </a:ext>
                </a:extLst>
              </p:cNvPr>
              <p:cNvSpPr txBox="1"/>
              <p:nvPr/>
            </p:nvSpPr>
            <p:spPr>
              <a:xfrm>
                <a:off x="9977377" y="4878105"/>
                <a:ext cx="2155063" cy="46166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/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𝒄𝒐𝒏𝒔𝒕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vi-V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A4E63E-F4AD-1DCB-DFD8-16E84EF32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377" y="4878105"/>
                <a:ext cx="2155063" cy="461665"/>
              </a:xfrm>
              <a:prstGeom prst="rect">
                <a:avLst/>
              </a:prstGeom>
              <a:blipFill>
                <a:blip r:embed="rId9"/>
                <a:stretch>
                  <a:fillRect l="-4094" t="-10811" r="-5848" b="-297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02129A5-F1DF-D2FD-098A-F4AF7078ED0A}"/>
              </a:ext>
            </a:extLst>
          </p:cNvPr>
          <p:cNvSpPr txBox="1"/>
          <p:nvPr/>
        </p:nvSpPr>
        <p:spPr>
          <a:xfrm>
            <a:off x="10880203" y="2211404"/>
            <a:ext cx="13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Inner class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D87EAE-9E35-7B40-A64C-BDE9E48841A1}"/>
              </a:ext>
            </a:extLst>
          </p:cNvPr>
          <p:cNvSpPr txBox="1"/>
          <p:nvPr/>
        </p:nvSpPr>
        <p:spPr>
          <a:xfrm>
            <a:off x="10706584" y="3207246"/>
            <a:ext cx="142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Outer class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5B2BFE-641D-B924-86A4-A75A03A78799}"/>
              </a:ext>
            </a:extLst>
          </p:cNvPr>
          <p:cNvSpPr txBox="1"/>
          <p:nvPr/>
        </p:nvSpPr>
        <p:spPr>
          <a:xfrm>
            <a:off x="10764454" y="4001618"/>
            <a:ext cx="13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Inner class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AB2845-F12A-2D15-564A-DA7DD80F6ED3}"/>
              </a:ext>
            </a:extLst>
          </p:cNvPr>
          <p:cNvSpPr txBox="1"/>
          <p:nvPr/>
        </p:nvSpPr>
        <p:spPr>
          <a:xfrm>
            <a:off x="10706584" y="5339770"/>
            <a:ext cx="142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Outer class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E7AB02B-5A94-470A-EE5E-5C57E5A3C065}"/>
              </a:ext>
            </a:extLst>
          </p:cNvPr>
          <p:cNvCxnSpPr>
            <a:cxnSpLocks/>
            <a:stCxn id="12" idx="3"/>
            <a:endCxn id="40" idx="1"/>
          </p:cNvCxnSpPr>
          <p:nvPr/>
        </p:nvCxnSpPr>
        <p:spPr>
          <a:xfrm flipV="1">
            <a:off x="7532707" y="2409445"/>
            <a:ext cx="314207" cy="47904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5F19718-72CE-31E8-86A2-3DAEB33D7281}"/>
              </a:ext>
            </a:extLst>
          </p:cNvPr>
          <p:cNvCxnSpPr>
            <a:cxnSpLocks/>
            <a:stCxn id="12" idx="3"/>
            <a:endCxn id="36" idx="1"/>
          </p:cNvCxnSpPr>
          <p:nvPr/>
        </p:nvCxnSpPr>
        <p:spPr>
          <a:xfrm>
            <a:off x="7532707" y="2888491"/>
            <a:ext cx="314206" cy="5236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B2024C0C-06B0-8D25-2710-D8B3007C435A}"/>
              </a:ext>
            </a:extLst>
          </p:cNvPr>
          <p:cNvCxnSpPr>
            <a:cxnSpLocks/>
            <a:stCxn id="13" idx="3"/>
            <a:endCxn id="42" idx="1"/>
          </p:cNvCxnSpPr>
          <p:nvPr/>
        </p:nvCxnSpPr>
        <p:spPr>
          <a:xfrm>
            <a:off x="7532707" y="3813838"/>
            <a:ext cx="314206" cy="74370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3BAC37E-0CAE-D37F-3734-F6B49666FD29}"/>
              </a:ext>
            </a:extLst>
          </p:cNvPr>
          <p:cNvCxnSpPr>
            <a:cxnSpLocks/>
            <a:stCxn id="13" idx="3"/>
            <a:endCxn id="41" idx="1"/>
          </p:cNvCxnSpPr>
          <p:nvPr/>
        </p:nvCxnSpPr>
        <p:spPr>
          <a:xfrm flipV="1">
            <a:off x="7532707" y="3803967"/>
            <a:ext cx="314207" cy="987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D47BCD9-B1C5-8E9B-28B0-AACD864DAFDC}"/>
              </a:ext>
            </a:extLst>
          </p:cNvPr>
          <p:cNvCxnSpPr>
            <a:cxnSpLocks/>
            <a:stCxn id="14" idx="3"/>
            <a:endCxn id="64" idx="1"/>
          </p:cNvCxnSpPr>
          <p:nvPr/>
        </p:nvCxnSpPr>
        <p:spPr>
          <a:xfrm>
            <a:off x="8882604" y="5162320"/>
            <a:ext cx="1720048" cy="848890"/>
          </a:xfrm>
          <a:prstGeom prst="bentConnector3">
            <a:avLst>
              <a:gd name="adj1" fmla="val 318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17C8468-9AA5-89C6-65B3-6889C5ABF66D}"/>
              </a:ext>
            </a:extLst>
          </p:cNvPr>
          <p:cNvSpPr txBox="1"/>
          <p:nvPr/>
        </p:nvSpPr>
        <p:spPr>
          <a:xfrm>
            <a:off x="10602652" y="5826544"/>
            <a:ext cx="142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IMPOSSIBLE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0312566-F9DA-3D4B-B2F8-DEAD650A68D5}"/>
              </a:ext>
            </a:extLst>
          </p:cNvPr>
          <p:cNvSpPr/>
          <p:nvPr/>
        </p:nvSpPr>
        <p:spPr>
          <a:xfrm>
            <a:off x="10392378" y="2659301"/>
            <a:ext cx="1740061" cy="564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C67380B6-1FD1-4684-FB4D-A023519870A6}"/>
              </a:ext>
            </a:extLst>
          </p:cNvPr>
          <p:cNvCxnSpPr>
            <a:cxnSpLocks/>
            <a:stCxn id="67" idx="3"/>
          </p:cNvCxnSpPr>
          <p:nvPr/>
        </p:nvCxnSpPr>
        <p:spPr>
          <a:xfrm flipH="1" flipV="1">
            <a:off x="11353800" y="1531984"/>
            <a:ext cx="778639" cy="1409390"/>
          </a:xfrm>
          <a:prstGeom prst="bentConnector4">
            <a:avLst>
              <a:gd name="adj1" fmla="val -4088"/>
              <a:gd name="adj2" fmla="val 6000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B3CA6DB-200C-F412-7C00-2870015DC156}"/>
              </a:ext>
            </a:extLst>
          </p:cNvPr>
          <p:cNvSpPr txBox="1"/>
          <p:nvPr/>
        </p:nvSpPr>
        <p:spPr>
          <a:xfrm>
            <a:off x="10685963" y="1193224"/>
            <a:ext cx="13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02407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E594-9C2E-4DA8-20B5-659EF91F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A015-730C-73AF-2038-2B798737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Overload operator (3/3)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9BB01-BE58-33C5-64E9-2F8028D9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4</a:t>
            </a:fld>
            <a:endParaRPr lang="en-VN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38002EB-C6CB-795F-C38B-1F3449F99D44}"/>
              </a:ext>
            </a:extLst>
          </p:cNvPr>
          <p:cNvSpPr txBox="1">
            <a:spLocks/>
          </p:cNvSpPr>
          <p:nvPr/>
        </p:nvSpPr>
        <p:spPr>
          <a:xfrm>
            <a:off x="937550" y="1551008"/>
            <a:ext cx="4371856" cy="68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Note that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39ACF-012D-FF37-CC16-357AC6E755D0}"/>
              </a:ext>
            </a:extLst>
          </p:cNvPr>
          <p:cNvSpPr txBox="1"/>
          <p:nvPr/>
        </p:nvSpPr>
        <p:spPr>
          <a:xfrm>
            <a:off x="838200" y="6377661"/>
            <a:ext cx="955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Why must the i/ostream operator be overloaded outside the class?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400CE1-4506-A986-14E9-CD97C272E4A9}"/>
              </a:ext>
            </a:extLst>
          </p:cNvPr>
          <p:cNvSpPr txBox="1"/>
          <p:nvPr/>
        </p:nvSpPr>
        <p:spPr>
          <a:xfrm>
            <a:off x="8610600" y="3739358"/>
            <a:ext cx="147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Why diff?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5EBAC1-9D6E-1748-2CAF-397513381E67}"/>
                  </a:ext>
                </a:extLst>
              </p:cNvPr>
              <p:cNvSpPr txBox="1"/>
              <p:nvPr/>
            </p:nvSpPr>
            <p:spPr>
              <a:xfrm>
                <a:off x="1013749" y="2234775"/>
                <a:ext cx="9067800" cy="138499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𝑖𝑠𝑡𝑟𝑒𝑎𝑚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𝒄𝒐𝒏𝒔𝒕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𝑖𝑠𝑡𝑟𝑒𝑎𝑚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&amp;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,    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&amp;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vi-VN" sz="2800" i="1"/>
              </a:p>
              <a:p>
                <a:endParaRPr lang="vi-VN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𝑜𝑠𝑡𝑟𝑒𝑎𝑚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𝒐𝒑𝒆𝒓𝒂𝒕𝒐𝒓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𝒄𝒐𝒏𝒔𝒕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𝑜𝑠𝑡𝑟𝑒𝑎𝑚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 &amp;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𝑜𝑠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 ) </m:t>
                      </m:r>
                    </m:oMath>
                  </m:oMathPara>
                </a14:m>
                <a:endParaRPr lang="vi-VN" sz="2800" i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5EBAC1-9D6E-1748-2CAF-397513381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49" y="2234775"/>
                <a:ext cx="9067800" cy="1384995"/>
              </a:xfrm>
              <a:prstGeom prst="rect">
                <a:avLst/>
              </a:prstGeom>
              <a:blipFill>
                <a:blip r:embed="rId2"/>
                <a:stretch>
                  <a:fillRect l="-280" b="-81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3DAE2BCF-F934-B2D5-6601-526F7D4219DB}"/>
              </a:ext>
            </a:extLst>
          </p:cNvPr>
          <p:cNvSpPr/>
          <p:nvPr/>
        </p:nvSpPr>
        <p:spPr>
          <a:xfrm>
            <a:off x="942374" y="2211404"/>
            <a:ext cx="1724628" cy="578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D73BC1-857B-79F0-9F23-9568E123EF9B}"/>
              </a:ext>
            </a:extLst>
          </p:cNvPr>
          <p:cNvSpPr/>
          <p:nvPr/>
        </p:nvSpPr>
        <p:spPr>
          <a:xfrm>
            <a:off x="942374" y="3139952"/>
            <a:ext cx="1724628" cy="578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DD73A4-5461-5E4D-7548-0D23F07578A2}"/>
              </a:ext>
            </a:extLst>
          </p:cNvPr>
          <p:cNvSpPr/>
          <p:nvPr/>
        </p:nvSpPr>
        <p:spPr>
          <a:xfrm>
            <a:off x="8715736" y="2096132"/>
            <a:ext cx="1180617" cy="1621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754073-573C-40DE-680B-94E3AAD23ADE}"/>
              </a:ext>
            </a:extLst>
          </p:cNvPr>
          <p:cNvSpPr txBox="1"/>
          <p:nvPr/>
        </p:nvSpPr>
        <p:spPr>
          <a:xfrm>
            <a:off x="937551" y="3729103"/>
            <a:ext cx="363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Who is he/she?</a:t>
            </a:r>
            <a:endParaRPr lang="en-V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41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4191-5B3F-15E6-9191-6D80A44D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14823" cy="1325563"/>
          </a:xfrm>
        </p:spPr>
        <p:txBody>
          <a:bodyPr/>
          <a:lstStyle/>
          <a:p>
            <a:r>
              <a:rPr lang="en-VN"/>
              <a:t>Template (1/3)</a:t>
            </a:r>
            <a:br>
              <a:rPr lang="en-VN"/>
            </a:br>
            <a:r>
              <a:rPr lang="en-VN" sz="2400"/>
              <a:t>(Generic programming)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3B459-4ED0-ABE0-1953-A6F3ECB5E7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1603375"/>
              </a:xfrm>
              <a:solidFill>
                <a:srgbClr val="D9D9D9"/>
              </a:solidFill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𝒊𝒏𝒕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𝒊𝒏𝒕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𝒊𝒏𝒕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) {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𝒓𝒆𝒕𝒖𝒓𝒏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 &gt; 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?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:endParaRPr lang="en-V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3B459-4ED0-ABE0-1953-A6F3ECB5E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1603375"/>
              </a:xfrm>
              <a:blipFill>
                <a:blip r:embed="rId2"/>
                <a:stretch>
                  <a:fillRect l="-1687" t="-156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08756-C8CD-6F44-B048-964A47D7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5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0FC72B9-4651-B481-7614-84FD451C90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563937"/>
                <a:ext cx="5257801" cy="160337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𝒅𝒐𝒖𝒃𝒍𝒆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𝒅𝒐𝒖𝒃𝒍𝒆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𝒅𝒐𝒖𝒃𝒍𝒆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) {</m:t>
                    </m:r>
                  </m:oMath>
                </a14:m>
                <a:r>
                  <a:rPr lang="en-VN" i="1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𝒓𝒆𝒕𝒖𝒓𝒏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 &gt; 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?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VN" i="1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VN" i="1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VN" i="1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0FC72B9-4651-B481-7614-84FD451C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63937"/>
                <a:ext cx="5257801" cy="1603375"/>
              </a:xfrm>
              <a:prstGeom prst="rect">
                <a:avLst/>
              </a:prstGeom>
              <a:blipFill>
                <a:blip r:embed="rId3"/>
                <a:stretch>
                  <a:fillRect l="-1202" t="-3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666B063-7DEA-5E51-643C-7E37D3E6F0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3686" y="1229587"/>
                <a:ext cx="4391629" cy="2075969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b="1" i="1">
                        <a:latin typeface="Cambria Math" panose="02040503050406030204" pitchFamily="18" charset="0"/>
                      </a:rPr>
                      <m:t>𝒕𝒆𝒎𝒑𝒍𝒂𝒕𝒆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𝒕𝒚𝒑𝒆𝒏𝒂𝒎𝒆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⟩ </m:t>
                    </m:r>
                  </m:oMath>
                </a14:m>
                <a:r>
                  <a:rPr lang="vi-VN"/>
                  <a:t> </a:t>
                </a:r>
                <a:endParaRPr lang="en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) {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𝒓𝒆𝒕𝒖𝒓𝒏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 &gt; 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?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VN" i="1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666B063-7DEA-5E51-643C-7E37D3E6F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686" y="1229587"/>
                <a:ext cx="4391629" cy="2075969"/>
              </a:xfrm>
              <a:prstGeom prst="rect">
                <a:avLst/>
              </a:prstGeom>
              <a:blipFill>
                <a:blip r:embed="rId4"/>
                <a:stretch>
                  <a:fillRect l="-1729" t="-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94D3660-4E74-6564-440C-A4A429C7C372}"/>
              </a:ext>
            </a:extLst>
          </p:cNvPr>
          <p:cNvSpPr/>
          <p:nvPr/>
        </p:nvSpPr>
        <p:spPr>
          <a:xfrm>
            <a:off x="710880" y="1690688"/>
            <a:ext cx="5516300" cy="3600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EBB9E-AEBC-E3AC-E0F5-FDA9B811C8A6}"/>
              </a:ext>
            </a:extLst>
          </p:cNvPr>
          <p:cNvSpPr txBox="1"/>
          <p:nvPr/>
        </p:nvSpPr>
        <p:spPr>
          <a:xfrm>
            <a:off x="706057" y="5302249"/>
            <a:ext cx="551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Same logic, diff type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3E205-137A-CF5B-FDF9-24645E55F530}"/>
              </a:ext>
            </a:extLst>
          </p:cNvPr>
          <p:cNvSpPr txBox="1"/>
          <p:nvPr/>
        </p:nvSpPr>
        <p:spPr>
          <a:xfrm>
            <a:off x="6893685" y="3289155"/>
            <a:ext cx="425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General logic with type T</a:t>
            </a:r>
          </a:p>
          <a:p>
            <a:r>
              <a:rPr lang="en-US">
                <a:solidFill>
                  <a:srgbClr val="FF0000"/>
                </a:solidFill>
              </a:rPr>
              <a:t>Note that T must be comparable type</a:t>
            </a:r>
            <a:endParaRPr lang="en-V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B9635EA-C68B-9D28-F54F-14B35BCC0B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3685" y="4713438"/>
                <a:ext cx="5119868" cy="1572439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vi-VN" i="1">
                            <a:latin typeface="Cambria Math" panose="02040503050406030204" pitchFamily="18" charset="0"/>
                          </a:rPr>
                          <m:t>𝑚𝑎𝑥</m:t>
                        </m:r>
                      </m:fName>
                      <m:e>
                        <m:d>
                          <m:dPr>
                            <m:ctrlPr>
                              <a:rPr lang="en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3,4</m:t>
                            </m:r>
                          </m:e>
                        </m:d>
                      </m:e>
                    </m:func>
                  </m:oMath>
                </a14:m>
                <a:r>
                  <a:rPr lang="vi-VN" i="1"/>
                  <a:t> </a:t>
                </a:r>
                <a:endParaRPr lang="en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vi-VN" i="1">
                            <a:latin typeface="Cambria Math" panose="02040503050406030204" pitchFamily="18" charset="0"/>
                          </a:rPr>
                          <m:t>𝑚𝑎𝑥</m:t>
                        </m:r>
                      </m:fName>
                      <m:e>
                        <m:d>
                          <m:dPr>
                            <m:ctrlPr>
                              <a:rPr lang="en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3.4,3</m:t>
                            </m:r>
                          </m:e>
                        </m:d>
                      </m:e>
                    </m:func>
                  </m:oMath>
                </a14:m>
                <a:r>
                  <a:rPr lang="vi-VN" i="1"/>
                  <a:t> </a:t>
                </a:r>
                <a:endParaRPr lang="en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vi-VN" i="1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𝑑𝑜𝑢𝑏𝑙𝑒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⟩</m:t>
                        </m:r>
                      </m:fName>
                      <m:e>
                        <m:d>
                          <m:dPr>
                            <m:ctrlPr>
                              <a:rPr lang="en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1,3.2</m:t>
                            </m:r>
                          </m:e>
                        </m:d>
                      </m:e>
                    </m:func>
                  </m:oMath>
                </a14:m>
                <a:r>
                  <a:rPr lang="vi-VN" i="1"/>
                  <a:t> </a:t>
                </a:r>
                <a:endParaRPr lang="en-VN"/>
              </a:p>
              <a:p>
                <a:pPr marL="0" indent="0">
                  <a:buNone/>
                </a:pPr>
                <a:endParaRPr lang="en-VN" i="1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B9635EA-C68B-9D28-F54F-14B35BCC0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685" y="4713438"/>
                <a:ext cx="5119868" cy="1572439"/>
              </a:xfrm>
              <a:prstGeom prst="rect">
                <a:avLst/>
              </a:prstGeom>
              <a:blipFill>
                <a:blip r:embed="rId5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2C6C3B9-5110-662C-11D0-A7850D99FD48}"/>
              </a:ext>
            </a:extLst>
          </p:cNvPr>
          <p:cNvCxnSpPr>
            <a:cxnSpLocks/>
            <a:stCxn id="6" idx="3"/>
            <a:endCxn id="13" idx="0"/>
          </p:cNvCxnSpPr>
          <p:nvPr/>
        </p:nvCxnSpPr>
        <p:spPr>
          <a:xfrm flipH="1">
            <a:off x="9453619" y="2267572"/>
            <a:ext cx="1831696" cy="2445866"/>
          </a:xfrm>
          <a:prstGeom prst="bentConnector4">
            <a:avLst>
              <a:gd name="adj1" fmla="val -12480"/>
              <a:gd name="adj2" fmla="val 8399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907AB-AD01-65A7-2FDA-F60F0CB33699}"/>
              </a:ext>
            </a:extLst>
          </p:cNvPr>
          <p:cNvSpPr/>
          <p:nvPr/>
        </p:nvSpPr>
        <p:spPr>
          <a:xfrm>
            <a:off x="6740322" y="4552111"/>
            <a:ext cx="2437435" cy="625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4C36D-3B0B-D5A6-A37F-BA8F3D2318F1}"/>
              </a:ext>
            </a:extLst>
          </p:cNvPr>
          <p:cNvSpPr txBox="1"/>
          <p:nvPr/>
        </p:nvSpPr>
        <p:spPr>
          <a:xfrm>
            <a:off x="9177757" y="4726610"/>
            <a:ext cx="2835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Automatically inference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1CA3DB-3187-BB74-443D-02FE34703A6D}"/>
              </a:ext>
            </a:extLst>
          </p:cNvPr>
          <p:cNvSpPr/>
          <p:nvPr/>
        </p:nvSpPr>
        <p:spPr>
          <a:xfrm>
            <a:off x="6740322" y="5221263"/>
            <a:ext cx="2667963" cy="4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78E3B-4EAE-1F33-8923-8465FD1817B8}"/>
              </a:ext>
            </a:extLst>
          </p:cNvPr>
          <p:cNvSpPr txBox="1"/>
          <p:nvPr/>
        </p:nvSpPr>
        <p:spPr>
          <a:xfrm>
            <a:off x="9454585" y="5267563"/>
            <a:ext cx="141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Failed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2F084-9810-9A9C-BC76-48E6FB393FC6}"/>
              </a:ext>
            </a:extLst>
          </p:cNvPr>
          <p:cNvSpPr/>
          <p:nvPr/>
        </p:nvSpPr>
        <p:spPr>
          <a:xfrm>
            <a:off x="6740322" y="5732284"/>
            <a:ext cx="4092614" cy="4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3EA96-EE79-C137-3F42-A9C8FA512C0D}"/>
              </a:ext>
            </a:extLst>
          </p:cNvPr>
          <p:cNvSpPr txBox="1"/>
          <p:nvPr/>
        </p:nvSpPr>
        <p:spPr>
          <a:xfrm>
            <a:off x="10872483" y="5798222"/>
            <a:ext cx="114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Explicity </a:t>
            </a:r>
            <a:endParaRPr lang="en-VN">
              <a:solidFill>
                <a:srgbClr val="FF0000"/>
              </a:solidFill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3C6AA38-0023-2CF2-46E4-864960CEBE81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6227180" y="2267572"/>
            <a:ext cx="666506" cy="122336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A25140-148F-BD7E-0DBA-F8877FBCA198}"/>
              </a:ext>
            </a:extLst>
          </p:cNvPr>
          <p:cNvSpPr/>
          <p:nvPr/>
        </p:nvSpPr>
        <p:spPr>
          <a:xfrm>
            <a:off x="8434809" y="1097411"/>
            <a:ext cx="2273458" cy="625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91A0F8D-1FF0-70EB-3236-6E4F7FB5E7DD}"/>
              </a:ext>
            </a:extLst>
          </p:cNvPr>
          <p:cNvCxnSpPr>
            <a:cxnSpLocks/>
            <a:stCxn id="26" idx="0"/>
            <a:endCxn id="28" idx="0"/>
          </p:cNvCxnSpPr>
          <p:nvPr/>
        </p:nvCxnSpPr>
        <p:spPr>
          <a:xfrm rot="5400000" flipH="1" flipV="1">
            <a:off x="10371082" y="25475"/>
            <a:ext cx="272392" cy="1871480"/>
          </a:xfrm>
          <a:prstGeom prst="bentConnector3">
            <a:avLst>
              <a:gd name="adj1" fmla="val 17117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A2DF4D0-0980-8E57-BD3A-9E80A742B84A}"/>
              </a:ext>
            </a:extLst>
          </p:cNvPr>
          <p:cNvSpPr txBox="1"/>
          <p:nvPr/>
        </p:nvSpPr>
        <p:spPr>
          <a:xfrm>
            <a:off x="10836312" y="825019"/>
            <a:ext cx="121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Anything!</a:t>
            </a:r>
            <a:endParaRPr lang="en-V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8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A4EC-8FC8-C106-D448-2BA07314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D2BD-478D-6B2C-2C75-2F84D4F1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Template (2/3)</a:t>
            </a:r>
            <a:br>
              <a:rPr lang="en-VN"/>
            </a:br>
            <a:r>
              <a:rPr lang="en-VN" sz="2400"/>
              <a:t>(Generic programming)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09316-A7C5-A579-0A5A-39A42D1D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6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6D5AE8F-F28C-E5D5-AB05-7DC7141B7C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1" y="1843043"/>
                <a:ext cx="5257799" cy="4430435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𝒕𝒆𝒎𝒑𝒍𝒂𝒕𝒆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𝒕𝒚𝒑𝒆𝒏𝒂𝒎𝒆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𝑆𝑡𝑎𝑐𝑘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{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𝒑𝒓𝒊𝒗𝒂𝒕𝒆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𝑣𝑒𝑐𝑡𝑜𝑟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𝑒𝑙𝑒𝑚𝑒𝑛𝑡𝑠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𝒑𝒖𝒃𝒍𝒊𝒄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𝒗𝒐𝒊𝒅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b="1" i="1">
                            <a:latin typeface="Cambria Math" panose="02040503050406030204" pitchFamily="18" charset="0"/>
                          </a:rPr>
                          <m:t>𝒄𝒐𝒏𝒔𝒕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&amp; </m:t>
                        </m:r>
                        <m:r>
                          <a:rPr lang="en-VN" i="1">
                            <a:latin typeface="Cambria Math" panose="02040503050406030204" pitchFamily="18" charset="0"/>
                          </a:rPr>
                          <m:t>𝑖𝑡𝑒𝑚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𝑝𝑜𝑝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:r>
                  <a:rPr lang="vi-VN"/>
                  <a:t>     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𝒃𝒐𝒐𝒍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𝑖𝑠𝐸𝑚𝑝𝑡𝑦</m:t>
                    </m:r>
                    <m:d>
                      <m:d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𝒄𝒐𝒏𝒔𝒕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};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VN" i="1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6D5AE8F-F28C-E5D5-AB05-7DC7141B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843043"/>
                <a:ext cx="5257799" cy="4430435"/>
              </a:xfrm>
              <a:prstGeom prst="rect">
                <a:avLst/>
              </a:prstGeom>
              <a:blipFill>
                <a:blip r:embed="rId2"/>
                <a:stretch>
                  <a:fillRect l="-1446" t="-57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A031489-60FC-61F3-2CFA-549276E9872B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6096000" y="2362303"/>
            <a:ext cx="648183" cy="169595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E7102B5-9B06-8B90-B86E-BA43A3745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4183" y="1843043"/>
                <a:ext cx="5119868" cy="1038520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𝑆𝑡𝑎𝑐𝑘</m:t>
                    </m:r>
                    <m:d>
                      <m:dPr>
                        <m:begChr m:val="⟨"/>
                        <m:endChr m:val="⟩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b="1" i="1">
                            <a:latin typeface="Cambria Math" panose="02040503050406030204" pitchFamily="18" charset="0"/>
                          </a:rPr>
                          <m:t>𝒊𝒏𝒕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𝑠𝑡𝑘𝐼𝑛𝑡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𝑆𝑡𝑎𝑐𝑘</m:t>
                    </m:r>
                    <m:d>
                      <m:dPr>
                        <m:begChr m:val="⟨"/>
                        <m:endChr m:val="⟩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𝒅𝒐𝒖𝒃𝒍𝒆</m:t>
                        </m:r>
                      </m:e>
                    </m:d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𝑠𝑡𝑘𝐷𝑜𝑢𝑏𝑙𝑒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vi-VN"/>
                  <a:t> </a:t>
                </a:r>
                <a:endParaRPr lang="en-VN"/>
              </a:p>
              <a:p>
                <a:pPr marL="0" indent="0">
                  <a:buNone/>
                </a:pPr>
                <a:endParaRPr lang="en-VN" i="1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E7102B5-9B06-8B90-B86E-BA43A3745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183" y="1843043"/>
                <a:ext cx="5119868" cy="1038520"/>
              </a:xfrm>
              <a:prstGeom prst="rect">
                <a:avLst/>
              </a:prstGeom>
              <a:blipFill>
                <a:blip r:embed="rId3"/>
                <a:stretch>
                  <a:fillRect l="-494" t="-2381" b="-5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76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8EC0C-C0FF-10ED-BC52-7ABA5BAE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7D3B-C052-A1D1-9FDB-D726F3D7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Template (3/3)</a:t>
            </a:r>
            <a:br>
              <a:rPr lang="en-VN"/>
            </a:br>
            <a:r>
              <a:rPr lang="en-VN" sz="2400"/>
              <a:t>(Generic programming)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12B1-F160-6007-2347-BAB0D8C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7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6D3CCB-353A-5437-7250-9763AEA54E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1" y="1843043"/>
                <a:ext cx="4532452" cy="2150223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vi-VN" b="1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𝒕𝒆𝒎𝒑𝒍𝒂𝒕𝒆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𝒕𝒚𝒑𝒆𝒏𝒂𝒎𝒆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𝒊𝒏𝒕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𝑆𝐼𝑍𝐸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𝐴𝑟𝑟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{ 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VN" b="1" i="1">
                        <a:latin typeface="Cambria Math" panose="02040503050406030204" pitchFamily="18" charset="0"/>
                      </a:rPr>
                      <m:t>𝒑𝒓𝒊𝒗𝒂𝒕𝒆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vi-VN" i="1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b="0" i="1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𝑑𝑎𝑡𝑎</m:t>
                    </m:r>
                    <m:d>
                      <m:dPr>
                        <m:begChr m:val="["/>
                        <m:endChr m:val="]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𝑆𝐼𝑍𝐸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vi-VN"/>
                  <a:t> </a:t>
                </a:r>
                <a:endParaRPr lang="en-VN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6D3CCB-353A-5437-7250-9763AEA5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843043"/>
                <a:ext cx="4532452" cy="2150223"/>
              </a:xfrm>
              <a:prstGeom prst="rect">
                <a:avLst/>
              </a:prstGeom>
              <a:blipFill>
                <a:blip r:embed="rId2"/>
                <a:stretch>
                  <a:fillRect l="-112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4148486-FDF8-EED1-783B-D572877545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1" y="4479938"/>
                <a:ext cx="4532452" cy="1038520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𝐴𝑟𝑟</m:t>
                    </m:r>
                    <m:d>
                      <m:dPr>
                        <m:begChr m:val="⟨"/>
                        <m:endChr m:val="⟩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b="1" i="1">
                            <a:latin typeface="Cambria Math" panose="02040503050406030204" pitchFamily="18" charset="0"/>
                          </a:rPr>
                          <m:t>𝒊𝒏𝒕</m:t>
                        </m:r>
                        <m:r>
                          <a:rPr lang="vi-V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𝑎𝑟𝑟𝐼𝑛𝑡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 i="1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𝐴𝑟𝑟</m:t>
                    </m:r>
                    <m:d>
                      <m:dPr>
                        <m:begChr m:val="⟨"/>
                        <m:endChr m:val="⟩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𝒅𝒐𝒖𝒃𝒍𝒆</m:t>
                        </m:r>
                        <m:r>
                          <a:rPr lang="vi-V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𝑎𝑟𝑟𝐷𝑜𝑢𝑏𝑙𝑒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vi-VN" i="1"/>
                  <a:t> </a:t>
                </a:r>
                <a:endParaRPr lang="en-VN" i="1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4148486-FDF8-EED1-783B-D57287754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479938"/>
                <a:ext cx="4532452" cy="1038520"/>
              </a:xfrm>
              <a:prstGeom prst="rect">
                <a:avLst/>
              </a:prstGeom>
              <a:blipFill>
                <a:blip r:embed="rId3"/>
                <a:stretch>
                  <a:fillRect l="-840" t="-2410" b="-602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21DC9F9-75F5-3450-9395-29D91E296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9549" y="1843043"/>
                <a:ext cx="6574421" cy="2150223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8800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8800" b="1" i="1">
                        <a:latin typeface="Cambria Math" panose="02040503050406030204" pitchFamily="18" charset="0"/>
                      </a:rPr>
                      <m:t>𝒕𝒆𝒎𝒑𝒍𝒂𝒕𝒆</m:t>
                    </m:r>
                    <m:d>
                      <m:dPr>
                        <m:begChr m:val="⟨"/>
                        <m:endChr m:val="⟩"/>
                        <m:ctrlPr>
                          <a:rPr lang="en-VN" sz="8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VN" sz="8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8800" b="1" i="1">
                                <a:latin typeface="Cambria Math" panose="02040503050406030204" pitchFamily="18" charset="0"/>
                              </a:rPr>
                              <m:t>𝒕𝒆𝒎𝒑𝒍𝒂𝒕𝒆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VN" sz="8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8800" b="1" i="1">
                                    <a:latin typeface="Cambria Math" panose="02040503050406030204" pitchFamily="18" charset="0"/>
                                  </a:rPr>
                                  <m:t>𝒕𝒚𝒑𝒆𝒏𝒂𝒎𝒆</m:t>
                                </m:r>
                                <m:r>
                                  <a:rPr lang="en-US" sz="8800" b="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8800" b="1" i="1">
                                    <a:latin typeface="Cambria Math" panose="02040503050406030204" pitchFamily="18" charset="0"/>
                                  </a:rPr>
                                  <m:t>𝒕𝒚𝒑𝒆𝒏𝒂𝒎𝒆</m:t>
                                </m:r>
                              </m:e>
                            </m:d>
                            <m:r>
                              <a:rPr lang="vi-VN" sz="88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8800" b="1" i="1">
                                <a:latin typeface="Cambria Math" panose="02040503050406030204" pitchFamily="18" charset="0"/>
                              </a:rPr>
                              <m:t>𝒄𝒍𝒂𝒔𝒔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𝐶𝑜𝑛𝑡𝑎𝑖𝑛𝑒𝑟𝑇𝑦𝑝𝑒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8800" b="1" i="1">
                                <a:latin typeface="Cambria Math" panose="02040503050406030204" pitchFamily="18" charset="0"/>
                              </a:rPr>
                              <m:t>𝒕𝒚𝒑𝒆𝒏𝒂𝒎𝒆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88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eqArr>
                      </m:e>
                    </m:d>
                  </m:oMath>
                </a14:m>
                <a:r>
                  <a:rPr lang="vi-VN" sz="8800" i="1"/>
                  <a:t> </a:t>
                </a:r>
                <a:endParaRPr lang="en-VN" sz="8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88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𝑊𝑟𝑎𝑝𝑝𝑒𝑟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 {    </m:t>
                    </m:r>
                  </m:oMath>
                </a14:m>
                <a:r>
                  <a:rPr lang="en-US" sz="8800" i="1"/>
                  <a:t> </a:t>
                </a:r>
                <a:endParaRPr lang="en-VN" sz="8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8800" b="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𝐶𝑜𝑛𝑡𝑎𝑖𝑛𝑒𝑟𝑇𝑦𝑝𝑒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8800" b="1" i="1">
                        <a:latin typeface="Cambria Math" panose="02040503050406030204" pitchFamily="18" charset="0"/>
                      </a:rPr>
                      <m:t>𝒂𝒍𝒍𝒐𝒄𝒂𝒕𝒐𝒓</m:t>
                    </m:r>
                    <m:d>
                      <m:dPr>
                        <m:begChr m:val="⟨"/>
                        <m:endChr m:val="⟩"/>
                        <m:ctrlPr>
                          <a:rPr lang="en-VN" sz="8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88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vi-VN" sz="8800" b="0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sz="8800" b="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vi-VN" sz="8800" i="1"/>
                  <a:t> </a:t>
                </a:r>
                <a:endParaRPr lang="en-VN" sz="8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8800" b="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vi-VN" sz="8800" i="1"/>
                  <a:t> </a:t>
                </a:r>
                <a:endParaRPr lang="en-VN" sz="8800"/>
              </a:p>
              <a:p>
                <a:pPr marL="0" indent="0">
                  <a:buNone/>
                </a:pPr>
                <a:endParaRPr lang="en-VN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21DC9F9-75F5-3450-9395-29D91E296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549" y="1843043"/>
                <a:ext cx="6574421" cy="2150223"/>
              </a:xfrm>
              <a:prstGeom prst="rect">
                <a:avLst/>
              </a:prstGeom>
              <a:blipFill>
                <a:blip r:embed="rId4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728D4FB6-48C1-A7CA-F97E-F71CF9A885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82887" y="5026080"/>
                <a:ext cx="4532452" cy="495044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𝑊𝑟𝑎𝑝𝑝𝑒𝑟</m:t>
                    </m:r>
                    <m:d>
                      <m:dPr>
                        <m:begChr m:val="⟨"/>
                        <m:endChr m:val="⟩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𝑣𝑒𝑐𝑡𝑜𝑟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728D4FB6-48C1-A7CA-F97E-F71CF9A88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887" y="5026080"/>
                <a:ext cx="4532452" cy="495044"/>
              </a:xfrm>
              <a:prstGeom prst="rect">
                <a:avLst/>
              </a:prstGeom>
              <a:blipFill>
                <a:blip r:embed="rId5"/>
                <a:stretch>
                  <a:fillRect l="-1676" t="-5000" b="-2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B39DE9F6-53B2-E4C9-A49C-5604712E663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96919" y="3467074"/>
            <a:ext cx="2239248" cy="868097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5634D67B-6DD3-57AD-75C1-9CCCBF3B8699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8082250" y="3559217"/>
            <a:ext cx="2239248" cy="694478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9A7831-A5E1-41BB-01CE-4ACB15DA03E7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3104427" y="3993266"/>
            <a:ext cx="0" cy="486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3733FF6-A17D-BCB2-75BA-4C70104E39B9}"/>
              </a:ext>
            </a:extLst>
          </p:cNvPr>
          <p:cNvSpPr txBox="1"/>
          <p:nvPr/>
        </p:nvSpPr>
        <p:spPr>
          <a:xfrm>
            <a:off x="1967697" y="5518458"/>
            <a:ext cx="245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Note-type parameter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4B8F93-2748-167D-7746-40D9A6B71D0E}"/>
              </a:ext>
            </a:extLst>
          </p:cNvPr>
          <p:cNvSpPr txBox="1"/>
          <p:nvPr/>
        </p:nvSpPr>
        <p:spPr>
          <a:xfrm>
            <a:off x="8379830" y="5539847"/>
            <a:ext cx="320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Template template parameter</a:t>
            </a:r>
            <a:endParaRPr lang="en-VN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601DE9-89D9-9B47-1898-02DFF5359030}"/>
              </a:ext>
            </a:extLst>
          </p:cNvPr>
          <p:cNvSpPr txBox="1"/>
          <p:nvPr/>
        </p:nvSpPr>
        <p:spPr>
          <a:xfrm>
            <a:off x="919223" y="6374978"/>
            <a:ext cx="828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Other definitions: concepts, template metaprogramming, variadic template, …</a:t>
            </a:r>
            <a:endParaRPr lang="en-V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82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7E25-7AC8-7374-CD5F-153C2369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1920-B7FB-B8A5-D1C2-6FFCD9AF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Design pattern</a:t>
            </a:r>
            <a:endParaRPr lang="en-VN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E2F89-B4C0-D6EE-5680-AEB44447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8</a:t>
            </a:fld>
            <a:endParaRPr lang="en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B4EBDA-5A4A-5FAE-8100-FE648E1FF439}"/>
              </a:ext>
            </a:extLst>
          </p:cNvPr>
          <p:cNvSpPr txBox="1">
            <a:spLocks/>
          </p:cNvSpPr>
          <p:nvPr/>
        </p:nvSpPr>
        <p:spPr>
          <a:xfrm>
            <a:off x="838201" y="1843043"/>
            <a:ext cx="3363409" cy="351603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Creational Patterns</a:t>
            </a:r>
          </a:p>
          <a:p>
            <a:pPr>
              <a:buFontTx/>
              <a:buChar char="-"/>
            </a:pPr>
            <a:r>
              <a:rPr lang="en-US"/>
              <a:t>Singleton</a:t>
            </a:r>
          </a:p>
          <a:p>
            <a:pPr>
              <a:buFontTx/>
              <a:buChar char="-"/>
            </a:pPr>
            <a:r>
              <a:rPr lang="en-US"/>
              <a:t>Factory Method</a:t>
            </a:r>
          </a:p>
          <a:p>
            <a:pPr>
              <a:buFontTx/>
              <a:buChar char="-"/>
            </a:pPr>
            <a:r>
              <a:rPr lang="en-US"/>
              <a:t>Abstract Factory</a:t>
            </a:r>
          </a:p>
          <a:p>
            <a:pPr>
              <a:buFontTx/>
              <a:buChar char="-"/>
            </a:pPr>
            <a:r>
              <a:rPr lang="en-US"/>
              <a:t>Builder</a:t>
            </a:r>
          </a:p>
          <a:p>
            <a:pPr>
              <a:buFontTx/>
              <a:buChar char="-"/>
            </a:pPr>
            <a:r>
              <a:rPr lang="en-US"/>
              <a:t>Prototype</a:t>
            </a:r>
            <a:endParaRPr lang="en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524609-5215-A173-5DF1-CF6A562041D2}"/>
              </a:ext>
            </a:extLst>
          </p:cNvPr>
          <p:cNvSpPr txBox="1">
            <a:spLocks/>
          </p:cNvSpPr>
          <p:nvPr/>
        </p:nvSpPr>
        <p:spPr>
          <a:xfrm>
            <a:off x="4414295" y="1843042"/>
            <a:ext cx="3363409" cy="3516036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Structural Patterns</a:t>
            </a:r>
          </a:p>
          <a:p>
            <a:pPr>
              <a:buFontTx/>
              <a:buChar char="-"/>
            </a:pPr>
            <a:r>
              <a:rPr lang="en-US"/>
              <a:t>Composite</a:t>
            </a:r>
          </a:p>
          <a:p>
            <a:pPr>
              <a:buFontTx/>
              <a:buChar char="-"/>
            </a:pPr>
            <a:r>
              <a:rPr lang="en-US"/>
              <a:t>Decorator</a:t>
            </a:r>
          </a:p>
          <a:p>
            <a:pPr>
              <a:buFontTx/>
              <a:buChar char="-"/>
            </a:pPr>
            <a:r>
              <a:rPr lang="en-US"/>
              <a:t>Facade</a:t>
            </a:r>
          </a:p>
          <a:p>
            <a:pPr>
              <a:buFontTx/>
              <a:buChar char="-"/>
            </a:pPr>
            <a:r>
              <a:rPr lang="en-US"/>
              <a:t>Flyweight</a:t>
            </a:r>
          </a:p>
          <a:p>
            <a:pPr>
              <a:buFontTx/>
              <a:buChar char="-"/>
            </a:pPr>
            <a:r>
              <a:rPr lang="en-US"/>
              <a:t>Proxy</a:t>
            </a:r>
          </a:p>
          <a:p>
            <a:pPr>
              <a:buFontTx/>
              <a:buChar char="-"/>
            </a:pPr>
            <a:endParaRPr lang="en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8CF42E-B01F-4935-E8A7-44BF2DE7150E}"/>
              </a:ext>
            </a:extLst>
          </p:cNvPr>
          <p:cNvSpPr txBox="1">
            <a:spLocks/>
          </p:cNvSpPr>
          <p:nvPr/>
        </p:nvSpPr>
        <p:spPr>
          <a:xfrm>
            <a:off x="7990390" y="1808301"/>
            <a:ext cx="3363409" cy="355077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Behavioral Patterns</a:t>
            </a:r>
          </a:p>
          <a:p>
            <a:pPr marL="0" indent="0">
              <a:buNone/>
            </a:pPr>
            <a:r>
              <a:rPr lang="en-US"/>
              <a:t>- Chain of responsibility</a:t>
            </a:r>
          </a:p>
          <a:p>
            <a:pPr>
              <a:buFontTx/>
              <a:buChar char="-"/>
            </a:pPr>
            <a:r>
              <a:rPr lang="en-US"/>
              <a:t>Command</a:t>
            </a:r>
          </a:p>
          <a:p>
            <a:pPr>
              <a:buFontTx/>
              <a:buChar char="-"/>
            </a:pPr>
            <a:r>
              <a:rPr lang="en-US"/>
              <a:t>Iterator</a:t>
            </a:r>
          </a:p>
          <a:p>
            <a:pPr>
              <a:buFontTx/>
              <a:buChar char="-"/>
            </a:pPr>
            <a:r>
              <a:rPr lang="en-US"/>
              <a:t>Mementor</a:t>
            </a:r>
          </a:p>
          <a:p>
            <a:pPr>
              <a:buFontTx/>
              <a:buChar char="-"/>
            </a:pPr>
            <a:endParaRPr lang="en-V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DAA37B-41F5-4566-5D11-A6C445295CF0}"/>
              </a:ext>
            </a:extLst>
          </p:cNvPr>
          <p:cNvSpPr txBox="1">
            <a:spLocks/>
          </p:cNvSpPr>
          <p:nvPr/>
        </p:nvSpPr>
        <p:spPr>
          <a:xfrm>
            <a:off x="838200" y="5511432"/>
            <a:ext cx="6488575" cy="981443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b="1"/>
              <a:t>Dependence injection</a:t>
            </a:r>
          </a:p>
          <a:p>
            <a:pPr>
              <a:buFontTx/>
              <a:buChar char="-"/>
            </a:pPr>
            <a:r>
              <a:rPr lang="en-US"/>
              <a:t>Repository Pattern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20028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18546-A35D-0AAC-FCB8-7442DC6D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9</a:t>
            </a:fld>
            <a:endParaRPr lang="en-VN"/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99BDCF1E-ABC8-E6A0-8EA2-55119C294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" y="0"/>
            <a:ext cx="6184900" cy="4493478"/>
          </a:xfrm>
          <a:prstGeom prst="rect">
            <a:avLst/>
          </a:prstGeom>
        </p:spPr>
      </p:pic>
      <p:pic>
        <p:nvPicPr>
          <p:cNvPr id="8" name="Picture 7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62A23E21-BC69-1393-E79F-DC0D34564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0"/>
          <a:stretch>
            <a:fillRect/>
          </a:stretch>
        </p:blipFill>
        <p:spPr>
          <a:xfrm>
            <a:off x="6134100" y="-1"/>
            <a:ext cx="6057900" cy="59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0F8F-400D-6655-6836-84D01E24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B98DB-9511-DF0C-E012-CD58779E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10</a:t>
            </a:fld>
            <a:endParaRPr lang="en-VN"/>
          </a:p>
        </p:txBody>
      </p:sp>
      <p:pic>
        <p:nvPicPr>
          <p:cNvPr id="8" name="Picture 7" descr="A screenshot of a test&#10;&#10;AI-generated content may be incorrect.">
            <a:extLst>
              <a:ext uri="{FF2B5EF4-FFF2-40B4-BE49-F238E27FC236}">
                <a16:creationId xmlns:a16="http://schemas.microsoft.com/office/drawing/2014/main" id="{81907084-A570-E6A9-9353-792689A8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742" y="0"/>
            <a:ext cx="6589354" cy="6356350"/>
          </a:xfrm>
          <a:prstGeom prst="rect">
            <a:avLst/>
          </a:prstGeom>
        </p:spPr>
      </p:pic>
      <p:pic>
        <p:nvPicPr>
          <p:cNvPr id="6" name="Content Placeholder 5" descr="A screenshot of a paper&#10;&#10;AI-generated content may be incorrect.">
            <a:extLst>
              <a:ext uri="{FF2B5EF4-FFF2-40B4-BE49-F238E27FC236}">
                <a16:creationId xmlns:a16="http://schemas.microsoft.com/office/drawing/2014/main" id="{DF2419E2-032D-8E3C-D224-80EE54C69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291"/>
          <a:stretch>
            <a:fillRect/>
          </a:stretch>
        </p:blipFill>
        <p:spPr>
          <a:xfrm>
            <a:off x="1" y="0"/>
            <a:ext cx="58547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4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29416</TotalTime>
  <Words>538</Words>
  <Application>Microsoft Macintosh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Problems in OOP</vt:lpstr>
      <vt:lpstr>Overload operator (1/3)</vt:lpstr>
      <vt:lpstr>Overload operator (2/3)</vt:lpstr>
      <vt:lpstr>Overload operator (3/3)</vt:lpstr>
      <vt:lpstr>Template (1/3) (Generic programming)</vt:lpstr>
      <vt:lpstr>Template (2/3) (Generic programming)</vt:lpstr>
      <vt:lpstr>Template (3/3) (Generic programming)</vt:lpstr>
      <vt:lpstr>Design pattern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Tuan Hai Vu</cp:lastModifiedBy>
  <cp:revision>48</cp:revision>
  <dcterms:created xsi:type="dcterms:W3CDTF">2025-10-12T07:14:27Z</dcterms:created>
  <dcterms:modified xsi:type="dcterms:W3CDTF">2026-05-28T12:51:09Z</dcterms:modified>
</cp:coreProperties>
</file>