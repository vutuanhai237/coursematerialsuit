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1027" r:id="rId3"/>
    <p:sldId id="1028" r:id="rId4"/>
    <p:sldId id="1035" r:id="rId5"/>
    <p:sldId id="1029" r:id="rId6"/>
    <p:sldId id="1030" r:id="rId7"/>
    <p:sldId id="1031" r:id="rId8"/>
    <p:sldId id="1032" r:id="rId9"/>
    <p:sldId id="1033" r:id="rId10"/>
    <p:sldId id="1034" r:id="rId11"/>
    <p:sldId id="1036" r:id="rId12"/>
    <p:sldId id="1037" r:id="rId13"/>
  </p:sldIdLst>
  <p:sldSz cx="12192000" cy="6858000"/>
  <p:notesSz cx="6858000" cy="9144000"/>
  <p:defaultTextStyle>
    <a:defPPr>
      <a:defRPr lang="en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/>
    <p:restoredTop sz="94490"/>
  </p:normalViewPr>
  <p:slideViewPr>
    <p:cSldViewPr snapToGrid="0">
      <p:cViewPr varScale="1">
        <p:scale>
          <a:sx n="78" d="100"/>
          <a:sy n="78" d="100"/>
        </p:scale>
        <p:origin x="15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0:43:01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18627 8388 24575,'45'0'0,"1"0"0,1 0 0,0 0 0,0 0 0,0 0 0,4 0 0,1 0 0,-5 1 0,0-2 0,-1-11 0,2 0 0,9 10 0,1-2 0,-4-14 0,0 1 0,0 14 0,1 3 0,9-6 0,-1 0 0,-20 6 0,-1 0 0,9 0 0,1 0 0,0 0 0,-1 0 0,-9 0 0,1 0 0,9 0 0,-1 0 0,-11 0 0,-1 0 0,1 0 0,0 0 0,-1 0 0,1 0 0,-1 0 0,1 0 0,5 0 0,1 0 0,1 0 0,1 0 0,-2 0 0,2 0 0,8 0 0,2 0 0,2 0 0,1 0 0,5 0 0,3 0 0,-18 0 0,1 0 0,1 0-159,0 0 1,-1 0 0,2 0 158,-1 0 0,1-1 0,0 2 0,3 3 0,0 0 0,0 0 0,0-3 0,1 0 0,-3 0 0,14 4 0,0 2 0,-7 0 0,3 2 0,-3-2 0,8-4 0,1 0 0,-8 5 0,3 1 0,-1-2 0,-7-6 0,-1-2 0,1 1 0,4 3 0,0 2 0,-1-2 0,-2-2 0,-2-2 0,1 4 0,-1 8 0,-1 3 0,1-3 0,4-9 0,0-3 0,0 5 0,-6 10 0,-1 5 0,1-4 0,9-8 0,2-2 0,-2 0 0,-9 3 0,-1 1 0,-1 1 0,1 1 0,-1 2 0,-1-2 0,15-2 0,-2 0 0,1 4 0,-3 0 0,-14-6 0,-1-2 0,4-4 0,-1-2 0,-11 1 0,0 0 0,5 0 0,1 0 0,-5 0 0,0 0 237,6 0 1,-3 0-238,12 0 0,-13 0 0,-1 0 0,17 0 0,9 0 0,-19-6 0,-1 0 0,13 3 0,-10-14 0,1-1 0,-10 16 0,-4-2 0,6-31 0,15 32 0,-53-9 0,17 12 0</inkml:trace>
  <inkml:trace contextRef="#ctx0" brushRef="#br0" timeOffset="2585">18891 12356 24575,'38'0'0,"3"0"0,7 0 0,0 0 0,6-1 0,2 2-878,-2 3 0,3 2 0,2 1 0,1 0 878,8 0 0,2 0 0,1 1 0,-1-1 0,-3 1 0,1-1 0,-2 1 0,1-1 0,-4-1 0,1 1 0,-2-1 0,-2-2 42,9-2 1,-3-3-1,-1 0-42,-3 1 0,0 0 0,-3 0 275,15 0 1,-1 0-276,-1 0 0,0 0 0,-12 0 0,0 0 0,6 2 0,-2-4 0,-15-8 0,-1-3 0,3-2 0,0 0 870,-4 0 0,-2 1-870,-4 1 0,0 2 410,4 4 0,1 3-410,-6 2 0,-1 1 274,29-11-274,-30 11 0,0 2 0,30-1 0,-29 0 0,1 0 0,-1 0 0,2 0 0,10 0 0,1 0 0,-4-1 0,1 2 0,15 3 0,1 4 0,-5 5 0,1 0 0,5-5 0,0 2 0,-6 14 0,0-1 0,5-19 0,0-2 0,1 16 0,0-1 0,1-14 0,1-3 0,5 6 0,-2 0 0,-15-7 0,-3 2 0,0 10 0,-3 1 0,-10-9 0,-1 0 0,1 9 0,0 0 0,0-11 0,-1-2 0,29 1 0,-30 5 0,0 1 0,18-3 0,-17 3 0,-2 0 0,8-6 0,-4 11 0,3 2 0,15-8 0,-14 8 0,1-2 0,10-11 0,5 0 0,-31 0 0,20 0 0,-33 0-1696,30 0 0,-41 0 0,18 0 0</inkml:trace>
  <inkml:trace contextRef="#ctx0" brushRef="#br0" timeOffset="5121">18812 16563 24575,'38'0'0,"27"0"0,-20-11 0,4-1 0,9 8 0,4 2 0,-8-6 0,4-1 0,-2 2-321,-5 6 1,-1 2-1,2-1 321,8-3 0,1-2 0,0 2 0,-3 1 0,-2 2 0,1-1 0,-3-3 0,-1-1 0,1 2 0,3 2 0,1 1 0,-2 1 111,19 0 1,-3-2-112,-6-11 0,0 0 0,-1 10 0,-1-2 0,-3-8 0,-1 1 0,6 9 0,0 4 0,-11-2 0,-1 0 0,-2 0 0,-1 0 0,-11 0 0,-1 0 0,1 0 0,0 0 362,-1 0 1,1 0-363,11 0 0,1 0 7,-10 0 0,1 0-7,19 0 0,3 0 0,-10-1 0,-2 2 0,2 10 0,-1 1 0,4-3 0,-1 0 0,-4 3 0,0 3 0,-5 3 0,1-1 0,13-8 0,2-1 0,-9 6 0,-1-1 0,5-5 0,2-4 0,-10-3 0,1-2 0,-2 1 0,8 0 0,-1 0 0,-7 0 0,2 0 0,-1 0 0,15 0 0,0 0 0,1 0 0,1 0 0,-17 0 0,2 0 0,-1 0-159,1 0 1,0 0 0,0 0 158,0 0 0,1 0 0,1 0 0,2 0 0,0 0 0,-1 0 0,18 0 0,-1 0 0,0 0 0,-2 0 0,-9 0 0,-3 0 0,-6 0 0,-1 0-1326,8 0 1,-5 0 0,-5 0 0,9 0-1</inkml:trace>
  <inkml:trace contextRef="#ctx0" brushRef="#br0" timeOffset="40158">2249 5689 24575,'-46'19'0,"1"0"0,2 6 0,4 3 0,4 0 0,2 0 0,-5-2 0,2 1 0,-8 23 0,-20-21 0,34-2 0,7 8 0,23-6 0,-12 12 0,9 9 0,-9 3 0,12-9 0,0 18 0,0-21 0,0 0 0,0 21 0,0-18 0,0-6 0,0 1 0,0 28 0,0 1 0,5-30 0,2 0 0,6 8 0,0 0 0,-4-4 0,0 1 0,15 13 0,-1 2 0,-14 7 0,0 0 0,15-8 0,2 0 0,-15-7 0,-4 3 0,4-3 0,15 12 0,-2-3 0,-14 1 0,-2 0 0,10 0 0,-1-2 0,-14-10 0,-3-2 0,6 1 0,0-3 0,-6 12 0,0 6 0,0-21 0,0 0 0,0-14 0,0-16 0,-12 13 0,-14-18 0,-4 17 0,-20-23 0,-3 0 0,-3 0 0,3-23 0,3 17 0,21-18 0,-21 24 0,32 0 0,-17-11 0,32 8 0,-8-9 0,11 12 0,11 0 0,-8 0 0,32 0 0,7 0 0,2-24 0,17 18 0,-19-17 0,-1 23 0,9 23 0,-33-17 0,19 30 0,-33 2 0,8 18 0,-9-7 0,-4 5 0,2 0 0,0 0 0,0 0 0,0 1 0,0 9 0,0-1 0,0-21 0,0 1 0,0 20 0,0 0 0,0-19 0,0-3 0,0 0 0,0-2 0,0 34 0,0-29 0,0 21 0,0-24 0,0 9 0,0-32 0,0 17 0,0-8 0,0-10 0,0 19 0,0-10 0,0-8 0,0 17 0,24-9 0,-18 16 0,17-1 0,-23-15 0,12 9 0,-9-29 0,32 18 0,-29-24 0,18 12 0,-1-9 0,-17 8 0,29-11 0,-32 0 0,33 0 0,-31 0 0,19 0 0,-12 0 0,-9 0 0,32 0 0,-29 0 0,29 0 0,-32 0 0,9 0 0,11 0 0,-17 0 0,41 0 0,-41 0 0,18 0 0,-13 0 0,-8 0 0,9 0 0,-12 0 0,0 0 0,0 0 0</inkml:trace>
  <inkml:trace contextRef="#ctx0" brushRef="#br0" timeOffset="50388">23416 6694 24575,'-24'-53'0,"6"15"0,-5 0 0,-9 3 0,-4-1 0,-2-15 0,-3-1 0,-9 9 0,-3 4 0,0 5 0,-3 1 0,-3-7 0,-2 6 0,-4 23 0,0 1 0,5-20 0,0 2 0,5 23 0,1 4 0,2-11 0,1 0 0,11 11 0,1 2 0,-29-1 0,15 0 0,-8 0 0,16 0 0,8 0 0,-2 0 0,-29 0 0,30 12 0,-3 0 0,-10-10 0,-1 2 0,10 13 0,-1 1 0,-19-16 0,-3-1 0,11 16 0,0 1 0,-6-8 0,-1-2 0,1 4 0,3 2 0,9 5 0,2-2 0,-1-15 0,2 1 0,6 14 0,-1 2 0,-11-5 0,-1-2 0,9-4 0,1 2 0,-10 14 0,1-1 0,-17-17 0,30 10 0,0 3 0,-30 7 0,29-17 0,-1 0 0,0 10 0,1-3 0,-1-13 0,0-3 0,-27 12 0,27 0 0,3 0 0,-7-7 0,2 7 0,-1 0 0,-16 0 0,13-11 0,1 1 0,-11 9 0,12 2 0,3-2 0,5-5 0,-6 6 0,-1-1 0,-1-11 0,6 0 0,0 0 0,-18 0 0,3 24 0,3-18 0,21 17 0,-21-23 0,-3 0 0,-3 12 0,3-9 0,3 9 0,20-12 0,4 0 0,-9 23 0,17-17 0,-32 29 0,32-32 0,-29 9 0,30 12 0,-33-7 0,20 10 0,-20 8 0,33-29 0,-18 41 0,8-41 0,-14 29 0,0-32 0,-9 32 0,20-17 0,4 8 0,-9 10 0,29-19 0,-30 10 0,34 8 0,-10-29 0,-12 41 0,18-41 0,-17 17 0,23-11 0,0-9 0,0 32 0,0-29 0,0 30 0,0-34 0,23 10 0,-5 12 0,8-7 0,10 45 0,-19-18 0,7-11 0,2-1 0,4 9 0,20-15 0,-9 10 0,0-19 0,9 10 0,3 8 0,-9-29 0,-2 5 0,1 2 0,16-2 0,9-8 0,5 9 0,-29 12 0,21-19 0,0 19 0,-21-24 0,18 0 0,-33 0 0,44 0 0,-37 0 0,5 0 0,3 0 0,12 0 0,11 0 0,-28-11 0,-1-2 0,29 8 0,-28-7 0,2 0 0,5 5 0,-1 2 0,14 2 0,-16-1 0,-1-3 0,14-17 0,11 18 0,-28-6 0,-1 1 0,30 11 0,-1-12 0,-29 10 0,1 1 0,28-11 0,1 12 0,-30 0 0,0 0 0,30 0 0,-12 0 0,-12 0 0,-3 0 0,-6 0 0,39 0 0,-45 0 0,33 0 0,-18 0 0,21 0 0,-24 0 0,9 0 0,-21 0 0,21 0 0,-20 0 0,20 0 0,-9 0 0,0 0 0,-15 0 0,10 0 0,-19 0 0,33 0 0,-32 0 0,17 12 0,-8-9 0,14 9 0,0-12 0,21 0 0,-18 0 0,9 0 0,-3 0 0,-9 23 0,0-17 0,9 18 0,-21-24 0,21 0 0,-20 0 0,31 0 0,-16 0 0,19 0 0,1 0 0,3 0 0,-13 0 0,-11 0 0,-2 0 0,-7 0 0,7 0 0,1 0 0,1 0 0,9 0 0,-3 0 0,-9 0 0,0 0 0,9 0 0,-32 0 0,17 0 0,-8 0 0,2 0 0,21 0 0,-9 0 0,-11 0 0,29 0 0,-39 0 0,42 0 0,-9 0 0,3 0 0,-18 0 0,0 0 0,6 0 0,-6 0 0,-2 0 0,-30 0 0,29 0 0,-32 0 0,9-24 0,-12 18 0,0-17 0,0 23 0,23 0 0,-17-12 0,17 9 0,-23-9 0,0 12 0,0 0 0,24-23 0,-18 17 0,17-18 0,-23 24 0,0-12 0,0 10 0,0-34 0,12 30 0,-9-41 0,9 41 0,-12-17 0,0 11 0,0 9 0,0-32 0,0 29 0,0-29 0,0 32 0,0-9 0,0-11 0,0 17 0,0-30 0,0 34 0,0-10 0,0-12 0,0 18 0,0-29 0,0 32 0,-12-9 0,9-11 0,-9 17 0,12-41 0,-23 41 0,17-29 0,-41 32 0,29-32 0,-8 29 0,-9-18 0,29 12 0,-30 9 0,33-8 0,-8-13 0,11 18 0,-24-29 0,18 32 0,-17-9 0,23-11 0,0 17 0,0-18 0,0 24 0,0-23 0,0 17 0,0-17 0,0 11 0,0 9 0,0-9 0,0-11 0,0 17 0,0-18 0,0 12 0,0 9 0,0-8 0,0-13 0,0 18 0,0-17 0,0 11 0,0 9 0,0-9 0,0 12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0:49:47.8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13335 5821 24575,'-53'-23'0,"15"10"0,0-4 0,3-14 0,-1-2 0,-20 10 0,-3 1 0,6-13 0,-2-3 0,8 14 0,-2 2 0,1 0 0,-20-6 0,0-2 0,17 2 0,-1-2 0,0 2 0,2 9 0,1 2 0,1-3 0,-2-5 0,1-2 0,1 0 0,-1 4 0,1 1 0,1-1 0,1-2 0,2-1 0,1 1 0,-11-4 0,-1 2 0,-2 0 0,0 1 0,4 0 0,0 2 0,5 8 0,-1 3 0,-15 0 0,2-1 0,19-4 0,0 1 0,-20 13 0,0 2 0,20-9 0,1-1 0,-9-1 0,-1 2 0,0 9 0,1-2 0,4-12 0,-3-3 0,1 9 0,-3 1 0,0 2 0,-17-2 0,0 0-273,13-2 1,-1-2-1,-1 2 273,-2 1 0,-2 2 0,2-1 0,5 0 0,1 0 0,-2-2 0,-8-5 0,-2-1 0,2 0 0,10 2 0,0 1 0,1 2 0,-4 1 0,0 2 0,0-1 0,4-1 0,0-2 0,0 2-94,-20-3 0,-1 2 94,2 3 0,0 0 0,5-10 0,2 3 0,10 15 0,1-1 0,2-16 0,1 0 0,11 16 0,1-1 0,-1-15 0,1 0 405,-1 16 0,0 1-405,-27-10 98,28-2 0,1 2-98,-29 5 0,33-17 0,0-1 0,-3 14 0,-2 3 0,-5-7 0,-4 1 0,-15 5 0,-6 4 0,13 3 0,-2 2 0,-1-1-362,1 0 1,0 0 0,-3 0 361,5 0 0,-3 0 0,1 0 0,2 0 0,-2 0 0,3 0 0,-3 0 0,3 0 0,-3-1 0,-1 1 0,2 1 0,-7 3 0,3 0 0,-2 0 0,-7-3 0,-1 0 0,0 0 0,1 3 0,-1 0 0,1 0 0,3-3 0,0-2 0,1 1 0,0-1 0,1 0 0,-1 3 0,-4 4 0,0 4 0,1-3 0,9-5 0,1-2 0,-1 4 0,-9 10 0,-1 5 0,3-5 0,12-10 0,2-4 0,-1 2-116,-3 5 0,0 2 0,1-1 116,-19-3 0,3 1 0,11 7 0,1 1 0,-4-5 0,2-1 0,13 5 0,1-2 0,-16-9 0,-2-4 0,7 2 0,-2 0 0,-10 0 0,-2 0 0,0 0 0,-1 0 0,0-1 0,1 2 0,0 5 0,2 0 0,4-5 0,2 1 532,3 2 1,3 3-533,5 6 0,2-2 183,6-9 1,1 2-184,-1 14 0,1-1 0,4-15 0,0-1 0,-5 15 0,1 3 0,4-4 0,2 0 0,-1-1 0,1 1 0,-1 3 0,0-1 0,1-3 0,-1-1 0,-7 0 0,3 3 0,14 9 0,1 0 0,-14-10 0,1 0 0,-14 35 0,12-29 0,-3-1 0,6 0 0,0 1 0,-6 4 0,2 0 0,-10 4 0,23-4 0,2 0 0,-11 5 0,-1 20 0,-8-9 0,21 0 0,3 9 0,14-21 0,-12 21 0,18-20 0,-17 20 0,23-21 0,0 45 0,0-39 0,0 6 0,0 3 0,0 12 0,0-12 0,0 3 0,0-6 0,0 0 0,0 5 0,0 0 0,0-7 0,0 1 0,0 12 0,0-1 0,0 11 0,11-13 0,1-1 0,-6-4 0,30 20 0,-33-23 0,32 21 0,-18-41 0,10 38 0,-15-42 0,11 10 0,-17-16 0,18 13 0,-24-18 0,23 41 0,-17-29 0,29 32 0,-32-21 0,33 33 0,-19 5 0,-4-26 0,1 1 0,4 3 0,-1 1 0,-8-6 0,0-1 0,17 29 0,-7-29 0,-3-2 0,-10 7 0,18-7 0,-1 0 0,-17 7 0,18 9 0,-13 20 0,-8-37 0,9 37 0,-12-55 0,0 17 0,0-9 0,0 4 0,0-4 0,0 10 0,0-31 0,0 42 0,0-29 0,0 9 0,0 8 0,0-29 0,0 17 0,0-23 0,0 12 0,0-9 0,0 9 0,0 11 0,0-17 0,-12 18 0,9-13 0,-8-8 0,11 33 0,0-31 0,0 42 0,0-41 0,0 30 0,-24-33 0,18 32 0,-17-29 0,23 17 0,0-23 0,0 12 0,0-9 0,0 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0:58:48.451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18759 12198 24575,'-41'0'0,"-15"-3"0,-9-6 0,13-7 0,-2-6 0,-4-2-1349,-4 2 1,-4-1 0,-4-1 0,0-4 1348,15 5 0,-1-3 0,-1 0 0,-1-2 0,0 0 0,1 0-389,-1 0 0,0 0 0,1-1 0,-2 0 0,1 0 0,-2-1 389,-4-2 0,-1-1 0,-1 0 0,0-1 0,-1 1 0,1 1 0,0 0 0,1 0 0,-1 1 0,0 0 0,-1 0 0,0 0 0,9 4 0,-1 0 0,1 0 0,-1 0 0,0 1 0,0 0 0,0 1 0,-8-4 0,1 2 0,-1 0 0,0 0 0,1 2 0,-1 1 0,1 2 0,0 1 0,0 1 0,0 0 0,1 1 0,0 0-84,-8-2 0,1-1 0,0 2 0,1 0 0,0 0 84,4 3 0,0 1 0,1 1 0,0 0 0,0-1 0,3 0 0,-1 0 0,1 0 0,1 0 0,0 1-303,-12-3 1,1 0 0,0 1 0,2 2 302,3 3 0,1 2 0,1 0 0,-1 1 0,1-1 0,1 0 0,0 1 0,0 3 0,1 3 0,2 3 0,-1 0 0,2 0 263,3-3 1,0 0-1,1-1 1,0 2-264,-18 1 0,0 1 0,2 1 0,6-1 0,1 0 0,2 0 806,5 0 0,1 0 0,1 0-806,3 0 0,1 0 0,2 0 1197,-11 0 1,3 0-1198,6 0 0,3 0 923,10 0 0,1 0-923,-29 0 1211,15 0-1211,27 0 432,-9 0-432,-7 0 0,-15 0 0,-12 0 0,19 0 0,-2 0 0,-11 0-687,5 0 1,-10 0 0,-7 0 0,-4 0 0,0 0-1,2 0 1,5 0 686,3 0 0,4 0 0,1 0 0,-1 0 0,-2 0 0,-6 0 0,11 0 0,-3 0 0,-4 0 0,-1 0 0,-2 0 0,0 0 0,0 0 0,2 0 0,2 0 0,3 0 0,-10 0 0,3 0 0,1 0 0,1 0 0,1 0 0,0 0 0,-2 0 0,-1 0 0,0 0 0,0 0 0,-1 0 0,1 0 0,0 0 0,0 0 0,0 0 0,0 0 0,0-1 0,0 1 0,1 0 0,1 0 0,2 1-428,-4 0 1,2 0 0,0 1 0,1 0 0,1 1 0,-1 0 427,3 0 0,-1 2 0,0-1 0,2 1 0,0 0 0,1-1-269,-4 0 0,1-1 1,1-1-1,1 2 0,2 1 269,-6 2 0,2 3 0,1-1 0,1 0-166,1-2 1,1-2 0,1 1-1,4 3 166,-4 3 0,4 3 0,1-1 1128,4-4 1,0-1 0,4 1-1129,-12 8 0,4-1 1416,3-5 0,2 3-1416,5 10 0,0 3 989,-5-7 1,1 2-990,4 7 0,0 2 575,-1-6 1,2 0-576,5 2 0,3 0 12,4-2 1,3 1-13,-10 23 0,-9 3 0,20 3 0,-20-3 0,-3-3 0,20-23 0,-1-1 0,0-5 0,0 2 0,-4 20 0,0-1 0,4-24 0,0-1 0,-5 21 0,-1-2 0,0-20 0,0-3 0,2 12 0,-3 0 0,-10-11 0,-1 2 0,10 14 0,-1 1 0,-20-9 0,0 1 0,19 9 0,2 0 0,-5-11 0,3-1 0,-9 30 0,3-32 0,33 6 0,-7-24 0,12-24 0,-26 42 0,-10-12 0,-7 5 0,14 14 0,0 9 0,-3-2-257,-11-3 1,-4-2 0,2 3 256,7 6 0,2 4 0,-1-2 0,1-6 0,-1-2 0,2 2 0,6 2 0,1 2 0,1 0 0,-5 2 0,0 2 0,2 0 0,9 0 0,1 1 0,0-2-95,-21 15 0,3 1 95,14 9 0,5-1 0,4-20 0,1-1 0,0 9 0,2 1 0,3-12 0,1-1 0,-2 0 0,3 1 380,3 11 1,5 1-381,5-9 0,0 0 99,-6 7 0,1 2-99,8 0 0,0-1 0,-9-3 0,1 1 0,9 10 0,4 0 0,-4-5 0,4-2 0,8-5 0,3 0 0,-7 11 0,6-1 0,22-15 0,5 1 0,-11 20 0,3 0 0,18-19 0,5-3 0,-19 1 0,-1 2 0,3-3 0,3-11 0,4-4 0,4 3 0,8 11 0,5 5 0,2 2 0,-2-5 0,-10-10 0,-1-3 0,1 0 0,3 1-420,0 0 0,3 2 0,2 0 0,-1-1 1,-4 0 419,1 2 0,-3 0 0,-1-1 0,3-4 0,1-5 0,1-3 0,1-1 0,-2 5 0,-1 5 0,-1 4 0,0 0 0,2-2 0,5-2 0,2-3 0,0 0 0,1 2 0,0 1 0,1 1 0,-1 0 0,0 1 0,-5 2 0,0 0 0,-1 0 0,2-2 0,1-5 0,3-2 0,-2-1 0,-1 1-420,8 6 1,-3 1 0,2-1 419,-15-10 0,1 0 0,0-2 0,0 0 0,18 6 0,0-2 0,-1 0-246,-6-4 0,-1-1 0,-2 4 246,-2 7 0,-2 4 0,-2-7 0,7-13 0,-4-1 0,-4 21 0,-5-5 1871,19-24-1871,-27 9 1342,-6-12-1342,3 0 0,9 0 0,2 0 0,7-1 0,6 1 0,4 1-654,-6 2 0,3 0 0,4 2 0,2 0 0,2-1 0,1-1 654,-7-1 0,1-1 0,2 0 0,0-1 0,2 0 0,1 0 0,0 1 0,0 0-526,-2 1 0,0 1 0,1 0 0,1 0 0,0 0 0,0 0 0,1 0 0,-1-1 0,0 0 526,1-1 0,0-1 0,1 1 0,-1-1 0,0-1 0,1 1 0,-1-1 0,0 1 0,0 0 0,-2 0 0,1 0 0,-1 0 0,1 0 0,-1 0 0,0 0 0,-1 0 0,-1 0 0,-1 0-307,11 0 0,-2 1 0,0-1 0,-1 1 0,-1-1 0,-1-1 0,-2 0 307,4-2 0,-1-1 0,-1-1 0,-1 1 0,-3-1 0,-2 2-137,-3 2 1,-2 1-1,-2 0 1,-1-1 0,-2-3 136,6-3 0,-2-4 0,-3 1 0,-2 3 828,6 6 1,-4 2 0,-4-4-829,8-14 0,-7-1 2292,-14 16 0,-5-2-2292,5-19 3710,21 23-3710,-9 10 0,8 3 0,-5-7 0,3-2 0,3 4-9,-7 4 0,2 5 1,1 0-1,1-2 9,3-2 0,0-3 0,1 0 0,0 2 0,0 1 0,-1 1 0,1 0 0,-1-3 0,-2-2 0,1-2 0,-1-1 0,0-1 0,0-1 0,0 0 0,0-2 0,-2 0-295,10-2 0,-2 0 1,0 0 294,4 0 0,-1 0 0,-2 0 0,-15 0 0,-2 0 0,1 0-108,4 0 0,2 0 1,-2 0 107,19 0 0,-4 0 0,-14 0 0,0 0 0,14 1 0,-2-2 760,-25-5 1,-1 0-761,22 6 0,-1-3 472,-20-14 0,-1-1-472,9 9 0,1 0 184,0-15 0,-1-2-184,-9 11 0,1 1 0,13-10 0,3-2 0,6 0 0,-1-1 0,-7-5 0,1-4-292,-1 3 0,4-2 0,-3 0 292,-11 7 0,-1 1 0,-1-3 0,8-11 0,0-3 0,0 3 0,-1 7 0,1 4 0,-2-3 0,-5-6 0,-2-1 0,1 1 0,0 7 0,0 1 0,-3 0 0,13-16 0,-4 3 0,-8 16 0,-6 0 0,4-34 0,6 45 0,-41-7 0,17-35 0,-6 4 0,2-10 0,-3 9 0,4-5 0,1-5 0,1-1-431,0 3 0,2-3 1,1-1-1,1-1 1,0 2 430,2-2 0,2 1 0,0 0 0,0-1 0,-1 2 0,0 0 0,1 0 0,-1 1 0,0 1 0,-2 3-223,2-1 0,-1 3 0,-1 1 0,-2 3 223,3-5 0,-2 4 0,0 2 0,6-13 0,-3 6 0,-7 21 0,-3 3 0,11-27 0,5 1 2874,-8 31-2874,-10-14 1047,19 44-1047,-34-32 0,10 29 0,12-17 0,-18 23 0,29 0 0,-32 0 0,32 0 0,-29 0 0,29 0 0,-8 0 0,14 0 0,0 0 0,21 0 0,-18 0 0,9 0 0,-3 0 0,-9 0 0,0-12 0,9 9 0,-21-9 0,-2-11 0,8 17 0,-29-18 0,29 1 0,-32 17 0,9-29 0,-12 32 0,0-33 0,24 19 0,-19-10 0,19-8 0,-24 17 0,23-32 0,-17 33 0,18-30 0,-24 41 0,0-18 0,0 13 0,0 8 0,0-33 0,0 31 0,0-19 0,12 24 0,-9 0 0,8-12 0,-11 9 0,0-8-1696,24 11 0,-18 0 0,17 0 0</inkml:trace>
  <inkml:trace contextRef="#ctx0" brushRef="#br0" timeOffset="21499">9948 13944 24575,'-50'0'0,"-5"0"0,10 0 0,-2 0 0,0 0 0,0 0 0,0 0 0,0 0 0,1 0 0,1 0 0,-23 0 0,30-2 0,0 4 0,-18 21 0,3-17 0,3 30 0,21-34 0,-21 34 0,9-30 0,0 29 0,-9-32 0,32 32 0,-17-29 0,32 29 0,-9-32 0,-12 33 0,19-31 0,-31 42 0,33-29 0,-8 32 0,11-21 0,0 21 0,0-20 0,0 43 0,0-14 0,0-13 0,0-1 0,0 11 0,-2-12 0,4-3 0,9-5 0,1 0 0,3 1 0,14 16 0,21-9 0,-20-6 0,20-2 0,-9-7 0,0 0 0,21 7 0,-18-33 0,-7 14 0,2 1 0,29-12 0,-29 12 0,1-1 0,0-15 0,0-1 0,-1 16 0,1 1 0,5-15 0,1 0 0,1 15 0,0-1 0,0-14 0,0-3 0,5 7 0,-1-2 0,-9-4 0,-2-2 0,6 1 0,0 0 0,-6 0 0,-1 0 0,1 0 0,-1 0 0,1 1 0,0-2 0,-1-5 0,1 0 0,6 6 0,-1-3 0,-4-13 0,0-3 0,5 11 0,0-1 0,-6-16 0,-1 0 0,1 10 0,-1 0 0,-5-11 0,0 2 0,5 16 0,-2-1 0,8-38 0,16 29 0,-43-32 0,29 21 0,-29 2 0,32-8 0,-33 17 0,3-17 0,-5-3 0,-12 2 0,15-6 0,0-1 0,-12-1 0,29-9 0,-32-20 0,9 37 0,0-1 0,-1 1 0,-5 6 0,17-20 0,-23 33 0,0-18 0,0 8 0,0-14 0,0 12 0,0-7 0,0 10 0,0 8 0,-23-17 0,17 8 0,-29-2 0,32-21 0,-32 9 0,17 11 0,-32-5 0,-3 9 0,-3-4 0,18 17 0,0 0 0,4-6 0,0 3 0,-4 12 0,-3 2 0,-10-16 0,-1 0 0,9 16 0,1 2 0,-10-5 0,1-2 0,10-5 0,2 0 0,0 9 0,-1 0 0,0-9 0,1 1 0,-29 11 0,3 0 0,1 0 0,20 0 0,-18 0 0,32 0 0,4 0 0,-9 0 0,29 0 0,-41 0 0,41 0 0,-29 0 0,32 0 0,-9 23 0,-12-17 0,18 18 0,-17-24 0,11 0 0,9 0 0,-8 0 0,11 0 0,-24 12 0,18-10 0,-17 10 0,23-12 0,0 0 0,0 24 0,0-18 0,0 29 0,0-32 0,0 9 0,0 11 0,0-17 0,-12 18 0,9-24 0,-9 0 0,12 0 0</inkml:trace>
  <inkml:trace contextRef="#ctx0" brushRef="#br0" timeOffset="36155">21378 17383 24575,'0'64'0,"0"-1"0,-6-15 0,-3 2 0,1 2 0,2 5 0,2 2 0,-4 1-629,-7 8 0,-3 2 0,1-2 629,6-8 0,2-2 0,0 0 0,0 1 0,1-1 0,-2-1 203,-2-4 0,-1 0 0,3-3-203,9 6 0,-4-4 156,-19-3 0,1-6-156,17-2 0,-17-18 0,23-23 0,0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1T01:05:09.12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9419 7726 24575,'68'0'0,"-29"4"0,-2 4 0,7 18 0,0-11 0,-2 0 0,-7 11 0,3-9 0,-3 2 0,-17 10 0,17 12 0,-8 9 0,-10-32 0,7 17 0,-12-9 0,-9 4 0,8 20 0,-11-9 0,24 0 0,-18 9 0,17-21 0,-23 21 0,0-32 0,0 17 0,0-8 0,0-10 0,0 31 0,0-43 0,0 31 0,0-10 0,0 4 0,-23 20 0,17-21 0,-18 21 0,13-9 0,8 0 0,-9 9 0,-12 3 0,18-21 0,-17 15 0,11-20 0,9-9 0,-8 29 0,-13-42 0,6 31 0,-32-33 0,9 32 0,-23-29 0,25 10 0,-2 3 0,-10-5 0,-4-1 0,-5 0 0,0 3 0,0 8 0,-1 2 0,11-11 0,-3-3 0,3 2 0,-7 7 0,0-1 0,6-9 0,-2-2 0,4-2 0,0 0 0,1-2 0,-16-7 0,1 4 0,20 9 0,1 1 0,-10-9 0,1 0 0,11 9 0,1-1 0,-7-9 0,1-4 0,-14 2 0,-15 0 0,22 0 0,-16 0 0,29 0 0,-1 0 0,0 0 0,0 0 0,1 2 0,-1-4 0,-11-9 0,-1-1 0,9 9 0,1 0 0,-10-9 0,1 1 0,11 10 0,0 2 0,-6-7 0,1 0 0,-14 3 0,17-1 0,-1-4 0,-13-15 0,-11 17 0,2-18 0,0 24 0,21 0 0,-29 0 0,29-23 0,6 19 0,-1 2 0,-17-22 0,19 23 0,-2 2 0,-29-13 0,29 12 0,-1-2 0,1-15 0,-1-2 0,-11 10 0,-1 1 0,9-5 0,0-1 0,-8-5 0,0 3 0,10 13 0,2 0 0,-28-21 0,25 24 0,-5-11 0,42 8 0,-31-9 0,33-12 0,-32-17 0,29 9 0,-29-3 0,32 35 0,-9 0 0,-11 0 0,17 11 0,-30-8 0,34 9 0,-34-12 0,7 24 0,-12-18 0,14 17 0,-8 1 0,17-19 0,-32 19 0,-3-24 0,9 6 0,-3 0 0,5-6 0,-1 3 0,-14 13 0,-1 3 0,5-10 0,1 0 0,4 3 0,-1 2 0,-15 5 0,1-3 0,21-12 0,-1-2 0,-19 10 0,-3 0 0,11-5 0,0-2 0,-7-4 0,1 0 0,7 6 0,0-2 0,1-4 0,1-2 0,9 1 0,2 0 0,-27 0 0,-7 0 0,30 0 0,7 0 0,-3 0 0,-27 0 0,-1 0 0,30 0 0,0 0 0,-30 0 0,1 0 0,28 1 0,1-2 0,-29-11 0,28 12 0,-2-2 0,-10-15 0,-1-2 0,9 11 0,1-1 0,2-16 0,1 0 0,-6 11 0,4-2 0,6-34 0,0 29 0,-3 1 0,-15-21 0,31 11 0,0-2 0,-9 5 0,0-2 0,4-15 0,1-3 0,-2 5 0,0 2 0,0 6 0,3 0 0,11-3 0,2 1 0,-24-8 0,31-21 0,-19 36 0,24-7 0,0 33 0,0-32 0,24 17 0,-19-32 0,31-2 0,-10-16 0,-17 29 0,0-1 0,8 0 0,1 0 0,-4-5 0,-1-1 0,-6 3 0,3 4 0,37-17 0,-29 21 0,32 23 0,-21 9 0,21-9 0,3 12 0,15-23 0,-18 20 0,3 0 0,0-15 0,2 0 0,5 17 0,1 0 0,9-17 0,1 0 0,2 14 0,1 2-192,-21-5 0,1-2 0,1 2 192,1 5 0,1 3 0,0 0 0,0-1 0,0 0 0,0 0 0,0 0 0,1 0 0,0 0 0,4 0 0,0 0 0,-1 0 0,-2 0 0,-2 0 0,1 0 0,-1 0 0,0 0 0,-1 0 0,1 0 0,0 0 0,0 0 0,-3 0 0,0 0 0,0 0 0,-1 1 0,0 0 0,-1-3 0,1-5 0,0-2 0,-3 1 0,12 5 0,0 0 0,-9-4 0,4-2 0,-3 2 0,15 6 0,0 2 0,-13-1 0,2 0 0,-1 0 0,17 0 0,-1 0-39,0 0 0,-2 0 39,-10 0 0,-2 0 0,7 0 0,-2 0 0,-16 0 0,1 0 0,15 0 0,-2 0 0,-19 0 0,0 0 287,20 0 0,0 0-287,-20 0 0,-1 0 40,23 0 0,-3 0-40,-1 0 0,-12 0 0,-1 0 0,20 0 0,-28 0 0,2 0 0,4 0 0,-1 0 0,-4 0 0,-2 0 0,17 0 0,-13 0 0,-1 0 0,-7 0 0,7 0 0,1 0 0,2 0 0,-8 0 0,2 0 0,17 0 0,-3 0 0,8 0 0,-16 0 0,7 0 0,22 0 0,-39 0 0,39 0 0,-45 0 0,21 23 0,-20-17 0,20 18 0,-9-24 0,0 23 0,9-17 0,-33 18 0,19-24 0,-33 12 0,32-10 0,-29 10 0,29-12 0,-32 0 0,32 0 0,-29 0 0,41 0 0,-41 0 0,29 0 0,-32 0 0,33 0 0,-31 0 0,31 0 0,-10 0 0,-8 0 0,17 0 0,-32 0 0,32 0 0,-5 24 0,-1-18 0,6 17 0,-32-23 0,9 0 0,12 0 0,-18 0 0,17 12 0,-11-9 0,-9 9 0,9-12 0,-12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5E20D-330D-AE4A-A6A6-1850AD2ED2D6}" type="datetimeFigureOut">
              <a:t>31/3/26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D1A52-94DB-CE4E-80E4-5A5A3CBD908E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741266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879C-66BC-BE38-71AE-B0A52BE99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E43DC-52BF-FFC7-A6F7-77C3F65F6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B3760-1A42-A517-B329-17A032D0F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CC23C-BA29-DE42-B018-0A671B23AB5C}" type="datetime1">
              <a:t>31/3/26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3FEB5-9A1D-C760-3A59-6961C418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C8E25-5819-D9BB-2B7B-FD89ADD93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8332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E967-6FF5-2AB7-5A89-60DD8D39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E7CEF-4815-3E95-7909-2FA3AD96C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C15-89E5-727B-1490-05CC5367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D96D-7531-BC47-A011-B5D6B3D43310}" type="datetime1">
              <a:t>31/3/26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CB36A-D94F-AC92-80B1-8040A94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8F61-1BFA-0780-D5CD-C8709F5C0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6BE16-5785-3287-F219-A63A98C1F6B4}"/>
              </a:ext>
            </a:extLst>
          </p:cNvPr>
          <p:cNvSpPr txBox="1"/>
          <p:nvPr userDrawn="1"/>
        </p:nvSpPr>
        <p:spPr>
          <a:xfrm>
            <a:off x="10025743" y="180459"/>
            <a:ext cx="200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VN" b="1"/>
              <a:t>IT002 - OOP</a:t>
            </a:r>
          </a:p>
        </p:txBody>
      </p:sp>
    </p:spTree>
    <p:extLst>
      <p:ext uri="{BB962C8B-B14F-4D97-AF65-F5344CB8AC3E}">
        <p14:creationId xmlns:p14="http://schemas.microsoft.com/office/powerpoint/2010/main" val="322623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5098A-1FF5-4E9C-3958-AAAE5EB1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3F6B0-B22B-B8B5-5476-1A0488046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31000-AB74-AEFD-50FE-977A929AE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9FF25-CCF5-1749-B789-DEA9DF3915D1}" type="datetime1">
              <a:t>31/3/26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11593-2B6B-2CA0-DB2F-19489B8CE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FED81-0B56-6FA2-95D2-CECADDCD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369224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CBAD-C94E-8462-42F7-6CE1DEB6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7A8E9-46E4-3722-3678-DB1E6624F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ED4EB0-C0BC-93AB-256D-477F0B020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385DA-986F-905C-F93C-11946E71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9BD3F-C60C-8F40-A1AA-746E79F526C8}" type="datetime1">
              <a:t>31/3/26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8EEC57-B8A1-E8E8-D3C6-C712BD1EB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D3BD5-89C2-ABF6-BC50-26CCE3F32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7107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D908-C8FB-B40D-5338-B12F38A31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DDE4-2F4D-BD99-A231-CA6008F12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206A1-A852-DFD4-176B-D30D76696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BD5B1-0FAD-D905-193A-A988870AE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492ABD-06A7-0A8A-B162-6B100DD63D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FA0F5E-BC75-DA33-C23A-2C084BB4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63D55-6338-8241-BEA3-C8267015B326}" type="datetime1">
              <a:t>31/3/26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6DAFF-76C5-9BAB-7595-F3D8650BF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A2C9E-5705-21CC-7F2F-2C316299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899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4701-A80A-232F-0854-5DA8AFC2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11774C-BD97-3E58-CD40-4C950D605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82EF4-4D34-8E49-9BB8-7FCD8F64F56C}" type="datetime1">
              <a:t>31/3/26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13042-37A8-CF0D-C96F-6512F2746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167E85-AB14-0D13-176E-0A06051F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737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DEB413-185C-B41C-723A-9D4A6A67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35D4F-1253-B847-8798-F89DBC53ECA3}" type="datetime1">
              <a:t>31/3/26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74A144-520E-E52F-DDF2-1E748F63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450AA-C86A-7829-97FB-257B463C3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121519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A9349-7940-BEF0-B4D4-5A7C8268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6DDD3-2B20-C5F9-4DC4-024003B7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E6026-5F77-9B71-E592-DF3B22831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51FFE-290A-F231-2373-CB070682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0E56D-C72A-354F-B0FC-65EC27F745C6}" type="datetime1">
              <a:t>31/3/26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C637D-0DBB-9D94-B84C-DD221A50A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D7C7B-EC72-7C24-BC80-9FF123A0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221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795E-B04D-560C-A632-0313EB8B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418B6-E0F2-379C-988E-BFAA86E45F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D15F2-ED27-6782-8C8C-9B6E07184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F3CA7-0F96-3431-B3F4-06BC0EFD0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EEE616-05B3-E949-A580-BAD4E917BCA4}" type="datetime1">
              <a:t>31/3/26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5F99E-A59B-DABF-2474-1B2A079D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290139-F785-8A64-8D32-C52E8E26B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4178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89D33-1B65-702E-AF68-091EFE88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1663F3-7D0E-B1DA-F503-E4430BF7B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C38CE-AAC4-CCE9-CDB5-8A582C91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8E9E1-1963-2549-A392-0CE442C818D3}" type="datetime1">
              <a:t>31/3/26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90330-95FE-A9AD-654D-097C1AB47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C464-4061-61F4-DFB5-70DE041BF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8787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DA118-9B30-AADB-BB00-1A29AD187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6A5B8-6D26-4874-BB54-AAA2C8A08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A1E27-ACFA-67B6-8F29-D119DAA10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FA920-85BE-4747-816A-47AD76A510FA}" type="datetime1">
              <a:t>31/3/26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8A6B8-C0F3-CDF8-2607-D9CE1D139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331BE-9413-D25C-37C9-D572037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8142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E82CA9-C9D9-B13F-66CB-521D6AC8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7227C-7C52-761E-38B0-5791D2198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B1A1-6E5E-9BBC-C985-0A43829F97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508FC7-06EA-184C-B437-1FD4117B159D}" type="datetime1">
              <a:t>31/3/26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9B3D4-A45B-92A5-6062-5A7DF6FA3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62E2A-F337-A4D9-6F2A-F99944438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B5E1E-6446-E346-A8EF-B18E81FAF44B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9939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7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0750B-39EE-3B01-075B-7F8F62804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VN"/>
              <a:t>Polymorphism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2B4C0-AF9F-C53E-D24C-0775EFEFBE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VN"/>
              <a:t>Vu Tuan Hai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02840-6693-8282-76B9-EE98C0B0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7780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74948-77DE-12A0-5012-1C6B76F4F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 (1/9)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6B25F-1AED-8377-43C1-0BFA862F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6114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Polymorphism occurs when there is inheritance among classes.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43061-DB39-F1B3-5533-55347B754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2</a:t>
            </a:fld>
            <a:endParaRPr lang="en-V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44A3CA-B653-E731-4726-0A7CA9FC3868}"/>
              </a:ext>
            </a:extLst>
          </p:cNvPr>
          <p:cNvSpPr/>
          <p:nvPr/>
        </p:nvSpPr>
        <p:spPr>
          <a:xfrm>
            <a:off x="2586704" y="2477765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Animal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8D7A10-4302-16CF-CEEE-84B72E32CA11}"/>
              </a:ext>
            </a:extLst>
          </p:cNvPr>
          <p:cNvSpPr/>
          <p:nvPr/>
        </p:nvSpPr>
        <p:spPr>
          <a:xfrm>
            <a:off x="950452" y="3815324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Dog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58EFA7-B922-80AB-D3D4-B2C80A62443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712452" y="3087365"/>
            <a:ext cx="1636252" cy="727959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DB88FDF-C836-688B-D5B4-9C5A2FB3E78A}"/>
              </a:ext>
            </a:extLst>
          </p:cNvPr>
          <p:cNvSpPr/>
          <p:nvPr/>
        </p:nvSpPr>
        <p:spPr>
          <a:xfrm>
            <a:off x="2586704" y="3823505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Human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0982CE-C676-910E-F9B6-58AB92AB4E21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348704" y="3087365"/>
            <a:ext cx="0" cy="736140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CF4A350-9BFE-7ABB-CA9C-EA06CF9A283F}"/>
              </a:ext>
            </a:extLst>
          </p:cNvPr>
          <p:cNvSpPr/>
          <p:nvPr/>
        </p:nvSpPr>
        <p:spPr>
          <a:xfrm>
            <a:off x="4222956" y="3827263"/>
            <a:ext cx="1524000" cy="609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solidFill>
                  <a:schemeClr val="tx1"/>
                </a:solidFill>
                <a:cs typeface="Times New Roman" pitchFamily="18" charset="0"/>
              </a:rPr>
              <a:t>Monkey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EEC4DDC-4ADD-F76E-C0BD-25AC1C5A4FD4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3348704" y="3087365"/>
            <a:ext cx="1636252" cy="739898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1BDA20-97DF-23AB-E9AB-DD823D89B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033" y="2483176"/>
                <a:ext cx="3380232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1BDA20-97DF-23AB-E9AB-DD823D89B5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1033" y="2483176"/>
                <a:ext cx="3380232" cy="874256"/>
              </a:xfrm>
              <a:prstGeom prst="rect">
                <a:avLst/>
              </a:prstGeom>
              <a:blipFill>
                <a:blip r:embed="rId2"/>
                <a:stretch>
                  <a:fillRect l="-749" b="-428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E63DAF5-F073-0867-AD8A-7D51505AE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033" y="3472483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𝐷𝑜𝑔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E63DAF5-F073-0867-AD8A-7D51505AE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1033" y="3472483"/>
                <a:ext cx="4239964" cy="992123"/>
              </a:xfrm>
              <a:prstGeom prst="rect">
                <a:avLst/>
              </a:prstGeom>
              <a:blipFill>
                <a:blip r:embed="rId3"/>
                <a:stretch>
                  <a:fillRect l="-5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D206CEE-A2FD-7642-0AD7-420573E21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033" y="5729352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𝑀𝑜𝑛𝑘𝑒𝑦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D206CEE-A2FD-7642-0AD7-420573E21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1033" y="5729352"/>
                <a:ext cx="4239964" cy="992123"/>
              </a:xfrm>
              <a:prstGeom prst="rect">
                <a:avLst/>
              </a:prstGeom>
              <a:blipFill>
                <a:blip r:embed="rId4"/>
                <a:stretch>
                  <a:fillRect l="-597" r="-1791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B4EC8A-7592-A95E-9071-42E0403B2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033" y="4599028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𝐻𝑢𝑚𝑎𝑛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B4EC8A-7592-A95E-9071-42E0403B2E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1033" y="4599028"/>
                <a:ext cx="4239964" cy="992123"/>
              </a:xfrm>
              <a:prstGeom prst="rect">
                <a:avLst/>
              </a:prstGeom>
              <a:blipFill>
                <a:blip r:embed="rId5"/>
                <a:stretch>
                  <a:fillRect l="-5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B51EEA-FBB4-4F75-3B8E-7330D0DA8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451" y="4586149"/>
                <a:ext cx="5022086" cy="1744679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𝑎</m:t>
                    </m:r>
                    <m:r>
                      <a:rPr lang="en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𝑛𝑖𝑚𝑎𝑙𝑠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𝒊𝒔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vi-VN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𝐴𝑛𝑖𝑚𝑎𝑙</m:t>
                        </m:r>
                      </m:e>
                    </m:d>
                  </m:oMath>
                </a14:m>
                <a:r>
                  <a:rPr lang="vi-VN" altLang="zh-TW" sz="2400" i="1"/>
                  <a:t> // </a:t>
                </a:r>
                <a:r>
                  <a:rPr lang="vi-VN" altLang="zh-TW" sz="2400" b="1"/>
                  <a:t>[ 🐶, 🐵, 👶 ]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…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𝒇𝒐𝒓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𝑎𝑛𝑖𝑚𝑎𝑙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𝒊𝒏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𝑎𝑛𝑖𝑚𝑎𝑙𝑠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  <a:ea typeface="新細明體" pitchFamily="18" charset="-12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𝑎𝑛𝑖𝑚𝑎𝑙</m:t>
                      </m:r>
                      <m:r>
                        <a:rPr lang="en-US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.</m:t>
                      </m:r>
                      <m:r>
                        <a:rPr lang="en-US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8B51EEA-FBB4-4F75-3B8E-7330D0DA8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451" y="4586149"/>
                <a:ext cx="5022086" cy="1744679"/>
              </a:xfrm>
              <a:prstGeom prst="rect">
                <a:avLst/>
              </a:prstGeom>
              <a:blipFill>
                <a:blip r:embed="rId6"/>
                <a:stretch>
                  <a:fillRect l="-1763" t="-2878" b="-503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3D47686F-3423-7DB2-787D-96CF14886FC5}"/>
              </a:ext>
            </a:extLst>
          </p:cNvPr>
          <p:cNvSpPr/>
          <p:nvPr/>
        </p:nvSpPr>
        <p:spPr>
          <a:xfrm>
            <a:off x="1310473" y="5911311"/>
            <a:ext cx="2038232" cy="3158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ED4FAB-A5D9-D154-B87B-09FC505433C1}"/>
              </a:ext>
            </a:extLst>
          </p:cNvPr>
          <p:cNvSpPr txBox="1"/>
          <p:nvPr/>
        </p:nvSpPr>
        <p:spPr>
          <a:xfrm>
            <a:off x="1250781" y="6410595"/>
            <a:ext cx="423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How do program know exact methods?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29CFEE-5726-2EE1-FD9E-06B81F043B3D}"/>
              </a:ext>
            </a:extLst>
          </p:cNvPr>
          <p:cNvSpPr/>
          <p:nvPr/>
        </p:nvSpPr>
        <p:spPr>
          <a:xfrm>
            <a:off x="7076594" y="3913030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87FFC9-BE43-924A-30D6-767C0D9C488A}"/>
              </a:ext>
            </a:extLst>
          </p:cNvPr>
          <p:cNvSpPr/>
          <p:nvPr/>
        </p:nvSpPr>
        <p:spPr>
          <a:xfrm>
            <a:off x="7088079" y="5091604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27C9F6-5410-194A-4056-91C9DE7AD24F}"/>
              </a:ext>
            </a:extLst>
          </p:cNvPr>
          <p:cNvSpPr/>
          <p:nvPr/>
        </p:nvSpPr>
        <p:spPr>
          <a:xfrm>
            <a:off x="7076593" y="6195536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D1F7C7-60D8-12EB-3D70-B1CBDAA5C228}"/>
              </a:ext>
            </a:extLst>
          </p:cNvPr>
          <p:cNvSpPr/>
          <p:nvPr/>
        </p:nvSpPr>
        <p:spPr>
          <a:xfrm>
            <a:off x="7088079" y="2872306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9CCCF56-A5C8-B70D-FDFA-EE2E6CAAF17F}"/>
              </a:ext>
            </a:extLst>
          </p:cNvPr>
          <p:cNvSpPr/>
          <p:nvPr/>
        </p:nvSpPr>
        <p:spPr>
          <a:xfrm>
            <a:off x="872924" y="4504691"/>
            <a:ext cx="4874031" cy="5758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14FA4C-19ED-6F56-F626-45C12862C4A1}"/>
              </a:ext>
            </a:extLst>
          </p:cNvPr>
          <p:cNvSpPr txBox="1"/>
          <p:nvPr/>
        </p:nvSpPr>
        <p:spPr>
          <a:xfrm>
            <a:off x="1341512" y="5151681"/>
            <a:ext cx="4519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H</a:t>
            </a:r>
            <a:r>
              <a:rPr lang="en-VN">
                <a:solidFill>
                  <a:srgbClr val="FF0000"/>
                </a:solidFill>
              </a:rPr>
              <a:t>ow to save diff type of obj into a unify var?</a:t>
            </a:r>
          </a:p>
        </p:txBody>
      </p: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4A8A3358-1894-9389-87DB-CECBA26B1746}"/>
              </a:ext>
            </a:extLst>
          </p:cNvPr>
          <p:cNvCxnSpPr>
            <a:stCxn id="29" idx="3"/>
            <a:endCxn id="34" idx="1"/>
          </p:cNvCxnSpPr>
          <p:nvPr/>
        </p:nvCxnSpPr>
        <p:spPr>
          <a:xfrm flipV="1">
            <a:off x="3348705" y="3087365"/>
            <a:ext cx="3739374" cy="2981881"/>
          </a:xfrm>
          <a:prstGeom prst="bentConnector3">
            <a:avLst>
              <a:gd name="adj1" fmla="val 7228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>
            <a:extLst>
              <a:ext uri="{FF2B5EF4-FFF2-40B4-BE49-F238E27FC236}">
                <a16:creationId xmlns:a16="http://schemas.microsoft.com/office/drawing/2014/main" id="{33509C26-FBFB-BBFA-D35D-9C721F93C8F5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3348705" y="4128089"/>
            <a:ext cx="3727889" cy="1941157"/>
          </a:xfrm>
          <a:prstGeom prst="bentConnector3">
            <a:avLst>
              <a:gd name="adj1" fmla="val 7577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A5139F87-54E7-734C-8AF3-89CD76CBC803}"/>
              </a:ext>
            </a:extLst>
          </p:cNvPr>
          <p:cNvCxnSpPr>
            <a:cxnSpLocks/>
            <a:stCxn id="29" idx="3"/>
            <a:endCxn id="32" idx="1"/>
          </p:cNvCxnSpPr>
          <p:nvPr/>
        </p:nvCxnSpPr>
        <p:spPr>
          <a:xfrm flipV="1">
            <a:off x="3348705" y="5306663"/>
            <a:ext cx="3739374" cy="762583"/>
          </a:xfrm>
          <a:prstGeom prst="bentConnector3">
            <a:avLst>
              <a:gd name="adj1" fmla="val 7847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557A4FC8-9262-EE1A-9388-2C63C43E1C4D}"/>
              </a:ext>
            </a:extLst>
          </p:cNvPr>
          <p:cNvCxnSpPr>
            <a:cxnSpLocks/>
            <a:stCxn id="29" idx="3"/>
            <a:endCxn id="33" idx="1"/>
          </p:cNvCxnSpPr>
          <p:nvPr/>
        </p:nvCxnSpPr>
        <p:spPr>
          <a:xfrm>
            <a:off x="3348705" y="6069246"/>
            <a:ext cx="3727888" cy="341349"/>
          </a:xfrm>
          <a:prstGeom prst="bentConnector3">
            <a:avLst>
              <a:gd name="adj1" fmla="val 8198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933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0A2D-46EB-07AD-1709-090232EEB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4EBA3-9D96-4102-6532-B366B881B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 (2/9)</a:t>
            </a:r>
            <a:br>
              <a:rPr lang="en-US"/>
            </a:br>
            <a:r>
              <a:rPr lang="en-US" sz="2800"/>
              <a:t>Solution: creating multiple list</a:t>
            </a:r>
            <a:endParaRPr lang="en-VN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E320F-8E91-AE69-8F7A-7F0D97A80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3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C8A7BD7-93A3-CCF5-B6CF-769ED57F19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1809463"/>
                <a:ext cx="3380232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CC8A7BD7-93A3-CCF5-B6CF-769ED57F19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1809463"/>
                <a:ext cx="3380232" cy="874256"/>
              </a:xfrm>
              <a:prstGeom prst="rect">
                <a:avLst/>
              </a:prstGeom>
              <a:blipFill>
                <a:blip r:embed="rId2"/>
                <a:stretch>
                  <a:fillRect l="-375" b="-428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2C7771-A8A4-D2D0-F299-C5BF7F6537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2798770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𝐷𝑜𝑔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2C7771-A8A4-D2D0-F299-C5BF7F6537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2798770"/>
                <a:ext cx="4239964" cy="992123"/>
              </a:xfrm>
              <a:prstGeom prst="rect">
                <a:avLst/>
              </a:prstGeom>
              <a:blipFill>
                <a:blip r:embed="rId3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1E28C3C-7C41-C90F-562E-AFABDC8DA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5044064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𝑀𝑜𝑛𝑘𝑒𝑦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1E28C3C-7C41-C90F-562E-AFABDC8DAB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5044064"/>
                <a:ext cx="4239964" cy="992123"/>
              </a:xfrm>
              <a:prstGeom prst="rect">
                <a:avLst/>
              </a:prstGeom>
              <a:blipFill>
                <a:blip r:embed="rId4"/>
                <a:stretch>
                  <a:fillRect l="-299" r="-209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B202964-5A0B-04AD-F590-0C40223821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3925315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𝐻𝑢𝑚𝑎𝑛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B202964-5A0B-04AD-F590-0C40223821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3925315"/>
                <a:ext cx="4239964" cy="992123"/>
              </a:xfrm>
              <a:prstGeom prst="rect">
                <a:avLst/>
              </a:prstGeom>
              <a:blipFill>
                <a:blip r:embed="rId5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0A87D77-4A85-563D-2EB2-9ED2086865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451" y="1874103"/>
                <a:ext cx="5022086" cy="4456725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𝑑𝑜𝑔</m:t>
                      </m:r>
                      <m:r>
                        <a:rPr lang="en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𝑠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𝒊𝒔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d>
                        <m:dPr>
                          <m:begChr m:val="["/>
                          <m:endChr m:val="]"/>
                          <m:ctrlPr>
                            <a:rPr lang="vi-VN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dPr>
                        <m:e>
                          <m: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𝐷𝑜𝑔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𝑚𝑜𝑛𝑘𝑒𝑦𝑠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vi-VN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altLang="zh-TW" sz="2400" i="1">
                            <a:latin typeface="Cambria Math" panose="02040503050406030204" pitchFamily="18" charset="0"/>
                          </a:rPr>
                          <m:t>𝑀𝑜𝑛𝑘𝑒𝑦</m:t>
                        </m:r>
                      </m:e>
                    </m:d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vi-VN" altLang="zh-TW" sz="2400" i="1">
                        <a:latin typeface="Cambria Math" panose="02040503050406030204" pitchFamily="18" charset="0"/>
                      </a:rPr>
                      <m:t>h𝑢𝑚𝑎𝑛𝑠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vi-VN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altLang="zh-TW" sz="2400" i="1">
                            <a:latin typeface="Cambria Math" panose="02040503050406030204" pitchFamily="18" charset="0"/>
                          </a:rPr>
                          <m:t>𝐻𝑢𝑚𝑎𝑛</m:t>
                        </m:r>
                      </m:e>
                    </m:d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  <a:ea typeface="新細明體" pitchFamily="18" charset="-120"/>
                  </a:rPr>
                  <a:t> 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𝒇𝒐𝒓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𝑑𝑜𝑔</m:t>
                    </m:r>
                    <m:r>
                      <a:rPr lang="en-US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𝒊𝒏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𝑑𝑜𝑔𝑠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  <a:ea typeface="新細明體" pitchFamily="18" charset="-12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𝑑𝑜𝑔</m:t>
                      </m:r>
                      <m:r>
                        <a:rPr lang="en-US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.</m:t>
                      </m:r>
                      <m:r>
                        <a:rPr lang="en-US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𝑚𝑜𝑛𝑘𝑒𝑦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𝑚𝑜𝑛𝑘𝑒𝑦𝑠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>
                          <a:latin typeface="Cambria Math" panose="02040503050406030204" pitchFamily="18" charset="0"/>
                        </a:rPr>
                        <m:t>𝑚𝑜𝑛𝑘𝑒𝑦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 i="1"/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h𝑢𝑚𝑎𝑛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h𝑢𝑚𝑎𝑛𝑠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>
                          <a:latin typeface="Cambria Math" panose="02040503050406030204" pitchFamily="18" charset="0"/>
                        </a:rPr>
                        <m:t>h𝑢𝑚𝑎𝑛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 i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0A87D77-4A85-563D-2EB2-9ED208686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451" y="1874103"/>
                <a:ext cx="5022086" cy="4456725"/>
              </a:xfrm>
              <a:prstGeom prst="rect">
                <a:avLst/>
              </a:prstGeom>
              <a:blipFill>
                <a:blip r:embed="rId6"/>
                <a:stretch>
                  <a:fillRect l="-1008" r="-302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761E8133-D68C-715E-D292-9A479E90FA7A}"/>
              </a:ext>
            </a:extLst>
          </p:cNvPr>
          <p:cNvSpPr/>
          <p:nvPr/>
        </p:nvSpPr>
        <p:spPr>
          <a:xfrm>
            <a:off x="1250780" y="3606377"/>
            <a:ext cx="2302645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524468-995B-97AF-B55F-D8A7CB40F6F8}"/>
              </a:ext>
            </a:extLst>
          </p:cNvPr>
          <p:cNvSpPr txBox="1"/>
          <p:nvPr/>
        </p:nvSpPr>
        <p:spPr>
          <a:xfrm>
            <a:off x="1250781" y="6410595"/>
            <a:ext cx="4239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Calling directly, simple but not clean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C56757-CC3F-D9EB-832E-7ECF62B7131F}"/>
              </a:ext>
            </a:extLst>
          </p:cNvPr>
          <p:cNvSpPr/>
          <p:nvPr/>
        </p:nvSpPr>
        <p:spPr>
          <a:xfrm>
            <a:off x="6575026" y="3239317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A1350C-BD6A-2311-21BB-911E9A7BF264}"/>
              </a:ext>
            </a:extLst>
          </p:cNvPr>
          <p:cNvSpPr/>
          <p:nvPr/>
        </p:nvSpPr>
        <p:spPr>
          <a:xfrm>
            <a:off x="6586511" y="4417891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0DA665-4CB6-4EF1-FD8A-B20AC3E878C2}"/>
              </a:ext>
            </a:extLst>
          </p:cNvPr>
          <p:cNvSpPr/>
          <p:nvPr/>
        </p:nvSpPr>
        <p:spPr>
          <a:xfrm>
            <a:off x="6575025" y="5510248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9D875E-E8A6-8D29-8931-C6E84E87FE26}"/>
              </a:ext>
            </a:extLst>
          </p:cNvPr>
          <p:cNvSpPr/>
          <p:nvPr/>
        </p:nvSpPr>
        <p:spPr>
          <a:xfrm>
            <a:off x="1250780" y="4411758"/>
            <a:ext cx="2302647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1E8B51-C1A8-13A8-2593-3BA7CD9DD238}"/>
              </a:ext>
            </a:extLst>
          </p:cNvPr>
          <p:cNvSpPr/>
          <p:nvPr/>
        </p:nvSpPr>
        <p:spPr>
          <a:xfrm>
            <a:off x="1250779" y="5217139"/>
            <a:ext cx="2302647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5D0142-3A4E-69E2-8945-59ECC9041A5D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3553425" y="3454376"/>
            <a:ext cx="3021601" cy="3639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89A932-45F9-AD37-AAB6-03C11825D290}"/>
              </a:ext>
            </a:extLst>
          </p:cNvPr>
          <p:cNvCxnSpPr>
            <a:cxnSpLocks/>
            <a:stCxn id="16" idx="3"/>
            <a:endCxn id="32" idx="1"/>
          </p:cNvCxnSpPr>
          <p:nvPr/>
        </p:nvCxnSpPr>
        <p:spPr>
          <a:xfrm>
            <a:off x="3553427" y="4623741"/>
            <a:ext cx="3033084" cy="92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8D15F21-E983-A8E4-9794-AE74898E1190}"/>
              </a:ext>
            </a:extLst>
          </p:cNvPr>
          <p:cNvCxnSpPr>
            <a:cxnSpLocks/>
            <a:stCxn id="21" idx="3"/>
            <a:endCxn id="33" idx="1"/>
          </p:cNvCxnSpPr>
          <p:nvPr/>
        </p:nvCxnSpPr>
        <p:spPr>
          <a:xfrm>
            <a:off x="3553426" y="5429122"/>
            <a:ext cx="3021599" cy="2961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45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173A-57D9-571D-DA38-E266D103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894E-E0C7-D67E-06A2-639F9DC3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 (3/9)</a:t>
            </a:r>
            <a:br>
              <a:rPr lang="en-US"/>
            </a:br>
            <a:r>
              <a:rPr lang="en-US" sz="2800"/>
              <a:t>Solution: using type variable</a:t>
            </a:r>
            <a:endParaRPr lang="en-VN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10AC7-1D91-CED3-2484-8F8585FB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4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7D18A3F-E17B-C3A0-BDE8-FC64F03AD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450" y="3724218"/>
                <a:ext cx="5022085" cy="2632132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vi-VN" altLang="zh-TW" sz="2400" i="1">
                    <a:latin typeface="Cambria Math" panose="02040503050406030204" pitchFamily="18" charset="0"/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𝑡𝑦𝑝𝑒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𝑖𝑠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𝑆𝑡𝑟</m:t>
                    </m:r>
                  </m:oMath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/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</m:oMath>
                </a14:m>
                <a:r>
                  <a:rPr lang="vi-VN" altLang="zh-TW" sz="2400">
                    <a:latin typeface="Cambria Math" panose="02040503050406030204" pitchFamily="18" charset="0"/>
                    <a:ea typeface="新細明體" pitchFamily="18" charset="-120"/>
                  </a:rPr>
                  <a:t>: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vi-VN" altLang="zh-TW" sz="2400">
                    <a:latin typeface="Cambria Math" panose="02040503050406030204" pitchFamily="18" charset="0"/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vi-VN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𝒊𝒇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𝑡𝑦𝑝𝑒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==′</m:t>
                    </m:r>
                    <m:r>
                      <a:rPr lang="vi-VN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𝐷𝑜𝑔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′:</m:t>
                    </m:r>
                  </m:oMath>
                </a14:m>
                <a:endParaRPr lang="vi-VN" altLang="zh-TW" sz="2400" b="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vi-VN" altLang="zh-TW" sz="2400">
                    <a:latin typeface="Cambria Math" panose="02040503050406030204" pitchFamily="18" charset="0"/>
                    <a:ea typeface="新細明體" pitchFamily="18" charset="-120"/>
                  </a:rPr>
                  <a:t>            </a:t>
                </a:r>
                <a14:m>
                  <m:oMath xmlns:m="http://schemas.openxmlformats.org/officeDocument/2006/math">
                    <m:r>
                      <a:rPr lang="vi-VN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𝐷𝑜𝑔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∷</m:t>
                    </m:r>
                    <m:r>
                      <a:rPr lang="vi-VN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𝑒𝑎𝑡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()</m:t>
                    </m:r>
                  </m:oMath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vi-VN" altLang="zh-TW" sz="2400" i="1">
                    <a:latin typeface="Cambria Math" panose="02040503050406030204" pitchFamily="18" charset="0"/>
                    <a:ea typeface="新細明體" pitchFamily="18" charset="-120"/>
                  </a:rPr>
                  <a:t>            …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7D18A3F-E17B-C3A0-BDE8-FC64F03ADD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450" y="3724218"/>
                <a:ext cx="5022085" cy="2632132"/>
              </a:xfrm>
              <a:prstGeom prst="rect">
                <a:avLst/>
              </a:prstGeom>
              <a:blipFill>
                <a:blip r:embed="rId2"/>
                <a:stretch>
                  <a:fillRect l="-252" b="-576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E4625B6-4788-C46F-689A-CD949A9D2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1874104"/>
                <a:ext cx="4239964" cy="141310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𝐷𝑜𝑔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vi-VN" altLang="zh-TW" sz="2400" i="1">
                    <a:latin typeface="Cambria Math" panose="02040503050406030204" pitchFamily="18" charset="0"/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vi-VN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𝑡𝑦𝑝𝑒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=′</m:t>
                    </m:r>
                    <m:r>
                      <a:rPr lang="vi-VN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𝐷𝑜𝑔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  <a:ea typeface="新細明體" pitchFamily="18" charset="-120"/>
                      </a:rPr>
                      <m:t>′</m:t>
                    </m:r>
                  </m:oMath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E4625B6-4788-C46F-689A-CD949A9D23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1874104"/>
                <a:ext cx="4239964" cy="1413106"/>
              </a:xfrm>
              <a:prstGeom prst="rect">
                <a:avLst/>
              </a:prstGeom>
              <a:blipFill>
                <a:blip r:embed="rId3"/>
                <a:stretch>
                  <a:fillRect l="-299" b="-89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267F245-C993-751C-CD17-0D3CB686B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4909933"/>
                <a:ext cx="4239964" cy="131228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𝑀𝑜𝑛𝑘𝑒𝑦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/>
                  <a:t>       </a:t>
                </a:r>
                <a14:m>
                  <m:oMath xmlns:m="http://schemas.openxmlformats.org/officeDocument/2006/math"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=′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𝑀𝑜𝑛𝑘𝑒𝑦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zh-TW" sz="2400" b="1"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𝒐𝒗𝒆𝒓𝒓𝒊𝒅𝒆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267F245-C993-751C-CD17-0D3CB686B8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4909933"/>
                <a:ext cx="4239964" cy="1312286"/>
              </a:xfrm>
              <a:prstGeom prst="rect">
                <a:avLst/>
              </a:prstGeom>
              <a:blipFill>
                <a:blip r:embed="rId4"/>
                <a:stretch>
                  <a:fillRect l="-299" r="-2090" b="-285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9C22AC2-0CF5-1F47-3EBB-129919143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3429001"/>
                <a:ext cx="4239964" cy="1294900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𝐻𝑢𝑚𝑎𝑛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=′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𝐻𝑢𝑚𝑎𝑛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altLang="zh-TW" sz="2400" b="1"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𝒐𝒗𝒆𝒓𝒓𝒊𝒅𝒆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9C22AC2-0CF5-1F47-3EBB-129919143A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3429001"/>
                <a:ext cx="4239964" cy="1294900"/>
              </a:xfrm>
              <a:prstGeom prst="rect">
                <a:avLst/>
              </a:prstGeom>
              <a:blipFill>
                <a:blip r:embed="rId5"/>
                <a:stretch>
                  <a:fillRect l="-299" b="-5882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C9E081-2933-AF7A-75D6-C2D952414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451" y="1874103"/>
                <a:ext cx="5022086" cy="1740635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𝑛𝑖𝑚𝑎𝑙𝑠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𝒊𝒔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vi-VN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altLang="zh-TW" sz="2400" i="1">
                            <a:latin typeface="Cambria Math" panose="02040503050406030204" pitchFamily="18" charset="0"/>
                          </a:rPr>
                          <m:t>𝐴𝑛𝑖𝑚𝑎𝑙</m:t>
                        </m:r>
                      </m:e>
                    </m:d>
                  </m:oMath>
                </a14:m>
                <a:r>
                  <a:rPr lang="vi-VN" altLang="zh-TW" sz="2400" i="1"/>
                  <a:t> // </a:t>
                </a:r>
                <a:r>
                  <a:rPr lang="vi-VN" altLang="zh-TW" sz="2400" b="1"/>
                  <a:t>[ 🐶, 🐵, 👶 ]</a:t>
                </a: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/>
                  <a:t>…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AC9E081-2933-AF7A-75D6-C2D9524148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451" y="1874103"/>
                <a:ext cx="5022086" cy="1740635"/>
              </a:xfrm>
              <a:prstGeom prst="rect">
                <a:avLst/>
              </a:prstGeom>
              <a:blipFill>
                <a:blip r:embed="rId6"/>
                <a:stretch>
                  <a:fillRect l="-1763" t="-3623" b="-28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E9BE14C-9A83-22F3-DBBF-9AC5B60C287E}"/>
                  </a:ext>
                </a:extLst>
              </p14:cNvPr>
              <p14:cNvContentPartPr/>
              <p14:nvPr/>
            </p14:nvContentPartPr>
            <p14:xfrm>
              <a:off x="571680" y="2048040"/>
              <a:ext cx="8677440" cy="3925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E9BE14C-9A83-22F3-DBBF-9AC5B60C28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62320" y="2038680"/>
                <a:ext cx="8696160" cy="394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070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40797-025C-974F-19C5-D8233F98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67543-8A8C-3768-DB23-AEDDBAF5B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 (4/9)</a:t>
            </a:r>
            <a:br>
              <a:rPr lang="en-US"/>
            </a:br>
            <a:r>
              <a:rPr lang="en-US" sz="2800"/>
              <a:t>Solution: using list of pointer</a:t>
            </a:r>
            <a:endParaRPr lang="en-VN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1A7D1-447E-BDDA-574E-FDE9D7757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5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09E681-89F5-700B-4869-F59C92374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1878916"/>
                <a:ext cx="3380232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E09E681-89F5-700B-4869-F59C923749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1878916"/>
                <a:ext cx="3380232" cy="874256"/>
              </a:xfrm>
              <a:prstGeom prst="rect">
                <a:avLst/>
              </a:prstGeom>
              <a:blipFill>
                <a:blip r:embed="rId2"/>
                <a:stretch>
                  <a:fillRect l="-375" b="-571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45A380-7282-92B6-1340-069B6BC3C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2868223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𝐷𝑜𝑔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C45A380-7282-92B6-1340-069B6BC3C3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2868223"/>
                <a:ext cx="4239964" cy="992123"/>
              </a:xfrm>
              <a:prstGeom prst="rect">
                <a:avLst/>
              </a:prstGeom>
              <a:blipFill>
                <a:blip r:embed="rId3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D5514C7-7F12-7D75-0336-0F0654FE54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5113517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𝑀𝑜𝑛𝑘𝑒𝑦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D5514C7-7F12-7D75-0336-0F0654FE54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5113517"/>
                <a:ext cx="4239964" cy="992123"/>
              </a:xfrm>
              <a:prstGeom prst="rect">
                <a:avLst/>
              </a:prstGeom>
              <a:blipFill>
                <a:blip r:embed="rId4"/>
                <a:stretch>
                  <a:fillRect l="-299" r="-209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DF84471-9151-8B21-1D07-812D7C5FD7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3994768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𝐻𝑢𝑚𝑎𝑛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DF84471-9151-8B21-1D07-812D7C5FD7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3994768"/>
                <a:ext cx="4239964" cy="992123"/>
              </a:xfrm>
              <a:prstGeom prst="rect">
                <a:avLst/>
              </a:prstGeom>
              <a:blipFill>
                <a:blip r:embed="rId5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0E42629-8DC0-7C32-D6AE-8CE6601C0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451" y="1874104"/>
                <a:ext cx="5022086" cy="2231274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𝑎𝑛𝑖𝑚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𝑎𝑙𝑠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𝒊𝒔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𝑆𝑡𝑎𝑐𝑘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⟨</m:t>
                      </m:r>
                      <m:sSup>
                        <m:sSupPr>
                          <m:ctrlP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sSupPr>
                        <m:e>
                          <m:r>
                            <a:rPr lang="vi-VN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𝐴𝑛𝑖𝑚𝑎𝑙</m:t>
                          </m:r>
                        </m:e>
                        <m:sup>
                          <m: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∗</m:t>
                          </m:r>
                        </m:sup>
                      </m:sSup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⟩ 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𝑛𝑖𝑚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𝑎𝑙𝑠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𝑝𝑢𝑠h</m:t>
                    </m:r>
                    <m:d>
                      <m:dPr>
                        <m:ctrlPr>
                          <a:rPr lang="vi-VN" altLang="zh-TW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</a:rPr>
                          <m:t>𝒏𝒆𝒘</m:t>
                        </m:r>
                        <m:r>
                          <a:rPr lang="vi-VN" altLang="zh-TW" sz="2400" b="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vi-VN" altLang="zh-TW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altLang="zh-TW" sz="2400" i="1">
                                <a:latin typeface="Cambria Math" panose="02040503050406030204" pitchFamily="18" charset="0"/>
                              </a:rPr>
                              <m:t>𝐷𝑜𝑔</m:t>
                            </m:r>
                          </m:e>
                          <m:sup>
                            <m:r>
                              <a:rPr lang="vi-VN" altLang="zh-TW" sz="2400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𝑛𝑖𝑚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𝑎𝑙𝑠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𝑝𝑢𝑠h</m:t>
                    </m:r>
                    <m:d>
                      <m:dPr>
                        <m:ctrlPr>
                          <a:rPr lang="vi-VN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</a:rPr>
                          <m:t>𝒏𝒆𝒘</m:t>
                        </m:r>
                        <m:r>
                          <a:rPr lang="vi-VN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vi-VN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altLang="zh-TW" sz="2400" i="1">
                                <a:latin typeface="Cambria Math" panose="02040503050406030204" pitchFamily="18" charset="0"/>
                              </a:rPr>
                              <m:t>𝐻𝑢𝑚𝑎𝑛</m:t>
                            </m:r>
                          </m:e>
                          <m:sup>
                            <m:r>
                              <a:rPr lang="vi-VN" altLang="zh-TW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𝑎𝑛𝑖𝑚𝑎𝑙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0E42629-8DC0-7C32-D6AE-8CE6601C00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451" y="1874104"/>
                <a:ext cx="5022086" cy="2231274"/>
              </a:xfrm>
              <a:prstGeom prst="rect">
                <a:avLst/>
              </a:prstGeom>
              <a:blipFill>
                <a:blip r:embed="rId6"/>
                <a:stretch>
                  <a:fillRect l="-1008" r="-3023" b="-4067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5E419F5D-C578-17DA-7E66-DC115FFAEA07}"/>
              </a:ext>
            </a:extLst>
          </p:cNvPr>
          <p:cNvSpPr/>
          <p:nvPr/>
        </p:nvSpPr>
        <p:spPr>
          <a:xfrm>
            <a:off x="1250780" y="3606377"/>
            <a:ext cx="2322545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68D193-CD88-6BED-EFFD-7F42C6AC3F0C}"/>
              </a:ext>
            </a:extLst>
          </p:cNvPr>
          <p:cNvSpPr txBox="1"/>
          <p:nvPr/>
        </p:nvSpPr>
        <p:spPr>
          <a:xfrm>
            <a:off x="950451" y="4567628"/>
            <a:ext cx="5324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Why list of pointers can store diff type of objects?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9E259-DAEB-FB9E-B32D-FB930D008DD0}"/>
              </a:ext>
            </a:extLst>
          </p:cNvPr>
          <p:cNvSpPr/>
          <p:nvPr/>
        </p:nvSpPr>
        <p:spPr>
          <a:xfrm>
            <a:off x="6575026" y="3308770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970A6E-38D9-BBA5-B684-F2FFE3918AF7}"/>
              </a:ext>
            </a:extLst>
          </p:cNvPr>
          <p:cNvSpPr/>
          <p:nvPr/>
        </p:nvSpPr>
        <p:spPr>
          <a:xfrm>
            <a:off x="6586511" y="4487344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D88C95-1CB6-3445-D199-A9A29B2CBDD8}"/>
              </a:ext>
            </a:extLst>
          </p:cNvPr>
          <p:cNvSpPr/>
          <p:nvPr/>
        </p:nvSpPr>
        <p:spPr>
          <a:xfrm>
            <a:off x="6575025" y="5579701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1E42C-1F53-7B9C-22D6-578E6FA5BB94}"/>
              </a:ext>
            </a:extLst>
          </p:cNvPr>
          <p:cNvSpPr/>
          <p:nvPr/>
        </p:nvSpPr>
        <p:spPr>
          <a:xfrm>
            <a:off x="6575025" y="2281366"/>
            <a:ext cx="2302647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4C79C9-EF6B-64AB-E38E-8C6B8DAF2CC0}"/>
                  </a:ext>
                </a:extLst>
              </p:cNvPr>
              <p:cNvSpPr txBox="1"/>
              <p:nvPr/>
            </p:nvSpPr>
            <p:spPr>
              <a:xfrm>
                <a:off x="950451" y="4223576"/>
                <a:ext cx="53242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>
                    <a:solidFill>
                      <a:srgbClr val="FF0000"/>
                    </a:solidFill>
                  </a:rPr>
                  <a:t>Now only </a:t>
                </a:r>
                <a14:m>
                  <m:oMath xmlns:m="http://schemas.openxmlformats.org/officeDocument/2006/math"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𝐴𝑛𝑖𝑚𝑎𝑙</m:t>
                    </m:r>
                    <m:r>
                      <a:rPr lang="vi-V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∷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𝑒𝑎𝑡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() </m:t>
                    </m:r>
                  </m:oMath>
                </a14:m>
                <a:r>
                  <a:rPr lang="en-VN">
                    <a:solidFill>
                      <a:srgbClr val="FF0000"/>
                    </a:solidFill>
                  </a:rPr>
                  <a:t>is called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4C79C9-EF6B-64AB-E38E-8C6B8DAF2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451" y="4223576"/>
                <a:ext cx="5324244" cy="369332"/>
              </a:xfrm>
              <a:prstGeom prst="rect">
                <a:avLst/>
              </a:prstGeom>
              <a:blipFill>
                <a:blip r:embed="rId7"/>
                <a:stretch>
                  <a:fillRect l="-952" t="-6667" b="-266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423ADB52-E86B-0181-9B36-DCB0D5896788}"/>
              </a:ext>
            </a:extLst>
          </p:cNvPr>
          <p:cNvCxnSpPr>
            <a:stCxn id="29" idx="3"/>
          </p:cNvCxnSpPr>
          <p:nvPr/>
        </p:nvCxnSpPr>
        <p:spPr>
          <a:xfrm flipV="1">
            <a:off x="3573325" y="2493349"/>
            <a:ext cx="3001700" cy="1325011"/>
          </a:xfrm>
          <a:prstGeom prst="bentConnector3">
            <a:avLst>
              <a:gd name="adj1" fmla="val 8316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9BB2193-C96B-F17E-C126-C07AAFD41189}"/>
                  </a:ext>
                </a:extLst>
              </p14:cNvPr>
              <p14:cNvContentPartPr/>
              <p14:nvPr/>
            </p14:nvContentPartPr>
            <p14:xfrm>
              <a:off x="581040" y="1495080"/>
              <a:ext cx="4219920" cy="1505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9BB2193-C96B-F17E-C126-C07AAFD4118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1680" y="1485720"/>
                <a:ext cx="4238640" cy="152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624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2D344-25DB-3D0C-C7E3-EDEFA64D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3D43-6067-97C8-36E8-4EF60AF2B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 (5/9)</a:t>
            </a:r>
            <a:br>
              <a:rPr lang="en-US"/>
            </a:br>
            <a:r>
              <a:rPr lang="en-US" sz="2800"/>
              <a:t>Solution: using list of pointer</a:t>
            </a:r>
            <a:endParaRPr lang="en-VN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DCA32-2783-FFA2-8A36-3EEB4F5C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6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F6910FE-4A1D-C87E-9972-D876A98A1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1878916"/>
                <a:ext cx="3380232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F6910FE-4A1D-C87E-9972-D876A98A18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1878916"/>
                <a:ext cx="3380232" cy="874256"/>
              </a:xfrm>
              <a:prstGeom prst="rect">
                <a:avLst/>
              </a:prstGeom>
              <a:blipFill>
                <a:blip r:embed="rId2"/>
                <a:stretch>
                  <a:fillRect l="-375" b="-571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3E7395A-0D09-F300-29A2-30F7F1771E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2868223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𝐷𝑜𝑔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3E7395A-0D09-F300-29A2-30F7F1771E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2868223"/>
                <a:ext cx="4239964" cy="992123"/>
              </a:xfrm>
              <a:prstGeom prst="rect">
                <a:avLst/>
              </a:prstGeom>
              <a:blipFill>
                <a:blip r:embed="rId3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7344C3D-526B-01AF-95F6-122D2C0E3A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5113517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𝑀𝑜𝑛𝑘𝑒𝑦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7344C3D-526B-01AF-95F6-122D2C0E3A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5113517"/>
                <a:ext cx="4239964" cy="992123"/>
              </a:xfrm>
              <a:prstGeom prst="rect">
                <a:avLst/>
              </a:prstGeom>
              <a:blipFill>
                <a:blip r:embed="rId4"/>
                <a:stretch>
                  <a:fillRect l="-299" r="-209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D240536-67DF-646F-93BB-922CF22A2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9465" y="3994768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𝐻𝑢𝑚𝑎𝑛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D240536-67DF-646F-93BB-922CF22A27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9465" y="3994768"/>
                <a:ext cx="4239964" cy="992123"/>
              </a:xfrm>
              <a:prstGeom prst="rect">
                <a:avLst/>
              </a:prstGeom>
              <a:blipFill>
                <a:blip r:embed="rId5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3CFBB70-AE00-E2BD-DFAE-7948C2C10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0451" y="1874104"/>
                <a:ext cx="5022086" cy="2231274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𝑎𝑛𝑖𝑚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𝑎𝑙𝑠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𝒊𝒔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𝑆𝑡𝑎𝑐𝑘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⟨</m:t>
                      </m:r>
                      <m:sSup>
                        <m:sSupPr>
                          <m:ctrlP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sSupPr>
                        <m:e>
                          <m:r>
                            <a:rPr lang="vi-VN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𝐴𝑛𝑖𝑚𝑎𝑙</m:t>
                          </m:r>
                        </m:e>
                        <m:sup>
                          <m: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∗</m:t>
                          </m:r>
                        </m:sup>
                      </m:sSup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⟩ 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𝑛𝑖𝑚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𝑎𝑙𝑠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𝑝𝑢𝑠h</m:t>
                    </m:r>
                    <m:d>
                      <m:dPr>
                        <m:ctrlPr>
                          <a:rPr lang="vi-VN" altLang="zh-TW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</a:rPr>
                          <m:t>𝒏𝒆𝒘</m:t>
                        </m:r>
                        <m:r>
                          <a:rPr lang="vi-VN" altLang="zh-TW" sz="2400" b="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vi-VN" altLang="zh-TW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altLang="zh-TW" sz="2400" i="1">
                                <a:latin typeface="Cambria Math" panose="02040503050406030204" pitchFamily="18" charset="0"/>
                              </a:rPr>
                              <m:t>𝐷𝑜𝑔</m:t>
                            </m:r>
                          </m:e>
                          <m:sup>
                            <m:r>
                              <a:rPr lang="vi-VN" altLang="zh-TW" sz="2400" b="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𝑛𝑖𝑚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𝑎𝑙𝑠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𝑝𝑢𝑠h</m:t>
                    </m:r>
                    <m:d>
                      <m:dPr>
                        <m:ctrlPr>
                          <a:rPr lang="vi-VN" altLang="zh-TW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</a:rPr>
                          <m:t>𝒏𝒆𝒘</m:t>
                        </m:r>
                        <m:r>
                          <a:rPr lang="vi-VN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vi-VN" altLang="zh-TW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altLang="zh-TW" sz="2400" i="1">
                                <a:latin typeface="Cambria Math" panose="02040503050406030204" pitchFamily="18" charset="0"/>
                              </a:rPr>
                              <m:t>𝐻𝑢𝑚𝑎𝑛</m:t>
                            </m:r>
                          </m:e>
                          <m:sup>
                            <m:r>
                              <a:rPr lang="vi-VN" altLang="zh-TW" sz="2400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𝑎𝑛𝑖𝑚𝑎𝑙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E3CFBB70-AE00-E2BD-DFAE-7948C2C100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0451" y="1874104"/>
                <a:ext cx="5022086" cy="2231274"/>
              </a:xfrm>
              <a:prstGeom prst="rect">
                <a:avLst/>
              </a:prstGeom>
              <a:blipFill>
                <a:blip r:embed="rId6"/>
                <a:stretch>
                  <a:fillRect l="-1008" r="-3023" b="-4067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C98B0BBF-48A1-7963-3117-F94669479916}"/>
              </a:ext>
            </a:extLst>
          </p:cNvPr>
          <p:cNvSpPr/>
          <p:nvPr/>
        </p:nvSpPr>
        <p:spPr>
          <a:xfrm>
            <a:off x="1250780" y="3606377"/>
            <a:ext cx="2322545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BFCBDAA-E09D-8447-8D87-6492AC768279}"/>
              </a:ext>
            </a:extLst>
          </p:cNvPr>
          <p:cNvSpPr txBox="1"/>
          <p:nvPr/>
        </p:nvSpPr>
        <p:spPr>
          <a:xfrm>
            <a:off x="884310" y="4177567"/>
            <a:ext cx="5324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rgbClr val="FF0000"/>
                </a:solidFill>
              </a:rPr>
              <a:t>Why list of pointers can store diff type of objects?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C0D46B-6755-FD47-8575-4D3A2DD4381B}"/>
              </a:ext>
            </a:extLst>
          </p:cNvPr>
          <p:cNvSpPr/>
          <p:nvPr/>
        </p:nvSpPr>
        <p:spPr>
          <a:xfrm>
            <a:off x="6575026" y="3308770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D3A078-4160-0BE9-0D72-A72156769019}"/>
              </a:ext>
            </a:extLst>
          </p:cNvPr>
          <p:cNvSpPr/>
          <p:nvPr/>
        </p:nvSpPr>
        <p:spPr>
          <a:xfrm>
            <a:off x="6586511" y="4487344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23A171-A3F1-B7D3-F2F1-61E406DBDB6A}"/>
              </a:ext>
            </a:extLst>
          </p:cNvPr>
          <p:cNvSpPr/>
          <p:nvPr/>
        </p:nvSpPr>
        <p:spPr>
          <a:xfrm>
            <a:off x="6575025" y="5579701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13A9F7-921E-841F-B0B3-990613BBD662}"/>
              </a:ext>
            </a:extLst>
          </p:cNvPr>
          <p:cNvSpPr/>
          <p:nvPr/>
        </p:nvSpPr>
        <p:spPr>
          <a:xfrm>
            <a:off x="6575025" y="2281366"/>
            <a:ext cx="2302647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52EA8B-2B79-7A7A-2D4A-BC44BBBB0254}"/>
                  </a:ext>
                </a:extLst>
              </p:cNvPr>
              <p:cNvSpPr txBox="1"/>
              <p:nvPr/>
            </p:nvSpPr>
            <p:spPr>
              <a:xfrm>
                <a:off x="6096000" y="6171684"/>
                <a:ext cx="53242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>
                    <a:solidFill>
                      <a:srgbClr val="FF0000"/>
                    </a:solidFill>
                  </a:rPr>
                  <a:t>Now only </a:t>
                </a:r>
                <a14:m>
                  <m:oMath xmlns:m="http://schemas.openxmlformats.org/officeDocument/2006/math"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𝐴𝑛𝑖𝑚𝑎𝑙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::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𝑒𝑎𝑡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() </m:t>
                    </m:r>
                  </m:oMath>
                </a14:m>
                <a:r>
                  <a:rPr lang="en-VN">
                    <a:solidFill>
                      <a:srgbClr val="FF0000"/>
                    </a:solidFill>
                  </a:rPr>
                  <a:t>is called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52EA8B-2B79-7A7A-2D4A-BC44BBBB0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171684"/>
                <a:ext cx="5324244" cy="369332"/>
              </a:xfrm>
              <a:prstGeom prst="rect">
                <a:avLst/>
              </a:prstGeom>
              <a:blipFill>
                <a:blip r:embed="rId7"/>
                <a:stretch>
                  <a:fillRect l="-952" t="-6452" b="-225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34FEDBDF-8420-986D-DC7D-EC62411B17FE}"/>
              </a:ext>
            </a:extLst>
          </p:cNvPr>
          <p:cNvCxnSpPr>
            <a:stCxn id="29" idx="3"/>
          </p:cNvCxnSpPr>
          <p:nvPr/>
        </p:nvCxnSpPr>
        <p:spPr>
          <a:xfrm flipV="1">
            <a:off x="3573325" y="2493349"/>
            <a:ext cx="3001700" cy="1325011"/>
          </a:xfrm>
          <a:prstGeom prst="bentConnector3">
            <a:avLst>
              <a:gd name="adj1" fmla="val 8316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786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63B5-6C84-C208-0287-5747AF744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6699-7876-7D76-9C9F-0F9B4E072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 (6/9)</a:t>
            </a:r>
            <a:br>
              <a:rPr lang="en-US"/>
            </a:br>
            <a:r>
              <a:rPr lang="en-US" sz="2800"/>
              <a:t>Solution: using list of pointer</a:t>
            </a:r>
            <a:endParaRPr lang="en-VN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1937E-F029-CF20-9F7D-6F1086F8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7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CFAD359-9C30-D1D5-5898-5994AC9851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808" y="1690688"/>
                <a:ext cx="4788059" cy="1865142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:…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𝐷𝑜𝑔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𝒆𝒙𝒕𝒆𝒏𝒅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𝐴𝑛𝑖𝑚𝑎𝑙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</a:rPr>
                      <m:t>:…</m:t>
                    </m:r>
                  </m:oMath>
                </a14:m>
                <a:r>
                  <a:rPr lang="vi-VN" altLang="zh-TW" sz="2400" b="0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𝐻𝑢𝑚𝑎𝑛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𝒆𝒙𝒕𝒆𝒏𝒅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𝐴𝑛𝑖𝑚𝑎𝑙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…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𝑀𝑜𝑛𝑘𝑒𝑦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𝒆𝒙𝒕𝒆𝒏𝒅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𝐴𝑛𝑖𝑚𝑎𝑙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…</a:t>
                </a:r>
              </a:p>
              <a:p>
                <a:pPr marL="342900" indent="-342900">
                  <a:spcBef>
                    <a:spcPct val="20000"/>
                  </a:spcBef>
                </a:pPr>
                <a:endParaRPr lang="vi-VN" altLang="zh-TW" sz="2400" i="1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endParaRPr lang="vi-VN" altLang="zh-TW" sz="2400" i="1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endParaRPr lang="vi-VN" altLang="zh-TW" sz="2400" i="1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ECFAD359-9C30-D1D5-5898-5994AC985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4808" y="1690688"/>
                <a:ext cx="4788059" cy="1865142"/>
              </a:xfrm>
              <a:prstGeom prst="rect">
                <a:avLst/>
              </a:prstGeom>
              <a:blipFill>
                <a:blip r:embed="rId2"/>
                <a:stretch>
                  <a:fillRect l="-531" b="-270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F637607-9F72-A4C3-D2BD-86B24336A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808" y="3660564"/>
                <a:ext cx="5022086" cy="2231274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𝑎𝑛𝑖𝑚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𝑎𝑙𝑠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𝒊𝒔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𝑆𝑡𝑎𝑐𝑘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⟨</m:t>
                      </m:r>
                      <m:sSup>
                        <m:sSupPr>
                          <m:ctrlP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sSupPr>
                        <m:e>
                          <m:r>
                            <a:rPr lang="vi-VN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𝐴𝑛𝑖𝑚𝑎𝑙</m:t>
                          </m:r>
                        </m:e>
                        <m:sup>
                          <m: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∗</m:t>
                          </m:r>
                        </m:sup>
                      </m:sSup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⟩ 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𝑛𝑖𝑚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𝑎𝑙𝑠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</a:t>
                </a:r>
                <a:r>
                  <a:rPr lang="vi-VN" altLang="zh-TW" sz="2400" b="1"/>
                  <a:t>[ 🐶, 🐵, 👶 ]</a:t>
                </a:r>
                <a:endParaRPr lang="vi-VN" altLang="zh-TW" sz="2400" i="1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𝑎𝑛𝑖𝑚𝑎𝑙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FF637607-9F72-A4C3-D2BD-86B24336A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4808" y="3660564"/>
                <a:ext cx="5022086" cy="2231274"/>
              </a:xfrm>
              <a:prstGeom prst="rect">
                <a:avLst/>
              </a:prstGeom>
              <a:blipFill>
                <a:blip r:embed="rId3"/>
                <a:stretch>
                  <a:fillRect l="-1010" r="-3283" b="-2090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2462F4-A700-523F-CEE1-DA0EB14594E5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078559" y="1701485"/>
            <a:ext cx="0" cy="4006266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0810BDC-08E9-0AF1-74A5-D248C597F7D7}"/>
              </a:ext>
            </a:extLst>
          </p:cNvPr>
          <p:cNvSpPr txBox="1"/>
          <p:nvPr/>
        </p:nvSpPr>
        <p:spPr>
          <a:xfrm>
            <a:off x="679988" y="5707751"/>
            <a:ext cx="797142" cy="36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A61A15-29A6-833E-0F72-53E489618D63}"/>
              </a:ext>
            </a:extLst>
          </p:cNvPr>
          <p:cNvSpPr/>
          <p:nvPr/>
        </p:nvSpPr>
        <p:spPr>
          <a:xfrm>
            <a:off x="1406108" y="1629738"/>
            <a:ext cx="4936807" cy="2467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CF97E1-2545-994C-CD68-BA4DDF6CE984}"/>
              </a:ext>
            </a:extLst>
          </p:cNvPr>
          <p:cNvSpPr txBox="1"/>
          <p:nvPr/>
        </p:nvSpPr>
        <p:spPr>
          <a:xfrm rot="16200000">
            <a:off x="5736510" y="2394860"/>
            <a:ext cx="169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Compile 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2175EF-E54B-B349-4721-627815B6107A}"/>
              </a:ext>
            </a:extLst>
          </p:cNvPr>
          <p:cNvSpPr/>
          <p:nvPr/>
        </p:nvSpPr>
        <p:spPr>
          <a:xfrm>
            <a:off x="1406108" y="4136802"/>
            <a:ext cx="5179875" cy="1847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B6EA2E-3F56-76CD-53D6-5750EA715BD1}"/>
              </a:ext>
            </a:extLst>
          </p:cNvPr>
          <p:cNvSpPr txBox="1"/>
          <p:nvPr/>
        </p:nvSpPr>
        <p:spPr>
          <a:xfrm rot="16200000">
            <a:off x="6105843" y="2394860"/>
            <a:ext cx="169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Static binding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3FE4A6-EAB9-EDC7-8067-3C89B491A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4937" y="1649196"/>
                <a:ext cx="3380232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3FE4A6-EAB9-EDC7-8067-3C89B491A1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4937" y="1649196"/>
                <a:ext cx="3380232" cy="874256"/>
              </a:xfrm>
              <a:prstGeom prst="rect">
                <a:avLst/>
              </a:prstGeom>
              <a:blipFill>
                <a:blip r:embed="rId4"/>
                <a:stretch>
                  <a:fillRect l="-375" b="-57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73280D1-95E0-81C7-EA32-8B89DEC1A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4937" y="2638503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𝐷𝑜𝑔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73280D1-95E0-81C7-EA32-8B89DEC1A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4937" y="2638503"/>
                <a:ext cx="4239964" cy="992123"/>
              </a:xfrm>
              <a:prstGeom prst="rect">
                <a:avLst/>
              </a:prstGeom>
              <a:blipFill>
                <a:blip r:embed="rId5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B4E56287-84C3-D50E-6DD0-CF4DF1E7627C}"/>
              </a:ext>
            </a:extLst>
          </p:cNvPr>
          <p:cNvSpPr/>
          <p:nvPr/>
        </p:nvSpPr>
        <p:spPr>
          <a:xfrm>
            <a:off x="8150498" y="3079050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D2346A-9F53-579F-DC84-6AA5A54AD7FB}"/>
              </a:ext>
            </a:extLst>
          </p:cNvPr>
          <p:cNvSpPr/>
          <p:nvPr/>
        </p:nvSpPr>
        <p:spPr>
          <a:xfrm>
            <a:off x="8150497" y="2051646"/>
            <a:ext cx="2302647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FE7029CC-AEAA-8623-1441-8929AFC10A13}"/>
              </a:ext>
            </a:extLst>
          </p:cNvPr>
          <p:cNvCxnSpPr>
            <a:endCxn id="23" idx="1"/>
          </p:cNvCxnSpPr>
          <p:nvPr/>
        </p:nvCxnSpPr>
        <p:spPr>
          <a:xfrm flipV="1">
            <a:off x="4213185" y="2263629"/>
            <a:ext cx="3937312" cy="2898680"/>
          </a:xfrm>
          <a:prstGeom prst="bentConnector3">
            <a:avLst>
              <a:gd name="adj1" fmla="val 8557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65423D8-E6A5-1321-8639-E9559746FE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4937" y="4864426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𝑀𝑜𝑛𝑘𝑒𝑦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65423D8-E6A5-1321-8639-E9559746FE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4937" y="4864426"/>
                <a:ext cx="4239964" cy="992123"/>
              </a:xfrm>
              <a:prstGeom prst="rect">
                <a:avLst/>
              </a:prstGeom>
              <a:blipFill>
                <a:blip r:embed="rId6"/>
                <a:stretch>
                  <a:fillRect l="-299" r="-209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6225BED-DF90-1C9C-D0FB-23BB6C1B4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4937" y="3745677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𝐻𝑢𝑚𝑎𝑛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6225BED-DF90-1C9C-D0FB-23BB6C1B4F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4937" y="3745677"/>
                <a:ext cx="4239964" cy="992123"/>
              </a:xfrm>
              <a:prstGeom prst="rect">
                <a:avLst/>
              </a:prstGeom>
              <a:blipFill>
                <a:blip r:embed="rId7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7FF9B3FA-CA4D-559E-8444-6D741EFAB3A1}"/>
              </a:ext>
            </a:extLst>
          </p:cNvPr>
          <p:cNvSpPr/>
          <p:nvPr/>
        </p:nvSpPr>
        <p:spPr>
          <a:xfrm>
            <a:off x="8161983" y="4238253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C449C9A-9625-FAB5-293E-01D0FD3E0628}"/>
              </a:ext>
            </a:extLst>
          </p:cNvPr>
          <p:cNvSpPr/>
          <p:nvPr/>
        </p:nvSpPr>
        <p:spPr>
          <a:xfrm>
            <a:off x="8150497" y="5330610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B58A4C-28E2-8224-C4DF-0955BAD748D2}"/>
                  </a:ext>
                </a:extLst>
              </p14:cNvPr>
              <p14:cNvContentPartPr/>
              <p14:nvPr/>
            </p14:nvContentPartPr>
            <p14:xfrm>
              <a:off x="1028160" y="3752640"/>
              <a:ext cx="6668280" cy="3020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B58A4C-28E2-8224-C4DF-0955BAD748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18800" y="3743280"/>
                <a:ext cx="6687000" cy="303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753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8852C-2300-F014-66FB-AF248BBE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D4C7-B58F-17E7-9BD3-138D2A9D3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 (7/9)</a:t>
            </a:r>
            <a:br>
              <a:rPr lang="en-US"/>
            </a:br>
            <a:r>
              <a:rPr lang="en-US" sz="2800"/>
              <a:t>Solution: using list of pointer</a:t>
            </a:r>
            <a:endParaRPr lang="en-VN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61EDB-7152-A994-08B4-56646058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8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CEDEED-6015-174B-00AF-67DA409B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808" y="1690688"/>
                <a:ext cx="4788059" cy="1865142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:…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𝐷𝑜𝑔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𝒆𝒙𝒕𝒆𝒏𝒅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𝐴𝑛𝑖𝑚𝑎𝑙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</a:rPr>
                      <m:t>:…</m:t>
                    </m:r>
                  </m:oMath>
                </a14:m>
                <a:r>
                  <a:rPr lang="vi-VN" altLang="zh-TW" sz="2400" b="0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𝐻𝑢𝑚𝑎𝑛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𝒆𝒙𝒕𝒆𝒏𝒅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𝐴𝑛𝑖𝑚𝑎𝑙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…</a:t>
                </a: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𝒄𝒍𝒂𝒔𝒔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𝑀𝑜𝑛𝑘𝑒𝑦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b="1" i="1">
                        <a:latin typeface="Cambria Math" panose="02040503050406030204" pitchFamily="18" charset="0"/>
                      </a:rPr>
                      <m:t>𝒆𝒙𝒕𝒆𝒏𝒅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𝐴𝑛𝑖𝑚𝑎𝑙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…</a:t>
                </a:r>
              </a:p>
              <a:p>
                <a:pPr marL="342900" indent="-342900">
                  <a:spcBef>
                    <a:spcPct val="20000"/>
                  </a:spcBef>
                </a:pPr>
                <a:endParaRPr lang="vi-VN" altLang="zh-TW" sz="2400" i="1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endParaRPr lang="vi-VN" altLang="zh-TW" sz="2400" i="1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endParaRPr lang="vi-VN" altLang="zh-TW" sz="2400" i="1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CEDEED-6015-174B-00AF-67DA409BC0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4808" y="1690688"/>
                <a:ext cx="4788059" cy="1865142"/>
              </a:xfrm>
              <a:prstGeom prst="rect">
                <a:avLst/>
              </a:prstGeom>
              <a:blipFill>
                <a:blip r:embed="rId2"/>
                <a:stretch>
                  <a:fillRect l="-531" b="-2703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9B78D6D-4C63-0FC6-509A-F4303D8823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808" y="3660564"/>
                <a:ext cx="5022086" cy="2231274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𝑎𝑛𝑖𝑚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𝑎𝑙𝑠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𝒊𝒔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𝑆𝑡𝑎𝑐𝑘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⟨</m:t>
                      </m:r>
                      <m:sSup>
                        <m:sSupPr>
                          <m:ctrlP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</m:ctrlPr>
                        </m:sSupPr>
                        <m:e>
                          <m:r>
                            <a:rPr lang="vi-VN" altLang="zh-TW" sz="240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𝐴𝑛𝑖𝑚𝑎𝑙</m:t>
                          </m:r>
                        </m:e>
                        <m:sup>
                          <m:r>
                            <a:rPr lang="vi-VN" altLang="zh-TW" sz="2400" b="0" i="1">
                              <a:latin typeface="Cambria Math" panose="02040503050406030204" pitchFamily="18" charset="0"/>
                              <a:ea typeface="新細明體" pitchFamily="18" charset="-120"/>
                            </a:rPr>
                            <m:t>∗</m:t>
                          </m:r>
                        </m:sup>
                      </m:sSup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⟩ 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altLang="zh-TW" sz="2400" i="1">
                        <a:latin typeface="Cambria Math" panose="02040503050406030204" pitchFamily="18" charset="0"/>
                      </a:rPr>
                      <m:t>𝑛𝑖𝑚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𝑎𝑙𝑠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altLang="zh-TW" sz="2400" i="1"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vi-VN" altLang="zh-TW" sz="2400" b="0" i="1"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vi-VN" altLang="zh-TW" sz="2400" i="1">
                    <a:latin typeface="Cambria Math" panose="02040503050406030204" pitchFamily="18" charset="0"/>
                  </a:rPr>
                  <a:t> </a:t>
                </a:r>
                <a:r>
                  <a:rPr lang="vi-VN" altLang="zh-TW" sz="2400" b="1"/>
                  <a:t>[ 🐶, 🐵, 👶 ]</a:t>
                </a:r>
                <a:endParaRPr lang="vi-VN" altLang="zh-TW" sz="2400" i="1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𝒇𝒐𝒓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𝒊𝒏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𝑎𝑛𝑖𝑚𝑎𝑙𝑠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vi-VN" altLang="zh-TW" sz="2400" b="1" i="1">
                    <a:latin typeface="Cambria Math" panose="02040503050406030204" pitchFamily="18" charset="0"/>
                  </a:rPr>
                  <a:t> </a:t>
                </a:r>
              </a:p>
              <a:p>
                <a:pPr marL="342900" indent="-342900" algn="r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𝑎𝑛𝑖𝑚𝑎𝑙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𝑒𝑎𝑡</m:t>
                      </m:r>
                      <m:d>
                        <m:dPr>
                          <m:ctrlPr>
                            <a:rPr lang="vi-VN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  <a:p>
                <a:pPr marL="342900" indent="-342900" algn="r">
                  <a:spcBef>
                    <a:spcPct val="20000"/>
                  </a:spcBef>
                </a:pPr>
                <a:endParaRPr lang="vi-VN" altLang="zh-TW" sz="2400" b="1" i="1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9B78D6D-4C63-0FC6-509A-F4303D882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74808" y="3660564"/>
                <a:ext cx="5022086" cy="2231274"/>
              </a:xfrm>
              <a:prstGeom prst="rect">
                <a:avLst/>
              </a:prstGeom>
              <a:blipFill>
                <a:blip r:embed="rId3"/>
                <a:stretch>
                  <a:fillRect l="-1010" r="-3283" b="-2090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1707555-2992-5084-43C9-BE2A888B31F7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1078559" y="1701485"/>
            <a:ext cx="0" cy="4006266"/>
          </a:xfrm>
          <a:prstGeom prst="line">
            <a:avLst/>
          </a:prstGeom>
          <a:ln w="38100"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96990AC-C5AC-1FA2-7DB6-0841E2317BF7}"/>
              </a:ext>
            </a:extLst>
          </p:cNvPr>
          <p:cNvSpPr txBox="1"/>
          <p:nvPr/>
        </p:nvSpPr>
        <p:spPr>
          <a:xfrm>
            <a:off x="679988" y="5707751"/>
            <a:ext cx="797142" cy="368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/>
              <a:t>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4EFB7B-CE76-8E48-B814-F873854822A2}"/>
              </a:ext>
            </a:extLst>
          </p:cNvPr>
          <p:cNvSpPr/>
          <p:nvPr/>
        </p:nvSpPr>
        <p:spPr>
          <a:xfrm>
            <a:off x="1406108" y="1629738"/>
            <a:ext cx="4936807" cy="24677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A9E351-99FE-25A2-34C8-80F378D3A9D9}"/>
              </a:ext>
            </a:extLst>
          </p:cNvPr>
          <p:cNvSpPr txBox="1"/>
          <p:nvPr/>
        </p:nvSpPr>
        <p:spPr>
          <a:xfrm>
            <a:off x="2911323" y="6040447"/>
            <a:ext cx="169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Run time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BB2DE3-9C54-9E9B-7F0F-A0F50FB80853}"/>
              </a:ext>
            </a:extLst>
          </p:cNvPr>
          <p:cNvSpPr/>
          <p:nvPr/>
        </p:nvSpPr>
        <p:spPr>
          <a:xfrm>
            <a:off x="1406108" y="4136802"/>
            <a:ext cx="5179875" cy="18473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73EB6A-9A20-7EBA-8CFC-8829247F6EC2}"/>
              </a:ext>
            </a:extLst>
          </p:cNvPr>
          <p:cNvSpPr txBox="1"/>
          <p:nvPr/>
        </p:nvSpPr>
        <p:spPr>
          <a:xfrm>
            <a:off x="3145295" y="6352143"/>
            <a:ext cx="2899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Dynamic binding/dispatch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43BB75F-EC5B-C160-8F85-FDBA40ED69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4937" y="1649196"/>
                <a:ext cx="3380232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𝑣𝑖𝑟𝑡𝑢𝑎𝑙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43BB75F-EC5B-C160-8F85-FDBA40ED6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4937" y="1649196"/>
                <a:ext cx="3380232" cy="874256"/>
              </a:xfrm>
              <a:prstGeom prst="rect">
                <a:avLst/>
              </a:prstGeom>
              <a:blipFill>
                <a:blip r:embed="rId4"/>
                <a:stretch>
                  <a:fillRect l="-375" b="-57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89B3B42-9DF8-007D-7B2E-D49FD3888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4937" y="2638503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𝐷𝑜𝑔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89B3B42-9DF8-007D-7B2E-D49FD3888E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4937" y="2638503"/>
                <a:ext cx="4239964" cy="992123"/>
              </a:xfrm>
              <a:prstGeom prst="rect">
                <a:avLst/>
              </a:prstGeom>
              <a:blipFill>
                <a:blip r:embed="rId5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AA2202C0-1FBE-DB4E-2E9A-F9DB483AD614}"/>
              </a:ext>
            </a:extLst>
          </p:cNvPr>
          <p:cNvSpPr/>
          <p:nvPr/>
        </p:nvSpPr>
        <p:spPr>
          <a:xfrm>
            <a:off x="8150498" y="3079050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B5844B-E4CA-5695-5D53-F58DB19CA0B8}"/>
              </a:ext>
            </a:extLst>
          </p:cNvPr>
          <p:cNvSpPr/>
          <p:nvPr/>
        </p:nvSpPr>
        <p:spPr>
          <a:xfrm>
            <a:off x="8150497" y="2051646"/>
            <a:ext cx="1097675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07D485F8-2C2B-F670-2410-B15E60EFB916}"/>
              </a:ext>
            </a:extLst>
          </p:cNvPr>
          <p:cNvCxnSpPr>
            <a:cxnSpLocks/>
          </p:cNvCxnSpPr>
          <p:nvPr/>
        </p:nvCxnSpPr>
        <p:spPr>
          <a:xfrm flipV="1">
            <a:off x="4213185" y="3297167"/>
            <a:ext cx="3948798" cy="1865142"/>
          </a:xfrm>
          <a:prstGeom prst="bentConnector3">
            <a:avLst>
              <a:gd name="adj1" fmla="val 7843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0144B2F-9E9A-9801-3F0B-E98775271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4937" y="4864426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𝑀𝑜𝑛𝑘𝑒𝑦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0144B2F-9E9A-9801-3F0B-E987752713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4937" y="4864426"/>
                <a:ext cx="4239964" cy="992123"/>
              </a:xfrm>
              <a:prstGeom prst="rect">
                <a:avLst/>
              </a:prstGeom>
              <a:blipFill>
                <a:blip r:embed="rId6"/>
                <a:stretch>
                  <a:fillRect l="-299" r="-209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9869A96-EFF8-8E74-C496-A1D204A96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4937" y="3745677"/>
                <a:ext cx="4239964" cy="992123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𝐻𝑢𝑚𝑎𝑛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b="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:r>
                  <a:rPr lang="en-US" altLang="zh-TW" sz="2400" b="1">
                    <a:ea typeface="新細明體" pitchFamily="18" charset="-12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𝒐𝒗𝒆𝒓𝒓𝒊𝒅𝒆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r>
                      <a:rPr lang="en-US" altLang="zh-TW" sz="2400" b="1" i="1">
                        <a:latin typeface="Cambria Math" panose="02040503050406030204" pitchFamily="18" charset="0"/>
                        <a:ea typeface="新細明體" pitchFamily="18" charset="-120"/>
                      </a:rPr>
                      <m:t>𝒆𝒂𝒕</m:t>
                    </m:r>
                    <m:r>
                      <a:rPr lang="en-US" altLang="zh-TW" sz="2400" i="1">
                        <a:latin typeface="Cambria Math" panose="02040503050406030204" pitchFamily="18" charset="0"/>
                        <a:ea typeface="新細明體" pitchFamily="18" charset="-120"/>
                      </a:rPr>
                      <m:t> </m:t>
                    </m:r>
                    <m:d>
                      <m:dPr>
                        <m:ctrlPr>
                          <a:rPr lang="en-US" altLang="zh-TW" sz="2400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</m:ctrlPr>
                      </m:dPr>
                      <m:e>
                        <m:r>
                          <a:rPr lang="vi-VN" altLang="zh-TW" sz="2400" b="1" i="1">
                            <a:latin typeface="Cambria Math" panose="02040503050406030204" pitchFamily="18" charset="0"/>
                            <a:ea typeface="新細明體" pitchFamily="18" charset="-120"/>
                          </a:rPr>
                          <m:t>…</m:t>
                        </m:r>
                      </m:e>
                    </m:d>
                  </m:oMath>
                </a14:m>
                <a:endParaRPr lang="en-US" altLang="zh-TW" sz="2400" b="1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69869A96-EFF8-8E74-C496-A1D204A96C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4937" y="3745677"/>
                <a:ext cx="4239964" cy="992123"/>
              </a:xfrm>
              <a:prstGeom prst="rect">
                <a:avLst/>
              </a:prstGeom>
              <a:blipFill>
                <a:blip r:embed="rId7"/>
                <a:stretch>
                  <a:fillRect l="-299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B4013256-2550-1972-A658-DE7E3A233EFC}"/>
              </a:ext>
            </a:extLst>
          </p:cNvPr>
          <p:cNvSpPr/>
          <p:nvPr/>
        </p:nvSpPr>
        <p:spPr>
          <a:xfrm>
            <a:off x="8161983" y="4238253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95EFF2-9EF4-4EA5-0CAC-4CE6137E672A}"/>
              </a:ext>
            </a:extLst>
          </p:cNvPr>
          <p:cNvSpPr/>
          <p:nvPr/>
        </p:nvSpPr>
        <p:spPr>
          <a:xfrm>
            <a:off x="8150497" y="5330610"/>
            <a:ext cx="2646139" cy="4301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769EBEB4-738A-46EF-B204-4F845D12074E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4213185" y="4453312"/>
            <a:ext cx="3948798" cy="714000"/>
          </a:xfrm>
          <a:prstGeom prst="bentConnector3">
            <a:avLst>
              <a:gd name="adj1" fmla="val 8195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DEE3DBA6-3906-84FB-4C01-0509B3997C3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213185" y="5162309"/>
            <a:ext cx="3937312" cy="383360"/>
          </a:xfrm>
          <a:prstGeom prst="bentConnector3">
            <a:avLst>
              <a:gd name="adj1" fmla="val 8527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4874443-5B83-4933-5866-29995C5F2E3B}"/>
              </a:ext>
            </a:extLst>
          </p:cNvPr>
          <p:cNvSpPr txBox="1"/>
          <p:nvPr/>
        </p:nvSpPr>
        <p:spPr>
          <a:xfrm rot="16200000">
            <a:off x="5736510" y="2394860"/>
            <a:ext cx="169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Compile time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2E178-7028-829D-2A50-5C1F60A6A979}"/>
              </a:ext>
            </a:extLst>
          </p:cNvPr>
          <p:cNvSpPr txBox="1"/>
          <p:nvPr/>
        </p:nvSpPr>
        <p:spPr>
          <a:xfrm rot="16200000">
            <a:off x="5703232" y="1901658"/>
            <a:ext cx="2467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Static binding/dispatch</a:t>
            </a:r>
          </a:p>
        </p:txBody>
      </p:sp>
    </p:spTree>
    <p:extLst>
      <p:ext uri="{BB962C8B-B14F-4D97-AF65-F5344CB8AC3E}">
        <p14:creationId xmlns:p14="http://schemas.microsoft.com/office/powerpoint/2010/main" val="2856285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5A385-6628-7D5B-7E96-4B5A005A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3BD2-B0C4-8BF9-00AD-958D60610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317" y="365125"/>
            <a:ext cx="10515600" cy="1325563"/>
          </a:xfrm>
        </p:spPr>
        <p:txBody>
          <a:bodyPr/>
          <a:lstStyle/>
          <a:p>
            <a:r>
              <a:rPr lang="en-US"/>
              <a:t>Polymorphism (8/9)</a:t>
            </a:r>
            <a:br>
              <a:rPr lang="en-US"/>
            </a:br>
            <a:r>
              <a:rPr lang="en-US" sz="2800"/>
              <a:t>Solution: using list of pointer / How do virtual functions work?</a:t>
            </a:r>
            <a:endParaRPr lang="en-VN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FCAB2-BABC-34D9-7D4A-F855D5572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9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A50FC3C-63F8-F10A-36E7-7552F4F58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211" y="2086406"/>
                <a:ext cx="5481303" cy="2301591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sz="2400" i="1">
                          <a:latin typeface="Cambria Math" panose="02040503050406030204" pitchFamily="18" charset="0"/>
                        </a:rPr>
                        <m:t>𝐵𝑎𝑠</m:t>
                      </m:r>
                      <m:sSup>
                        <m:sSupPr>
                          <m:ctrlPr>
                            <a:rPr lang="vi-V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VN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1 =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𝐷𝑒𝑟𝑖𝑣𝑒𝑑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1(</m:t>
                      </m:r>
                      <m:r>
                        <a:rPr lang="vi-VN" sz="24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sz="2400" i="1">
                          <a:latin typeface="Cambria Math" panose="02040503050406030204" pitchFamily="18" charset="0"/>
                        </a:rPr>
                        <m:t>𝐵𝑎𝑠</m:t>
                      </m:r>
                      <m:sSup>
                        <m:sSupPr>
                          <m:ctrlPr>
                            <a:rPr lang="vi-V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VN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2 =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𝐷𝑒𝑟𝑖𝑣𝑒𝑑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V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VN" sz="2400" i="1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1(); //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𝐷𝑒𝑟𝑖𝑣𝑒𝑑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1::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2(20); //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𝐵𝑎𝑠𝑒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1(); //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𝐵𝑎𝑠𝑒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1()</m:t>
                      </m:r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1→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2(10); //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𝐵𝑎𝑠𝑒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2()</m:t>
                      </m:r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endParaRPr lang="vi-VN" sz="2400" i="1">
                  <a:latin typeface="Cambria Math" panose="02040503050406030204" pitchFamily="18" charset="0"/>
                </a:endParaRPr>
              </a:p>
              <a:p>
                <a:endParaRPr lang="vi-VN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A50FC3C-63F8-F10A-36E7-7552F4F580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211" y="2086406"/>
                <a:ext cx="5481303" cy="2301591"/>
              </a:xfrm>
              <a:prstGeom prst="rect">
                <a:avLst/>
              </a:prstGeom>
              <a:blipFill>
                <a:blip r:embed="rId2"/>
                <a:stretch>
                  <a:fillRect l="-924" b="-3297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CA7EC23-6AE1-57C7-6D39-7D3D488C3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317" y="1557976"/>
            <a:ext cx="10515600" cy="66114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Example:</a:t>
            </a:r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9845DED-8164-95F6-672B-39543951441A}"/>
                  </a:ext>
                </a:extLst>
              </p:cNvPr>
              <p:cNvSpPr/>
              <p:nvPr/>
            </p:nvSpPr>
            <p:spPr>
              <a:xfrm>
                <a:off x="375211" y="5524910"/>
                <a:ext cx="2334358" cy="90736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vi-V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en-VN" sz="24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V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</m:oMath>
                  </m:oMathPara>
                </a14:m>
                <a:endParaRPr lang="vi-VN" sz="24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vi-V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𝑖𝑛𝑡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i="1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9845DED-8164-95F6-672B-3954395144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11" y="5524910"/>
                <a:ext cx="2334358" cy="907361"/>
              </a:xfrm>
              <a:prstGeom prst="rect">
                <a:avLst/>
              </a:prstGeom>
              <a:blipFill>
                <a:blip r:embed="rId3"/>
                <a:stretch>
                  <a:fillRect l="-2151" b="-27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4A5A70E-7253-8E03-87F3-134503CC3AFA}"/>
                  </a:ext>
                </a:extLst>
              </p:cNvPr>
              <p:cNvSpPr/>
              <p:nvPr/>
            </p:nvSpPr>
            <p:spPr>
              <a:xfrm>
                <a:off x="375211" y="4994415"/>
                <a:ext cx="2334358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𝐵𝑎𝑠𝑒</m:t>
                      </m:r>
                    </m:oMath>
                  </m:oMathPara>
                </a14:m>
                <a:endParaRPr i="1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4A5A70E-7253-8E03-87F3-134503CC3A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11" y="4994415"/>
                <a:ext cx="2334358" cy="5304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F38FA93-0B2C-3BEB-69F2-5FB377415567}"/>
              </a:ext>
            </a:extLst>
          </p:cNvPr>
          <p:cNvSpPr/>
          <p:nvPr/>
        </p:nvSpPr>
        <p:spPr>
          <a:xfrm>
            <a:off x="3010793" y="6191932"/>
            <a:ext cx="1789383" cy="228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F63EB91-DF7A-C32C-62EC-A0462CBD6857}"/>
                  </a:ext>
                </a:extLst>
              </p:cNvPr>
              <p:cNvSpPr/>
              <p:nvPr/>
            </p:nvSpPr>
            <p:spPr>
              <a:xfrm>
                <a:off x="3010793" y="5661436"/>
                <a:ext cx="178938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𝐷𝑒𝑟𝑖𝑣𝑒𝑑</m:t>
                      </m:r>
                      <m:r>
                        <a:rPr lang="vi-V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VN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F63EB91-DF7A-C32C-62EC-A0462CBD68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793" y="5661436"/>
                <a:ext cx="1789383" cy="5304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89F6881-1DDE-2A87-DC2E-E7496A30BEA7}"/>
                  </a:ext>
                </a:extLst>
              </p:cNvPr>
              <p:cNvSpPr/>
              <p:nvPr/>
            </p:nvSpPr>
            <p:spPr>
              <a:xfrm>
                <a:off x="3012501" y="5006869"/>
                <a:ext cx="284401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𝑣𝑒𝑟𝑟𝑖𝑑𝑒</m:t>
                      </m:r>
                      <m:r>
                        <a:rPr lang="vi-V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𝑓𝑢𝑛𝑐</m:t>
                      </m:r>
                      <m:r>
                        <a:rPr lang="vi-VN" sz="24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 (…)</m:t>
                      </m:r>
                    </m:oMath>
                  </m:oMathPara>
                </a14:m>
                <a:endParaRPr i="1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89F6881-1DDE-2A87-DC2E-E7496A30B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501" y="5006869"/>
                <a:ext cx="2844013" cy="530496"/>
              </a:xfrm>
              <a:prstGeom prst="rect">
                <a:avLst/>
              </a:prstGeom>
              <a:blipFill>
                <a:blip r:embed="rId6"/>
                <a:stretch>
                  <a:fillRect r="-2203" b="-909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B6EFAAA-9C9C-9932-6C9E-262E349D060A}"/>
                  </a:ext>
                </a:extLst>
              </p:cNvPr>
              <p:cNvSpPr/>
              <p:nvPr/>
            </p:nvSpPr>
            <p:spPr>
              <a:xfrm>
                <a:off x="3012501" y="4476373"/>
                <a:ext cx="2844013" cy="5304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𝐷𝑒𝑟𝑖𝑣𝑒𝑑</m:t>
                      </m:r>
                      <m:r>
                        <a:rPr lang="en-VN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B6EFAAA-9C9C-9932-6C9E-262E349D0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501" y="4476373"/>
                <a:ext cx="2844013" cy="5304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B0965C9-81BE-3E15-22E8-3A5AE27AE995}"/>
              </a:ext>
            </a:extLst>
          </p:cNvPr>
          <p:cNvCxnSpPr>
            <a:cxnSpLocks/>
            <a:stCxn id="11" idx="3"/>
            <a:endCxn id="16" idx="1"/>
          </p:cNvCxnSpPr>
          <p:nvPr/>
        </p:nvCxnSpPr>
        <p:spPr>
          <a:xfrm>
            <a:off x="2709569" y="5259663"/>
            <a:ext cx="301224" cy="667021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FBD5BAB-1613-50A5-4741-9617EA29B089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 flipV="1">
            <a:off x="2709569" y="4741621"/>
            <a:ext cx="302932" cy="518042"/>
          </a:xfrm>
          <a:prstGeom prst="line">
            <a:avLst/>
          </a:prstGeom>
          <a:ln w="381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2F3D9705-9694-3254-E9ED-19CE13C90F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5408" y="2086406"/>
            <a:ext cx="6082580" cy="373944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B6899E8-F0FE-0767-F09A-C677855B662C}"/>
              </a:ext>
            </a:extLst>
          </p:cNvPr>
          <p:cNvSpPr txBox="1"/>
          <p:nvPr/>
        </p:nvSpPr>
        <p:spPr>
          <a:xfrm>
            <a:off x="5962750" y="5910201"/>
            <a:ext cx="169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Compiled objs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D8A38D-0CBF-BA24-A9C3-EB58AC031AD6}"/>
              </a:ext>
            </a:extLst>
          </p:cNvPr>
          <p:cNvSpPr/>
          <p:nvPr/>
        </p:nvSpPr>
        <p:spPr>
          <a:xfrm>
            <a:off x="5962750" y="2046972"/>
            <a:ext cx="1832197" cy="379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33B83F-F81C-64E9-9FFF-CA2DAFEF4E60}"/>
              </a:ext>
            </a:extLst>
          </p:cNvPr>
          <p:cNvSpPr txBox="1"/>
          <p:nvPr/>
        </p:nvSpPr>
        <p:spPr>
          <a:xfrm>
            <a:off x="8004476" y="5897746"/>
            <a:ext cx="191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Vtables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BC7EDC-C84F-85A2-C535-954B8A2640D2}"/>
              </a:ext>
            </a:extLst>
          </p:cNvPr>
          <p:cNvSpPr/>
          <p:nvPr/>
        </p:nvSpPr>
        <p:spPr>
          <a:xfrm>
            <a:off x="8004476" y="2034517"/>
            <a:ext cx="2064810" cy="379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DDBC0B-3522-A05B-ECE1-1B2D40611CE6}"/>
              </a:ext>
            </a:extLst>
          </p:cNvPr>
          <p:cNvSpPr txBox="1"/>
          <p:nvPr/>
        </p:nvSpPr>
        <p:spPr>
          <a:xfrm>
            <a:off x="10261898" y="5874170"/>
            <a:ext cx="1698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>
                <a:solidFill>
                  <a:srgbClr val="FF0000"/>
                </a:solidFill>
              </a:rPr>
              <a:t>Functions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003D42-6881-6C75-118A-7F3C2C7D270F}"/>
              </a:ext>
            </a:extLst>
          </p:cNvPr>
          <p:cNvSpPr/>
          <p:nvPr/>
        </p:nvSpPr>
        <p:spPr>
          <a:xfrm>
            <a:off x="10261898" y="2010941"/>
            <a:ext cx="1832197" cy="37913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893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E19D0-C0B0-BFFF-56F4-1187550C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41242-3443-5539-594D-1C6FE487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050" y="480872"/>
            <a:ext cx="10515600" cy="1325563"/>
          </a:xfrm>
        </p:spPr>
        <p:txBody>
          <a:bodyPr/>
          <a:lstStyle/>
          <a:p>
            <a:r>
              <a:rPr lang="en-US"/>
              <a:t>Polymorphism (9/9)</a:t>
            </a:r>
            <a:br>
              <a:rPr lang="en-US"/>
            </a:br>
            <a:endParaRPr lang="en-VN" sz="2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419E8-91B6-4B07-DD54-1952E1AE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10</a:t>
            </a:fld>
            <a:endParaRPr lang="en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495FE1-3B2D-6913-BFA0-518D42A88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050" y="1673724"/>
            <a:ext cx="10515600" cy="117364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Some notes:</a:t>
            </a:r>
          </a:p>
          <a:p>
            <a:pPr marL="0" indent="0">
              <a:buNone/>
            </a:pPr>
            <a:r>
              <a:rPr lang="en-US"/>
              <a:t>A pointer of the base class can point to the derived class: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4B32F1-7A17-19BD-6156-19D53952DE5A}"/>
                  </a:ext>
                </a:extLst>
              </p:cNvPr>
              <p:cNvSpPr txBox="1"/>
              <p:nvPr/>
            </p:nvSpPr>
            <p:spPr>
              <a:xfrm>
                <a:off x="815050" y="2737677"/>
                <a:ext cx="6280230" cy="523220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𝐴𝑛𝑖𝑚𝑎</m:t>
                      </m:r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𝑎𝑛𝑖𝑚𝑎𝑙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𝑀𝑜𝑛𝑘𝑒𝑦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sz="2800" b="0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4B32F1-7A17-19BD-6156-19D53952D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50" y="2737677"/>
                <a:ext cx="6280230" cy="523220"/>
              </a:xfrm>
              <a:prstGeom prst="rect">
                <a:avLst/>
              </a:prstGeom>
              <a:blipFill>
                <a:blip r:embed="rId2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033272-9304-15C4-E420-2434B50F77F2}"/>
              </a:ext>
            </a:extLst>
          </p:cNvPr>
          <p:cNvSpPr txBox="1">
            <a:spLocks/>
          </p:cNvSpPr>
          <p:nvPr/>
        </p:nvSpPr>
        <p:spPr>
          <a:xfrm>
            <a:off x="815050" y="3453400"/>
            <a:ext cx="10515600" cy="11736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Then</a:t>
            </a:r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55E0CE-C4B2-60FF-BA58-EE581A1CDE1D}"/>
                  </a:ext>
                </a:extLst>
              </p:cNvPr>
              <p:cNvSpPr txBox="1"/>
              <p:nvPr/>
            </p:nvSpPr>
            <p:spPr>
              <a:xfrm>
                <a:off x="815050" y="4040224"/>
                <a:ext cx="6280230" cy="1440459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𝑛𝑖𝑚𝑎𝑙𝑠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𝑆𝑡𝑎𝑐𝑘</m:t>
                      </m:r>
                      <m:r>
                        <a:rPr lang="vi-VN" sz="2800" b="0" i="1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VN" sz="2800" i="1">
                          <a:latin typeface="Cambria Math" panose="02040503050406030204" pitchFamily="18" charset="0"/>
                        </a:rPr>
                        <m:t>𝐴𝑛𝑖𝑚𝑎</m:t>
                      </m:r>
                      <m:sSup>
                        <m:sSupPr>
                          <m:ctrlPr>
                            <a:rPr lang="vi-VN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p>
                          <m:r>
                            <a:rPr lang="en-VN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vi-VN" sz="2800" b="0" i="1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/>
              </a:p>
              <a:p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𝑛𝑖𝑚𝑎𝑙𝑠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VN" sz="2800" i="1">
                        <a:latin typeface="Cambria Math" panose="02040503050406030204" pitchFamily="18" charset="0"/>
                      </a:rPr>
                      <m:t>𝑝𝑢𝑠h</m:t>
                    </m:r>
                    <m:d>
                      <m:dPr>
                        <m:ctrlPr>
                          <a:rPr lang="en-VN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VN" sz="2800" i="1">
                            <a:latin typeface="Cambria Math" panose="02040503050406030204" pitchFamily="18" charset="0"/>
                          </a:rPr>
                          <m:t>𝑛𝑒𝑤</m:t>
                        </m:r>
                        <m:r>
                          <a:rPr lang="en-VN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VN" sz="2800" i="1">
                            <a:latin typeface="Cambria Math" panose="02040503050406030204" pitchFamily="18" charset="0"/>
                          </a:rPr>
                          <m:t>𝑀𝑜𝑛𝑘𝑒𝑦</m:t>
                        </m:r>
                        <m:d>
                          <m:dPr>
                            <m:ctrlPr>
                              <a:rPr lang="en-V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sz="28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vi-VN" sz="2800" i="1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𝑎𝑛𝑖𝑚𝑒𝑙𝑠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𝑝𝑢𝑠h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𝐻𝑢𝑚𝑎𝑛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 ))</m:t>
                      </m:r>
                    </m:oMath>
                  </m:oMathPara>
                </a14:m>
                <a:endParaRPr lang="vi-VN" sz="28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55E0CE-C4B2-60FF-BA58-EE581A1CD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50" y="4040224"/>
                <a:ext cx="6280230" cy="1440459"/>
              </a:xfrm>
              <a:prstGeom prst="rect">
                <a:avLst/>
              </a:prstGeom>
              <a:blipFill>
                <a:blip r:embed="rId3"/>
                <a:stretch>
                  <a:fillRect l="-808" b="-789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B136DF5-1A70-949F-5A13-E4FFB10D8F61}"/>
                  </a:ext>
                </a:extLst>
              </p14:cNvPr>
              <p14:cNvContentPartPr/>
              <p14:nvPr/>
            </p14:nvContentPartPr>
            <p14:xfrm>
              <a:off x="790560" y="2714400"/>
              <a:ext cx="2810160" cy="696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B136DF5-1A70-949F-5A13-E4FFB10D8F6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200" y="2705040"/>
                <a:ext cx="2828880" cy="71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429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38B44-2271-536E-A0D4-2A17AB75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Virtual function (1/2)</a:t>
            </a:r>
            <a:br>
              <a:rPr lang="en-VN"/>
            </a:br>
            <a:r>
              <a:rPr lang="en-VN" sz="2800"/>
              <a:t>Pure virtual function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093A8-F4CE-B46E-5F28-824D1EAD0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11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CA7C0D2-8F05-9019-BF25-0E38B7DD72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4299" y="1763030"/>
                <a:ext cx="3380232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𝐴𝑛𝑖𝑚𝑎𝑙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𝑣𝑖𝑟𝑡𝑢𝑎𝑙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𝒆𝒂𝒕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…</m:t>
                          </m:r>
                        </m:e>
                      </m:d>
                      <m:r>
                        <a:rPr lang="vi-VN" altLang="zh-TW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CA7C0D2-8F05-9019-BF25-0E38B7DD7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4299" y="1763030"/>
                <a:ext cx="3380232" cy="874256"/>
              </a:xfrm>
              <a:prstGeom prst="rect">
                <a:avLst/>
              </a:prstGeom>
              <a:blipFill>
                <a:blip r:embed="rId2"/>
                <a:stretch>
                  <a:fillRect l="-749" b="-571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ED606ED-FA43-3D57-DE20-EDF6954043FB}"/>
              </a:ext>
            </a:extLst>
          </p:cNvPr>
          <p:cNvSpPr/>
          <p:nvPr/>
        </p:nvSpPr>
        <p:spPr>
          <a:xfrm>
            <a:off x="1309859" y="2165480"/>
            <a:ext cx="1097675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28D2B1-0E10-990D-7E90-12EF5A885E9E}"/>
              </a:ext>
            </a:extLst>
          </p:cNvPr>
          <p:cNvSpPr/>
          <p:nvPr/>
        </p:nvSpPr>
        <p:spPr>
          <a:xfrm>
            <a:off x="3545704" y="2165480"/>
            <a:ext cx="667482" cy="4239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DE0597-8DBD-6E84-25C0-B783F7D609EC}"/>
              </a:ext>
            </a:extLst>
          </p:cNvPr>
          <p:cNvSpPr txBox="1"/>
          <p:nvPr/>
        </p:nvSpPr>
        <p:spPr>
          <a:xfrm>
            <a:off x="838200" y="2709628"/>
            <a:ext cx="90813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/>
              <a:t>In some case, a method does not have anything</a:t>
            </a:r>
          </a:p>
          <a:p>
            <a:r>
              <a:rPr lang="en-VN" sz="2800"/>
              <a:t>We can assign it to 0 (C++) or use </a:t>
            </a:r>
            <a:r>
              <a:rPr lang="en-VN" sz="2800" b="1"/>
              <a:t>abstract</a:t>
            </a:r>
            <a:r>
              <a:rPr lang="en-VN" sz="2800"/>
              <a:t> keyword (Java)</a:t>
            </a:r>
          </a:p>
          <a:p>
            <a:pPr marL="457200" indent="-457200">
              <a:buFontTx/>
              <a:buChar char="-"/>
            </a:pPr>
            <a:r>
              <a:rPr lang="en-US" sz="2800"/>
              <a:t>Extended class must implement pure virtual method</a:t>
            </a:r>
          </a:p>
          <a:p>
            <a:pPr marL="457200" indent="-457200">
              <a:buFontTx/>
              <a:buChar char="-"/>
            </a:pPr>
            <a:r>
              <a:rPr lang="en-US" sz="2800"/>
              <a:t>Class with virtual method: abstract class</a:t>
            </a:r>
          </a:p>
          <a:p>
            <a:pPr marL="457200" indent="-457200">
              <a:buFontTx/>
              <a:buChar char="-"/>
            </a:pPr>
            <a:r>
              <a:rPr lang="en-US" sz="2800"/>
              <a:t>Class with all pure virtual method: interface</a:t>
            </a:r>
            <a:endParaRPr lang="en-VN" sz="2800"/>
          </a:p>
          <a:p>
            <a:endParaRPr lang="en-VN" sz="2800"/>
          </a:p>
          <a:p>
            <a:endParaRPr lang="en-VN" sz="2800"/>
          </a:p>
          <a:p>
            <a:endParaRPr lang="en-VN" sz="2800"/>
          </a:p>
          <a:p>
            <a:endParaRPr lang="en-VN" sz="2800"/>
          </a:p>
        </p:txBody>
      </p:sp>
    </p:spTree>
    <p:extLst>
      <p:ext uri="{BB962C8B-B14F-4D97-AF65-F5344CB8AC3E}">
        <p14:creationId xmlns:p14="http://schemas.microsoft.com/office/powerpoint/2010/main" val="213644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E6C8-5731-6FDD-D43E-1BBB2A35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54C2-A2FF-216A-9C4E-4C0C1EC2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Virtual function (2/2)</a:t>
            </a:r>
            <a:br>
              <a:rPr lang="en-VN"/>
            </a:br>
            <a:r>
              <a:rPr lang="en-VN" sz="2800"/>
              <a:t>Virtual destructor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E3D57-3A0C-6DD9-DD34-149E2418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B5E1E-6446-E346-A8EF-B18E81FAF44B}" type="slidenum">
              <a:rPr lang="en-VN"/>
              <a:t>12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C3BC2BF-2DF0-0555-8713-931DBA625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825" y="1365465"/>
                <a:ext cx="4659775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Base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TW" sz="2400" b="0" i="1">
                          <a:latin typeface="Cambria Math" panose="02040503050406030204" pitchFamily="18" charset="0"/>
                        </a:rPr>
                        <m:t>𝐵𝑎𝑠𝑒</m:t>
                      </m:r>
                      <m:d>
                        <m:d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C3BC2BF-2DF0-0555-8713-931DBA625B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2825" y="1365465"/>
                <a:ext cx="4659775" cy="874256"/>
              </a:xfrm>
              <a:prstGeom prst="rect">
                <a:avLst/>
              </a:prstGeom>
              <a:blipFill>
                <a:blip r:embed="rId2"/>
                <a:stretch>
                  <a:fillRect l="-272" b="-428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CC1FCD7-26D1-04D9-6A1E-D40142926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370" y="1763029"/>
                <a:ext cx="4659776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sz="2400" i="1">
                          <a:latin typeface="Cambria Math" panose="02040503050406030204" pitchFamily="18" charset="0"/>
                        </a:rPr>
                        <m:t>𝐵𝑎𝑠</m:t>
                      </m:r>
                      <m:sSup>
                        <m:sSupPr>
                          <m:ctrlPr>
                            <a:rPr lang="vi-V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VN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1 =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𝐷𝑒𝑟𝑖𝑣𝑒𝑑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1(</m:t>
                      </m:r>
                      <m:r>
                        <a:rPr lang="vi-VN" sz="24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2400" i="1">
                          <a:latin typeface="Cambria Math" panose="02040503050406030204" pitchFamily="18" charset="0"/>
                        </a:rPr>
                        <m:t>𝑑𝑒𝑙𝑒𝑡𝑒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vi-VN" sz="2400" b="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endParaRPr lang="vi-VN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CC1FCD7-26D1-04D9-6A1E-D401429269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370" y="1763029"/>
                <a:ext cx="4659776" cy="874256"/>
              </a:xfrm>
              <a:prstGeom prst="rect">
                <a:avLst/>
              </a:prstGeom>
              <a:blipFill>
                <a:blip r:embed="rId3"/>
                <a:stretch>
                  <a:fillRect l="-543" b="-10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41C225-875D-0D40-09F5-E4A0085F4FC2}"/>
                  </a:ext>
                </a:extLst>
              </p:cNvPr>
              <p:cNvSpPr txBox="1"/>
              <p:nvPr/>
            </p:nvSpPr>
            <p:spPr>
              <a:xfrm>
                <a:off x="6382825" y="2295389"/>
                <a:ext cx="4659775" cy="830997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𝐷𝑒𝑟𝑖𝑣𝑒𝑑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1 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𝐵𝑎𝑠𝑒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~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𝐷𝑒𝑟𝑖𝑣𝑒𝑑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1()</m:t>
                      </m:r>
                    </m:oMath>
                  </m:oMathPara>
                </a14:m>
                <a:endParaRPr lang="vi-VN" altLang="zh-TW" sz="2400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341C225-875D-0D40-09F5-E4A0085F4F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825" y="2295389"/>
                <a:ext cx="4659775" cy="830997"/>
              </a:xfrm>
              <a:prstGeom prst="rect">
                <a:avLst/>
              </a:prstGeom>
              <a:blipFill>
                <a:blip r:embed="rId4"/>
                <a:stretch>
                  <a:fillRect l="-272" b="-895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47353A-5D17-504E-190B-BD7D1993586B}"/>
                  </a:ext>
                </a:extLst>
              </p:cNvPr>
              <p:cNvSpPr txBox="1"/>
              <p:nvPr/>
            </p:nvSpPr>
            <p:spPr>
              <a:xfrm>
                <a:off x="2682418" y="2680113"/>
                <a:ext cx="291972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>
                    <a:solidFill>
                      <a:srgbClr val="FF0000"/>
                    </a:solidFill>
                  </a:rPr>
                  <a:t>Only </a:t>
                </a:r>
                <a14:m>
                  <m:oMath xmlns:m="http://schemas.openxmlformats.org/officeDocument/2006/math"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𝐵𝑎𝑠𝑒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() </m:t>
                    </m:r>
                  </m:oMath>
                </a14:m>
                <a:r>
                  <a:rPr lang="en-VN">
                    <a:solidFill>
                      <a:srgbClr val="FF0000"/>
                    </a:solidFill>
                  </a:rPr>
                  <a:t>is called!!!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47353A-5D17-504E-190B-BD7D199358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418" y="2680113"/>
                <a:ext cx="2919728" cy="369332"/>
              </a:xfrm>
              <a:prstGeom prst="rect">
                <a:avLst/>
              </a:prstGeom>
              <a:blipFill>
                <a:blip r:embed="rId5"/>
                <a:stretch>
                  <a:fillRect l="-1732" t="-10000" b="-2333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A2F73522-8B1A-09AF-14A0-58F69A7C5A51}"/>
              </a:ext>
            </a:extLst>
          </p:cNvPr>
          <p:cNvSpPr/>
          <p:nvPr/>
        </p:nvSpPr>
        <p:spPr>
          <a:xfrm>
            <a:off x="6754411" y="1763029"/>
            <a:ext cx="1371017" cy="38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E609A0-7AE7-317F-68A8-09DF24C0C738}"/>
              </a:ext>
            </a:extLst>
          </p:cNvPr>
          <p:cNvSpPr/>
          <p:nvPr/>
        </p:nvSpPr>
        <p:spPr>
          <a:xfrm>
            <a:off x="6754411" y="2726063"/>
            <a:ext cx="1856189" cy="38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25BA77-5425-4E3C-719C-B4A7ADB8987B}"/>
              </a:ext>
            </a:extLst>
          </p:cNvPr>
          <p:cNvSpPr/>
          <p:nvPr/>
        </p:nvSpPr>
        <p:spPr>
          <a:xfrm>
            <a:off x="826229" y="2211306"/>
            <a:ext cx="1856189" cy="38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44491587-950C-BD13-0B74-55C2987B46AC}"/>
              </a:ext>
            </a:extLst>
          </p:cNvPr>
          <p:cNvCxnSpPr>
            <a:cxnSpLocks/>
          </p:cNvCxnSpPr>
          <p:nvPr/>
        </p:nvCxnSpPr>
        <p:spPr>
          <a:xfrm flipV="1">
            <a:off x="2682418" y="1957960"/>
            <a:ext cx="4071993" cy="448277"/>
          </a:xfrm>
          <a:prstGeom prst="bentConnector3">
            <a:avLst>
              <a:gd name="adj1" fmla="val 78425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4A3FC4-337F-CB3F-B885-5B81B9798C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2825" y="3335689"/>
                <a:ext cx="4659775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Base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𝒗𝒊𝒓𝒕𝒖𝒂𝒍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TW" sz="2400" b="0" i="1">
                          <a:latin typeface="Cambria Math" panose="02040503050406030204" pitchFamily="18" charset="0"/>
                        </a:rPr>
                        <m:t>𝐵𝑎𝑠𝑒</m:t>
                      </m:r>
                      <m:d>
                        <m:dPr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vi-VN" altLang="zh-TW" sz="2400" b="1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vi-VN" altLang="zh-TW" sz="2400" b="1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4A3FC4-337F-CB3F-B885-5B81B9798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2825" y="3335689"/>
                <a:ext cx="4659775" cy="874256"/>
              </a:xfrm>
              <a:prstGeom prst="rect">
                <a:avLst/>
              </a:prstGeom>
              <a:blipFill>
                <a:blip r:embed="rId6"/>
                <a:stretch>
                  <a:fillRect l="-272" b="-5714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CA1356A-9765-D8FA-5B26-835BA3AF47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370" y="3733253"/>
                <a:ext cx="4659776" cy="874256"/>
              </a:xfrm>
              <a:prstGeom prst="rect">
                <a:avLst/>
              </a:prstGeom>
              <a:solidFill>
                <a:srgbClr val="D9D9D9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VN" sz="2400" i="1">
                          <a:latin typeface="Cambria Math" panose="02040503050406030204" pitchFamily="18" charset="0"/>
                        </a:rPr>
                        <m:t>𝐵𝑎𝑠</m:t>
                      </m:r>
                      <m:sSup>
                        <m:sSupPr>
                          <m:ctrlPr>
                            <a:rPr lang="vi-V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VN" sz="2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vi-VN" sz="2400" b="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VN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1 =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𝑛𝑒𝑤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𝐷𝑒𝑟𝑖𝑣𝑒𝑑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1(</m:t>
                      </m:r>
                      <m:r>
                        <a:rPr lang="vi-VN" sz="24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VN" sz="2400" i="1">
                          <a:latin typeface="Cambria Math" panose="02040503050406030204" pitchFamily="18" charset="0"/>
                        </a:rPr>
                        <m:t>);</m:t>
                      </m:r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sz="2400" i="1">
                          <a:latin typeface="Cambria Math" panose="02040503050406030204" pitchFamily="18" charset="0"/>
                        </a:rPr>
                        <m:t>𝑑𝑒𝑙𝑒𝑡𝑒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vi-VN" sz="2400" i="1">
                          <a:latin typeface="Cambria Math" panose="02040503050406030204" pitchFamily="18" charset="0"/>
                        </a:rPr>
                        <m:t>𝑜𝑏𝑗</m:t>
                      </m:r>
                      <m:r>
                        <a:rPr lang="vi-VN" sz="2400" b="0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vi-VN" sz="2400" i="1">
                  <a:latin typeface="Cambria Math" panose="02040503050406030204" pitchFamily="18" charset="0"/>
                </a:endParaRPr>
              </a:p>
              <a:p>
                <a:endParaRPr lang="vi-VN" sz="24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CA1356A-9765-D8FA-5B26-835BA3AF47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42370" y="3733253"/>
                <a:ext cx="4659776" cy="874256"/>
              </a:xfrm>
              <a:prstGeom prst="rect">
                <a:avLst/>
              </a:prstGeom>
              <a:blipFill>
                <a:blip r:embed="rId7"/>
                <a:stretch>
                  <a:fillRect l="-543" b="-100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F87873-42E6-DFD7-3E2F-A8826416F767}"/>
                  </a:ext>
                </a:extLst>
              </p:cNvPr>
              <p:cNvSpPr txBox="1"/>
              <p:nvPr/>
            </p:nvSpPr>
            <p:spPr>
              <a:xfrm>
                <a:off x="6382825" y="4265613"/>
                <a:ext cx="4659775" cy="830997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>
                <a:spAutoFit/>
              </a:bodyPr>
              <a:lstStyle/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𝒄𝒍𝒂𝒔𝒔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𝐷𝑒𝑟𝑖𝑣𝑒𝑑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1 </m:t>
                      </m:r>
                      <m:r>
                        <a:rPr lang="vi-VN" altLang="zh-TW" sz="2400" b="1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𝒆𝒙𝒕𝒆𝒏𝒅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 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𝐵𝑎𝑠𝑒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:</m:t>
                      </m:r>
                    </m:oMath>
                  </m:oMathPara>
                </a14:m>
                <a:endParaRPr lang="vi-VN" altLang="zh-TW" sz="2400" i="1">
                  <a:latin typeface="Cambria Math" panose="02040503050406030204" pitchFamily="18" charset="0"/>
                  <a:ea typeface="新細明體" pitchFamily="18" charset="-120"/>
                </a:endParaRPr>
              </a:p>
              <a:p>
                <a:pPr marL="342900" indent="-342900">
                  <a:spcBef>
                    <a:spcPct val="2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~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𝐷𝑒𝑟𝑖𝑣𝑒𝑑</m:t>
                      </m:r>
                      <m:r>
                        <a:rPr lang="vi-VN" altLang="zh-TW" sz="2400" i="1">
                          <a:latin typeface="Cambria Math" panose="02040503050406030204" pitchFamily="18" charset="0"/>
                          <a:ea typeface="新細明體" pitchFamily="18" charset="-120"/>
                        </a:rPr>
                        <m:t>1()</m:t>
                      </m:r>
                    </m:oMath>
                  </m:oMathPara>
                </a14:m>
                <a:endParaRPr lang="vi-VN" altLang="zh-TW" sz="2400">
                  <a:ea typeface="新細明體" pitchFamily="18" charset="-12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FF87873-42E6-DFD7-3E2F-A8826416F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825" y="4265613"/>
                <a:ext cx="4659775" cy="830997"/>
              </a:xfrm>
              <a:prstGeom prst="rect">
                <a:avLst/>
              </a:prstGeom>
              <a:blipFill>
                <a:blip r:embed="rId8"/>
                <a:stretch>
                  <a:fillRect l="-272" b="-909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3881C3-0FC1-9F80-4DD5-457A72826BCE}"/>
                  </a:ext>
                </a:extLst>
              </p:cNvPr>
              <p:cNvSpPr txBox="1"/>
              <p:nvPr/>
            </p:nvSpPr>
            <p:spPr>
              <a:xfrm>
                <a:off x="2682418" y="4650337"/>
                <a:ext cx="291972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𝐷𝑒𝑟𝑖𝑣𝑒𝑑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1()</m:t>
                    </m:r>
                  </m:oMath>
                </a14:m>
                <a:r>
                  <a:rPr lang="en-VN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𝐵𝑎𝑠𝑒</m:t>
                    </m:r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()</m:t>
                    </m:r>
                  </m:oMath>
                </a14:m>
                <a:r>
                  <a:rPr lang="en-VN">
                    <a:solidFill>
                      <a:srgbClr val="FF0000"/>
                    </a:solidFill>
                  </a:rPr>
                  <a:t> are called!!!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3881C3-0FC1-9F80-4DD5-457A72826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418" y="4650337"/>
                <a:ext cx="2919728" cy="646331"/>
              </a:xfrm>
              <a:prstGeom prst="rect">
                <a:avLst/>
              </a:prstGeom>
              <a:blipFill>
                <a:blip r:embed="rId9"/>
                <a:stretch>
                  <a:fillRect l="-1732" t="-5769" b="-1153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9EFC67F0-BB08-4DFA-C1B6-5C204C0E5E82}"/>
              </a:ext>
            </a:extLst>
          </p:cNvPr>
          <p:cNvSpPr/>
          <p:nvPr/>
        </p:nvSpPr>
        <p:spPr>
          <a:xfrm>
            <a:off x="6754410" y="3733253"/>
            <a:ext cx="2516911" cy="38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3450D1-DCA3-1295-D928-DA802180FF2B}"/>
              </a:ext>
            </a:extLst>
          </p:cNvPr>
          <p:cNvSpPr/>
          <p:nvPr/>
        </p:nvSpPr>
        <p:spPr>
          <a:xfrm>
            <a:off x="6754411" y="4696287"/>
            <a:ext cx="1856189" cy="38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B7EBAD-1EF3-3E29-655E-77FE43BE12CB}"/>
              </a:ext>
            </a:extLst>
          </p:cNvPr>
          <p:cNvSpPr/>
          <p:nvPr/>
        </p:nvSpPr>
        <p:spPr>
          <a:xfrm>
            <a:off x="826229" y="4181530"/>
            <a:ext cx="1856189" cy="3898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D1EE401E-15E8-D5D2-CF8F-CC5E32E0D43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2682418" y="4376461"/>
            <a:ext cx="4071993" cy="514757"/>
          </a:xfrm>
          <a:prstGeom prst="bentConnector3">
            <a:avLst>
              <a:gd name="adj1" fmla="val 7870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510F7345-8C29-A09D-DCED-C036EE2D961A}"/>
              </a:ext>
            </a:extLst>
          </p:cNvPr>
          <p:cNvCxnSpPr>
            <a:cxnSpLocks/>
            <a:stCxn id="24" idx="3"/>
            <a:endCxn id="23" idx="3"/>
          </p:cNvCxnSpPr>
          <p:nvPr/>
        </p:nvCxnSpPr>
        <p:spPr>
          <a:xfrm flipV="1">
            <a:off x="8610600" y="3928184"/>
            <a:ext cx="660721" cy="963034"/>
          </a:xfrm>
          <a:prstGeom prst="bentConnector3">
            <a:avLst>
              <a:gd name="adj1" fmla="val 30627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ACF292C0-0975-07E7-2DF8-99B787878DED}"/>
              </a:ext>
            </a:extLst>
          </p:cNvPr>
          <p:cNvSpPr txBox="1"/>
          <p:nvPr/>
        </p:nvSpPr>
        <p:spPr>
          <a:xfrm>
            <a:off x="826229" y="5560469"/>
            <a:ext cx="90813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/>
              <a:t>Destructor chain is only available for destructor method</a:t>
            </a:r>
          </a:p>
          <a:p>
            <a:r>
              <a:rPr lang="en-VN" sz="2800"/>
              <a:t>Why there is no virtual constructor?</a:t>
            </a:r>
          </a:p>
        </p:txBody>
      </p:sp>
    </p:spTree>
    <p:extLst>
      <p:ext uri="{BB962C8B-B14F-4D97-AF65-F5344CB8AC3E}">
        <p14:creationId xmlns:p14="http://schemas.microsoft.com/office/powerpoint/2010/main" val="2968459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16038</TotalTime>
  <Words>1008</Words>
  <Application>Microsoft Macintosh PowerPoint</Application>
  <PresentationFormat>Widescreen</PresentationFormat>
  <Paragraphs>204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新細明體</vt:lpstr>
      <vt:lpstr>Aptos</vt:lpstr>
      <vt:lpstr>Aptos Display</vt:lpstr>
      <vt:lpstr>Arial</vt:lpstr>
      <vt:lpstr>Cambria Math</vt:lpstr>
      <vt:lpstr>Times New Roman</vt:lpstr>
      <vt:lpstr>Office Theme</vt:lpstr>
      <vt:lpstr>Polymorphism</vt:lpstr>
      <vt:lpstr>Polymorphism (1/9)</vt:lpstr>
      <vt:lpstr>Polymorphism (2/9) Solution: creating multiple list</vt:lpstr>
      <vt:lpstr>Polymorphism (3/9) Solution: using type variable</vt:lpstr>
      <vt:lpstr>Polymorphism (4/9) Solution: using list of pointer</vt:lpstr>
      <vt:lpstr>Polymorphism (5/9) Solution: using list of pointer</vt:lpstr>
      <vt:lpstr>Polymorphism (6/9) Solution: using list of pointer</vt:lpstr>
      <vt:lpstr>Polymorphism (7/9) Solution: using list of pointer</vt:lpstr>
      <vt:lpstr>Polymorphism (8/9) Solution: using list of pointer / How do virtual functions work?</vt:lpstr>
      <vt:lpstr>Polymorphism (9/9) </vt:lpstr>
      <vt:lpstr>Virtual function (1/2) Pure virtual function</vt:lpstr>
      <vt:lpstr>Virtual function (2/2) Virtual destructor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 Thi Le  Thuy - Y19</dc:creator>
  <cp:lastModifiedBy>Tuan Hai Vu</cp:lastModifiedBy>
  <cp:revision>42</cp:revision>
  <dcterms:created xsi:type="dcterms:W3CDTF">2025-10-12T07:14:27Z</dcterms:created>
  <dcterms:modified xsi:type="dcterms:W3CDTF">2026-04-03T00:35:09Z</dcterms:modified>
</cp:coreProperties>
</file>