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1027" r:id="rId3"/>
    <p:sldId id="1033" r:id="rId4"/>
    <p:sldId id="1028" r:id="rId5"/>
    <p:sldId id="1029" r:id="rId6"/>
    <p:sldId id="1030" r:id="rId7"/>
    <p:sldId id="1032" r:id="rId8"/>
    <p:sldId id="1031" r:id="rId9"/>
  </p:sldIdLst>
  <p:sldSz cx="12192000" cy="6858000"/>
  <p:notesSz cx="6858000" cy="9144000"/>
  <p:defaultTextStyle>
    <a:defPPr>
      <a:defRPr lang="en-V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9D9D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357"/>
    <p:restoredTop sz="94701"/>
  </p:normalViewPr>
  <p:slideViewPr>
    <p:cSldViewPr snapToGrid="0">
      <p:cViewPr>
        <p:scale>
          <a:sx n="110" d="100"/>
          <a:sy n="110" d="100"/>
        </p:scale>
        <p:origin x="1104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V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7F5E20D-330D-AE4A-A6A6-1850AD2ED2D6}" type="datetimeFigureOut">
              <a:t>28/1/26</a:t>
            </a:fld>
            <a:endParaRPr lang="en-V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V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V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V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E8D1A52-94DB-CE4E-80E4-5A5A3CBD908E}" type="slidenum">
              <a:t>‹#›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274126645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E0879C-66BC-BE38-71AE-B0A52BE998C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V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11E43DC-52BF-FFC7-A6F7-77C3F65F669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V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4FB3760-1A42-A517-B329-17A032D0FC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9CC23C-BA29-DE42-B018-0A671B23AB5C}" type="datetime1">
              <a:t>28/1/26</a:t>
            </a:fld>
            <a:endParaRPr lang="en-V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33FEB5-9A1D-C760-3A59-6961C4186D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38C8E25-5819-D9BB-2B7B-FD89ADD933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5B5E1E-6446-E346-A8EF-B18E81FAF44B}" type="slidenum">
              <a:t>‹#›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48332470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08E967-6FF5-2AB7-5A89-60DD8D392A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V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CE7CEF-4815-3E95-7909-2FA3AD96CD6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V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F471C15-89E5-727B-1490-05CC5367BB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D3D96D-7531-BC47-A011-B5D6B3D43310}" type="datetime1">
              <a:t>28/1/26</a:t>
            </a:fld>
            <a:endParaRPr lang="en-V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B7CB36A-D94F-AC92-80B1-8040A94C5A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5688F61-1BFA-0780-D5CD-C8709F5C00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74086" y="6356350"/>
            <a:ext cx="979714" cy="365125"/>
          </a:xfrm>
        </p:spPr>
        <p:txBody>
          <a:bodyPr/>
          <a:lstStyle/>
          <a:p>
            <a:fld id="{8D5B5E1E-6446-E346-A8EF-B18E81FAF44B}" type="slidenum">
              <a:t>‹#›</a:t>
            </a:fld>
            <a:endParaRPr lang="en-VN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A96BE16-5785-3287-F219-A63A98C1F6B4}"/>
              </a:ext>
            </a:extLst>
          </p:cNvPr>
          <p:cNvSpPr txBox="1"/>
          <p:nvPr userDrawn="1"/>
        </p:nvSpPr>
        <p:spPr>
          <a:xfrm>
            <a:off x="10025743" y="180459"/>
            <a:ext cx="20084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VN" b="1"/>
              <a:t>IT002 - OOP</a:t>
            </a:r>
          </a:p>
        </p:txBody>
      </p:sp>
    </p:spTree>
    <p:extLst>
      <p:ext uri="{BB962C8B-B14F-4D97-AF65-F5344CB8AC3E}">
        <p14:creationId xmlns:p14="http://schemas.microsoft.com/office/powerpoint/2010/main" val="322623075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F5098A-1FF5-4E9C-3958-AAAE5EB168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V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C13F6B0-B22B-B8B5-5476-1A0488046E4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E731000-AB74-AEFD-50FE-977A929AE8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99FF25-CCF5-1749-B789-DEA9DF3915D1}" type="datetime1">
              <a:t>28/1/26</a:t>
            </a:fld>
            <a:endParaRPr lang="en-V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311593-2B6B-2CA0-DB2F-19489B8CEB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5FED81-0B56-6FA2-95D2-CECADDCD13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5B5E1E-6446-E346-A8EF-B18E81FAF44B}" type="slidenum">
              <a:t>‹#›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33692241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FDCBAD-C94E-8462-42F7-6CE1DEB6EE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V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17A8E9-46E4-3722-3678-DB1E6624F40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V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EED4EB0-C0BC-93AB-256D-477F0B020CD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V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1C385DA-986F-905C-F93C-11946E71E8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C9BD3F-C60C-8F40-A1AA-746E79F526C8}" type="datetime1">
              <a:t>28/1/26</a:t>
            </a:fld>
            <a:endParaRPr lang="en-V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F8EEC57-B8A1-E8E8-D3C6-C712BD1EBD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6BD3BD5-89C2-ABF6-BC50-26CCE3F32C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5B5E1E-6446-E346-A8EF-B18E81FAF44B}" type="slidenum">
              <a:t>‹#›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137107595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9AD908-C8FB-B40D-5338-B12F38A313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V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544DDE4-2F4D-BD99-A231-CA6008F12D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5B206A1-A852-DFD4-176B-D30D76696A3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V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7DBD5B1-0FAD-D905-193A-A988870AEEE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D492ABD-06A7-0A8A-B162-6B100DD63DF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V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7FA0F5E-BC75-DA33-C23A-2C084BB431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563D55-6338-8241-BEA3-C8267015B326}" type="datetime1">
              <a:t>28/1/26</a:t>
            </a:fld>
            <a:endParaRPr lang="en-V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5F6DAFF-76C5-9BAB-7595-F3D8650BFB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6DA2C9E-5705-21CC-7F2F-2C316299E9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5B5E1E-6446-E346-A8EF-B18E81FAF44B}" type="slidenum">
              <a:t>‹#›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16899676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3A4701-A80A-232F-0854-5DA8AFC2E2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V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E11774C-BD97-3E58-CD40-4C950D6057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782EF4-4D34-8E49-9BB8-7FCD8F64F56C}" type="datetime1">
              <a:t>28/1/26</a:t>
            </a:fld>
            <a:endParaRPr lang="en-V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4713042-37A8-CF0D-C96F-6512F27460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C167E85-AB14-0D13-176E-0A06051FE5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5B5E1E-6446-E346-A8EF-B18E81FAF44B}" type="slidenum">
              <a:t>‹#›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7737926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EDEB413-185C-B41C-723A-9D4A6A678E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835D4F-1253-B847-8798-F89DBC53ECA3}" type="datetime1">
              <a:t>28/1/26</a:t>
            </a:fld>
            <a:endParaRPr lang="en-V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174A144-520E-E52F-DDF2-1E748F632F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1B450AA-C86A-7829-97FB-257B463C3D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5B5E1E-6446-E346-A8EF-B18E81FAF44B}" type="slidenum">
              <a:t>‹#›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21215197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5A9349-7940-BEF0-B4D4-5A7C826850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V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D6DDD3-2B20-C5F9-4DC4-024003B7A2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V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27E6026-5F77-9B71-E592-DF3B2283135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6151FFE-290A-F231-2373-CB07068270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60E56D-C72A-354F-B0FC-65EC27F745C6}" type="datetime1">
              <a:t>28/1/26</a:t>
            </a:fld>
            <a:endParaRPr lang="en-V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A6C637D-0DBB-9D94-B84C-DD221A50A0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3BD7C7B-EC72-7C24-BC80-9FF123A0E0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5B5E1E-6446-E346-A8EF-B18E81FAF44B}" type="slidenum">
              <a:t>‹#›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37221211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CB795E-B04D-560C-A632-0313EB8BD2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V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F6418B6-E0F2-379C-988E-BFAA86E45F1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V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51D15F2-ED27-6782-8C8C-9B6E071841D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CAF3CA7-0F96-3431-B3F4-06BC0EFD02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EEE616-05B3-E949-A580-BAD4E917BCA4}" type="datetime1">
              <a:t>28/1/26</a:t>
            </a:fld>
            <a:endParaRPr lang="en-V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765F99E-A59B-DABF-2474-1B2A079D48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3290139-F785-8A64-8D32-C52E8E26B2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5B5E1E-6446-E346-A8EF-B18E81FAF44B}" type="slidenum">
              <a:t>‹#›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354178968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089D33-1B65-702E-AF68-091EFE88F6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V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F1663F3-7D0E-B1DA-F503-E4430BF7BE0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V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47C38CE-AAC4-CCE9-CDB5-8A582C91E6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98E9E1-1963-2549-A392-0CE442C818D3}" type="datetime1">
              <a:t>28/1/26</a:t>
            </a:fld>
            <a:endParaRPr lang="en-V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D90330-95FE-A9AD-654D-097C1AB47E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081C464-4061-61F4-DFB5-70DE041BF2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5B5E1E-6446-E346-A8EF-B18E81FAF44B}" type="slidenum">
              <a:t>‹#›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194878762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9DDA118-9B30-AADB-BB00-1A29AD187B6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V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5E6A5B8-6D26-4874-BB54-AAA2C8A0803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V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EEA1E27-ACFA-67B6-8F29-D119DAA10A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AFA920-85BE-4747-816A-47AD76A510FA}" type="datetime1">
              <a:t>28/1/26</a:t>
            </a:fld>
            <a:endParaRPr lang="en-V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378A6B8-C0F3-CDF8-2607-D9CE1D1393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F7331BE-9413-D25C-37C9-D57203794D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5B5E1E-6446-E346-A8EF-B18E81FAF44B}" type="slidenum">
              <a:t>‹#›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198142065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6E82CA9-C9D9-B13F-66CB-521D6AC8E5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V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EC7227C-7C52-761E-38B0-5791D21983E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V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AF0B1A1-6E5E-9BBC-C985-0A43829F978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2508FC7-06EA-184C-B437-1FD4117B159D}" type="datetime1">
              <a:t>28/1/26</a:t>
            </a:fld>
            <a:endParaRPr lang="en-V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BA9B3D4-A45B-92A5-6062-5A7DF6FA353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V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9A62E2A-F337-A4D9-6F2A-F999444383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D5B5E1E-6446-E346-A8EF-B18E81FAF44B}" type="slidenum">
              <a:t>‹#›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13993969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V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1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Relationship Id="rId14" Type="http://schemas.openxmlformats.org/officeDocument/2006/relationships/image" Target="../media/image1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jpe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80750B-39EE-3B01-075B-7F8F628047F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VN"/>
              <a:t>Intro OOP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C62B4C0-AF9F-C53E-D24C-0775EFEFBE1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VN"/>
              <a:t>Vu Tuan Hai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E002840-6693-8282-76B9-EE98C0B0B3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5B5E1E-6446-E346-A8EF-B18E81FAF44B}" type="slidenum">
              <a:t>1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197780331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D837F1-282E-01E0-2049-846D7E12F7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VN"/>
              <a:t>Timeline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3B8A17-7E9F-0450-C914-8263C7A38AF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b="1"/>
              <a:t>Chap 1: New Features of C++</a:t>
            </a:r>
          </a:p>
          <a:p>
            <a:pPr marL="0" indent="0">
              <a:buNone/>
            </a:pPr>
            <a:r>
              <a:rPr lang="en-US"/>
              <a:t>Chap 2: Overview of OOP</a:t>
            </a:r>
          </a:p>
          <a:p>
            <a:pPr marL="0" indent="0">
              <a:buNone/>
            </a:pPr>
            <a:r>
              <a:rPr lang="en-US"/>
              <a:t>Chap 3: Object &amp; Class</a:t>
            </a:r>
          </a:p>
          <a:p>
            <a:pPr marL="0" indent="0">
              <a:buNone/>
            </a:pPr>
            <a:r>
              <a:rPr lang="en-US"/>
              <a:t>Chap 4: Operator &amp; Overloading</a:t>
            </a:r>
          </a:p>
          <a:p>
            <a:pPr marL="0" indent="0">
              <a:buNone/>
            </a:pPr>
            <a:r>
              <a:rPr lang="en-US"/>
              <a:t>Chap 5: Inheritance</a:t>
            </a:r>
          </a:p>
          <a:p>
            <a:pPr marL="0" indent="0">
              <a:buNone/>
            </a:pPr>
            <a:r>
              <a:rPr lang="en-US"/>
              <a:t>Chap 6: Polymorphism</a:t>
            </a:r>
          </a:p>
          <a:p>
            <a:pPr marL="0" indent="0">
              <a:buNone/>
            </a:pPr>
            <a:r>
              <a:rPr lang="en-US"/>
              <a:t>Chap 7: Advanced topics</a:t>
            </a:r>
            <a:endParaRPr lang="en-V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E0E99F9-24F7-0CE7-3181-5CB4D13F0C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5B5E1E-6446-E346-A8EF-B18E81FAF44B}" type="slidenum">
              <a:rPr lang="en-VN"/>
              <a:t>2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20498042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4D95A6-F0DD-16BB-F20C-52FB365A81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VN"/>
              <a:t>C++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D5572FB-8962-2DAD-5D9B-7DD083C9B2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5B5E1E-6446-E346-A8EF-B18E81FAF44B}" type="slidenum">
              <a:rPr lang="en-VN"/>
              <a:t>3</a:t>
            </a:fld>
            <a:endParaRPr lang="en-VN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5C921178-712A-C715-A575-FF29AB4CF13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494333"/>
            <a:ext cx="2495309" cy="2089241"/>
          </a:xfrm>
          <a:solidFill>
            <a:srgbClr val="D9D9D9"/>
          </a:solidFill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en-US" sz="2400"/>
              <a:t>v</a:t>
            </a:r>
            <a:r>
              <a:rPr lang="en-VN" sz="2400"/>
              <a:t>oid print(int a) {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VN" sz="2400"/>
              <a:t>   a++; 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VN" sz="2400"/>
              <a:t>   cout &lt;&lt; a;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VN" sz="2400"/>
              <a:t>}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5B0DDC32-5822-0F62-2B7D-A100D45C67E2}"/>
              </a:ext>
            </a:extLst>
          </p:cNvPr>
          <p:cNvSpPr txBox="1">
            <a:spLocks/>
          </p:cNvSpPr>
          <p:nvPr/>
        </p:nvSpPr>
        <p:spPr>
          <a:xfrm>
            <a:off x="3600691" y="2494333"/>
            <a:ext cx="2985304" cy="2089241"/>
          </a:xfrm>
          <a:prstGeom prst="rect">
            <a:avLst/>
          </a:prstGeom>
          <a:solidFill>
            <a:srgbClr val="D9D9D9"/>
          </a:solidFill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en-US" sz="2400"/>
              <a:t>v</a:t>
            </a:r>
            <a:r>
              <a:rPr lang="en-VN" sz="2400"/>
              <a:t>oid print(int &amp;a) {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VN" sz="2400"/>
              <a:t>   a++; 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VN" sz="2400"/>
              <a:t>   cout &lt;&lt; a;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VN" sz="2400"/>
              <a:t>}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FD25C18-362F-144F-CF22-BDF7C96F79D7}"/>
              </a:ext>
            </a:extLst>
          </p:cNvPr>
          <p:cNvSpPr txBox="1"/>
          <p:nvPr/>
        </p:nvSpPr>
        <p:spPr>
          <a:xfrm>
            <a:off x="838200" y="1516284"/>
            <a:ext cx="249530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 sz="2400"/>
              <a:t>Pass by value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92F306E-7A6D-97BA-9B5C-BD538F338F8A}"/>
              </a:ext>
            </a:extLst>
          </p:cNvPr>
          <p:cNvSpPr txBox="1"/>
          <p:nvPr/>
        </p:nvSpPr>
        <p:spPr>
          <a:xfrm>
            <a:off x="3600691" y="1517068"/>
            <a:ext cx="249530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 sz="2400"/>
              <a:t>Pass by reference</a:t>
            </a:r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ED67AD2B-88E7-FFF4-9BDE-9EC6C29292A2}"/>
              </a:ext>
            </a:extLst>
          </p:cNvPr>
          <p:cNvSpPr txBox="1">
            <a:spLocks/>
          </p:cNvSpPr>
          <p:nvPr/>
        </p:nvSpPr>
        <p:spPr>
          <a:xfrm>
            <a:off x="838200" y="2020074"/>
            <a:ext cx="1210519" cy="432133"/>
          </a:xfrm>
          <a:prstGeom prst="rect">
            <a:avLst/>
          </a:prstGeom>
          <a:solidFill>
            <a:srgbClr val="D9D9D9"/>
          </a:solidFill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en-US" sz="2400"/>
              <a:t>i</a:t>
            </a:r>
            <a:r>
              <a:rPr lang="en-VN" sz="2400"/>
              <a:t>nt a = 1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C62F0F1-B049-3390-5800-A0E91C167A8D}"/>
              </a:ext>
            </a:extLst>
          </p:cNvPr>
          <p:cNvSpPr txBox="1">
            <a:spLocks/>
          </p:cNvSpPr>
          <p:nvPr/>
        </p:nvSpPr>
        <p:spPr>
          <a:xfrm>
            <a:off x="3600691" y="2020074"/>
            <a:ext cx="1210519" cy="432133"/>
          </a:xfrm>
          <a:prstGeom prst="rect">
            <a:avLst/>
          </a:prstGeom>
          <a:solidFill>
            <a:srgbClr val="D9D9D9"/>
          </a:solidFill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en-US" sz="2400"/>
              <a:t>i</a:t>
            </a:r>
            <a:r>
              <a:rPr lang="en-VN" sz="2400"/>
              <a:t>nt a = 1</a:t>
            </a:r>
          </a:p>
        </p:txBody>
      </p:sp>
    </p:spTree>
    <p:extLst>
      <p:ext uri="{BB962C8B-B14F-4D97-AF65-F5344CB8AC3E}">
        <p14:creationId xmlns:p14="http://schemas.microsoft.com/office/powerpoint/2010/main" val="403484864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FC55C0-DE10-2A2A-4C91-28EB1C42FA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VN"/>
              <a:t>Programming paradigms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EBAED5-144B-C6A9-2B15-6D0A176201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5B5E1E-6446-E346-A8EF-B18E81FAF44B}" type="slidenum">
              <a:rPr lang="en-VN"/>
              <a:t>4</a:t>
            </a:fld>
            <a:endParaRPr lang="en-VN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858354D-618F-D0DC-85D5-D38B414DFFE6}"/>
              </a:ext>
            </a:extLst>
          </p:cNvPr>
          <p:cNvSpPr/>
          <p:nvPr/>
        </p:nvSpPr>
        <p:spPr>
          <a:xfrm>
            <a:off x="5009723" y="1856261"/>
            <a:ext cx="3393495" cy="109142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VN" sz="2400">
                <a:solidFill>
                  <a:schemeClr val="tx1"/>
                </a:solidFill>
                <a:cs typeface="Times New Roman" panose="02020603050405020304" pitchFamily="18" charset="0"/>
              </a:rPr>
              <a:t>Imperative (stateful)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5F175B6-7132-3FC7-C5C5-241BB55FA87E}"/>
              </a:ext>
            </a:extLst>
          </p:cNvPr>
          <p:cNvSpPr/>
          <p:nvPr/>
        </p:nvSpPr>
        <p:spPr>
          <a:xfrm>
            <a:off x="5009723" y="3490222"/>
            <a:ext cx="3393495" cy="109142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VN" sz="2400">
                <a:solidFill>
                  <a:schemeClr val="tx1"/>
                </a:solidFill>
                <a:cs typeface="Times New Roman" panose="02020603050405020304" pitchFamily="18" charset="0"/>
              </a:rPr>
              <a:t>Procedure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9F6C288-0964-0772-8F43-6B9C4ACCBC23}"/>
              </a:ext>
            </a:extLst>
          </p:cNvPr>
          <p:cNvSpPr/>
          <p:nvPr/>
        </p:nvSpPr>
        <p:spPr>
          <a:xfrm>
            <a:off x="5009723" y="5101031"/>
            <a:ext cx="3393495" cy="109142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VN" sz="2400">
                <a:solidFill>
                  <a:schemeClr val="tx1"/>
                </a:solidFill>
                <a:cs typeface="Times New Roman" panose="02020603050405020304" pitchFamily="18" charset="0"/>
              </a:rPr>
              <a:t>Object-oriented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32E92B3-1C63-8E05-B282-EFF486DF68F4}"/>
              </a:ext>
            </a:extLst>
          </p:cNvPr>
          <p:cNvSpPr/>
          <p:nvPr/>
        </p:nvSpPr>
        <p:spPr>
          <a:xfrm>
            <a:off x="1423502" y="1856261"/>
            <a:ext cx="3393495" cy="109142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VN" sz="2400">
                <a:solidFill>
                  <a:schemeClr val="tx1"/>
                </a:solidFill>
                <a:cs typeface="Times New Roman" panose="02020603050405020304" pitchFamily="18" charset="0"/>
              </a:rPr>
              <a:t>Declarative (stateless)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04F39FD-207C-AB18-F6C0-05FE940AD63C}"/>
              </a:ext>
            </a:extLst>
          </p:cNvPr>
          <p:cNvSpPr/>
          <p:nvPr/>
        </p:nvSpPr>
        <p:spPr>
          <a:xfrm>
            <a:off x="3004328" y="5567424"/>
            <a:ext cx="1796290" cy="68290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VN" sz="2400">
                <a:solidFill>
                  <a:schemeClr val="tx1"/>
                </a:solidFill>
                <a:cs typeface="Times New Roman" panose="02020603050405020304" pitchFamily="18" charset="0"/>
              </a:rPr>
              <a:t>Functional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C54CE63-5279-8393-A321-1C6733E8E8E5}"/>
              </a:ext>
            </a:extLst>
          </p:cNvPr>
          <p:cNvSpPr/>
          <p:nvPr/>
        </p:nvSpPr>
        <p:spPr>
          <a:xfrm>
            <a:off x="2209223" y="4659142"/>
            <a:ext cx="1796290" cy="68290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VN" sz="2400">
                <a:solidFill>
                  <a:schemeClr val="tx1"/>
                </a:solidFill>
                <a:cs typeface="Times New Roman" panose="02020603050405020304" pitchFamily="18" charset="0"/>
              </a:rPr>
              <a:t>Logic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F2E5AF4-F844-3A32-7FCF-2A9D7AE65062}"/>
              </a:ext>
            </a:extLst>
          </p:cNvPr>
          <p:cNvSpPr/>
          <p:nvPr/>
        </p:nvSpPr>
        <p:spPr>
          <a:xfrm>
            <a:off x="993067" y="3822893"/>
            <a:ext cx="1796290" cy="66874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VN" sz="2400">
                <a:solidFill>
                  <a:schemeClr val="tx1"/>
                </a:solidFill>
                <a:cs typeface="Times New Roman" panose="02020603050405020304" pitchFamily="18" charset="0"/>
              </a:rPr>
              <a:t>Symbolic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0455B4C1-5147-2A40-454C-5C18A9840FE9}"/>
              </a:ext>
            </a:extLst>
          </p:cNvPr>
          <p:cNvCxnSpPr>
            <a:cxnSpLocks/>
            <a:stCxn id="5" idx="2"/>
            <a:endCxn id="6" idx="0"/>
          </p:cNvCxnSpPr>
          <p:nvPr/>
        </p:nvCxnSpPr>
        <p:spPr>
          <a:xfrm>
            <a:off x="6706471" y="2947686"/>
            <a:ext cx="0" cy="542536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7E10C9DC-36F2-C7F6-FB92-86EEBC98C6E8}"/>
              </a:ext>
            </a:extLst>
          </p:cNvPr>
          <p:cNvCxnSpPr>
            <a:cxnSpLocks/>
            <a:stCxn id="6" idx="2"/>
            <a:endCxn id="7" idx="0"/>
          </p:cNvCxnSpPr>
          <p:nvPr/>
        </p:nvCxnSpPr>
        <p:spPr>
          <a:xfrm>
            <a:off x="6706471" y="4581647"/>
            <a:ext cx="0" cy="519384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64A63337-A542-1FE7-CF56-A473C2F3CD7D}"/>
              </a:ext>
            </a:extLst>
          </p:cNvPr>
          <p:cNvCxnSpPr>
            <a:cxnSpLocks/>
          </p:cNvCxnSpPr>
          <p:nvPr/>
        </p:nvCxnSpPr>
        <p:spPr>
          <a:xfrm>
            <a:off x="4254754" y="2947686"/>
            <a:ext cx="0" cy="2561863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04881709-62A5-D7EF-25DC-97FB5D4D51F9}"/>
              </a:ext>
            </a:extLst>
          </p:cNvPr>
          <p:cNvCxnSpPr>
            <a:cxnSpLocks/>
            <a:stCxn id="8" idx="2"/>
            <a:endCxn id="10" idx="0"/>
          </p:cNvCxnSpPr>
          <p:nvPr/>
        </p:nvCxnSpPr>
        <p:spPr>
          <a:xfrm flipH="1">
            <a:off x="3107368" y="2947686"/>
            <a:ext cx="12882" cy="1711456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Elbow Connector 15">
            <a:extLst>
              <a:ext uri="{FF2B5EF4-FFF2-40B4-BE49-F238E27FC236}">
                <a16:creationId xmlns:a16="http://schemas.microsoft.com/office/drawing/2014/main" id="{FA95D29E-8967-5C28-683A-2FAF94F489FE}"/>
              </a:ext>
            </a:extLst>
          </p:cNvPr>
          <p:cNvCxnSpPr>
            <a:cxnSpLocks/>
            <a:stCxn id="8" idx="1"/>
            <a:endCxn id="11" idx="0"/>
          </p:cNvCxnSpPr>
          <p:nvPr/>
        </p:nvCxnSpPr>
        <p:spPr>
          <a:xfrm rot="10800000" flipH="1" flipV="1">
            <a:off x="1423502" y="2401973"/>
            <a:ext cx="467710" cy="1420919"/>
          </a:xfrm>
          <a:prstGeom prst="bentConnector4">
            <a:avLst>
              <a:gd name="adj1" fmla="val -48876"/>
              <a:gd name="adj2" fmla="val 69203"/>
            </a:avLst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3" name="Rectangle 32">
            <a:extLst>
              <a:ext uri="{FF2B5EF4-FFF2-40B4-BE49-F238E27FC236}">
                <a16:creationId xmlns:a16="http://schemas.microsoft.com/office/drawing/2014/main" id="{A52A2AB4-A414-44E1-B59B-9873F7939CFF}"/>
              </a:ext>
            </a:extLst>
          </p:cNvPr>
          <p:cNvSpPr/>
          <p:nvPr/>
        </p:nvSpPr>
        <p:spPr>
          <a:xfrm>
            <a:off x="2905246" y="5499427"/>
            <a:ext cx="2000638" cy="83388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0178E90D-6497-EB96-D29C-8AE9BE171AC4}"/>
              </a:ext>
            </a:extLst>
          </p:cNvPr>
          <p:cNvSpPr txBox="1"/>
          <p:nvPr/>
        </p:nvSpPr>
        <p:spPr>
          <a:xfrm>
            <a:off x="1270265" y="5737825"/>
            <a:ext cx="162879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>
                <a:solidFill>
                  <a:srgbClr val="FF0000"/>
                </a:solidFill>
              </a:rPr>
              <a:t>I love this guy!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4385F759-6FB4-F5C6-A124-71EAC2EEF3CA}"/>
              </a:ext>
            </a:extLst>
          </p:cNvPr>
          <p:cNvSpPr txBox="1"/>
          <p:nvPr/>
        </p:nvSpPr>
        <p:spPr>
          <a:xfrm>
            <a:off x="6774421" y="3041059"/>
            <a:ext cx="162879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>
                <a:solidFill>
                  <a:srgbClr val="FF0000"/>
                </a:solidFill>
              </a:rPr>
              <a:t>including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EB5BDA95-D443-C894-5FB3-4B78352D83D5}"/>
              </a:ext>
            </a:extLst>
          </p:cNvPr>
          <p:cNvSpPr txBox="1"/>
          <p:nvPr/>
        </p:nvSpPr>
        <p:spPr>
          <a:xfrm>
            <a:off x="6774421" y="4631263"/>
            <a:ext cx="162879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>
                <a:solidFill>
                  <a:srgbClr val="FF0000"/>
                </a:solidFill>
              </a:rPr>
              <a:t>including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80DA49B7-3251-9134-72C0-B0B36C0A30DE}"/>
              </a:ext>
            </a:extLst>
          </p:cNvPr>
          <p:cNvSpPr/>
          <p:nvPr/>
        </p:nvSpPr>
        <p:spPr>
          <a:xfrm>
            <a:off x="4934803" y="4942720"/>
            <a:ext cx="3536364" cy="132556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5CD35F8A-DB9D-4B2F-F457-4730D9C9870C}"/>
              </a:ext>
            </a:extLst>
          </p:cNvPr>
          <p:cNvSpPr txBox="1"/>
          <p:nvPr/>
        </p:nvSpPr>
        <p:spPr>
          <a:xfrm>
            <a:off x="8546087" y="5323577"/>
            <a:ext cx="233381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>
                <a:solidFill>
                  <a:srgbClr val="FF0000"/>
                </a:solidFill>
              </a:rPr>
              <a:t>But you must understand OOP first</a:t>
            </a:r>
          </a:p>
        </p:txBody>
      </p:sp>
    </p:spTree>
    <p:extLst>
      <p:ext uri="{BB962C8B-B14F-4D97-AF65-F5344CB8AC3E}">
        <p14:creationId xmlns:p14="http://schemas.microsoft.com/office/powerpoint/2010/main" val="403644155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376709-DE10-13E3-BFB1-D09899D230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VN"/>
              <a:t>Programming paradigm: </a:t>
            </a:r>
            <a:r>
              <a:rPr lang="en-VN">
                <a:cs typeface="Times New Roman" panose="02020603050405020304" pitchFamily="18" charset="0"/>
              </a:rPr>
              <a:t>Procedure</a:t>
            </a:r>
            <a:endParaRPr lang="en-VN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87570DB-B5E0-8239-8B29-D1D96E962CA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535610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VN"/>
                  <a:t>You have a variable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vi-VN" b="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VN" i="1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p>
                        <m:r>
                          <a:rPr lang="vi-VN" b="0" i="1">
                            <a:latin typeface="Cambria Math" panose="02040503050406030204" pitchFamily="18" charset="0"/>
                          </a:rPr>
                          <m:t>0</m:t>
                        </m:r>
                      </m:sup>
                    </m:sSup>
                  </m:oMath>
                </a14:m>
                <a:r>
                  <a:rPr lang="en-VN"/>
                  <a:t>, then apply a series of procedures to get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vi-VN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VN" i="1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p>
                        <m:r>
                          <a:rPr lang="vi-VN" i="1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</m:oMath>
                </a14:m>
                <a:r>
                  <a:rPr lang="en-VN"/>
                  <a:t> 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87570DB-B5E0-8239-8B29-D1D96E962CA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535610"/>
              </a:xfrm>
              <a:blipFill>
                <a:blip r:embed="rId2"/>
                <a:stretch>
                  <a:fillRect l="-1206" t="-18605" b="-23256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5DBD579-99E7-E8E6-65B7-DBB5758F70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5B5E1E-6446-E346-A8EF-B18E81FAF44B}" type="slidenum">
              <a:rPr lang="en-VN"/>
              <a:t>5</a:t>
            </a:fld>
            <a:endParaRPr lang="en-VN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72135E4D-3A92-AAA7-F493-C5A2986C2293}"/>
                  </a:ext>
                </a:extLst>
              </p:cNvPr>
              <p:cNvSpPr txBox="1"/>
              <p:nvPr/>
            </p:nvSpPr>
            <p:spPr>
              <a:xfrm>
                <a:off x="838200" y="2635071"/>
                <a:ext cx="666509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vi-VN" sz="2800" b="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VN" sz="2800" i="1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p>
                          <m:r>
                            <a:rPr lang="vi-VN" sz="2800" b="0" i="1">
                              <a:latin typeface="Cambria Math" panose="02040503050406030204" pitchFamily="18" charset="0"/>
                            </a:rPr>
                            <m:t>0</m:t>
                          </m:r>
                        </m:sup>
                      </m:sSup>
                    </m:oMath>
                  </m:oMathPara>
                </a14:m>
                <a:endParaRPr lang="en-VN" sz="2800"/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72135E4D-3A92-AAA7-F493-C5A2986C229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2635071"/>
                <a:ext cx="666509" cy="52322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4D76384F-B117-BBC4-1CCE-6FBE55FB350B}"/>
                  </a:ext>
                </a:extLst>
              </p:cNvPr>
              <p:cNvSpPr/>
              <p:nvPr/>
            </p:nvSpPr>
            <p:spPr>
              <a:xfrm>
                <a:off x="1956122" y="2478012"/>
                <a:ext cx="2500131" cy="837337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VN" sz="2400">
                    <a:solidFill>
                      <a:schemeClr val="tx1"/>
                    </a:solidFill>
                  </a:rPr>
                  <a:t>Procedure 1 (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vi-VN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VN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p>
                        <m:r>
                          <a:rPr lang="vi-VN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p>
                    </m:sSup>
                  </m:oMath>
                </a14:m>
                <a:r>
                  <a:rPr lang="en-VN" sz="2400">
                    <a:solidFill>
                      <a:schemeClr val="tx1"/>
                    </a:solidFill>
                  </a:rPr>
                  <a:t>)</a:t>
                </a:r>
              </a:p>
            </p:txBody>
          </p:sp>
        </mc:Choice>
        <mc:Fallback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4D76384F-B117-BBC4-1CCE-6FBE55FB350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56122" y="2478012"/>
                <a:ext cx="2500131" cy="837337"/>
              </a:xfrm>
              <a:prstGeom prst="rect">
                <a:avLst/>
              </a:prstGeom>
              <a:blipFill>
                <a:blip r:embed="rId4"/>
                <a:stretch>
                  <a:fillRect l="-503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A64E2B7E-9F34-4A83-2FE7-3087FA97A692}"/>
              </a:ext>
            </a:extLst>
          </p:cNvPr>
          <p:cNvCxnSpPr>
            <a:cxnSpLocks/>
            <a:stCxn id="6" idx="3"/>
            <a:endCxn id="7" idx="1"/>
          </p:cNvCxnSpPr>
          <p:nvPr/>
        </p:nvCxnSpPr>
        <p:spPr>
          <a:xfrm>
            <a:off x="1504709" y="2896681"/>
            <a:ext cx="451413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C73B48AA-BE41-9E04-97B1-BF9050B626D4}"/>
                  </a:ext>
                </a:extLst>
              </p:cNvPr>
              <p:cNvSpPr txBox="1"/>
              <p:nvPr/>
            </p:nvSpPr>
            <p:spPr>
              <a:xfrm>
                <a:off x="4978078" y="2635071"/>
                <a:ext cx="666509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vi-VN" sz="2800" b="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VN" sz="2800" i="1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p>
                          <m:r>
                            <a:rPr lang="vi-VN" sz="2800" b="0" i="1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</m:oMath>
                  </m:oMathPara>
                </a14:m>
                <a:endParaRPr lang="en-VN" sz="2800" i="1"/>
              </a:p>
            </p:txBody>
          </p:sp>
        </mc:Choice>
        <mc:Fallback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C73B48AA-BE41-9E04-97B1-BF9050B626D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78078" y="2635071"/>
                <a:ext cx="666509" cy="52322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9C64BD38-A30E-FFED-4D24-4F34DB3C5A42}"/>
                  </a:ext>
                </a:extLst>
              </p:cNvPr>
              <p:cNvSpPr/>
              <p:nvPr/>
            </p:nvSpPr>
            <p:spPr>
              <a:xfrm>
                <a:off x="6096000" y="2478012"/>
                <a:ext cx="2500131" cy="837337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VN" sz="2400">
                    <a:solidFill>
                      <a:schemeClr val="tx1"/>
                    </a:solidFill>
                  </a:rPr>
                  <a:t>Procedure 2 (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vi-VN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VN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p>
                        <m:r>
                          <a:rPr lang="vi-VN" sz="2400" b="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</m:oMath>
                </a14:m>
                <a:r>
                  <a:rPr lang="en-VN" sz="2400">
                    <a:solidFill>
                      <a:schemeClr val="tx1"/>
                    </a:solidFill>
                  </a:rPr>
                  <a:t>)</a:t>
                </a:r>
              </a:p>
            </p:txBody>
          </p:sp>
        </mc:Choice>
        <mc:Fallback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9C64BD38-A30E-FFED-4D24-4F34DB3C5A4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6000" y="2478012"/>
                <a:ext cx="2500131" cy="837337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249634CE-C21E-F361-11E2-355D17D72664}"/>
              </a:ext>
            </a:extLst>
          </p:cNvPr>
          <p:cNvCxnSpPr>
            <a:cxnSpLocks/>
            <a:stCxn id="13" idx="3"/>
            <a:endCxn id="14" idx="1"/>
          </p:cNvCxnSpPr>
          <p:nvPr/>
        </p:nvCxnSpPr>
        <p:spPr>
          <a:xfrm>
            <a:off x="5644587" y="2896681"/>
            <a:ext cx="451413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CD7C70B6-ED35-2092-E69B-476A14735DF8}"/>
              </a:ext>
            </a:extLst>
          </p:cNvPr>
          <p:cNvCxnSpPr>
            <a:cxnSpLocks/>
            <a:stCxn id="7" idx="3"/>
            <a:endCxn id="13" idx="1"/>
          </p:cNvCxnSpPr>
          <p:nvPr/>
        </p:nvCxnSpPr>
        <p:spPr>
          <a:xfrm>
            <a:off x="4456253" y="2896681"/>
            <a:ext cx="521825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03CE57F5-EF52-D584-797F-9ED80CA23A1C}"/>
                  </a:ext>
                </a:extLst>
              </p:cNvPr>
              <p:cNvSpPr txBox="1"/>
              <p:nvPr/>
            </p:nvSpPr>
            <p:spPr>
              <a:xfrm>
                <a:off x="10171253" y="2635071"/>
                <a:ext cx="666509" cy="53091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vi-VN" sz="2800" b="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VN" sz="2800" i="1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p>
                          <m:r>
                            <a:rPr lang="vi-VN" sz="2800" i="1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</m:oMath>
                  </m:oMathPara>
                </a14:m>
                <a:endParaRPr lang="en-VN" sz="2800" i="1"/>
              </a:p>
            </p:txBody>
          </p:sp>
        </mc:Choice>
        <mc:Fallback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03CE57F5-EF52-D584-797F-9ED80CA23A1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71253" y="2635071"/>
                <a:ext cx="666509" cy="530915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A7412A5E-1ABE-D413-0EFF-9A20AF16371B}"/>
              </a:ext>
            </a:extLst>
          </p:cNvPr>
          <p:cNvCxnSpPr>
            <a:cxnSpLocks/>
            <a:endCxn id="19" idx="1"/>
          </p:cNvCxnSpPr>
          <p:nvPr/>
        </p:nvCxnSpPr>
        <p:spPr>
          <a:xfrm>
            <a:off x="9649428" y="2896681"/>
            <a:ext cx="521825" cy="3848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293A54EA-06AB-C869-8ECF-46C84A42DBCF}"/>
              </a:ext>
            </a:extLst>
          </p:cNvPr>
          <p:cNvCxnSpPr>
            <a:cxnSpLocks/>
          </p:cNvCxnSpPr>
          <p:nvPr/>
        </p:nvCxnSpPr>
        <p:spPr>
          <a:xfrm>
            <a:off x="8596131" y="2896681"/>
            <a:ext cx="451413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46E09B45-EAFB-778A-75B8-2392DA0EEE2E}"/>
                  </a:ext>
                </a:extLst>
              </p:cNvPr>
              <p:cNvSpPr txBox="1"/>
              <p:nvPr/>
            </p:nvSpPr>
            <p:spPr>
              <a:xfrm>
                <a:off x="8992082" y="2559035"/>
                <a:ext cx="666509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vi-VN" sz="2800" b="0" i="1">
                          <a:latin typeface="Cambria Math" panose="02040503050406030204" pitchFamily="18" charset="0"/>
                        </a:rPr>
                        <m:t>…</m:t>
                      </m:r>
                    </m:oMath>
                  </m:oMathPara>
                </a14:m>
                <a:endParaRPr lang="en-VN" sz="2800" i="1"/>
              </a:p>
            </p:txBody>
          </p:sp>
        </mc:Choice>
        <mc:Fallback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46E09B45-EAFB-778A-75B8-2392DA0EEE2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92082" y="2559035"/>
                <a:ext cx="666509" cy="523220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3" name="Rectangle 22">
            <a:extLst>
              <a:ext uri="{FF2B5EF4-FFF2-40B4-BE49-F238E27FC236}">
                <a16:creationId xmlns:a16="http://schemas.microsoft.com/office/drawing/2014/main" id="{F5F26F57-CBCD-70B7-7A93-8E8C7248FB64}"/>
              </a:ext>
            </a:extLst>
          </p:cNvPr>
          <p:cNvSpPr/>
          <p:nvPr/>
        </p:nvSpPr>
        <p:spPr>
          <a:xfrm>
            <a:off x="838200" y="2361235"/>
            <a:ext cx="10025743" cy="106776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4" name="Content Placeholder 2">
                <a:extLst>
                  <a:ext uri="{FF2B5EF4-FFF2-40B4-BE49-F238E27FC236}">
                    <a16:creationId xmlns:a16="http://schemas.microsoft.com/office/drawing/2014/main" id="{887623EB-9017-3531-1145-2EDDBCC0985F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949388" y="3518869"/>
                <a:ext cx="5221628" cy="365125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 fontScale="92500"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lang="en-VN" sz="2000">
                    <a:solidFill>
                      <a:srgbClr val="FF0000"/>
                    </a:solidFill>
                  </a:rPr>
                  <a:t>Stateful process, without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vi-VN" sz="2000" b="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VN" sz="20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p>
                        <m:r>
                          <a:rPr lang="vi-VN" sz="20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p>
                  </m:oMath>
                </a14:m>
                <a:r>
                  <a:rPr lang="en-VN" sz="2000" i="1">
                    <a:solidFill>
                      <a:srgbClr val="FF0000"/>
                    </a:solidFill>
                  </a:rPr>
                  <a:t>, </a:t>
                </a:r>
                <a:r>
                  <a:rPr lang="en-VN" sz="2000">
                    <a:solidFill>
                      <a:srgbClr val="FF0000"/>
                    </a:solidFill>
                  </a:rPr>
                  <a:t>we are cooked </a:t>
                </a:r>
                <a:r>
                  <a:rPr lang="en-VN" sz="2000"/>
                  <a:t>💀</a:t>
                </a:r>
                <a:endParaRPr lang="en-VN" sz="2000" i="1">
                  <a:solidFill>
                    <a:srgbClr val="FF0000"/>
                  </a:solidFill>
                </a:endParaRPr>
              </a:p>
            </p:txBody>
          </p:sp>
        </mc:Choice>
        <mc:Fallback>
          <p:sp>
            <p:nvSpPr>
              <p:cNvPr id="24" name="Content Placeholder 2">
                <a:extLst>
                  <a:ext uri="{FF2B5EF4-FFF2-40B4-BE49-F238E27FC236}">
                    <a16:creationId xmlns:a16="http://schemas.microsoft.com/office/drawing/2014/main" id="{887623EB-9017-3531-1145-2EDDBCC098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49388" y="3518869"/>
                <a:ext cx="5221628" cy="365125"/>
              </a:xfrm>
              <a:prstGeom prst="rect">
                <a:avLst/>
              </a:prstGeom>
              <a:blipFill>
                <a:blip r:embed="rId9"/>
                <a:stretch>
                  <a:fillRect l="-1214" t="-16667" b="-23333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" name="Content Placeholder 2">
            <a:extLst>
              <a:ext uri="{FF2B5EF4-FFF2-40B4-BE49-F238E27FC236}">
                <a16:creationId xmlns:a16="http://schemas.microsoft.com/office/drawing/2014/main" id="{06208800-9994-00A5-E5EC-09C9745F2157}"/>
              </a:ext>
            </a:extLst>
          </p:cNvPr>
          <p:cNvSpPr txBox="1">
            <a:spLocks/>
          </p:cNvSpPr>
          <p:nvPr/>
        </p:nvSpPr>
        <p:spPr>
          <a:xfrm>
            <a:off x="838200" y="4756189"/>
            <a:ext cx="979025" cy="53561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VN"/>
              <a:t>Rice</a:t>
            </a:r>
          </a:p>
        </p:txBody>
      </p:sp>
      <p:pic>
        <p:nvPicPr>
          <p:cNvPr id="1026" name="Picture 2" descr="Rice Icons - Free SVG &amp; PNG Rice Images - Noun Project">
            <a:extLst>
              <a:ext uri="{FF2B5EF4-FFF2-40B4-BE49-F238E27FC236}">
                <a16:creationId xmlns:a16="http://schemas.microsoft.com/office/drawing/2014/main" id="{8433F2AB-6C11-C08B-0E34-E45C9930B2A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200" y="5291799"/>
            <a:ext cx="815006" cy="8150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6" name="Content Placeholder 2">
            <a:extLst>
              <a:ext uri="{FF2B5EF4-FFF2-40B4-BE49-F238E27FC236}">
                <a16:creationId xmlns:a16="http://schemas.microsoft.com/office/drawing/2014/main" id="{641CF0BA-7791-FD18-831B-96E7DDC55C0B}"/>
              </a:ext>
            </a:extLst>
          </p:cNvPr>
          <p:cNvSpPr txBox="1">
            <a:spLocks/>
          </p:cNvSpPr>
          <p:nvPr/>
        </p:nvSpPr>
        <p:spPr>
          <a:xfrm>
            <a:off x="3936355" y="4756189"/>
            <a:ext cx="2141317" cy="53561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VN"/>
              <a:t>Cooked rice</a:t>
            </a:r>
          </a:p>
        </p:txBody>
      </p:sp>
      <p:pic>
        <p:nvPicPr>
          <p:cNvPr id="1028" name="Picture 4" descr="Rice - Free food icons">
            <a:extLst>
              <a:ext uri="{FF2B5EF4-FFF2-40B4-BE49-F238E27FC236}">
                <a16:creationId xmlns:a16="http://schemas.microsoft.com/office/drawing/2014/main" id="{63F446A4-E6ED-6476-0B9F-577184F168F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75229" y="5233196"/>
            <a:ext cx="932211" cy="9322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96BC237E-B8BF-CBC6-26CC-F723DC3A8510}"/>
              </a:ext>
            </a:extLst>
          </p:cNvPr>
          <p:cNvCxnSpPr>
            <a:cxnSpLocks/>
            <a:stCxn id="25" idx="3"/>
            <a:endCxn id="26" idx="1"/>
          </p:cNvCxnSpPr>
          <p:nvPr/>
        </p:nvCxnSpPr>
        <p:spPr>
          <a:xfrm>
            <a:off x="1817225" y="5023994"/>
            <a:ext cx="2119130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1030" name="Picture 6" descr="Nồi Cơm điện Hình ảnh PNG | Vector Và Các Tập Tin PSD | Tải ...">
            <a:extLst>
              <a:ext uri="{FF2B5EF4-FFF2-40B4-BE49-F238E27FC236}">
                <a16:creationId xmlns:a16="http://schemas.microsoft.com/office/drawing/2014/main" id="{5AA23108-132F-2B1E-1992-6934BD77CE2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22046" y="4187936"/>
            <a:ext cx="815007" cy="8150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" name="Picture 2" descr="Rice Icons - Free SVG &amp; PNG Rice Images - Noun Project">
            <a:extLst>
              <a:ext uri="{FF2B5EF4-FFF2-40B4-BE49-F238E27FC236}">
                <a16:creationId xmlns:a16="http://schemas.microsoft.com/office/drawing/2014/main" id="{5402C60E-43D2-4622-EDD4-39DF35F40D1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24873" y="4348686"/>
            <a:ext cx="535601" cy="5356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1" name="Content Placeholder 2">
            <a:extLst>
              <a:ext uri="{FF2B5EF4-FFF2-40B4-BE49-F238E27FC236}">
                <a16:creationId xmlns:a16="http://schemas.microsoft.com/office/drawing/2014/main" id="{B8407D78-AD78-0FB0-4EB3-411B8DBE91B1}"/>
              </a:ext>
            </a:extLst>
          </p:cNvPr>
          <p:cNvSpPr txBox="1">
            <a:spLocks/>
          </p:cNvSpPr>
          <p:nvPr/>
        </p:nvSpPr>
        <p:spPr>
          <a:xfrm>
            <a:off x="2825965" y="4392878"/>
            <a:ext cx="979715" cy="53561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VN"/>
              <a:t>(        )</a:t>
            </a:r>
          </a:p>
        </p:txBody>
      </p:sp>
      <p:sp>
        <p:nvSpPr>
          <p:cNvPr id="32" name="Content Placeholder 2">
            <a:extLst>
              <a:ext uri="{FF2B5EF4-FFF2-40B4-BE49-F238E27FC236}">
                <a16:creationId xmlns:a16="http://schemas.microsoft.com/office/drawing/2014/main" id="{EB2DA024-0443-4348-98DB-EEAA7E964E85}"/>
              </a:ext>
            </a:extLst>
          </p:cNvPr>
          <p:cNvSpPr txBox="1">
            <a:spLocks/>
          </p:cNvSpPr>
          <p:nvPr/>
        </p:nvSpPr>
        <p:spPr>
          <a:xfrm>
            <a:off x="8422510" y="4756189"/>
            <a:ext cx="2141317" cy="53561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VN"/>
              <a:t>Fried rice</a:t>
            </a:r>
          </a:p>
        </p:txBody>
      </p:sp>
      <p:pic>
        <p:nvPicPr>
          <p:cNvPr id="1032" name="Picture 8" descr="Fried rice - Free food icons">
            <a:extLst>
              <a:ext uri="{FF2B5EF4-FFF2-40B4-BE49-F238E27FC236}">
                <a16:creationId xmlns:a16="http://schemas.microsoft.com/office/drawing/2014/main" id="{0535807D-A7BC-57BD-44FD-08AA41AE070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52397" y="5086626"/>
            <a:ext cx="1020179" cy="10201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14880D2C-6A83-67EA-39CA-1AFC9CDB44DC}"/>
              </a:ext>
            </a:extLst>
          </p:cNvPr>
          <p:cNvCxnSpPr>
            <a:cxnSpLocks/>
            <a:stCxn id="26" idx="3"/>
            <a:endCxn id="32" idx="1"/>
          </p:cNvCxnSpPr>
          <p:nvPr/>
        </p:nvCxnSpPr>
        <p:spPr>
          <a:xfrm>
            <a:off x="6077672" y="5023994"/>
            <a:ext cx="2344838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1034" name="Picture 10" descr="Frying pan - Free food icons">
            <a:extLst>
              <a:ext uri="{FF2B5EF4-FFF2-40B4-BE49-F238E27FC236}">
                <a16:creationId xmlns:a16="http://schemas.microsoft.com/office/drawing/2014/main" id="{A53F1646-3B11-FF8B-83BD-10D6A49B602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01898" y="4054316"/>
            <a:ext cx="1120596" cy="11205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6" name="Content Placeholder 2">
            <a:extLst>
              <a:ext uri="{FF2B5EF4-FFF2-40B4-BE49-F238E27FC236}">
                <a16:creationId xmlns:a16="http://schemas.microsoft.com/office/drawing/2014/main" id="{65C95781-2BFC-DCE3-7506-8DA45D182D43}"/>
              </a:ext>
            </a:extLst>
          </p:cNvPr>
          <p:cNvSpPr txBox="1">
            <a:spLocks/>
          </p:cNvSpPr>
          <p:nvPr/>
        </p:nvSpPr>
        <p:spPr>
          <a:xfrm>
            <a:off x="7132457" y="4455349"/>
            <a:ext cx="979715" cy="53561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VN"/>
              <a:t>(        )</a:t>
            </a:r>
          </a:p>
        </p:txBody>
      </p:sp>
      <p:pic>
        <p:nvPicPr>
          <p:cNvPr id="37" name="Picture 4" descr="Rice - Free food icons">
            <a:extLst>
              <a:ext uri="{FF2B5EF4-FFF2-40B4-BE49-F238E27FC236}">
                <a16:creationId xmlns:a16="http://schemas.microsoft.com/office/drawing/2014/main" id="{27ED0025-B39D-1B49-F2EE-87CEEBBB168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54509" y="4429261"/>
            <a:ext cx="535610" cy="5356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7877848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DE1042-2B53-F639-3240-E5F2D5C0A1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VN"/>
              <a:t>Programming paradigm: </a:t>
            </a:r>
            <a:r>
              <a:rPr lang="en-VN">
                <a:cs typeface="Times New Roman" panose="02020603050405020304" pitchFamily="18" charset="0"/>
              </a:rPr>
              <a:t>Procedure</a:t>
            </a:r>
            <a:endParaRPr lang="en-V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5B84CB1-5A68-7AF0-5D11-B193C253DA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5B5E1E-6446-E346-A8EF-B18E81FAF44B}" type="slidenum">
              <a:rPr lang="en-VN"/>
              <a:t>6</a:t>
            </a:fld>
            <a:endParaRPr lang="en-VN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EDA590CB-7E63-0E18-D640-59895C282E8C}"/>
              </a:ext>
            </a:extLst>
          </p:cNvPr>
          <p:cNvSpPr txBox="1">
            <a:spLocks/>
          </p:cNvSpPr>
          <p:nvPr/>
        </p:nvSpPr>
        <p:spPr>
          <a:xfrm>
            <a:off x="838200" y="2186610"/>
            <a:ext cx="979025" cy="53561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VN"/>
              <a:t>Rice</a:t>
            </a:r>
          </a:p>
        </p:txBody>
      </p:sp>
      <p:pic>
        <p:nvPicPr>
          <p:cNvPr id="6" name="Picture 2" descr="Rice Icons - Free SVG &amp; PNG Rice Images - Noun Project">
            <a:extLst>
              <a:ext uri="{FF2B5EF4-FFF2-40B4-BE49-F238E27FC236}">
                <a16:creationId xmlns:a16="http://schemas.microsoft.com/office/drawing/2014/main" id="{2C463450-80C8-55D0-DFEC-F3E94988527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200" y="2722220"/>
            <a:ext cx="815006" cy="8150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F3A5284B-62F6-8C31-C284-6D6F71E86E38}"/>
              </a:ext>
            </a:extLst>
          </p:cNvPr>
          <p:cNvSpPr txBox="1">
            <a:spLocks/>
          </p:cNvSpPr>
          <p:nvPr/>
        </p:nvSpPr>
        <p:spPr>
          <a:xfrm>
            <a:off x="3936355" y="2186610"/>
            <a:ext cx="2141317" cy="53561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VN"/>
              <a:t>Cooked rice</a:t>
            </a:r>
          </a:p>
        </p:txBody>
      </p:sp>
      <p:pic>
        <p:nvPicPr>
          <p:cNvPr id="8" name="Picture 4" descr="Rice - Free food icons">
            <a:extLst>
              <a:ext uri="{FF2B5EF4-FFF2-40B4-BE49-F238E27FC236}">
                <a16:creationId xmlns:a16="http://schemas.microsoft.com/office/drawing/2014/main" id="{8C230690-F81C-FA01-1051-2B7B3FA5B14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75229" y="2663617"/>
            <a:ext cx="932211" cy="9322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020E3EED-6339-6858-9D88-5A0CEEB8EA98}"/>
              </a:ext>
            </a:extLst>
          </p:cNvPr>
          <p:cNvCxnSpPr>
            <a:cxnSpLocks/>
            <a:stCxn id="5" idx="3"/>
            <a:endCxn id="7" idx="1"/>
          </p:cNvCxnSpPr>
          <p:nvPr/>
        </p:nvCxnSpPr>
        <p:spPr>
          <a:xfrm>
            <a:off x="1817225" y="2454415"/>
            <a:ext cx="2119130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10" name="Picture 6" descr="Nồi Cơm điện Hình ảnh PNG | Vector Và Các Tập Tin PSD | Tải ...">
            <a:extLst>
              <a:ext uri="{FF2B5EF4-FFF2-40B4-BE49-F238E27FC236}">
                <a16:creationId xmlns:a16="http://schemas.microsoft.com/office/drawing/2014/main" id="{94991861-5808-B859-DC16-09428AFFE2B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22046" y="1618357"/>
            <a:ext cx="815007" cy="8150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2" descr="Rice Icons - Free SVG &amp; PNG Rice Images - Noun Project">
            <a:extLst>
              <a:ext uri="{FF2B5EF4-FFF2-40B4-BE49-F238E27FC236}">
                <a16:creationId xmlns:a16="http://schemas.microsoft.com/office/drawing/2014/main" id="{38B727DA-FE95-4F0F-662B-1F346D029AA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24873" y="1779107"/>
            <a:ext cx="535601" cy="5356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A4DE8A02-846A-FD29-36E7-23490826D394}"/>
              </a:ext>
            </a:extLst>
          </p:cNvPr>
          <p:cNvSpPr txBox="1">
            <a:spLocks/>
          </p:cNvSpPr>
          <p:nvPr/>
        </p:nvSpPr>
        <p:spPr>
          <a:xfrm>
            <a:off x="2825965" y="1823299"/>
            <a:ext cx="979715" cy="53561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VN"/>
              <a:t>(        )</a:t>
            </a:r>
          </a:p>
        </p:txBody>
      </p:sp>
      <p:pic>
        <p:nvPicPr>
          <p:cNvPr id="13" name="Picture 8" descr="Fried rice - Free food icons">
            <a:extLst>
              <a:ext uri="{FF2B5EF4-FFF2-40B4-BE49-F238E27FC236}">
                <a16:creationId xmlns:a16="http://schemas.microsoft.com/office/drawing/2014/main" id="{0D1B38CC-5CC9-93B7-6970-B323E071A0A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52397" y="2517047"/>
            <a:ext cx="1020179" cy="10201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AB9E333E-57F5-8236-AA0E-FADF2380DE52}"/>
              </a:ext>
            </a:extLst>
          </p:cNvPr>
          <p:cNvCxnSpPr>
            <a:cxnSpLocks/>
            <a:stCxn id="7" idx="3"/>
          </p:cNvCxnSpPr>
          <p:nvPr/>
        </p:nvCxnSpPr>
        <p:spPr>
          <a:xfrm>
            <a:off x="6077672" y="2454415"/>
            <a:ext cx="2344838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15" name="Picture 10" descr="Frying pan - Free food icons">
            <a:extLst>
              <a:ext uri="{FF2B5EF4-FFF2-40B4-BE49-F238E27FC236}">
                <a16:creationId xmlns:a16="http://schemas.microsoft.com/office/drawing/2014/main" id="{6D946B01-66C4-F6FE-F9F3-7E5DE5B2A0E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01898" y="1484737"/>
            <a:ext cx="1120596" cy="11205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BE0A0928-3873-7645-9E6C-132D1ACEF998}"/>
              </a:ext>
            </a:extLst>
          </p:cNvPr>
          <p:cNvSpPr txBox="1">
            <a:spLocks/>
          </p:cNvSpPr>
          <p:nvPr/>
        </p:nvSpPr>
        <p:spPr>
          <a:xfrm>
            <a:off x="7132457" y="1885770"/>
            <a:ext cx="979715" cy="53561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VN"/>
              <a:t>(        )</a:t>
            </a:r>
          </a:p>
        </p:txBody>
      </p:sp>
      <p:pic>
        <p:nvPicPr>
          <p:cNvPr id="17" name="Picture 4" descr="Rice - Free food icons">
            <a:extLst>
              <a:ext uri="{FF2B5EF4-FFF2-40B4-BE49-F238E27FC236}">
                <a16:creationId xmlns:a16="http://schemas.microsoft.com/office/drawing/2014/main" id="{A3A23161-94F4-BEC8-9FDB-1D59B481AED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54509" y="1859682"/>
            <a:ext cx="535610" cy="5356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03B7FB76-07F4-CC2D-A56D-92B5113D7369}"/>
              </a:ext>
            </a:extLst>
          </p:cNvPr>
          <p:cNvSpPr txBox="1"/>
          <p:nvPr/>
        </p:nvSpPr>
        <p:spPr>
          <a:xfrm>
            <a:off x="838200" y="3442621"/>
            <a:ext cx="231319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/>
              <a:t>Input:</a:t>
            </a:r>
          </a:p>
          <a:p>
            <a:pPr marL="285750" indent="-285750">
              <a:buFontTx/>
              <a:buChar char="-"/>
            </a:pPr>
            <a:r>
              <a:rPr lang="en-VN"/>
              <a:t>Quantity</a:t>
            </a:r>
          </a:p>
          <a:p>
            <a:pPr marL="285750" indent="-285750">
              <a:buFontTx/>
              <a:buChar char="-"/>
            </a:pPr>
            <a:r>
              <a:rPr lang="en-VN"/>
              <a:t>Volume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7C8CA49-5D8F-5C23-F60E-4D8C6B96642C}"/>
              </a:ext>
            </a:extLst>
          </p:cNvPr>
          <p:cNvSpPr txBox="1"/>
          <p:nvPr/>
        </p:nvSpPr>
        <p:spPr>
          <a:xfrm>
            <a:off x="3936355" y="3442621"/>
            <a:ext cx="278853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VN"/>
          </a:p>
          <a:p>
            <a:pPr marL="285750" indent="-285750">
              <a:buFontTx/>
              <a:buChar char="-"/>
            </a:pPr>
            <a:r>
              <a:rPr lang="en-VN"/>
              <a:t>Quantity (unchange)</a:t>
            </a:r>
          </a:p>
          <a:p>
            <a:pPr marL="285750" indent="-285750">
              <a:buFontTx/>
              <a:buChar char="-"/>
            </a:pPr>
            <a:r>
              <a:rPr lang="en-VN"/>
              <a:t>Volume (+50%)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D1FE5A4-642F-118D-24DB-60D8DD27CD6E}"/>
              </a:ext>
            </a:extLst>
          </p:cNvPr>
          <p:cNvSpPr txBox="1"/>
          <p:nvPr/>
        </p:nvSpPr>
        <p:spPr>
          <a:xfrm>
            <a:off x="8422510" y="3442621"/>
            <a:ext cx="278853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VN"/>
          </a:p>
          <a:p>
            <a:pPr marL="285750" indent="-285750">
              <a:buFontTx/>
              <a:buChar char="-"/>
            </a:pPr>
            <a:r>
              <a:rPr lang="en-VN"/>
              <a:t>Quantity (-10%)</a:t>
            </a:r>
          </a:p>
          <a:p>
            <a:pPr marL="285750" indent="-285750">
              <a:buFontTx/>
              <a:buChar char="-"/>
            </a:pPr>
            <a:r>
              <a:rPr lang="en-VN"/>
              <a:t>Volume (-30%)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0E797C8D-F8A6-97AB-CF99-F85D75987C65}"/>
                  </a:ext>
                </a:extLst>
              </p:cNvPr>
              <p:cNvSpPr txBox="1"/>
              <p:nvPr/>
            </p:nvSpPr>
            <p:spPr>
              <a:xfrm>
                <a:off x="838199" y="4433392"/>
                <a:ext cx="9451695" cy="830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VN" sz="2400" b="1"/>
                  <a:t>Exercise</a:t>
                </a:r>
                <a:r>
                  <a:rPr lang="en-VN" sz="2400"/>
                  <a:t>: Let </a:t>
                </a:r>
                <a14:m>
                  <m:oMath xmlns:m="http://schemas.openxmlformats.org/officeDocument/2006/math">
                    <m:r>
                      <a:rPr lang="en-VN" sz="2400" i="1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en-VN" sz="2400"/>
                  <a:t> is number of rice grains and </a:t>
                </a:r>
                <a14:m>
                  <m:oMath xmlns:m="http://schemas.openxmlformats.org/officeDocument/2006/math">
                    <m:r>
                      <a:rPr lang="en-VN" sz="2400" i="1"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r>
                  <a:rPr lang="en-VN" sz="2400"/>
                  <a:t> is the total volume, return final number of rice grains and volume, using </a:t>
                </a:r>
              </a:p>
            </p:txBody>
          </p:sp>
        </mc:Choice>
        <mc:Fallback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0E797C8D-F8A6-97AB-CF99-F85D75987C6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199" y="4433392"/>
                <a:ext cx="9451695" cy="830997"/>
              </a:xfrm>
              <a:prstGeom prst="rect">
                <a:avLst/>
              </a:prstGeom>
              <a:blipFill>
                <a:blip r:embed="rId7"/>
                <a:stretch>
                  <a:fillRect l="-938" t="-4478" b="-16418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" name="Content Placeholder 2">
            <a:extLst>
              <a:ext uri="{FF2B5EF4-FFF2-40B4-BE49-F238E27FC236}">
                <a16:creationId xmlns:a16="http://schemas.microsoft.com/office/drawing/2014/main" id="{77C34D47-2D97-E9BA-9F44-8F17BDD06270}"/>
              </a:ext>
            </a:extLst>
          </p:cNvPr>
          <p:cNvSpPr txBox="1">
            <a:spLocks/>
          </p:cNvSpPr>
          <p:nvPr/>
        </p:nvSpPr>
        <p:spPr>
          <a:xfrm>
            <a:off x="8422510" y="2186608"/>
            <a:ext cx="2141317" cy="53561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VN"/>
              <a:t>Fried rice</a:t>
            </a:r>
          </a:p>
        </p:txBody>
      </p:sp>
      <p:sp>
        <p:nvSpPr>
          <p:cNvPr id="24" name="Content Placeholder 2">
            <a:extLst>
              <a:ext uri="{FF2B5EF4-FFF2-40B4-BE49-F238E27FC236}">
                <a16:creationId xmlns:a16="http://schemas.microsoft.com/office/drawing/2014/main" id="{ED444F32-4938-CB16-8676-450B450C125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31775" y="5294698"/>
            <a:ext cx="4508325" cy="1432378"/>
          </a:xfrm>
          <a:solidFill>
            <a:srgbClr val="D9D9D9"/>
          </a:solidFill>
        </p:spPr>
        <p:txBody>
          <a:bodyPr>
            <a:normAutofit lnSpcReduction="10000"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en-US" sz="2400"/>
              <a:t>s</a:t>
            </a:r>
            <a:r>
              <a:rPr lang="en-VN" sz="2400"/>
              <a:t>truct Rice  {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VN" sz="2400"/>
              <a:t>   int numGrains; float volume;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VN" sz="2400"/>
              <a:t>};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93DE5BBF-88C7-B86C-1194-C545A55620D4}"/>
              </a:ext>
            </a:extLst>
          </p:cNvPr>
          <p:cNvSpPr/>
          <p:nvPr/>
        </p:nvSpPr>
        <p:spPr>
          <a:xfrm>
            <a:off x="1826326" y="5239643"/>
            <a:ext cx="650656" cy="40783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C1E2CB3-9CC2-7245-7C71-A6D0C0C18FDF}"/>
              </a:ext>
            </a:extLst>
          </p:cNvPr>
          <p:cNvSpPr txBox="1"/>
          <p:nvPr/>
        </p:nvSpPr>
        <p:spPr>
          <a:xfrm>
            <a:off x="5596839" y="5215817"/>
            <a:ext cx="382302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 sz="2400">
                <a:solidFill>
                  <a:srgbClr val="FF0000"/>
                </a:solidFill>
              </a:rPr>
              <a:t>We care about struct </a:t>
            </a:r>
            <a:r>
              <a:rPr lang="en-VN" sz="2400" b="1">
                <a:solidFill>
                  <a:srgbClr val="FF0000"/>
                </a:solidFill>
              </a:rPr>
              <a:t>Rice</a:t>
            </a: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FAE19F7A-DFF6-87D7-19F2-6FC954D57769}"/>
              </a:ext>
            </a:extLst>
          </p:cNvPr>
          <p:cNvCxnSpPr>
            <a:stCxn id="25" idx="3"/>
            <a:endCxn id="26" idx="1"/>
          </p:cNvCxnSpPr>
          <p:nvPr/>
        </p:nvCxnSpPr>
        <p:spPr>
          <a:xfrm>
            <a:off x="2476982" y="5443562"/>
            <a:ext cx="3119857" cy="3088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615209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2A2F5E-5982-33FD-55A6-B476FC35EE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8AAC34-11B9-E6A0-1F85-44FE4DB8A0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VN"/>
              <a:t>Programming paradigm: </a:t>
            </a:r>
            <a:r>
              <a:rPr lang="en-VN">
                <a:cs typeface="Times New Roman" panose="02020603050405020304" pitchFamily="18" charset="0"/>
              </a:rPr>
              <a:t>Procedure</a:t>
            </a:r>
            <a:endParaRPr lang="en-V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63C774A-B2CF-F537-CB4D-1A19A68334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5B5E1E-6446-E346-A8EF-B18E81FAF44B}" type="slidenum">
              <a:rPr lang="en-VN"/>
              <a:t>7</a:t>
            </a:fld>
            <a:endParaRPr lang="en-VN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F77B8E27-F393-9B20-F426-BAB9E2D95E85}"/>
              </a:ext>
            </a:extLst>
          </p:cNvPr>
          <p:cNvSpPr txBox="1">
            <a:spLocks/>
          </p:cNvSpPr>
          <p:nvPr/>
        </p:nvSpPr>
        <p:spPr>
          <a:xfrm>
            <a:off x="1008948" y="2283150"/>
            <a:ext cx="1137191" cy="2362242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VN"/>
              <a:t>Rice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VN"/>
          </a:p>
          <a:p>
            <a:pPr marL="0" indent="0">
              <a:buFont typeface="Arial" panose="020B0604020202020204" pitchFamily="34" charset="0"/>
              <a:buNone/>
            </a:pPr>
            <a:r>
              <a:rPr lang="en-VN">
                <a:solidFill>
                  <a:schemeClr val="accent2"/>
                </a:solidFill>
              </a:rPr>
              <a:t>Sticky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VN">
                <a:solidFill>
                  <a:schemeClr val="accent2"/>
                </a:solidFill>
              </a:rPr>
              <a:t>rice 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VN"/>
              <a:t>…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E362C6F4-0B77-7879-CDAD-C4E442983385}"/>
              </a:ext>
            </a:extLst>
          </p:cNvPr>
          <p:cNvSpPr txBox="1">
            <a:spLocks/>
          </p:cNvSpPr>
          <p:nvPr/>
        </p:nvSpPr>
        <p:spPr>
          <a:xfrm>
            <a:off x="4265269" y="2283151"/>
            <a:ext cx="2141317" cy="53561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VN"/>
              <a:t>Cooked rice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1C8E1047-4E56-0C13-98A9-4E3D3A8030EA}"/>
              </a:ext>
            </a:extLst>
          </p:cNvPr>
          <p:cNvCxnSpPr>
            <a:cxnSpLocks/>
            <a:endCxn id="7" idx="1"/>
          </p:cNvCxnSpPr>
          <p:nvPr/>
        </p:nvCxnSpPr>
        <p:spPr>
          <a:xfrm>
            <a:off x="2123952" y="2550956"/>
            <a:ext cx="2141317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10" name="Picture 6" descr="Nồi Cơm điện Hình ảnh PNG | Vector Và Các Tập Tin PSD | Tải ...">
            <a:extLst>
              <a:ext uri="{FF2B5EF4-FFF2-40B4-BE49-F238E27FC236}">
                <a16:creationId xmlns:a16="http://schemas.microsoft.com/office/drawing/2014/main" id="{7CD9CEDA-EF14-7094-8BA5-E3B293508D5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50960" y="1714898"/>
            <a:ext cx="815007" cy="8150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F809A999-4010-EE0B-80E9-B665D3B3D175}"/>
              </a:ext>
            </a:extLst>
          </p:cNvPr>
          <p:cNvCxnSpPr>
            <a:cxnSpLocks/>
            <a:stCxn id="7" idx="3"/>
          </p:cNvCxnSpPr>
          <p:nvPr/>
        </p:nvCxnSpPr>
        <p:spPr>
          <a:xfrm>
            <a:off x="6406586" y="2550956"/>
            <a:ext cx="2344838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15" name="Picture 10" descr="Frying pan - Free food icons">
            <a:extLst>
              <a:ext uri="{FF2B5EF4-FFF2-40B4-BE49-F238E27FC236}">
                <a16:creationId xmlns:a16="http://schemas.microsoft.com/office/drawing/2014/main" id="{F2EE7081-5EC7-3CD2-8068-30597E5E527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63247" y="1581278"/>
            <a:ext cx="1120596" cy="11205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2" name="Content Placeholder 2">
            <a:extLst>
              <a:ext uri="{FF2B5EF4-FFF2-40B4-BE49-F238E27FC236}">
                <a16:creationId xmlns:a16="http://schemas.microsoft.com/office/drawing/2014/main" id="{C7CA4B8F-8F14-27CF-2470-2E475AFC35CD}"/>
              </a:ext>
            </a:extLst>
          </p:cNvPr>
          <p:cNvSpPr txBox="1">
            <a:spLocks/>
          </p:cNvSpPr>
          <p:nvPr/>
        </p:nvSpPr>
        <p:spPr>
          <a:xfrm>
            <a:off x="8751424" y="2283149"/>
            <a:ext cx="2141317" cy="53561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VN"/>
              <a:t>Fried rice</a:t>
            </a:r>
          </a:p>
        </p:txBody>
      </p:sp>
      <p:pic>
        <p:nvPicPr>
          <p:cNvPr id="33" name="Picture 6" descr="Nồi Cơm điện Hình ảnh PNG | Vector Và Các Tập Tin PSD | Tải ...">
            <a:extLst>
              <a:ext uri="{FF2B5EF4-FFF2-40B4-BE49-F238E27FC236}">
                <a16:creationId xmlns:a16="http://schemas.microsoft.com/office/drawing/2014/main" id="{46A562CE-3FE8-76B9-3C53-BFAFB75196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duotone>
              <a:schemeClr val="accent2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50960" y="2632957"/>
            <a:ext cx="815007" cy="8150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4" name="Content Placeholder 2">
            <a:extLst>
              <a:ext uri="{FF2B5EF4-FFF2-40B4-BE49-F238E27FC236}">
                <a16:creationId xmlns:a16="http://schemas.microsoft.com/office/drawing/2014/main" id="{16CD4676-D8BA-4CD2-DB78-9E90D13FC600}"/>
              </a:ext>
            </a:extLst>
          </p:cNvPr>
          <p:cNvSpPr txBox="1">
            <a:spLocks/>
          </p:cNvSpPr>
          <p:nvPr/>
        </p:nvSpPr>
        <p:spPr>
          <a:xfrm>
            <a:off x="3800441" y="3257736"/>
            <a:ext cx="3118432" cy="53561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VN">
                <a:solidFill>
                  <a:schemeClr val="accent2"/>
                </a:solidFill>
              </a:rPr>
              <a:t>Cooked sticky rice</a:t>
            </a:r>
          </a:p>
        </p:txBody>
      </p: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E0319CB7-5EE2-1400-F852-F86B72CE20E6}"/>
              </a:ext>
            </a:extLst>
          </p:cNvPr>
          <p:cNvCxnSpPr>
            <a:cxnSpLocks/>
            <a:endCxn id="34" idx="1"/>
          </p:cNvCxnSpPr>
          <p:nvPr/>
        </p:nvCxnSpPr>
        <p:spPr>
          <a:xfrm>
            <a:off x="2123952" y="3525541"/>
            <a:ext cx="1676489" cy="0"/>
          </a:xfrm>
          <a:prstGeom prst="straightConnector1">
            <a:avLst/>
          </a:prstGeom>
          <a:ln w="38100">
            <a:solidFill>
              <a:schemeClr val="accent2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FA004BC9-79A6-5571-ED75-DCFEC279F279}"/>
              </a:ext>
            </a:extLst>
          </p:cNvPr>
          <p:cNvCxnSpPr>
            <a:cxnSpLocks/>
          </p:cNvCxnSpPr>
          <p:nvPr/>
        </p:nvCxnSpPr>
        <p:spPr>
          <a:xfrm>
            <a:off x="6941060" y="3501319"/>
            <a:ext cx="1788177" cy="0"/>
          </a:xfrm>
          <a:prstGeom prst="straightConnector1">
            <a:avLst/>
          </a:prstGeom>
          <a:ln w="38100">
            <a:solidFill>
              <a:schemeClr val="accent2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37" name="Picture 10" descr="Frying pan - Free food icons">
            <a:extLst>
              <a:ext uri="{FF2B5EF4-FFF2-40B4-BE49-F238E27FC236}">
                <a16:creationId xmlns:a16="http://schemas.microsoft.com/office/drawing/2014/main" id="{7CE05142-B2DE-731F-E406-E456A55040C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duotone>
              <a:schemeClr val="accent2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41060" y="2531641"/>
            <a:ext cx="1120596" cy="11205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8" name="Content Placeholder 2">
            <a:extLst>
              <a:ext uri="{FF2B5EF4-FFF2-40B4-BE49-F238E27FC236}">
                <a16:creationId xmlns:a16="http://schemas.microsoft.com/office/drawing/2014/main" id="{709C98E5-B598-A453-BE8A-3385EBB264B3}"/>
              </a:ext>
            </a:extLst>
          </p:cNvPr>
          <p:cNvSpPr txBox="1">
            <a:spLocks/>
          </p:cNvSpPr>
          <p:nvPr/>
        </p:nvSpPr>
        <p:spPr>
          <a:xfrm>
            <a:off x="8729237" y="3233512"/>
            <a:ext cx="2953477" cy="53561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VN">
                <a:solidFill>
                  <a:schemeClr val="accent2"/>
                </a:solidFill>
              </a:rPr>
              <a:t>Fried sticky rice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6B073472-3A2B-B3E9-DB71-18E0ED643FF5}"/>
              </a:ext>
            </a:extLst>
          </p:cNvPr>
          <p:cNvSpPr/>
          <p:nvPr/>
        </p:nvSpPr>
        <p:spPr>
          <a:xfrm>
            <a:off x="838200" y="1546810"/>
            <a:ext cx="10515600" cy="297753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6C6DD393-E399-FC00-5F2F-ACD8202F9A60}"/>
              </a:ext>
            </a:extLst>
          </p:cNvPr>
          <p:cNvSpPr txBox="1"/>
          <p:nvPr/>
        </p:nvSpPr>
        <p:spPr>
          <a:xfrm>
            <a:off x="4513402" y="4524342"/>
            <a:ext cx="382302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 sz="2400">
                <a:solidFill>
                  <a:srgbClr val="FF0000"/>
                </a:solidFill>
              </a:rPr>
              <a:t>Boilerplate</a:t>
            </a:r>
            <a:endParaRPr lang="en-VN" sz="2400" b="1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7410100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4F9C07-C714-F9F3-B291-6197E73D7C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VN"/>
              <a:t>Programming paradigm: </a:t>
            </a:r>
            <a:r>
              <a:rPr lang="en-VN">
                <a:cs typeface="Times New Roman" panose="02020603050405020304" pitchFamily="18" charset="0"/>
              </a:rPr>
              <a:t>OOP</a:t>
            </a:r>
            <a:endParaRPr lang="en-V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45A4B9-9F60-BE4F-579B-47DFD8FDB42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VN" b="1"/>
              <a:t>class</a:t>
            </a:r>
            <a:r>
              <a:rPr lang="en-VN"/>
              <a:t> is simply an upgrade version of </a:t>
            </a:r>
            <a:r>
              <a:rPr lang="en-VN" b="1"/>
              <a:t>struct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6A05978-A7B7-1539-D02F-933F739CC6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5B5E1E-6446-E346-A8EF-B18E81FAF44B}" type="slidenum">
              <a:rPr lang="en-VN"/>
              <a:t>8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71184181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7128</TotalTime>
  <Words>293</Words>
  <Application>Microsoft Macintosh PowerPoint</Application>
  <PresentationFormat>Widescreen</PresentationFormat>
  <Paragraphs>90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4" baseType="lpstr">
      <vt:lpstr>Aptos</vt:lpstr>
      <vt:lpstr>Aptos Display</vt:lpstr>
      <vt:lpstr>Arial</vt:lpstr>
      <vt:lpstr>Cambria Math</vt:lpstr>
      <vt:lpstr>Times New Roman</vt:lpstr>
      <vt:lpstr>Office Theme</vt:lpstr>
      <vt:lpstr>Intro OOP</vt:lpstr>
      <vt:lpstr>Timeline</vt:lpstr>
      <vt:lpstr>C++</vt:lpstr>
      <vt:lpstr>Programming paradigms</vt:lpstr>
      <vt:lpstr>Programming paradigm: Procedure</vt:lpstr>
      <vt:lpstr>Programming paradigm: Procedure</vt:lpstr>
      <vt:lpstr>Programming paradigm: Procedure</vt:lpstr>
      <vt:lpstr>Programming paradigm: OOP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Nguyen Thi Le  Thuy - Y19</dc:creator>
  <cp:lastModifiedBy>Nguyễn Thị Lê Thủy</cp:lastModifiedBy>
  <cp:revision>26</cp:revision>
  <dcterms:created xsi:type="dcterms:W3CDTF">2025-10-12T07:14:27Z</dcterms:created>
  <dcterms:modified xsi:type="dcterms:W3CDTF">2026-01-29T04:13:47Z</dcterms:modified>
</cp:coreProperties>
</file>