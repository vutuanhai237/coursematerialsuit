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1027" r:id="rId3"/>
    <p:sldId id="1034" r:id="rId4"/>
    <p:sldId id="1033" r:id="rId5"/>
    <p:sldId id="1028" r:id="rId6"/>
    <p:sldId id="1029" r:id="rId7"/>
    <p:sldId id="1030" r:id="rId8"/>
    <p:sldId id="1035" r:id="rId9"/>
    <p:sldId id="1032" r:id="rId10"/>
    <p:sldId id="1031" r:id="rId11"/>
    <p:sldId id="1043" r:id="rId12"/>
    <p:sldId id="1036" r:id="rId13"/>
    <p:sldId id="1037" r:id="rId14"/>
    <p:sldId id="1039" r:id="rId15"/>
    <p:sldId id="1040" r:id="rId16"/>
    <p:sldId id="1041" r:id="rId17"/>
    <p:sldId id="1042" r:id="rId18"/>
    <p:sldId id="1044" r:id="rId19"/>
    <p:sldId id="1046" r:id="rId20"/>
    <p:sldId id="1045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/>
    <p:restoredTop sz="94490"/>
  </p:normalViewPr>
  <p:slideViewPr>
    <p:cSldViewPr snapToGrid="0">
      <p:cViewPr varScale="1">
        <p:scale>
          <a:sx n="116" d="100"/>
          <a:sy n="116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E20D-330D-AE4A-A6A6-1850AD2ED2D6}" type="datetimeFigureOut">
              <a:t>26/2/26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D1A52-94DB-CE4E-80E4-5A5A3CBD908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126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879C-66BC-BE38-71AE-B0A52BE9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43DC-52BF-FFC7-A6F7-77C3F65F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3760-1A42-A517-B329-17A032D0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C23C-BA29-DE42-B018-0A671B23AB5C}" type="datetime1">
              <a:t>26/2/26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FEB5-9A1D-C760-3A59-6961C418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8E25-5819-D9BB-2B7B-FD89ADD9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967-6FF5-2AB7-5A89-60DD8D39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CEF-4815-3E95-7909-2FA3AD96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C15-89E5-727B-1490-05CC5367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D96D-7531-BC47-A011-B5D6B3D43310}" type="datetime1">
              <a:t>26/2/26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B36A-D94F-AC92-80B1-8040A94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8F61-1BFA-0780-D5CD-C8709F5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4086" y="6356350"/>
            <a:ext cx="979714" cy="365125"/>
          </a:xfrm>
        </p:spPr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BE16-5785-3287-F219-A63A98C1F6B4}"/>
              </a:ext>
            </a:extLst>
          </p:cNvPr>
          <p:cNvSpPr txBox="1"/>
          <p:nvPr userDrawn="1"/>
        </p:nvSpPr>
        <p:spPr>
          <a:xfrm>
            <a:off x="10025743" y="180459"/>
            <a:ext cx="20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b="1"/>
              <a:t>IT002 - OOP</a:t>
            </a:r>
          </a:p>
        </p:txBody>
      </p:sp>
    </p:spTree>
    <p:extLst>
      <p:ext uri="{BB962C8B-B14F-4D97-AF65-F5344CB8AC3E}">
        <p14:creationId xmlns:p14="http://schemas.microsoft.com/office/powerpoint/2010/main" val="322623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8A-1FF5-4E9C-3958-AAAE5EB1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F6B0-B22B-B8B5-5476-1A0488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1000-AB74-AEFD-50FE-977A929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F25-CCF5-1749-B789-DEA9DF3915D1}" type="datetime1">
              <a:t>26/2/26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1593-2B6B-2CA0-DB2F-19489B8C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ED81-0B56-6FA2-95D2-CECADDC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922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CBAD-C94E-8462-42F7-6CE1DEB6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A8E9-46E4-3722-3678-DB1E662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4EB0-C0BC-93AB-256D-477F0B020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85DA-986F-905C-F93C-11946E71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BD3F-C60C-8F40-A1AA-746E79F526C8}" type="datetime1">
              <a:t>26/2/26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EC57-B8A1-E8E8-D3C6-C712BD1E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3BD5-89C2-ABF6-BC50-26CCE3F3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107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D908-C8FB-B40D-5338-B12F38A3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DDE4-2F4D-BD99-A231-CA6008F1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206A1-A852-DFD4-176B-D30D7669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D5B1-0FAD-D905-193A-A988870A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92ABD-06A7-0A8A-B162-6B100DD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A0F5E-BC75-DA33-C23A-2C084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3D55-6338-8241-BEA3-C8267015B326}" type="datetime1">
              <a:t>26/2/26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DAFF-76C5-9BAB-7595-F3D8650B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A2C9E-5705-21CC-7F2F-2C316299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89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4701-A80A-232F-0854-5DA8AFC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1774C-BD97-3E58-CD40-4C950D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2EF4-4D34-8E49-9BB8-7FCD8F64F56C}" type="datetime1">
              <a:t>26/2/26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3042-37A8-CF0D-C96F-6512F27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E85-AB14-0D13-176E-0A06051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3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B413-185C-B41C-723A-9D4A6A67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5D4F-1253-B847-8798-F89DBC53ECA3}" type="datetime1">
              <a:t>26/2/26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A144-520E-E52F-DDF2-1E748F63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50AA-C86A-7829-97FB-257B463C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1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9349-7940-BEF0-B4D4-5A7C8268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DDD3-2B20-C5F9-4DC4-024003B7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6026-5F77-9B71-E592-DF3B2283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1FFE-290A-F231-2373-CB070682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E56D-C72A-354F-B0FC-65EC27F745C6}" type="datetime1">
              <a:t>26/2/26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637D-0DBB-9D94-B84C-DD221A50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7C7B-EC72-7C24-BC80-9FF123A0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795E-B04D-560C-A632-0313EB8B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18B6-E0F2-379C-988E-BFAA86E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D15F2-ED27-6782-8C8C-9B6E0718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F3CA7-0F96-3431-B3F4-06BC0EFD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E616-05B3-E949-A580-BAD4E917BCA4}" type="datetime1">
              <a:t>26/2/26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5F99E-A59B-DABF-2474-1B2A079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0139-F785-8A64-8D32-C52E8E26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17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9D33-1B65-702E-AF68-091EFE88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63F3-7D0E-B1DA-F503-E4430BF7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8CE-AAC4-CCE9-CDB5-8A582C91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8E9E1-1963-2549-A392-0CE442C818D3}" type="datetime1">
              <a:t>26/2/26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0330-95FE-A9AD-654D-097C1AB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C464-4061-61F4-DFB5-70DE041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878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DA118-9B30-AADB-BB00-1A29AD187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A5B8-6D26-4874-BB54-AAA2C8A0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1E27-ACFA-67B6-8F29-D119DAA1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A920-85BE-4747-816A-47AD76A510FA}" type="datetime1">
              <a:t>26/2/26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6B8-C0F3-CDF8-2607-D9CE1D1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1BE-9413-D25C-37C9-D572037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4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2CA9-C9D9-B13F-66CB-521D6AC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227C-7C52-761E-38B0-5791D219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B1A1-6E5E-9BBC-C985-0A43829F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08FC7-06EA-184C-B437-1FD4117B159D}" type="datetime1">
              <a:t>26/2/26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B3D4-A45B-92A5-6062-5A7DF6FA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2E2A-F337-A4D9-6F2A-F9994443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3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4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750B-39EE-3B01-075B-7F8F62804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/>
              <a:t>Intro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2B4C0-AF9F-C53E-D24C-0775EFEF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VN"/>
              <a:t>Vu Tuan 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02840-6693-8282-76B9-EE98C0B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80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37F1-282E-01E0-2049-846D7E12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8A17-7E9F-0450-C914-8263C7A38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Chap 1: C++</a:t>
            </a:r>
          </a:p>
          <a:p>
            <a:pPr marL="0" indent="0">
              <a:buNone/>
            </a:pPr>
            <a:r>
              <a:rPr lang="en-US" b="1"/>
              <a:t>Chap 2: Overview of OOP</a:t>
            </a:r>
          </a:p>
          <a:p>
            <a:pPr marL="0" indent="0">
              <a:buNone/>
            </a:pPr>
            <a:r>
              <a:rPr lang="en-US"/>
              <a:t>Chap 3: Object &amp; Class</a:t>
            </a:r>
          </a:p>
          <a:p>
            <a:pPr marL="0" indent="0">
              <a:buNone/>
            </a:pPr>
            <a:r>
              <a:rPr lang="en-US"/>
              <a:t>Chap 4: Operator &amp; Overloading</a:t>
            </a:r>
          </a:p>
          <a:p>
            <a:pPr marL="0" indent="0">
              <a:buNone/>
            </a:pPr>
            <a:r>
              <a:rPr lang="en-US"/>
              <a:t>Chap 5: Inheritance</a:t>
            </a:r>
          </a:p>
          <a:p>
            <a:pPr marL="0" indent="0">
              <a:buNone/>
            </a:pPr>
            <a:r>
              <a:rPr lang="en-US"/>
              <a:t>Chap 6: Polymorphism</a:t>
            </a:r>
          </a:p>
          <a:p>
            <a:pPr marL="0" indent="0">
              <a:buNone/>
            </a:pPr>
            <a:r>
              <a:rPr lang="en-US"/>
              <a:t>Chap 7: Advanced topics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E99F9-24F7-0CE7-3181-5CB4D13F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498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F33D-AFFF-BD8A-891A-C9AA7520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C++: Pointer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E53E6-8FC1-4FEB-0B90-088A7E5A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79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int a = 1</a:t>
            </a:r>
          </a:p>
          <a:p>
            <a:pPr marL="0" indent="0">
              <a:buNone/>
            </a:pPr>
            <a:r>
              <a:rPr lang="en-US"/>
              <a:t>int* p = a</a:t>
            </a:r>
          </a:p>
          <a:p>
            <a:pPr marL="0" indent="0">
              <a:buNone/>
            </a:pPr>
            <a:r>
              <a:rPr lang="en-US"/>
              <a:t>int* p = &amp;a</a:t>
            </a:r>
          </a:p>
          <a:p>
            <a:pPr marL="0" indent="0">
              <a:buNone/>
            </a:pPr>
            <a:r>
              <a:rPr lang="en-US"/>
              <a:t>int* p = 0x43343443</a:t>
            </a:r>
          </a:p>
          <a:p>
            <a:pPr marL="0" indent="0">
              <a:buNone/>
            </a:pPr>
            <a:r>
              <a:rPr lang="en-US"/>
              <a:t>int&amp; r = a</a:t>
            </a:r>
          </a:p>
          <a:p>
            <a:pPr marL="0" indent="0">
              <a:buNone/>
            </a:pPr>
            <a:r>
              <a:rPr lang="en-US"/>
              <a:t>---</a:t>
            </a:r>
          </a:p>
          <a:p>
            <a:pPr marL="0" indent="0">
              <a:buNone/>
            </a:pPr>
            <a:r>
              <a:rPr lang="en-US"/>
              <a:t>p = ?</a:t>
            </a:r>
          </a:p>
          <a:p>
            <a:pPr marL="0" indent="0">
              <a:buNone/>
            </a:pPr>
            <a:r>
              <a:rPr lang="en-US"/>
              <a:t>&amp;p = ?</a:t>
            </a:r>
          </a:p>
          <a:p>
            <a:pPr marL="0" indent="0">
              <a:buNone/>
            </a:pPr>
            <a:r>
              <a:rPr lang="en-US"/>
              <a:t>&amp;(*p) = ?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F4017-AC32-D0AD-279C-B573E3E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513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95A6-F0DD-16BB-F20C-52FB365A8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572FB-8962-2DAD-5D9B-7DD083C9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4</a:t>
            </a:fld>
            <a:endParaRPr lang="en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921178-712A-C715-A575-FF29AB4CF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8228"/>
            <a:ext cx="2495309" cy="2089241"/>
          </a:xfrm>
          <a:solidFill>
            <a:srgbClr val="D9D9D9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/>
              <a:t>v</a:t>
            </a:r>
            <a:r>
              <a:rPr lang="en-VN" sz="2400"/>
              <a:t>oid print(int </a:t>
            </a:r>
            <a:r>
              <a:rPr lang="en-VN" sz="2400" b="1"/>
              <a:t>a</a:t>
            </a:r>
            <a:r>
              <a:rPr lang="en-VN" sz="240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   a++;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   cout &lt;&lt; 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0DDC32-5822-0F62-2B7D-A100D45C67E2}"/>
              </a:ext>
            </a:extLst>
          </p:cNvPr>
          <p:cNvSpPr txBox="1">
            <a:spLocks/>
          </p:cNvSpPr>
          <p:nvPr/>
        </p:nvSpPr>
        <p:spPr>
          <a:xfrm>
            <a:off x="3712656" y="2858228"/>
            <a:ext cx="2985304" cy="2089241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/>
              <a:t>v</a:t>
            </a:r>
            <a:r>
              <a:rPr lang="en-VN" sz="2400"/>
              <a:t>oid print(int &amp;</a:t>
            </a:r>
            <a:r>
              <a:rPr lang="en-VN" sz="2400" b="1"/>
              <a:t>a</a:t>
            </a:r>
            <a:r>
              <a:rPr lang="en-VN" sz="240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   </a:t>
            </a:r>
            <a:r>
              <a:rPr lang="en-VN" sz="2400" b="1"/>
              <a:t>a++;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   cout &lt;&lt; </a:t>
            </a:r>
            <a:r>
              <a:rPr lang="en-VN" sz="2400" b="1"/>
              <a:t>a</a:t>
            </a:r>
            <a:r>
              <a:rPr lang="en-VN" sz="240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25C18-362F-144F-CF22-BDF7C96F79D7}"/>
              </a:ext>
            </a:extLst>
          </p:cNvPr>
          <p:cNvSpPr txBox="1"/>
          <p:nvPr/>
        </p:nvSpPr>
        <p:spPr>
          <a:xfrm>
            <a:off x="838200" y="1516284"/>
            <a:ext cx="2495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/>
              <a:t>Pass by value</a:t>
            </a:r>
            <a:endParaRPr lang="en-US" sz="2400"/>
          </a:p>
          <a:p>
            <a:r>
              <a:rPr lang="en-US" sz="2400"/>
              <a:t>(Shallow copy)</a:t>
            </a:r>
            <a:endParaRPr lang="en-V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F306E-7A6D-97BA-9B5C-BD538F338F8A}"/>
              </a:ext>
            </a:extLst>
          </p:cNvPr>
          <p:cNvSpPr txBox="1"/>
          <p:nvPr/>
        </p:nvSpPr>
        <p:spPr>
          <a:xfrm>
            <a:off x="3600691" y="1517068"/>
            <a:ext cx="2495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/>
              <a:t>Pass by reference</a:t>
            </a:r>
            <a:endParaRPr lang="en-US" sz="2400"/>
          </a:p>
          <a:p>
            <a:r>
              <a:rPr lang="en-US" sz="2400"/>
              <a:t>(Deep copy)</a:t>
            </a:r>
            <a:endParaRPr lang="en-VN" sz="240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D67AD2B-88E7-FFF4-9BDE-9EC6C29292A2}"/>
              </a:ext>
            </a:extLst>
          </p:cNvPr>
          <p:cNvSpPr txBox="1">
            <a:spLocks/>
          </p:cNvSpPr>
          <p:nvPr/>
        </p:nvSpPr>
        <p:spPr>
          <a:xfrm>
            <a:off x="838200" y="2383969"/>
            <a:ext cx="1210519" cy="432133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/>
              <a:t>i</a:t>
            </a:r>
            <a:r>
              <a:rPr lang="en-VN" sz="2400"/>
              <a:t>nt a = 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62F0F1-B049-3390-5800-A0E91C167A8D}"/>
              </a:ext>
            </a:extLst>
          </p:cNvPr>
          <p:cNvSpPr txBox="1">
            <a:spLocks/>
          </p:cNvSpPr>
          <p:nvPr/>
        </p:nvSpPr>
        <p:spPr>
          <a:xfrm>
            <a:off x="3712656" y="2383969"/>
            <a:ext cx="1210519" cy="432133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/>
              <a:t>i</a:t>
            </a:r>
            <a:r>
              <a:rPr lang="en-VN" sz="2400"/>
              <a:t>nt a =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85944C-0785-425E-B4BD-F988FFB9E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90482"/>
              </p:ext>
            </p:extLst>
          </p:nvPr>
        </p:nvGraphicFramePr>
        <p:xfrm>
          <a:off x="3712656" y="5090799"/>
          <a:ext cx="9053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5375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584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DE05B-DBEB-C91A-2B94-90AD1DC7A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15237"/>
              </p:ext>
            </p:extLst>
          </p:nvPr>
        </p:nvGraphicFramePr>
        <p:xfrm>
          <a:off x="5190625" y="5079601"/>
          <a:ext cx="9053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5375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5848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F54EA8-1047-54CF-58E9-4945678EAB67}"/>
              </a:ext>
            </a:extLst>
          </p:cNvPr>
          <p:cNvCxnSpPr>
            <a:cxnSpLocks/>
          </p:cNvCxnSpPr>
          <p:nvPr/>
        </p:nvCxnSpPr>
        <p:spPr>
          <a:xfrm>
            <a:off x="4618031" y="5337111"/>
            <a:ext cx="5725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3C5229-CD34-81B2-A782-C6BFC114053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618031" y="5371412"/>
            <a:ext cx="572594" cy="4509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FAE7C8-FA4F-2DDD-8B15-41479AC0BEBD}"/>
              </a:ext>
            </a:extLst>
          </p:cNvPr>
          <p:cNvSpPr txBox="1"/>
          <p:nvPr/>
        </p:nvSpPr>
        <p:spPr>
          <a:xfrm rot="5400000">
            <a:off x="4140186" y="6117027"/>
            <a:ext cx="1491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Reference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3C3B183-D206-0E91-1E3E-8DAAC3909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959887"/>
              </p:ext>
            </p:extLst>
          </p:nvPr>
        </p:nvGraphicFramePr>
        <p:xfrm>
          <a:off x="838200" y="5090799"/>
          <a:ext cx="980331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331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5848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E7DFE97-5477-4799-D264-09912F602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594360"/>
              </p:ext>
            </p:extLst>
          </p:nvPr>
        </p:nvGraphicFramePr>
        <p:xfrm>
          <a:off x="2205446" y="5079601"/>
          <a:ext cx="905374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5374">
                  <a:extLst>
                    <a:ext uri="{9D8B030D-6E8A-4147-A177-3AD203B41FA5}">
                      <a16:colId xmlns:a16="http://schemas.microsoft.com/office/drawing/2014/main" val="1234399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0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85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/>
                        <a:t>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58485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0035AF-970A-3F3D-CE1F-AD8429962512}"/>
              </a:ext>
            </a:extLst>
          </p:cNvPr>
          <p:cNvCxnSpPr>
            <a:cxnSpLocks/>
          </p:cNvCxnSpPr>
          <p:nvPr/>
        </p:nvCxnSpPr>
        <p:spPr>
          <a:xfrm>
            <a:off x="1818531" y="5325913"/>
            <a:ext cx="3869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5A059B02-23D1-9771-35DC-FB2C7ACC6D7B}"/>
              </a:ext>
            </a:extLst>
          </p:cNvPr>
          <p:cNvSpPr/>
          <p:nvPr/>
        </p:nvSpPr>
        <p:spPr>
          <a:xfrm>
            <a:off x="2525394" y="5271071"/>
            <a:ext cx="355704" cy="627086"/>
          </a:xfrm>
          <a:prstGeom prst="curvedLeftArrow">
            <a:avLst>
              <a:gd name="adj1" fmla="val 25000"/>
              <a:gd name="adj2" fmla="val 60590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5A1AF2-5291-149F-EFDB-DD6EBC77F5F2}"/>
              </a:ext>
            </a:extLst>
          </p:cNvPr>
          <p:cNvSpPr txBox="1"/>
          <p:nvPr/>
        </p:nvSpPr>
        <p:spPr>
          <a:xfrm rot="5400000">
            <a:off x="2860224" y="5399948"/>
            <a:ext cx="905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Copy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E2DBDB-1B1E-D996-C2B5-8A0BDACD0A71}"/>
              </a:ext>
            </a:extLst>
          </p:cNvPr>
          <p:cNvCxnSpPr>
            <a:cxnSpLocks/>
          </p:cNvCxnSpPr>
          <p:nvPr/>
        </p:nvCxnSpPr>
        <p:spPr>
          <a:xfrm>
            <a:off x="1842483" y="5822611"/>
            <a:ext cx="3869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3652DD6-9141-196E-61FD-2AD0C866BC75}"/>
              </a:ext>
            </a:extLst>
          </p:cNvPr>
          <p:cNvSpPr txBox="1"/>
          <p:nvPr/>
        </p:nvSpPr>
        <p:spPr>
          <a:xfrm>
            <a:off x="6948826" y="1516283"/>
            <a:ext cx="322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Left value – Right value</a:t>
            </a:r>
            <a:endParaRPr lang="en-VN" sz="240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3410751F-731E-353F-8675-24F707863ECA}"/>
              </a:ext>
            </a:extLst>
          </p:cNvPr>
          <p:cNvSpPr txBox="1">
            <a:spLocks/>
          </p:cNvSpPr>
          <p:nvPr/>
        </p:nvSpPr>
        <p:spPr>
          <a:xfrm>
            <a:off x="7051461" y="2383968"/>
            <a:ext cx="1579356" cy="432133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/>
              <a:t>i</a:t>
            </a:r>
            <a:r>
              <a:rPr lang="en-VN" sz="2400"/>
              <a:t>nt </a:t>
            </a:r>
            <a:r>
              <a:rPr lang="en-US" sz="2400"/>
              <a:t>  </a:t>
            </a:r>
            <a:r>
              <a:rPr lang="en-VN" sz="2400"/>
              <a:t>a</a:t>
            </a:r>
            <a:r>
              <a:rPr lang="en-US" sz="2400"/>
              <a:t>  </a:t>
            </a:r>
            <a:r>
              <a:rPr lang="en-VN" sz="2400"/>
              <a:t> = </a:t>
            </a:r>
            <a:r>
              <a:rPr lang="en-US" sz="2400"/>
              <a:t>  </a:t>
            </a:r>
            <a:r>
              <a:rPr lang="en-VN" sz="240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EA50A2-F5D5-B250-BEBC-9D49AC0C428F}"/>
              </a:ext>
            </a:extLst>
          </p:cNvPr>
          <p:cNvSpPr/>
          <p:nvPr/>
        </p:nvSpPr>
        <p:spPr>
          <a:xfrm>
            <a:off x="7573630" y="2328424"/>
            <a:ext cx="371386" cy="513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69229F-C9B9-32B6-5CCE-DF40F7B43273}"/>
              </a:ext>
            </a:extLst>
          </p:cNvPr>
          <p:cNvSpPr txBox="1"/>
          <p:nvPr/>
        </p:nvSpPr>
        <p:spPr>
          <a:xfrm>
            <a:off x="7238377" y="3359251"/>
            <a:ext cx="1041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lvalue</a:t>
            </a:r>
            <a:endParaRPr lang="en-VN" sz="2400" b="1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6C15E4D-5D03-06CE-6137-5A1AF086E69E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7759323" y="2841846"/>
            <a:ext cx="0" cy="517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D6AC731-B4C1-7BD8-41C5-CD492C685146}"/>
              </a:ext>
            </a:extLst>
          </p:cNvPr>
          <p:cNvSpPr/>
          <p:nvPr/>
        </p:nvSpPr>
        <p:spPr>
          <a:xfrm>
            <a:off x="8267079" y="2328424"/>
            <a:ext cx="371386" cy="513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966523-4883-929B-D6F6-C33E37B33C11}"/>
              </a:ext>
            </a:extLst>
          </p:cNvPr>
          <p:cNvSpPr txBox="1"/>
          <p:nvPr/>
        </p:nvSpPr>
        <p:spPr>
          <a:xfrm>
            <a:off x="8188418" y="3359250"/>
            <a:ext cx="1041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rvalue</a:t>
            </a:r>
            <a:endParaRPr lang="en-VN" sz="2400" b="1">
              <a:solidFill>
                <a:srgbClr val="FF0000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45D364D-833C-6DE5-BCE8-8B4C4EC1ECAE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8452772" y="2841846"/>
            <a:ext cx="256592" cy="517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03A7F64A-C740-8FBA-9DCB-B1AD97963200}"/>
              </a:ext>
            </a:extLst>
          </p:cNvPr>
          <p:cNvSpPr txBox="1">
            <a:spLocks/>
          </p:cNvSpPr>
          <p:nvPr/>
        </p:nvSpPr>
        <p:spPr>
          <a:xfrm>
            <a:off x="7051461" y="3872672"/>
            <a:ext cx="1726304" cy="132954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/>
              <a:t>int x = 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/>
              <a:t>int y = 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/>
              <a:t>int z = x + y;</a:t>
            </a:r>
            <a:endParaRPr lang="en-VN" sz="240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AD0885F-9A7C-C43E-8832-87F696230360}"/>
              </a:ext>
            </a:extLst>
          </p:cNvPr>
          <p:cNvCxnSpPr>
            <a:cxnSpLocks/>
            <a:stCxn id="62" idx="0"/>
            <a:endCxn id="55" idx="2"/>
          </p:cNvCxnSpPr>
          <p:nvPr/>
        </p:nvCxnSpPr>
        <p:spPr>
          <a:xfrm flipV="1">
            <a:off x="8181922" y="3820915"/>
            <a:ext cx="527442" cy="8698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3F4797A-9793-ECF3-151F-E3DE024E5D8F}"/>
              </a:ext>
            </a:extLst>
          </p:cNvPr>
          <p:cNvSpPr/>
          <p:nvPr/>
        </p:nvSpPr>
        <p:spPr>
          <a:xfrm>
            <a:off x="7863656" y="4690758"/>
            <a:ext cx="636531" cy="426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484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55C0-DE10-2A2A-4C91-28EB1C42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Programming paradigms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BAED5-144B-C6A9-2B15-6D0A1762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5</a:t>
            </a:fld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8354D-618F-D0DC-85D5-D38B414DFFE6}"/>
              </a:ext>
            </a:extLst>
          </p:cNvPr>
          <p:cNvSpPr/>
          <p:nvPr/>
        </p:nvSpPr>
        <p:spPr>
          <a:xfrm>
            <a:off x="5009723" y="1856261"/>
            <a:ext cx="3393495" cy="1091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Imperative (stateful)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175B6-7132-3FC7-C5C5-241BB55FA87E}"/>
              </a:ext>
            </a:extLst>
          </p:cNvPr>
          <p:cNvSpPr/>
          <p:nvPr/>
        </p:nvSpPr>
        <p:spPr>
          <a:xfrm>
            <a:off x="5009723" y="3490222"/>
            <a:ext cx="3393495" cy="1091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Procedure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6C288-0964-0772-8F43-6B9C4ACCBC23}"/>
              </a:ext>
            </a:extLst>
          </p:cNvPr>
          <p:cNvSpPr/>
          <p:nvPr/>
        </p:nvSpPr>
        <p:spPr>
          <a:xfrm>
            <a:off x="5009723" y="5101031"/>
            <a:ext cx="3393495" cy="1091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Object-oriented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2E92B3-1C63-8E05-B282-EFF486DF68F4}"/>
              </a:ext>
            </a:extLst>
          </p:cNvPr>
          <p:cNvSpPr/>
          <p:nvPr/>
        </p:nvSpPr>
        <p:spPr>
          <a:xfrm>
            <a:off x="1423502" y="1856261"/>
            <a:ext cx="3393495" cy="1091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Declarative (stateless)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F39FD-207C-AB18-F6C0-05FE940AD63C}"/>
              </a:ext>
            </a:extLst>
          </p:cNvPr>
          <p:cNvSpPr/>
          <p:nvPr/>
        </p:nvSpPr>
        <p:spPr>
          <a:xfrm>
            <a:off x="3004328" y="5567424"/>
            <a:ext cx="1796290" cy="682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Functional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4CE63-5279-8393-A321-1C6733E8E8E5}"/>
              </a:ext>
            </a:extLst>
          </p:cNvPr>
          <p:cNvSpPr/>
          <p:nvPr/>
        </p:nvSpPr>
        <p:spPr>
          <a:xfrm>
            <a:off x="2209223" y="4659142"/>
            <a:ext cx="1796290" cy="682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2E5AF4-F844-3A32-7FCF-2A9D7AE65062}"/>
              </a:ext>
            </a:extLst>
          </p:cNvPr>
          <p:cNvSpPr/>
          <p:nvPr/>
        </p:nvSpPr>
        <p:spPr>
          <a:xfrm>
            <a:off x="993067" y="3822893"/>
            <a:ext cx="1796290" cy="668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  <a:cs typeface="Times New Roman" panose="02020603050405020304" pitchFamily="18" charset="0"/>
              </a:rPr>
              <a:t>Symbolic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55B4C1-5147-2A40-454C-5C18A9840FE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706471" y="2947686"/>
            <a:ext cx="0" cy="5425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10C9DC-36F2-C7F6-FB92-86EEBC98C6E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706471" y="4581647"/>
            <a:ext cx="0" cy="519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A63337-A542-1FE7-CF56-A473C2F3CD7D}"/>
              </a:ext>
            </a:extLst>
          </p:cNvPr>
          <p:cNvCxnSpPr>
            <a:cxnSpLocks/>
          </p:cNvCxnSpPr>
          <p:nvPr/>
        </p:nvCxnSpPr>
        <p:spPr>
          <a:xfrm>
            <a:off x="4254754" y="2947686"/>
            <a:ext cx="0" cy="2561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881709-62A5-D7EF-25DC-97FB5D4D51F9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3107368" y="2947686"/>
            <a:ext cx="12882" cy="17114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A95D29E-8967-5C28-683A-2FAF94F489FE}"/>
              </a:ext>
            </a:extLst>
          </p:cNvPr>
          <p:cNvCxnSpPr>
            <a:cxnSpLocks/>
            <a:stCxn id="8" idx="1"/>
            <a:endCxn id="11" idx="0"/>
          </p:cNvCxnSpPr>
          <p:nvPr/>
        </p:nvCxnSpPr>
        <p:spPr>
          <a:xfrm rot="10800000" flipH="1" flipV="1">
            <a:off x="1423502" y="2401973"/>
            <a:ext cx="467710" cy="1420919"/>
          </a:xfrm>
          <a:prstGeom prst="bentConnector4">
            <a:avLst>
              <a:gd name="adj1" fmla="val -48876"/>
              <a:gd name="adj2" fmla="val 69203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52A2AB4-A414-44E1-B59B-9873F7939CFF}"/>
              </a:ext>
            </a:extLst>
          </p:cNvPr>
          <p:cNvSpPr/>
          <p:nvPr/>
        </p:nvSpPr>
        <p:spPr>
          <a:xfrm>
            <a:off x="2905246" y="5499427"/>
            <a:ext cx="2000638" cy="833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78E90D-6497-EB96-D29C-8AE9BE171AC4}"/>
              </a:ext>
            </a:extLst>
          </p:cNvPr>
          <p:cNvSpPr txBox="1"/>
          <p:nvPr/>
        </p:nvSpPr>
        <p:spPr>
          <a:xfrm>
            <a:off x="1270265" y="5737825"/>
            <a:ext cx="162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 love this guy!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85F759-6FB4-F5C6-A124-71EAC2EEF3CA}"/>
              </a:ext>
            </a:extLst>
          </p:cNvPr>
          <p:cNvSpPr txBox="1"/>
          <p:nvPr/>
        </p:nvSpPr>
        <p:spPr>
          <a:xfrm>
            <a:off x="6774421" y="3041059"/>
            <a:ext cx="162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including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5BDA95-D443-C894-5FB3-4B78352D83D5}"/>
              </a:ext>
            </a:extLst>
          </p:cNvPr>
          <p:cNvSpPr txBox="1"/>
          <p:nvPr/>
        </p:nvSpPr>
        <p:spPr>
          <a:xfrm>
            <a:off x="6774421" y="4631263"/>
            <a:ext cx="162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including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DA49B7-3251-9134-72C0-B0B36C0A30DE}"/>
              </a:ext>
            </a:extLst>
          </p:cNvPr>
          <p:cNvSpPr/>
          <p:nvPr/>
        </p:nvSpPr>
        <p:spPr>
          <a:xfrm>
            <a:off x="4934803" y="4942720"/>
            <a:ext cx="3536364" cy="1325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D35F8A-DB9D-4B2F-F457-4730D9C9870C}"/>
              </a:ext>
            </a:extLst>
          </p:cNvPr>
          <p:cNvSpPr txBox="1"/>
          <p:nvPr/>
        </p:nvSpPr>
        <p:spPr>
          <a:xfrm>
            <a:off x="8546087" y="5323577"/>
            <a:ext cx="233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But you must understand OOP first</a:t>
            </a:r>
          </a:p>
        </p:txBody>
      </p:sp>
    </p:spTree>
    <p:extLst>
      <p:ext uri="{BB962C8B-B14F-4D97-AF65-F5344CB8AC3E}">
        <p14:creationId xmlns:p14="http://schemas.microsoft.com/office/powerpoint/2010/main" val="403644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6709-DE10-13E3-BFB1-D09899D2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Programming paradigm: </a:t>
            </a:r>
            <a:r>
              <a:rPr lang="en-VN">
                <a:cs typeface="Times New Roman" panose="02020603050405020304" pitchFamily="18" charset="0"/>
              </a:rPr>
              <a:t>Procedure</a:t>
            </a: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570DB-B5E0-8239-8B29-D1D96E962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3561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VN"/>
                  <a:t>You have a 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vi-VN" b="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VN"/>
                  <a:t>, then apply a series of procedures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VN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570DB-B5E0-8239-8B29-D1D96E962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35610"/>
              </a:xfrm>
              <a:blipFill>
                <a:blip r:embed="rId2"/>
                <a:stretch>
                  <a:fillRect l="-1206" t="-18605" b="-232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BD579-99E7-E8E6-65B7-DBB5758F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6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135E4D-3A92-AAA7-F493-C5A2986C2293}"/>
                  </a:ext>
                </a:extLst>
              </p:cNvPr>
              <p:cNvSpPr txBox="1"/>
              <p:nvPr/>
            </p:nvSpPr>
            <p:spPr>
              <a:xfrm>
                <a:off x="838200" y="2635071"/>
                <a:ext cx="666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VN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135E4D-3A92-AAA7-F493-C5A2986C2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35071"/>
                <a:ext cx="6665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D76384F-B117-BBC4-1CCE-6FBE55FB350B}"/>
                  </a:ext>
                </a:extLst>
              </p:cNvPr>
              <p:cNvSpPr/>
              <p:nvPr/>
            </p:nvSpPr>
            <p:spPr>
              <a:xfrm>
                <a:off x="1956122" y="2478012"/>
                <a:ext cx="2500131" cy="8373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sz="2400">
                    <a:solidFill>
                      <a:schemeClr val="tx1"/>
                    </a:solidFill>
                  </a:rPr>
                  <a:t>Procedure 1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vi-V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VN" sz="24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D76384F-B117-BBC4-1CCE-6FBE55FB3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122" y="2478012"/>
                <a:ext cx="2500131" cy="837337"/>
              </a:xfrm>
              <a:prstGeom prst="rect">
                <a:avLst/>
              </a:prstGeom>
              <a:blipFill>
                <a:blip r:embed="rId4"/>
                <a:stretch>
                  <a:fillRect l="-5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4E2B7E-9F34-4A83-2FE7-3087FA97A69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04709" y="2896681"/>
            <a:ext cx="4514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3B48AA-BE41-9E04-97B1-BF9050B626D4}"/>
                  </a:ext>
                </a:extLst>
              </p:cNvPr>
              <p:cNvSpPr txBox="1"/>
              <p:nvPr/>
            </p:nvSpPr>
            <p:spPr>
              <a:xfrm>
                <a:off x="4978078" y="2635071"/>
                <a:ext cx="666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VN" sz="2800" i="1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3B48AA-BE41-9E04-97B1-BF9050B62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078" y="2635071"/>
                <a:ext cx="66650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C64BD38-A30E-FFED-4D24-4F34DB3C5A42}"/>
                  </a:ext>
                </a:extLst>
              </p:cNvPr>
              <p:cNvSpPr/>
              <p:nvPr/>
            </p:nvSpPr>
            <p:spPr>
              <a:xfrm>
                <a:off x="6096000" y="2478012"/>
                <a:ext cx="2500131" cy="8373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sz="2400">
                    <a:solidFill>
                      <a:schemeClr val="tx1"/>
                    </a:solidFill>
                  </a:rPr>
                  <a:t>Procedure 2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vi-V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VN" sz="24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C64BD38-A30E-FFED-4D24-4F34DB3C5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78012"/>
                <a:ext cx="2500131" cy="8373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9634CE-C21E-F361-11E2-355D17D7266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5644587" y="2896681"/>
            <a:ext cx="4514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7C70B6-ED35-2092-E69B-476A14735DF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456253" y="2896681"/>
            <a:ext cx="52182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CE57F5-EF52-D584-797F-9ED80CA23A1C}"/>
                  </a:ext>
                </a:extLst>
              </p:cNvPr>
              <p:cNvSpPr txBox="1"/>
              <p:nvPr/>
            </p:nvSpPr>
            <p:spPr>
              <a:xfrm>
                <a:off x="10171253" y="2635071"/>
                <a:ext cx="666509" cy="530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VN" sz="2800" i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CE57F5-EF52-D584-797F-9ED80CA23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53" y="2635071"/>
                <a:ext cx="666509" cy="530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412A5E-1ABE-D413-0EFF-9A20AF16371B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9649428" y="2896681"/>
            <a:ext cx="521825" cy="384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3A54EA-06AB-C869-8ECF-46C84A42DBCF}"/>
              </a:ext>
            </a:extLst>
          </p:cNvPr>
          <p:cNvCxnSpPr>
            <a:cxnSpLocks/>
          </p:cNvCxnSpPr>
          <p:nvPr/>
        </p:nvCxnSpPr>
        <p:spPr>
          <a:xfrm>
            <a:off x="8596131" y="2896681"/>
            <a:ext cx="4514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E09B45-EAFB-778A-75B8-2392DA0EEE2E}"/>
                  </a:ext>
                </a:extLst>
              </p:cNvPr>
              <p:cNvSpPr txBox="1"/>
              <p:nvPr/>
            </p:nvSpPr>
            <p:spPr>
              <a:xfrm>
                <a:off x="8992082" y="2559035"/>
                <a:ext cx="666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VN" sz="2800" i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E09B45-EAFB-778A-75B8-2392DA0EE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2082" y="2559035"/>
                <a:ext cx="66650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F5F26F57-CBCD-70B7-7A93-8E8C7248FB64}"/>
              </a:ext>
            </a:extLst>
          </p:cNvPr>
          <p:cNvSpPr/>
          <p:nvPr/>
        </p:nvSpPr>
        <p:spPr>
          <a:xfrm>
            <a:off x="838200" y="2361235"/>
            <a:ext cx="10025743" cy="1067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887623EB-9017-3531-1145-2EDDBCC098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9388" y="3518869"/>
                <a:ext cx="5221628" cy="365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VN" sz="2000">
                    <a:solidFill>
                      <a:srgbClr val="FF0000"/>
                    </a:solidFill>
                  </a:rPr>
                  <a:t>Stateful process, without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vi-V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VN" sz="2000" i="1">
                    <a:solidFill>
                      <a:srgbClr val="FF0000"/>
                    </a:solidFill>
                  </a:rPr>
                  <a:t>, </a:t>
                </a:r>
                <a:r>
                  <a:rPr lang="en-VN" sz="2000">
                    <a:solidFill>
                      <a:srgbClr val="FF0000"/>
                    </a:solidFill>
                  </a:rPr>
                  <a:t>we are cooked </a:t>
                </a:r>
                <a:r>
                  <a:rPr lang="en-VN" sz="2000"/>
                  <a:t>💀</a:t>
                </a:r>
                <a:endParaRPr lang="en-VN" sz="2000" i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887623EB-9017-3531-1145-2EDDBCC09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388" y="3518869"/>
                <a:ext cx="5221628" cy="365125"/>
              </a:xfrm>
              <a:prstGeom prst="rect">
                <a:avLst/>
              </a:prstGeom>
              <a:blipFill>
                <a:blip r:embed="rId9"/>
                <a:stretch>
                  <a:fillRect l="-1214" t="-16667" b="-2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6208800-9994-00A5-E5EC-09C9745F2157}"/>
              </a:ext>
            </a:extLst>
          </p:cNvPr>
          <p:cNvSpPr txBox="1">
            <a:spLocks/>
          </p:cNvSpPr>
          <p:nvPr/>
        </p:nvSpPr>
        <p:spPr>
          <a:xfrm>
            <a:off x="838200" y="4756189"/>
            <a:ext cx="979025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Rice</a:t>
            </a:r>
          </a:p>
        </p:txBody>
      </p:sp>
      <p:pic>
        <p:nvPicPr>
          <p:cNvPr id="1026" name="Picture 2" descr="Rice Icons - Free SVG &amp; PNG Rice Images - Noun Project">
            <a:extLst>
              <a:ext uri="{FF2B5EF4-FFF2-40B4-BE49-F238E27FC236}">
                <a16:creationId xmlns:a16="http://schemas.microsoft.com/office/drawing/2014/main" id="{8433F2AB-6C11-C08B-0E34-E45C9930B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91799"/>
            <a:ext cx="815006" cy="81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41CF0BA-7791-FD18-831B-96E7DDC55C0B}"/>
              </a:ext>
            </a:extLst>
          </p:cNvPr>
          <p:cNvSpPr txBox="1">
            <a:spLocks/>
          </p:cNvSpPr>
          <p:nvPr/>
        </p:nvSpPr>
        <p:spPr>
          <a:xfrm>
            <a:off x="3936355" y="4756189"/>
            <a:ext cx="214131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Cooked rice</a:t>
            </a:r>
          </a:p>
        </p:txBody>
      </p:sp>
      <p:pic>
        <p:nvPicPr>
          <p:cNvPr id="1028" name="Picture 4" descr="Rice - Free food icons">
            <a:extLst>
              <a:ext uri="{FF2B5EF4-FFF2-40B4-BE49-F238E27FC236}">
                <a16:creationId xmlns:a16="http://schemas.microsoft.com/office/drawing/2014/main" id="{63F446A4-E6ED-6476-0B9F-577184F16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229" y="5233196"/>
            <a:ext cx="932211" cy="93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BC237E-B8BF-CBC6-26CC-F723DC3A8510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1817225" y="5023994"/>
            <a:ext cx="211913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0" name="Picture 6" descr="Nồi Cơm điện Hình ảnh PNG | Vector Và Các Tập Tin PSD | Tải ...">
            <a:extLst>
              <a:ext uri="{FF2B5EF4-FFF2-40B4-BE49-F238E27FC236}">
                <a16:creationId xmlns:a16="http://schemas.microsoft.com/office/drawing/2014/main" id="{5AA23108-132F-2B1E-1992-6934BD77C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046" y="4187936"/>
            <a:ext cx="815007" cy="81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Rice Icons - Free SVG &amp; PNG Rice Images - Noun Project">
            <a:extLst>
              <a:ext uri="{FF2B5EF4-FFF2-40B4-BE49-F238E27FC236}">
                <a16:creationId xmlns:a16="http://schemas.microsoft.com/office/drawing/2014/main" id="{5402C60E-43D2-4622-EDD4-39DF35F40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873" y="4348686"/>
            <a:ext cx="535601" cy="53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8407D78-AD78-0FB0-4EB3-411B8DBE91B1}"/>
              </a:ext>
            </a:extLst>
          </p:cNvPr>
          <p:cNvSpPr txBox="1">
            <a:spLocks/>
          </p:cNvSpPr>
          <p:nvPr/>
        </p:nvSpPr>
        <p:spPr>
          <a:xfrm>
            <a:off x="2825965" y="4392878"/>
            <a:ext cx="979715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(        )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B2DA024-0443-4348-98DB-EEAA7E964E85}"/>
              </a:ext>
            </a:extLst>
          </p:cNvPr>
          <p:cNvSpPr txBox="1">
            <a:spLocks/>
          </p:cNvSpPr>
          <p:nvPr/>
        </p:nvSpPr>
        <p:spPr>
          <a:xfrm>
            <a:off x="8422510" y="4756189"/>
            <a:ext cx="214131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Fried rice</a:t>
            </a:r>
          </a:p>
        </p:txBody>
      </p:sp>
      <p:pic>
        <p:nvPicPr>
          <p:cNvPr id="1032" name="Picture 8" descr="Fried rice - Free food icons">
            <a:extLst>
              <a:ext uri="{FF2B5EF4-FFF2-40B4-BE49-F238E27FC236}">
                <a16:creationId xmlns:a16="http://schemas.microsoft.com/office/drawing/2014/main" id="{0535807D-A7BC-57BD-44FD-08AA41AE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97" y="5086626"/>
            <a:ext cx="1020179" cy="102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880D2C-6A83-67EA-39CA-1AFC9CDB44DC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>
            <a:off x="6077672" y="5023994"/>
            <a:ext cx="234483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4" name="Picture 10" descr="Frying pan - Free food icons">
            <a:extLst>
              <a:ext uri="{FF2B5EF4-FFF2-40B4-BE49-F238E27FC236}">
                <a16:creationId xmlns:a16="http://schemas.microsoft.com/office/drawing/2014/main" id="{A53F1646-3B11-FF8B-83BD-10D6A49B6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898" y="4054316"/>
            <a:ext cx="1120596" cy="112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5C95781-2BFC-DCE3-7506-8DA45D182D43}"/>
              </a:ext>
            </a:extLst>
          </p:cNvPr>
          <p:cNvSpPr txBox="1">
            <a:spLocks/>
          </p:cNvSpPr>
          <p:nvPr/>
        </p:nvSpPr>
        <p:spPr>
          <a:xfrm>
            <a:off x="7132457" y="4455349"/>
            <a:ext cx="979715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(        )</a:t>
            </a:r>
          </a:p>
        </p:txBody>
      </p:sp>
      <p:pic>
        <p:nvPicPr>
          <p:cNvPr id="37" name="Picture 4" descr="Rice - Free food icons">
            <a:extLst>
              <a:ext uri="{FF2B5EF4-FFF2-40B4-BE49-F238E27FC236}">
                <a16:creationId xmlns:a16="http://schemas.microsoft.com/office/drawing/2014/main" id="{27ED0025-B39D-1B49-F2EE-87CEEBBB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509" y="4429261"/>
            <a:ext cx="535610" cy="53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77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1042-2B53-F639-3240-E5F2D5C0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Programming paradigm: </a:t>
            </a:r>
            <a:r>
              <a:rPr lang="en-VN">
                <a:cs typeface="Times New Roman" panose="02020603050405020304" pitchFamily="18" charset="0"/>
              </a:rPr>
              <a:t>Procedure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84CB1-5A68-7AF0-5D11-B193C253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7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A590CB-7E63-0E18-D640-59895C282E8C}"/>
              </a:ext>
            </a:extLst>
          </p:cNvPr>
          <p:cNvSpPr txBox="1">
            <a:spLocks/>
          </p:cNvSpPr>
          <p:nvPr/>
        </p:nvSpPr>
        <p:spPr>
          <a:xfrm>
            <a:off x="838200" y="2186610"/>
            <a:ext cx="979025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Rice</a:t>
            </a:r>
          </a:p>
        </p:txBody>
      </p:sp>
      <p:pic>
        <p:nvPicPr>
          <p:cNvPr id="6" name="Picture 2" descr="Rice Icons - Free SVG &amp; PNG Rice Images - Noun Project">
            <a:extLst>
              <a:ext uri="{FF2B5EF4-FFF2-40B4-BE49-F238E27FC236}">
                <a16:creationId xmlns:a16="http://schemas.microsoft.com/office/drawing/2014/main" id="{2C463450-80C8-55D0-DFEC-F3E949885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22220"/>
            <a:ext cx="815006" cy="81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A5284B-62F6-8C31-C284-6D6F71E86E38}"/>
              </a:ext>
            </a:extLst>
          </p:cNvPr>
          <p:cNvSpPr txBox="1">
            <a:spLocks/>
          </p:cNvSpPr>
          <p:nvPr/>
        </p:nvSpPr>
        <p:spPr>
          <a:xfrm>
            <a:off x="3936355" y="2186610"/>
            <a:ext cx="214131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Cooked rice</a:t>
            </a:r>
          </a:p>
        </p:txBody>
      </p:sp>
      <p:pic>
        <p:nvPicPr>
          <p:cNvPr id="8" name="Picture 4" descr="Rice - Free food icons">
            <a:extLst>
              <a:ext uri="{FF2B5EF4-FFF2-40B4-BE49-F238E27FC236}">
                <a16:creationId xmlns:a16="http://schemas.microsoft.com/office/drawing/2014/main" id="{8C230690-F81C-FA01-1051-2B7B3FA5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229" y="2663617"/>
            <a:ext cx="932211" cy="93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0E3EED-6339-6858-9D88-5A0CEEB8EA98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817225" y="2454415"/>
            <a:ext cx="211913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6" descr="Nồi Cơm điện Hình ảnh PNG | Vector Và Các Tập Tin PSD | Tải ...">
            <a:extLst>
              <a:ext uri="{FF2B5EF4-FFF2-40B4-BE49-F238E27FC236}">
                <a16:creationId xmlns:a16="http://schemas.microsoft.com/office/drawing/2014/main" id="{94991861-5808-B859-DC16-09428AFF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046" y="1618357"/>
            <a:ext cx="815007" cy="81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ice Icons - Free SVG &amp; PNG Rice Images - Noun Project">
            <a:extLst>
              <a:ext uri="{FF2B5EF4-FFF2-40B4-BE49-F238E27FC236}">
                <a16:creationId xmlns:a16="http://schemas.microsoft.com/office/drawing/2014/main" id="{38B727DA-FE95-4F0F-662B-1F346D029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873" y="1779107"/>
            <a:ext cx="535601" cy="53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DE8A02-846A-FD29-36E7-23490826D394}"/>
              </a:ext>
            </a:extLst>
          </p:cNvPr>
          <p:cNvSpPr txBox="1">
            <a:spLocks/>
          </p:cNvSpPr>
          <p:nvPr/>
        </p:nvSpPr>
        <p:spPr>
          <a:xfrm>
            <a:off x="2825965" y="1823299"/>
            <a:ext cx="979715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(        )</a:t>
            </a:r>
          </a:p>
        </p:txBody>
      </p:sp>
      <p:pic>
        <p:nvPicPr>
          <p:cNvPr id="13" name="Picture 8" descr="Fried rice - Free food icons">
            <a:extLst>
              <a:ext uri="{FF2B5EF4-FFF2-40B4-BE49-F238E27FC236}">
                <a16:creationId xmlns:a16="http://schemas.microsoft.com/office/drawing/2014/main" id="{0D1B38CC-5CC9-93B7-6970-B323E071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97" y="2517047"/>
            <a:ext cx="1020179" cy="102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9E333E-57F5-8236-AA0E-FADF2380DE5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077672" y="2454415"/>
            <a:ext cx="234483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0" descr="Frying pan - Free food icons">
            <a:extLst>
              <a:ext uri="{FF2B5EF4-FFF2-40B4-BE49-F238E27FC236}">
                <a16:creationId xmlns:a16="http://schemas.microsoft.com/office/drawing/2014/main" id="{6D946B01-66C4-F6FE-F9F3-7E5DE5B2A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898" y="1484737"/>
            <a:ext cx="1120596" cy="112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E0A0928-3873-7645-9E6C-132D1ACEF998}"/>
              </a:ext>
            </a:extLst>
          </p:cNvPr>
          <p:cNvSpPr txBox="1">
            <a:spLocks/>
          </p:cNvSpPr>
          <p:nvPr/>
        </p:nvSpPr>
        <p:spPr>
          <a:xfrm>
            <a:off x="7132457" y="1885770"/>
            <a:ext cx="979715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(        )</a:t>
            </a:r>
          </a:p>
        </p:txBody>
      </p:sp>
      <p:pic>
        <p:nvPicPr>
          <p:cNvPr id="17" name="Picture 4" descr="Rice - Free food icons">
            <a:extLst>
              <a:ext uri="{FF2B5EF4-FFF2-40B4-BE49-F238E27FC236}">
                <a16:creationId xmlns:a16="http://schemas.microsoft.com/office/drawing/2014/main" id="{A3A23161-94F4-BEC8-9FDB-1D59B481A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509" y="1859682"/>
            <a:ext cx="535610" cy="53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B7FB76-07F4-CC2D-A56D-92B5113D7369}"/>
              </a:ext>
            </a:extLst>
          </p:cNvPr>
          <p:cNvSpPr txBox="1"/>
          <p:nvPr/>
        </p:nvSpPr>
        <p:spPr>
          <a:xfrm>
            <a:off x="838200" y="3442621"/>
            <a:ext cx="2313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Input:</a:t>
            </a:r>
          </a:p>
          <a:p>
            <a:pPr marL="285750" indent="-285750">
              <a:buFontTx/>
              <a:buChar char="-"/>
            </a:pPr>
            <a:r>
              <a:rPr lang="en-VN"/>
              <a:t>Quantity</a:t>
            </a:r>
          </a:p>
          <a:p>
            <a:pPr marL="285750" indent="-285750">
              <a:buFontTx/>
              <a:buChar char="-"/>
            </a:pPr>
            <a:r>
              <a:rPr lang="en-VN"/>
              <a:t>Volume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8CA49-5D8F-5C23-F60E-4D8C6B96642C}"/>
              </a:ext>
            </a:extLst>
          </p:cNvPr>
          <p:cNvSpPr txBox="1"/>
          <p:nvPr/>
        </p:nvSpPr>
        <p:spPr>
          <a:xfrm>
            <a:off x="3936355" y="3442621"/>
            <a:ext cx="2788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VN"/>
          </a:p>
          <a:p>
            <a:pPr marL="285750" indent="-285750">
              <a:buFontTx/>
              <a:buChar char="-"/>
            </a:pPr>
            <a:r>
              <a:rPr lang="en-VN"/>
              <a:t>Quantity (unchange)</a:t>
            </a:r>
          </a:p>
          <a:p>
            <a:pPr marL="285750" indent="-285750">
              <a:buFontTx/>
              <a:buChar char="-"/>
            </a:pPr>
            <a:r>
              <a:rPr lang="en-VN"/>
              <a:t>Volume (+50%)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1FE5A4-642F-118D-24DB-60D8DD27CD6E}"/>
              </a:ext>
            </a:extLst>
          </p:cNvPr>
          <p:cNvSpPr txBox="1"/>
          <p:nvPr/>
        </p:nvSpPr>
        <p:spPr>
          <a:xfrm>
            <a:off x="8422510" y="3442621"/>
            <a:ext cx="2788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VN"/>
          </a:p>
          <a:p>
            <a:pPr marL="285750" indent="-285750">
              <a:buFontTx/>
              <a:buChar char="-"/>
            </a:pPr>
            <a:r>
              <a:rPr lang="en-VN"/>
              <a:t>Quantity (-10%)</a:t>
            </a:r>
          </a:p>
          <a:p>
            <a:pPr marL="285750" indent="-285750">
              <a:buFontTx/>
              <a:buChar char="-"/>
            </a:pPr>
            <a:r>
              <a:rPr lang="en-VN"/>
              <a:t>Volume (-30%)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97C8D-F8A6-97AB-CF99-F85D75987C65}"/>
                  </a:ext>
                </a:extLst>
              </p:cNvPr>
              <p:cNvSpPr txBox="1"/>
              <p:nvPr/>
            </p:nvSpPr>
            <p:spPr>
              <a:xfrm>
                <a:off x="838199" y="4433392"/>
                <a:ext cx="945169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400" b="1"/>
                  <a:t>Exercise</a:t>
                </a:r>
                <a:r>
                  <a:rPr lang="en-VN" sz="2400"/>
                  <a:t>: Let </a:t>
                </a:r>
                <a14:m>
                  <m:oMath xmlns:m="http://schemas.openxmlformats.org/officeDocument/2006/math">
                    <m:r>
                      <a:rPr lang="en-VN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VN" sz="2400"/>
                  <a:t> is number of rice grains and </a:t>
                </a:r>
                <a14:m>
                  <m:oMath xmlns:m="http://schemas.openxmlformats.org/officeDocument/2006/math">
                    <m:r>
                      <a:rPr lang="en-VN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VN" sz="2400"/>
                  <a:t> is the total volume, return final number of rice grains and volume, using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97C8D-F8A6-97AB-CF99-F85D75987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433392"/>
                <a:ext cx="9451695" cy="830997"/>
              </a:xfrm>
              <a:prstGeom prst="rect">
                <a:avLst/>
              </a:prstGeom>
              <a:blipFill>
                <a:blip r:embed="rId7"/>
                <a:stretch>
                  <a:fillRect l="-938" t="-4478" b="-1641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7C34D47-2D97-E9BA-9F44-8F17BDD06270}"/>
              </a:ext>
            </a:extLst>
          </p:cNvPr>
          <p:cNvSpPr txBox="1">
            <a:spLocks/>
          </p:cNvSpPr>
          <p:nvPr/>
        </p:nvSpPr>
        <p:spPr>
          <a:xfrm>
            <a:off x="8422510" y="2186608"/>
            <a:ext cx="214131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Fried rice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D444F32-4938-CB16-8676-450B450C1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775" y="5294698"/>
            <a:ext cx="4508325" cy="1432378"/>
          </a:xfrm>
          <a:solidFill>
            <a:srgbClr val="D9D9D9"/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/>
              <a:t>s</a:t>
            </a:r>
            <a:r>
              <a:rPr lang="en-VN" sz="2400"/>
              <a:t>truct Rice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   int numGrains; float volume;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VN" sz="2400"/>
              <a:t>};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DE5BBF-88C7-B86C-1194-C545A55620D4}"/>
              </a:ext>
            </a:extLst>
          </p:cNvPr>
          <p:cNvSpPr/>
          <p:nvPr/>
        </p:nvSpPr>
        <p:spPr>
          <a:xfrm>
            <a:off x="1826326" y="5239643"/>
            <a:ext cx="650656" cy="407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1E2CB3-9CC2-7245-7C71-A6D0C0C18FDF}"/>
              </a:ext>
            </a:extLst>
          </p:cNvPr>
          <p:cNvSpPr txBox="1"/>
          <p:nvPr/>
        </p:nvSpPr>
        <p:spPr>
          <a:xfrm>
            <a:off x="5596839" y="5215817"/>
            <a:ext cx="3823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We care about struct </a:t>
            </a:r>
            <a:r>
              <a:rPr lang="en-VN" sz="2400" b="1">
                <a:solidFill>
                  <a:srgbClr val="FF0000"/>
                </a:solidFill>
              </a:rPr>
              <a:t>Rice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E19F7A-DFF6-87D7-19F2-6FC954D57769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2476982" y="5443562"/>
            <a:ext cx="3119857" cy="3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5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654A-96EE-5580-FD05-AD8596B4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Programming paradigm: </a:t>
            </a:r>
            <a:r>
              <a:rPr lang="en-VN">
                <a:cs typeface="Times New Roman" panose="02020603050405020304" pitchFamily="18" charset="0"/>
              </a:rPr>
              <a:t>Procedure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4A4D-D3DF-C04C-B213-C034036C0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65941"/>
          </a:xfrm>
        </p:spPr>
        <p:txBody>
          <a:bodyPr/>
          <a:lstStyle/>
          <a:p>
            <a:pPr marL="0" indent="0">
              <a:buNone/>
            </a:pPr>
            <a:r>
              <a:rPr lang="en-VN" b="1"/>
              <a:t>Exercise</a:t>
            </a:r>
            <a:r>
              <a:rPr lang="en-VN"/>
              <a:t>: Give</a:t>
            </a:r>
          </a:p>
          <a:p>
            <a:pPr marL="0" indent="0">
              <a:buNone/>
            </a:pP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F405E-5303-C7D3-771E-E5B06F7C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8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CCAA9B-BE8C-9F32-674B-0B0FF462C0A2}"/>
              </a:ext>
            </a:extLst>
          </p:cNvPr>
          <p:cNvSpPr txBox="1">
            <a:spLocks/>
          </p:cNvSpPr>
          <p:nvPr/>
        </p:nvSpPr>
        <p:spPr>
          <a:xfrm>
            <a:off x="838200" y="2459188"/>
            <a:ext cx="4508325" cy="167462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/>
              <a:t>s</a:t>
            </a:r>
            <a:r>
              <a:rPr lang="en-VN"/>
              <a:t>truct Date  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VN"/>
              <a:t>   int day; int month; int year;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VN"/>
              <a:t>};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E78B94D-212F-EB51-AF75-C5459E3488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286647"/>
                <a:ext cx="10515600" cy="16746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VN"/>
                  <a:t>Implement </a:t>
                </a:r>
                <a:r>
                  <a:rPr lang="en-VN">
                    <a:highlight>
                      <a:srgbClr val="D9D9D9"/>
                    </a:highlight>
                  </a:rPr>
                  <a:t>addDate:: Date x  int </a:t>
                </a:r>
                <a14:m>
                  <m:oMath xmlns:m="http://schemas.openxmlformats.org/officeDocument/2006/math">
                    <m:r>
                      <a:rPr lang="vi-VN" b="0" i="1">
                        <a:highlight>
                          <a:srgbClr val="D9D9D9"/>
                        </a:highlight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VN">
                    <a:highlight>
                      <a:srgbClr val="D9D9D9"/>
                    </a:highlight>
                  </a:rPr>
                  <a:t> Date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or </a:t>
                </a:r>
                <a:r>
                  <a:rPr lang="en-US">
                    <a:highlight>
                      <a:srgbClr val="D9D9D9"/>
                    </a:highlight>
                  </a:rPr>
                  <a:t>Date addDate(Date d, int numDays)</a:t>
                </a:r>
                <a:r>
                  <a:rPr lang="en-US"/>
                  <a:t> function in C++</a:t>
                </a:r>
              </a:p>
              <a:p>
                <a:pPr marL="0" indent="0">
                  <a:buNone/>
                </a:pPr>
                <a:r>
                  <a:rPr lang="en-VN"/>
                  <a:t>For example: 13/01/2025 + 7 days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VN"/>
                  <a:t> 20/01/2025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VN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E78B94D-212F-EB51-AF75-C5459E348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86647"/>
                <a:ext cx="10515600" cy="1674622"/>
              </a:xfrm>
              <a:prstGeom prst="rect">
                <a:avLst/>
              </a:prstGeom>
              <a:blipFill>
                <a:blip r:embed="rId2"/>
                <a:stretch>
                  <a:fillRect l="-1206" t="-601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542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A2F5E-5982-33FD-55A6-B476FC35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AC34-11B9-E6A0-1F85-44FE4DB8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Programming paradigm: </a:t>
            </a:r>
            <a:r>
              <a:rPr lang="en-VN">
                <a:cs typeface="Times New Roman" panose="02020603050405020304" pitchFamily="18" charset="0"/>
              </a:rPr>
              <a:t>Procedure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C774A-B2CF-F537-CB4D-1A19A683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9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7B8E27-F393-9B20-F426-BAB9E2D95E85}"/>
              </a:ext>
            </a:extLst>
          </p:cNvPr>
          <p:cNvSpPr txBox="1">
            <a:spLocks/>
          </p:cNvSpPr>
          <p:nvPr/>
        </p:nvSpPr>
        <p:spPr>
          <a:xfrm>
            <a:off x="1008948" y="2283150"/>
            <a:ext cx="1137191" cy="2362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Rice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VN"/>
          </a:p>
          <a:p>
            <a:pPr marL="0" indent="0">
              <a:buFont typeface="Arial" panose="020B0604020202020204" pitchFamily="34" charset="0"/>
              <a:buNone/>
            </a:pPr>
            <a:r>
              <a:rPr lang="en-VN">
                <a:solidFill>
                  <a:schemeClr val="accent2"/>
                </a:solidFill>
              </a:rPr>
              <a:t>Sticky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>
                <a:solidFill>
                  <a:schemeClr val="accent2"/>
                </a:solidFill>
              </a:rPr>
              <a:t>rice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…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62C6F4-0B77-7879-CDAD-C4E442983385}"/>
              </a:ext>
            </a:extLst>
          </p:cNvPr>
          <p:cNvSpPr txBox="1">
            <a:spLocks/>
          </p:cNvSpPr>
          <p:nvPr/>
        </p:nvSpPr>
        <p:spPr>
          <a:xfrm>
            <a:off x="4265269" y="2283151"/>
            <a:ext cx="214131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Cooked rice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8E1047-4E56-0C13-98A9-4E3D3A8030E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123952" y="2550956"/>
            <a:ext cx="214131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6" descr="Nồi Cơm điện Hình ảnh PNG | Vector Và Các Tập Tin PSD | Tải ...">
            <a:extLst>
              <a:ext uri="{FF2B5EF4-FFF2-40B4-BE49-F238E27FC236}">
                <a16:creationId xmlns:a16="http://schemas.microsoft.com/office/drawing/2014/main" id="{7CD9CEDA-EF14-7094-8BA5-E3B293508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60" y="1714898"/>
            <a:ext cx="815007" cy="81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09A999-4010-EE0B-80E9-B665D3B3D17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406586" y="2550956"/>
            <a:ext cx="234483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0" descr="Frying pan - Free food icons">
            <a:extLst>
              <a:ext uri="{FF2B5EF4-FFF2-40B4-BE49-F238E27FC236}">
                <a16:creationId xmlns:a16="http://schemas.microsoft.com/office/drawing/2014/main" id="{F2EE7081-5EC7-3CD2-8068-30597E5E5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247" y="1581278"/>
            <a:ext cx="1120596" cy="112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7CA4B8F-8F14-27CF-2470-2E475AFC35CD}"/>
              </a:ext>
            </a:extLst>
          </p:cNvPr>
          <p:cNvSpPr txBox="1">
            <a:spLocks/>
          </p:cNvSpPr>
          <p:nvPr/>
        </p:nvSpPr>
        <p:spPr>
          <a:xfrm>
            <a:off x="8751424" y="2283149"/>
            <a:ext cx="214131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Fried rice</a:t>
            </a:r>
          </a:p>
        </p:txBody>
      </p:sp>
      <p:pic>
        <p:nvPicPr>
          <p:cNvPr id="33" name="Picture 6" descr="Nồi Cơm điện Hình ảnh PNG | Vector Và Các Tập Tin PSD | Tải ...">
            <a:extLst>
              <a:ext uri="{FF2B5EF4-FFF2-40B4-BE49-F238E27FC236}">
                <a16:creationId xmlns:a16="http://schemas.microsoft.com/office/drawing/2014/main" id="{46A562CE-3FE8-76B9-3C53-BFAFB7519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60" y="2632957"/>
            <a:ext cx="815007" cy="81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6CD4676-D8BA-4CD2-DB78-9E90D13FC600}"/>
              </a:ext>
            </a:extLst>
          </p:cNvPr>
          <p:cNvSpPr txBox="1">
            <a:spLocks/>
          </p:cNvSpPr>
          <p:nvPr/>
        </p:nvSpPr>
        <p:spPr>
          <a:xfrm>
            <a:off x="3800441" y="3257736"/>
            <a:ext cx="3118432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>
                <a:solidFill>
                  <a:schemeClr val="accent2"/>
                </a:solidFill>
              </a:rPr>
              <a:t>Cooked sticky rice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0319CB7-5EE2-1400-F852-F86B72CE20E6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2123952" y="3525541"/>
            <a:ext cx="167648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004BC9-79A6-5571-ED75-DCFEC279F279}"/>
              </a:ext>
            </a:extLst>
          </p:cNvPr>
          <p:cNvCxnSpPr>
            <a:cxnSpLocks/>
          </p:cNvCxnSpPr>
          <p:nvPr/>
        </p:nvCxnSpPr>
        <p:spPr>
          <a:xfrm>
            <a:off x="6941060" y="3501319"/>
            <a:ext cx="178817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10" descr="Frying pan - Free food icons">
            <a:extLst>
              <a:ext uri="{FF2B5EF4-FFF2-40B4-BE49-F238E27FC236}">
                <a16:creationId xmlns:a16="http://schemas.microsoft.com/office/drawing/2014/main" id="{7CE05142-B2DE-731F-E406-E456A550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060" y="2531641"/>
            <a:ext cx="1120596" cy="112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09C98E5-B598-A453-BE8A-3385EBB264B3}"/>
              </a:ext>
            </a:extLst>
          </p:cNvPr>
          <p:cNvSpPr txBox="1">
            <a:spLocks/>
          </p:cNvSpPr>
          <p:nvPr/>
        </p:nvSpPr>
        <p:spPr>
          <a:xfrm>
            <a:off x="8729237" y="3233512"/>
            <a:ext cx="2953477" cy="53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>
                <a:solidFill>
                  <a:schemeClr val="accent2"/>
                </a:solidFill>
              </a:rPr>
              <a:t>Fried sticky rice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073472-3A2B-B3E9-DB71-18E0ED643FF5}"/>
              </a:ext>
            </a:extLst>
          </p:cNvPr>
          <p:cNvSpPr/>
          <p:nvPr/>
        </p:nvSpPr>
        <p:spPr>
          <a:xfrm>
            <a:off x="838200" y="1546810"/>
            <a:ext cx="10515600" cy="2977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6DD393-E399-FC00-5F2F-ACD8202F9A60}"/>
              </a:ext>
            </a:extLst>
          </p:cNvPr>
          <p:cNvSpPr txBox="1"/>
          <p:nvPr/>
        </p:nvSpPr>
        <p:spPr>
          <a:xfrm>
            <a:off x="4513402" y="4524342"/>
            <a:ext cx="3823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Boilerplate</a:t>
            </a:r>
            <a:endParaRPr lang="en-VN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10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9C07-C714-F9F3-B291-6197E73D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Programming paradigm: </a:t>
            </a:r>
            <a:r>
              <a:rPr lang="en-VN">
                <a:cs typeface="Times New Roman" panose="02020603050405020304" pitchFamily="18" charset="0"/>
              </a:rPr>
              <a:t>OOP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A4B9-9F60-BE4F-579B-47DFD8FDB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1671"/>
          </a:xfrm>
        </p:spPr>
        <p:txBody>
          <a:bodyPr/>
          <a:lstStyle/>
          <a:p>
            <a:pPr marL="0" indent="0">
              <a:buNone/>
            </a:pPr>
            <a:r>
              <a:rPr lang="en-VN" b="1"/>
              <a:t>class</a:t>
            </a:r>
            <a:r>
              <a:rPr lang="en-VN"/>
              <a:t> is simply an upgrade version of </a:t>
            </a:r>
            <a:r>
              <a:rPr lang="en-VN" b="1"/>
              <a:t>struct</a:t>
            </a:r>
          </a:p>
          <a:p>
            <a:pPr>
              <a:buFontTx/>
              <a:buChar char="-"/>
            </a:pPr>
            <a:r>
              <a:rPr lang="en-VN"/>
              <a:t>Abstraction (Trừu tượng hoá)</a:t>
            </a:r>
          </a:p>
          <a:p>
            <a:pPr>
              <a:buFontTx/>
              <a:buChar char="-"/>
            </a:pPr>
            <a:r>
              <a:rPr lang="en-VN"/>
              <a:t>Encapsulation (Đóng gói)</a:t>
            </a:r>
          </a:p>
          <a:p>
            <a:pPr>
              <a:buFontTx/>
              <a:buChar char="-"/>
            </a:pPr>
            <a:r>
              <a:rPr lang="en-VN"/>
              <a:t>Inheritance (Kế thừa )</a:t>
            </a:r>
          </a:p>
          <a:p>
            <a:pPr>
              <a:buFontTx/>
              <a:buChar char="-"/>
            </a:pPr>
            <a:r>
              <a:rPr lang="en-US"/>
              <a:t>Polymorphism (Đa hình)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05978-A7B7-1539-D02F-933F739C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10</a:t>
            </a:fld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6721D-BC52-3CF7-4318-D49F5FA2F9D9}"/>
              </a:ext>
            </a:extLst>
          </p:cNvPr>
          <p:cNvSpPr txBox="1"/>
          <p:nvPr/>
        </p:nvSpPr>
        <p:spPr>
          <a:xfrm>
            <a:off x="5514564" y="3623894"/>
            <a:ext cx="3046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Later!</a:t>
            </a:r>
            <a:endParaRPr lang="en-VN" sz="2400" b="1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20CB3-DC61-530C-05BC-9526AE2AAFDB}"/>
              </a:ext>
            </a:extLst>
          </p:cNvPr>
          <p:cNvSpPr/>
          <p:nvPr/>
        </p:nvSpPr>
        <p:spPr>
          <a:xfrm>
            <a:off x="838199" y="3322984"/>
            <a:ext cx="4104861" cy="1063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3CAFC0-A135-5131-A906-E934EBF988C7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4943060" y="3854727"/>
            <a:ext cx="5715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84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196F-4989-3241-FA8A-3D191831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2626-E0BB-36B3-5294-7FA062B9F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D7775-9726-E916-64C3-0F5F89FD8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0B1A4-F314-3122-D325-850DB07B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2665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53EA-E6E7-C71D-840A-630EBCB2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B4A7-15B6-FE08-F6A0-75F296941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37768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3200" b="1"/>
              <a:t>class</a:t>
            </a:r>
            <a:r>
              <a:rPr lang="en-VN" sz="3200"/>
              <a:t> </a:t>
            </a:r>
            <a:r>
              <a:rPr lang="en-VN" sz="3200" b="1">
                <a:solidFill>
                  <a:srgbClr val="00B0F0"/>
                </a:solidFill>
              </a:rPr>
              <a:t>SoulKnight</a:t>
            </a:r>
            <a:r>
              <a:rPr lang="en-VN" sz="3200"/>
              <a:t> {</a:t>
            </a:r>
          </a:p>
          <a:p>
            <a:pPr marL="0" indent="0">
              <a:buNone/>
            </a:pPr>
            <a:r>
              <a:rPr lang="en-VN"/>
              <a:t>   </a:t>
            </a:r>
            <a:r>
              <a:rPr lang="en-VN" b="1"/>
              <a:t>private</a:t>
            </a:r>
            <a:r>
              <a:rPr lang="en-VN"/>
              <a:t>:</a:t>
            </a:r>
          </a:p>
          <a:p>
            <a:pPr marL="0" indent="0">
              <a:buNone/>
            </a:pPr>
            <a:r>
              <a:rPr lang="en-VN"/>
              <a:t>      </a:t>
            </a:r>
            <a:r>
              <a:rPr lang="en-VN" b="1"/>
              <a:t>int</a:t>
            </a:r>
            <a:r>
              <a:rPr lang="en-VN"/>
              <a:t> HP;</a:t>
            </a:r>
          </a:p>
          <a:p>
            <a:pPr marL="0" indent="0">
              <a:buNone/>
            </a:pPr>
            <a:r>
              <a:rPr lang="en-VN"/>
              <a:t>      </a:t>
            </a:r>
            <a:r>
              <a:rPr lang="en-VN" b="1"/>
              <a:t>float</a:t>
            </a:r>
            <a:r>
              <a:rPr lang="en-VN"/>
              <a:t> ATK;</a:t>
            </a:r>
          </a:p>
          <a:p>
            <a:pPr marL="0" indent="0">
              <a:buNone/>
            </a:pPr>
            <a:r>
              <a:rPr lang="en-VN"/>
              <a:t>   </a:t>
            </a:r>
            <a:r>
              <a:rPr lang="en-VN" b="1"/>
              <a:t>public</a:t>
            </a:r>
            <a:r>
              <a:rPr lang="en-VN"/>
              <a:t>:</a:t>
            </a:r>
          </a:p>
          <a:p>
            <a:pPr marL="0" indent="0">
              <a:buNone/>
            </a:pPr>
            <a:r>
              <a:rPr lang="en-VN"/>
              <a:t>      </a:t>
            </a:r>
            <a:r>
              <a:rPr lang="en-VN" b="1"/>
              <a:t>void</a:t>
            </a:r>
            <a:r>
              <a:rPr lang="en-VN"/>
              <a:t> attack() {…};</a:t>
            </a:r>
          </a:p>
          <a:p>
            <a:pPr marL="0" indent="0">
              <a:buNone/>
            </a:pPr>
            <a:r>
              <a:rPr lang="en-VN"/>
              <a:t>      </a:t>
            </a:r>
            <a:r>
              <a:rPr lang="en-VN" b="1"/>
              <a:t>void</a:t>
            </a:r>
            <a:r>
              <a:rPr lang="en-VN"/>
              <a:t> dash() {…};</a:t>
            </a:r>
          </a:p>
          <a:p>
            <a:pPr marL="0" indent="0">
              <a:buNone/>
            </a:pPr>
            <a:r>
              <a:rPr lang="en-VN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37345-2D60-FE1A-E703-11EE5506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12</a:t>
            </a:fld>
            <a:endParaRPr lang="en-VN"/>
          </a:p>
        </p:txBody>
      </p:sp>
      <p:pic>
        <p:nvPicPr>
          <p:cNvPr id="1026" name="Picture 2" descr="Asking the community what they think of each character's ability balance:  Day 21 (Knight) : r/SoulKnight">
            <a:extLst>
              <a:ext uri="{FF2B5EF4-FFF2-40B4-BE49-F238E27FC236}">
                <a16:creationId xmlns:a16="http://schemas.microsoft.com/office/drawing/2014/main" id="{9E4BA574-7B9D-6376-C670-05AFA32829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32460" r="16698"/>
          <a:stretch>
            <a:fillRect/>
          </a:stretch>
        </p:blipFill>
        <p:spPr bwMode="auto">
          <a:xfrm>
            <a:off x="6361043" y="2316556"/>
            <a:ext cx="3776870" cy="308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FF24C8-4A5A-2AD1-FFD0-5D97BA8CC700}"/>
              </a:ext>
            </a:extLst>
          </p:cNvPr>
          <p:cNvSpPr/>
          <p:nvPr/>
        </p:nvSpPr>
        <p:spPr>
          <a:xfrm>
            <a:off x="1063487" y="3598850"/>
            <a:ext cx="125129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615A3-266C-4AED-F33C-7E8DAED4133F}"/>
              </a:ext>
            </a:extLst>
          </p:cNvPr>
          <p:cNvSpPr txBox="1"/>
          <p:nvPr/>
        </p:nvSpPr>
        <p:spPr>
          <a:xfrm>
            <a:off x="3313" y="4267215"/>
            <a:ext cx="106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Scope</a:t>
            </a:r>
            <a:endParaRPr lang="en-VN" sz="2400" b="1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013D0-76CB-9AB8-CD47-E9988A81C0B2}"/>
              </a:ext>
            </a:extLst>
          </p:cNvPr>
          <p:cNvSpPr/>
          <p:nvPr/>
        </p:nvSpPr>
        <p:spPr>
          <a:xfrm>
            <a:off x="1063487" y="2067200"/>
            <a:ext cx="1348409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7BBE9719-63BB-C1E2-8F07-0530B20178B3}"/>
              </a:ext>
            </a:extLst>
          </p:cNvPr>
          <p:cNvCxnSpPr>
            <a:stCxn id="6" idx="0"/>
          </p:cNvCxnSpPr>
          <p:nvPr/>
        </p:nvCxnSpPr>
        <p:spPr>
          <a:xfrm rot="5400000" flipH="1" flipV="1">
            <a:off x="580506" y="3784234"/>
            <a:ext cx="437533" cy="5284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09F74BC-ECF7-32B5-0769-0CE29D0EFAE7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rot="5400000" flipH="1" flipV="1">
            <a:off x="-185319" y="3018409"/>
            <a:ext cx="1969182" cy="5284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28517-2181-E84D-8C14-822619D65C90}"/>
              </a:ext>
            </a:extLst>
          </p:cNvPr>
          <p:cNvSpPr/>
          <p:nvPr/>
        </p:nvSpPr>
        <p:spPr>
          <a:xfrm>
            <a:off x="1296019" y="2623046"/>
            <a:ext cx="1579703" cy="889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3A23B-0F42-2389-CCBD-078326DCDEFA}"/>
              </a:ext>
            </a:extLst>
          </p:cNvPr>
          <p:cNvSpPr txBox="1"/>
          <p:nvPr/>
        </p:nvSpPr>
        <p:spPr>
          <a:xfrm>
            <a:off x="3491119" y="2652137"/>
            <a:ext cx="2195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Properties</a:t>
            </a:r>
          </a:p>
          <a:p>
            <a:r>
              <a:rPr lang="en-VN" sz="2400">
                <a:solidFill>
                  <a:srgbClr val="FF0000"/>
                </a:solidFill>
              </a:rPr>
              <a:t>(just variable)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BC0183-901D-C8B3-D72C-70EE5726E1E9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2875722" y="3067636"/>
            <a:ext cx="61539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295DD-5064-EF25-9BEA-F73FA40C6BB7}"/>
              </a:ext>
            </a:extLst>
          </p:cNvPr>
          <p:cNvSpPr/>
          <p:nvPr/>
        </p:nvSpPr>
        <p:spPr>
          <a:xfrm>
            <a:off x="1296019" y="4137621"/>
            <a:ext cx="2759146" cy="934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961825-D1BA-E914-6104-F6E0DA93199A}"/>
              </a:ext>
            </a:extLst>
          </p:cNvPr>
          <p:cNvSpPr txBox="1"/>
          <p:nvPr/>
        </p:nvSpPr>
        <p:spPr>
          <a:xfrm>
            <a:off x="4439269" y="4189451"/>
            <a:ext cx="2195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Methods</a:t>
            </a:r>
            <a:endParaRPr lang="en-VN" sz="2400" b="1">
              <a:solidFill>
                <a:srgbClr val="FF0000"/>
              </a:solidFill>
            </a:endParaRPr>
          </a:p>
          <a:p>
            <a:r>
              <a:rPr lang="en-VN" sz="2400">
                <a:solidFill>
                  <a:srgbClr val="FF0000"/>
                </a:solidFill>
              </a:rPr>
              <a:t>(just function)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55599A-3C7A-AC9B-7494-62633808DA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4055165" y="4604950"/>
            <a:ext cx="3841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6C5BBE-50FC-A4A4-8710-72AD9C17DC0D}"/>
              </a:ext>
            </a:extLst>
          </p:cNvPr>
          <p:cNvSpPr txBox="1"/>
          <p:nvPr/>
        </p:nvSpPr>
        <p:spPr>
          <a:xfrm>
            <a:off x="838201" y="5819982"/>
            <a:ext cx="3776870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FF0000"/>
                </a:solidFill>
              </a:rPr>
              <a:t>Q</a:t>
            </a:r>
            <a:r>
              <a:rPr lang="en-VN" sz="2400">
                <a:solidFill>
                  <a:srgbClr val="FF0000"/>
                </a:solidFill>
              </a:rPr>
              <a:t>: Why private properties?</a:t>
            </a:r>
          </a:p>
          <a:p>
            <a:r>
              <a:rPr lang="en-VN" sz="2400" b="1">
                <a:solidFill>
                  <a:srgbClr val="FF0000"/>
                </a:solidFill>
              </a:rPr>
              <a:t>Q</a:t>
            </a:r>
            <a:r>
              <a:rPr lang="en-VN" sz="2400">
                <a:solidFill>
                  <a:srgbClr val="FF0000"/>
                </a:solidFill>
              </a:rPr>
              <a:t>: Why public methods?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94B622-F38B-EF97-FFC1-A1C97763B93B}"/>
              </a:ext>
            </a:extLst>
          </p:cNvPr>
          <p:cNvSpPr txBox="1"/>
          <p:nvPr/>
        </p:nvSpPr>
        <p:spPr>
          <a:xfrm>
            <a:off x="6096000" y="5563046"/>
            <a:ext cx="5446643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3200" b="1">
                <a:solidFill>
                  <a:srgbClr val="FF0000"/>
                </a:solidFill>
              </a:rPr>
              <a:t>Class = Properties + Method</a:t>
            </a:r>
            <a:endParaRPr lang="en-VN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2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7586-7839-E3E3-BA99-9EEA7D89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E78F-CD78-12B8-1662-AD529392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AC200-BF81-4E3A-2811-D19A1792F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9362"/>
            <a:ext cx="4793974" cy="4616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3200" b="1"/>
              <a:t>class</a:t>
            </a:r>
            <a:r>
              <a:rPr lang="en-VN" sz="3200"/>
              <a:t> </a:t>
            </a:r>
            <a:r>
              <a:rPr lang="en-VN" sz="3200" b="1">
                <a:solidFill>
                  <a:srgbClr val="00B0F0"/>
                </a:solidFill>
              </a:rPr>
              <a:t>SoulKnight</a:t>
            </a:r>
            <a:r>
              <a:rPr lang="en-VN" sz="3200"/>
              <a:t> {…};</a:t>
            </a:r>
          </a:p>
          <a:p>
            <a:pPr marL="0" indent="0">
              <a:buNone/>
            </a:pPr>
            <a:r>
              <a:rPr lang="en-US" sz="3200"/>
              <a:t>i</a:t>
            </a:r>
            <a:r>
              <a:rPr lang="en-VN" sz="3200"/>
              <a:t>nt main() {</a:t>
            </a:r>
          </a:p>
          <a:p>
            <a:pPr marL="0" indent="0">
              <a:buNone/>
            </a:pPr>
            <a:r>
              <a:rPr lang="en-VN" sz="3200"/>
              <a:t>   </a:t>
            </a:r>
            <a:r>
              <a:rPr lang="en-VN" sz="3200">
                <a:solidFill>
                  <a:srgbClr val="00B0F0"/>
                </a:solidFill>
              </a:rPr>
              <a:t>SoulKnight</a:t>
            </a:r>
            <a:r>
              <a:rPr lang="en-VN" sz="3200"/>
              <a:t>  knight1;</a:t>
            </a:r>
          </a:p>
          <a:p>
            <a:pPr marL="0" indent="0">
              <a:buNone/>
            </a:pPr>
            <a:r>
              <a:rPr lang="en-VN" sz="3200"/>
              <a:t>   </a:t>
            </a:r>
            <a:r>
              <a:rPr lang="en-VN" sz="3200">
                <a:solidFill>
                  <a:srgbClr val="00B0F0"/>
                </a:solidFill>
              </a:rPr>
              <a:t>SoulKnight</a:t>
            </a:r>
            <a:r>
              <a:rPr lang="en-VN" sz="3200"/>
              <a:t>  knight2;</a:t>
            </a:r>
          </a:p>
          <a:p>
            <a:pPr marL="0" indent="0">
              <a:buNone/>
            </a:pPr>
            <a:r>
              <a:rPr lang="en-VN" sz="3200"/>
              <a:t>   </a:t>
            </a:r>
            <a:r>
              <a:rPr lang="en-VN" sz="3200">
                <a:solidFill>
                  <a:schemeClr val="bg2">
                    <a:lumMod val="50000"/>
                  </a:schemeClr>
                </a:solidFill>
              </a:rPr>
              <a:t>int</a:t>
            </a:r>
            <a:r>
              <a:rPr lang="en-VN" sz="3200"/>
              <a:t>                   count;</a:t>
            </a:r>
          </a:p>
          <a:p>
            <a:pPr marL="0" indent="0">
              <a:buNone/>
            </a:pPr>
            <a:r>
              <a:rPr lang="en-VN" sz="3200"/>
              <a:t>   </a:t>
            </a:r>
          </a:p>
          <a:p>
            <a:pPr marL="0" indent="0">
              <a:buNone/>
            </a:pPr>
            <a:r>
              <a:rPr lang="en-VN" sz="3200"/>
              <a:t>   return 0;</a:t>
            </a:r>
          </a:p>
          <a:p>
            <a:pPr marL="0" indent="0">
              <a:buNone/>
            </a:pPr>
            <a:r>
              <a:rPr lang="en-VN" sz="320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9D205-2974-9788-F5E6-3981430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13</a:t>
            </a:fld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C8D28-0EBC-A842-06DB-BAE6CA9A1873}"/>
              </a:ext>
            </a:extLst>
          </p:cNvPr>
          <p:cNvSpPr/>
          <p:nvPr/>
        </p:nvSpPr>
        <p:spPr>
          <a:xfrm>
            <a:off x="1964633" y="1759362"/>
            <a:ext cx="209053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D8062-3F73-D22C-5010-7AEDD532E042}"/>
              </a:ext>
            </a:extLst>
          </p:cNvPr>
          <p:cNvSpPr txBox="1"/>
          <p:nvPr/>
        </p:nvSpPr>
        <p:spPr>
          <a:xfrm>
            <a:off x="4876799" y="1797445"/>
            <a:ext cx="1683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Turn into a new type / any name*</a:t>
            </a:r>
            <a:endParaRPr lang="en-VN" sz="2400" b="1">
              <a:solidFill>
                <a:srgbClr val="FF0000"/>
              </a:solidFill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0AD07593-CE46-D2B1-F6CA-52A412CF73CD}"/>
              </a:ext>
            </a:extLst>
          </p:cNvPr>
          <p:cNvCxnSpPr>
            <a:cxnSpLocks/>
            <a:stCxn id="11" idx="0"/>
            <a:endCxn id="8" idx="0"/>
          </p:cNvCxnSpPr>
          <p:nvPr/>
        </p:nvCxnSpPr>
        <p:spPr>
          <a:xfrm rot="16200000" flipV="1">
            <a:off x="4345066" y="424196"/>
            <a:ext cx="38083" cy="2708415"/>
          </a:xfrm>
          <a:prstGeom prst="bentConnector3">
            <a:avLst>
              <a:gd name="adj1" fmla="val 7002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C3C5853-75D6-B56A-53CF-0398EF0E8138}"/>
              </a:ext>
            </a:extLst>
          </p:cNvPr>
          <p:cNvSpPr/>
          <p:nvPr/>
        </p:nvSpPr>
        <p:spPr>
          <a:xfrm>
            <a:off x="1008821" y="2866623"/>
            <a:ext cx="2090532" cy="16523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D61FB7-EBBA-49A7-8BC9-F6D24DBE8FF6}"/>
              </a:ext>
            </a:extLst>
          </p:cNvPr>
          <p:cNvSpPr txBox="1"/>
          <p:nvPr/>
        </p:nvSpPr>
        <p:spPr>
          <a:xfrm>
            <a:off x="1008821" y="4518989"/>
            <a:ext cx="2090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type</a:t>
            </a:r>
            <a:endParaRPr lang="en-VN" sz="2400" b="1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46858D-CE49-EB64-2A87-4E5459CDDC89}"/>
              </a:ext>
            </a:extLst>
          </p:cNvPr>
          <p:cNvSpPr/>
          <p:nvPr/>
        </p:nvSpPr>
        <p:spPr>
          <a:xfrm>
            <a:off x="3160642" y="2866922"/>
            <a:ext cx="1570383" cy="16520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403DC-95A7-2494-57B0-6247FDF3FAC4}"/>
              </a:ext>
            </a:extLst>
          </p:cNvPr>
          <p:cNvSpPr txBox="1"/>
          <p:nvPr/>
        </p:nvSpPr>
        <p:spPr>
          <a:xfrm>
            <a:off x="3099352" y="4518989"/>
            <a:ext cx="2968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v</a:t>
            </a:r>
            <a:r>
              <a:rPr lang="en-VN" sz="2400">
                <a:solidFill>
                  <a:srgbClr val="FF0000"/>
                </a:solidFill>
              </a:rPr>
              <a:t>ariable / instance</a:t>
            </a:r>
          </a:p>
          <a:p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VN" sz="2400">
                <a:solidFill>
                  <a:srgbClr val="FF0000"/>
                </a:solidFill>
              </a:rPr>
              <a:t>ny name*</a:t>
            </a:r>
          </a:p>
        </p:txBody>
      </p:sp>
      <p:pic>
        <p:nvPicPr>
          <p:cNvPr id="29" name="Picture 2" descr="Asking the community what they think of each character's ability balance:  Day 21 (Knight) : r/SoulKnight">
            <a:extLst>
              <a:ext uri="{FF2B5EF4-FFF2-40B4-BE49-F238E27FC236}">
                <a16:creationId xmlns:a16="http://schemas.microsoft.com/office/drawing/2014/main" id="{89C9AB4D-DFF2-6E2A-D02A-BC04E95833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32460" r="16698"/>
          <a:stretch>
            <a:fillRect/>
          </a:stretch>
        </p:blipFill>
        <p:spPr bwMode="auto">
          <a:xfrm>
            <a:off x="8547652" y="2548885"/>
            <a:ext cx="2604158" cy="212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sking the community what they think of each character's ability balance:  Day 21 (Knight) : r/SoulKnight">
            <a:extLst>
              <a:ext uri="{FF2B5EF4-FFF2-40B4-BE49-F238E27FC236}">
                <a16:creationId xmlns:a16="http://schemas.microsoft.com/office/drawing/2014/main" id="{42AD3B7D-D99E-0A7B-6F97-CAD1E5D612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32460" r="16698"/>
          <a:stretch>
            <a:fillRect/>
          </a:stretch>
        </p:blipFill>
        <p:spPr bwMode="auto">
          <a:xfrm>
            <a:off x="6213614" y="2620691"/>
            <a:ext cx="2604158" cy="212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43D56C4-CB57-78CB-3639-5FDE69447198}"/>
              </a:ext>
            </a:extLst>
          </p:cNvPr>
          <p:cNvSpPr txBox="1"/>
          <p:nvPr/>
        </p:nvSpPr>
        <p:spPr>
          <a:xfrm>
            <a:off x="838200" y="6329800"/>
            <a:ext cx="459198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FF0000"/>
                </a:solidFill>
              </a:rPr>
              <a:t>Ntk</a:t>
            </a:r>
            <a:r>
              <a:rPr lang="en-VN" sz="2400">
                <a:solidFill>
                  <a:srgbClr val="FF0000"/>
                </a:solidFill>
              </a:rPr>
              <a:t>: *any valid var/class name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DF2401-A8E7-6222-0F06-4D0705136C75}"/>
              </a:ext>
            </a:extLst>
          </p:cNvPr>
          <p:cNvSpPr txBox="1"/>
          <p:nvPr/>
        </p:nvSpPr>
        <p:spPr>
          <a:xfrm>
            <a:off x="6124162" y="4988292"/>
            <a:ext cx="5446643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3200" b="1">
                <a:solidFill>
                  <a:srgbClr val="FF0000"/>
                </a:solidFill>
              </a:rPr>
              <a:t>Object = Data + Function</a:t>
            </a:r>
            <a:endParaRPr lang="en-VN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486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8215-8433-5710-E0A0-91498D3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multiple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F5717-1216-881A-8818-FA1E4CEB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14</a:t>
            </a:fld>
            <a:endParaRPr lang="en-VN"/>
          </a:p>
        </p:txBody>
      </p:sp>
      <p:pic>
        <p:nvPicPr>
          <p:cNvPr id="4098" name="Picture 2" descr="Nian | Soul Knight Wiki | Fandom">
            <a:extLst>
              <a:ext uri="{FF2B5EF4-FFF2-40B4-BE49-F238E27FC236}">
                <a16:creationId xmlns:a16="http://schemas.microsoft.com/office/drawing/2014/main" id="{E69A9C42-1117-E021-DFB0-1B8425EE3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770" y="2139896"/>
            <a:ext cx="650081" cy="46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sking the community what they think of each character's ability balance:  Day 21 (Knight) : r/SoulKnight">
            <a:extLst>
              <a:ext uri="{FF2B5EF4-FFF2-40B4-BE49-F238E27FC236}">
                <a16:creationId xmlns:a16="http://schemas.microsoft.com/office/drawing/2014/main" id="{7D7D1349-B279-4E37-1391-68150945A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32460" r="16698"/>
          <a:stretch>
            <a:fillRect/>
          </a:stretch>
        </p:blipFill>
        <p:spPr bwMode="auto">
          <a:xfrm>
            <a:off x="3697124" y="1666805"/>
            <a:ext cx="745608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oul Knight Prequel/Boss - NamuWiki">
            <a:extLst>
              <a:ext uri="{FF2B5EF4-FFF2-40B4-BE49-F238E27FC236}">
                <a16:creationId xmlns:a16="http://schemas.microsoft.com/office/drawing/2014/main" id="{AB0DCCF7-36F4-A6A3-D28A-6A3637E8C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770" y="2604240"/>
            <a:ext cx="500270" cy="51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C28A8A3-B881-249E-FF02-1771DF9932EF}"/>
              </a:ext>
            </a:extLst>
          </p:cNvPr>
          <p:cNvSpPr/>
          <p:nvPr/>
        </p:nvSpPr>
        <p:spPr>
          <a:xfrm>
            <a:off x="917712" y="4902629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47489-F680-25A3-3D04-2B3174FDD608}"/>
              </a:ext>
            </a:extLst>
          </p:cNvPr>
          <p:cNvSpPr txBox="1"/>
          <p:nvPr/>
        </p:nvSpPr>
        <p:spPr>
          <a:xfrm>
            <a:off x="838200" y="1690688"/>
            <a:ext cx="41843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c</a:t>
            </a:r>
            <a:r>
              <a:rPr lang="en-VN" sz="2800"/>
              <a:t>lass SoulKnigh …           ;</a:t>
            </a:r>
          </a:p>
          <a:p>
            <a:r>
              <a:rPr lang="en-US" sz="2800"/>
              <a:t>c</a:t>
            </a:r>
            <a:r>
              <a:rPr lang="en-VN" sz="2800"/>
              <a:t>lass Nian …           ;</a:t>
            </a:r>
          </a:p>
          <a:p>
            <a:r>
              <a:rPr lang="en-US" sz="2800"/>
              <a:t>c</a:t>
            </a:r>
            <a:r>
              <a:rPr lang="en-VN" sz="2800"/>
              <a:t>lass Boss …        ;</a:t>
            </a:r>
          </a:p>
          <a:p>
            <a:endParaRPr lang="en-VN" sz="2800"/>
          </a:p>
          <a:p>
            <a:r>
              <a:rPr lang="en-US" sz="2800"/>
              <a:t>int main() {</a:t>
            </a:r>
          </a:p>
          <a:p>
            <a:r>
              <a:rPr lang="en-US" sz="2800"/>
              <a:t>   …</a:t>
            </a:r>
          </a:p>
          <a:p>
            <a:r>
              <a:rPr lang="en-US" sz="2800"/>
              <a:t>}</a:t>
            </a:r>
            <a:endParaRPr lang="en-VN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778478-FD94-761D-43D9-9E29F4638046}"/>
              </a:ext>
            </a:extLst>
          </p:cNvPr>
          <p:cNvSpPr/>
          <p:nvPr/>
        </p:nvSpPr>
        <p:spPr>
          <a:xfrm>
            <a:off x="5525446" y="3630421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6CAF6C-C158-F5BE-4AC3-FD8E5AB359EE}"/>
              </a:ext>
            </a:extLst>
          </p:cNvPr>
          <p:cNvSpPr/>
          <p:nvPr/>
        </p:nvSpPr>
        <p:spPr>
          <a:xfrm>
            <a:off x="7493394" y="3630421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Nian.cpp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6D642A-8293-EF26-4330-E94B59957500}"/>
              </a:ext>
            </a:extLst>
          </p:cNvPr>
          <p:cNvSpPr/>
          <p:nvPr/>
        </p:nvSpPr>
        <p:spPr>
          <a:xfrm>
            <a:off x="9461342" y="3630421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Boss.cpp</a:t>
            </a:r>
          </a:p>
        </p:txBody>
      </p:sp>
      <p:pic>
        <p:nvPicPr>
          <p:cNvPr id="14" name="Picture 2" descr="Nian | Soul Knight Wiki | Fandom">
            <a:extLst>
              <a:ext uri="{FF2B5EF4-FFF2-40B4-BE49-F238E27FC236}">
                <a16:creationId xmlns:a16="http://schemas.microsoft.com/office/drawing/2014/main" id="{A299E31F-9D71-3266-55C0-AC66E2605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197" y="2627259"/>
            <a:ext cx="1155893" cy="82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Asking the community what they think of each character's ability balance:  Day 21 (Knight) : r/SoulKnight">
            <a:extLst>
              <a:ext uri="{FF2B5EF4-FFF2-40B4-BE49-F238E27FC236}">
                <a16:creationId xmlns:a16="http://schemas.microsoft.com/office/drawing/2014/main" id="{191E8F18-DCCA-4D9B-1E2B-AC672A439E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32460" r="16698"/>
          <a:stretch>
            <a:fillRect/>
          </a:stretch>
        </p:blipFill>
        <p:spPr bwMode="auto">
          <a:xfrm>
            <a:off x="5599630" y="2420682"/>
            <a:ext cx="1262510" cy="103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Soul Knight Prequel/Boss - NamuWiki">
            <a:extLst>
              <a:ext uri="{FF2B5EF4-FFF2-40B4-BE49-F238E27FC236}">
                <a16:creationId xmlns:a16="http://schemas.microsoft.com/office/drawing/2014/main" id="{3BE19157-8F95-B3D3-2337-EC8ACDFA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342" y="1646598"/>
            <a:ext cx="1785498" cy="184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D4EE852-7F1D-C03B-9CDB-5EAC70DFF453}"/>
              </a:ext>
            </a:extLst>
          </p:cNvPr>
          <p:cNvSpPr/>
          <p:nvPr/>
        </p:nvSpPr>
        <p:spPr>
          <a:xfrm>
            <a:off x="5578453" y="6000864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619E97-82DA-0CBB-158F-8B47CABA5B89}"/>
              </a:ext>
            </a:extLst>
          </p:cNvPr>
          <p:cNvSpPr/>
          <p:nvPr/>
        </p:nvSpPr>
        <p:spPr>
          <a:xfrm>
            <a:off x="712305" y="1556124"/>
            <a:ext cx="3986302" cy="4089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76EF16-D639-48AA-7EEA-6B566D40A7FD}"/>
              </a:ext>
            </a:extLst>
          </p:cNvPr>
          <p:cNvSpPr/>
          <p:nvPr/>
        </p:nvSpPr>
        <p:spPr>
          <a:xfrm>
            <a:off x="5402333" y="1556123"/>
            <a:ext cx="6020739" cy="51653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28DAF3-8F7F-EF5D-995F-BFD2EFFFC065}"/>
                  </a:ext>
                </a:extLst>
              </p:cNvPr>
              <p:cNvSpPr txBox="1"/>
              <p:nvPr/>
            </p:nvSpPr>
            <p:spPr>
              <a:xfrm>
                <a:off x="4698607" y="3385331"/>
                <a:ext cx="72224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4000" b="0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VN" sz="40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28DAF3-8F7F-EF5D-995F-BFD2EFFFC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607" y="3385331"/>
                <a:ext cx="722243" cy="615553"/>
              </a:xfrm>
              <a:prstGeom prst="rect">
                <a:avLst/>
              </a:prstGeom>
              <a:blipFill>
                <a:blip r:embed="rId5"/>
                <a:stretch>
                  <a:fillRect l="-175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D314059-F811-4CBF-1476-1C471A532CF1}"/>
              </a:ext>
            </a:extLst>
          </p:cNvPr>
          <p:cNvSpPr txBox="1"/>
          <p:nvPr/>
        </p:nvSpPr>
        <p:spPr>
          <a:xfrm>
            <a:off x="5512193" y="4259710"/>
            <a:ext cx="28764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Aptos" panose="020B0004020202020204" pitchFamily="34" charset="0"/>
              </a:rPr>
              <a:t>#include “SoulKnight.cpp”</a:t>
            </a:r>
            <a:r>
              <a:rPr lang="en-VN">
                <a:latin typeface="Aptos" panose="020B0004020202020204" pitchFamily="34" charset="0"/>
              </a:rPr>
              <a:t>;</a:t>
            </a:r>
          </a:p>
          <a:p>
            <a:r>
              <a:rPr lang="en-VN">
                <a:latin typeface="Aptos" panose="020B0004020202020204" pitchFamily="34" charset="0"/>
              </a:rPr>
              <a:t>#include ”Nian.cpp”</a:t>
            </a:r>
          </a:p>
          <a:p>
            <a:r>
              <a:rPr lang="en-VN">
                <a:latin typeface="Aptos" panose="020B0004020202020204" pitchFamily="34" charset="0"/>
              </a:rPr>
              <a:t>#include “Boss.cpp”</a:t>
            </a:r>
          </a:p>
          <a:p>
            <a:r>
              <a:rPr lang="en-US">
                <a:latin typeface="Aptos" panose="020B0004020202020204" pitchFamily="34" charset="0"/>
              </a:rPr>
              <a:t>int main() {</a:t>
            </a:r>
          </a:p>
          <a:p>
            <a:r>
              <a:rPr lang="en-US">
                <a:latin typeface="Aptos" panose="020B0004020202020204" pitchFamily="34" charset="0"/>
              </a:rPr>
              <a:t>   …</a:t>
            </a:r>
          </a:p>
          <a:p>
            <a:r>
              <a:rPr lang="en-US">
                <a:latin typeface="Aptos" panose="020B0004020202020204" pitchFamily="34" charset="0"/>
              </a:rPr>
              <a:t>}</a:t>
            </a:r>
            <a:endParaRPr lang="en-VN"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6A1F74-6E8C-27F7-17A4-5C10B599B000}"/>
              </a:ext>
            </a:extLst>
          </p:cNvPr>
          <p:cNvSpPr/>
          <p:nvPr/>
        </p:nvSpPr>
        <p:spPr>
          <a:xfrm>
            <a:off x="809980" y="3452897"/>
            <a:ext cx="2063139" cy="2126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8F9273-5E0E-0A18-CCDF-3AC675C8070E}"/>
              </a:ext>
            </a:extLst>
          </p:cNvPr>
          <p:cNvSpPr/>
          <p:nvPr/>
        </p:nvSpPr>
        <p:spPr>
          <a:xfrm>
            <a:off x="5520829" y="4298789"/>
            <a:ext cx="2876433" cy="237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9ED19E-18FC-4065-9D01-8D88D702932E}"/>
              </a:ext>
            </a:extLst>
          </p:cNvPr>
          <p:cNvSpPr txBox="1"/>
          <p:nvPr/>
        </p:nvSpPr>
        <p:spPr>
          <a:xfrm>
            <a:off x="838201" y="5819982"/>
            <a:ext cx="4170062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FF0000"/>
                </a:solidFill>
              </a:rPr>
              <a:t>Q</a:t>
            </a:r>
            <a:r>
              <a:rPr lang="en-VN" sz="2400">
                <a:solidFill>
                  <a:srgbClr val="FF0000"/>
                </a:solidFill>
              </a:rPr>
              <a:t>: Why we need to sep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VN" sz="2400">
                <a:solidFill>
                  <a:srgbClr val="FF0000"/>
                </a:solidFill>
              </a:rPr>
              <a:t>rate main.cpp into 4 files .cpp?</a:t>
            </a:r>
          </a:p>
        </p:txBody>
      </p:sp>
    </p:spTree>
    <p:extLst>
      <p:ext uri="{BB962C8B-B14F-4D97-AF65-F5344CB8AC3E}">
        <p14:creationId xmlns:p14="http://schemas.microsoft.com/office/powerpoint/2010/main" val="17206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7C88-843F-E034-326D-2C2B6DBA0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36C8-0200-A6DD-AAC0-F7E8BED5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22" y="221486"/>
            <a:ext cx="10677178" cy="1325563"/>
          </a:xfrm>
        </p:spPr>
        <p:txBody>
          <a:bodyPr/>
          <a:lstStyle/>
          <a:p>
            <a:r>
              <a:rPr lang="en-VN"/>
              <a:t>OOP: multiple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D207F-6451-C5F2-D5AE-F78C9F08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15</a:t>
            </a:fld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AA7DF-6840-EDC4-6A9F-128CC3AF1FEC}"/>
              </a:ext>
            </a:extLst>
          </p:cNvPr>
          <p:cNvSpPr/>
          <p:nvPr/>
        </p:nvSpPr>
        <p:spPr>
          <a:xfrm>
            <a:off x="6320575" y="1142544"/>
            <a:ext cx="1696989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F68E8-6A6E-46BA-9655-8E4E61A6AF36}"/>
              </a:ext>
            </a:extLst>
          </p:cNvPr>
          <p:cNvSpPr/>
          <p:nvPr/>
        </p:nvSpPr>
        <p:spPr>
          <a:xfrm>
            <a:off x="8288523" y="1142544"/>
            <a:ext cx="1094015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Nian.cpp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1FFBE-7881-B3C6-AF87-57D4003FC3B8}"/>
              </a:ext>
            </a:extLst>
          </p:cNvPr>
          <p:cNvSpPr/>
          <p:nvPr/>
        </p:nvSpPr>
        <p:spPr>
          <a:xfrm>
            <a:off x="9727681" y="1142544"/>
            <a:ext cx="1295581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Boss.cpp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606672-2409-AF6A-40E7-A26A4AF66FE9}"/>
              </a:ext>
            </a:extLst>
          </p:cNvPr>
          <p:cNvSpPr/>
          <p:nvPr/>
        </p:nvSpPr>
        <p:spPr>
          <a:xfrm>
            <a:off x="6214559" y="596348"/>
            <a:ext cx="5208513" cy="61251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68CC0A-A137-54AD-EF7D-BD7A72C642CD}"/>
                  </a:ext>
                </a:extLst>
              </p:cNvPr>
              <p:cNvSpPr txBox="1"/>
              <p:nvPr/>
            </p:nvSpPr>
            <p:spPr>
              <a:xfrm>
                <a:off x="5480485" y="3385331"/>
                <a:ext cx="72224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4000" b="0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VN" sz="40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68CC0A-A137-54AD-EF7D-BD7A72C64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485" y="3385331"/>
                <a:ext cx="72224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CDC73C9-F486-D90A-950B-8666BC6FB0E8}"/>
              </a:ext>
            </a:extLst>
          </p:cNvPr>
          <p:cNvSpPr/>
          <p:nvPr/>
        </p:nvSpPr>
        <p:spPr>
          <a:xfrm>
            <a:off x="867912" y="2954561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EB33A-1AE5-7FCC-66EA-005285194F3F}"/>
              </a:ext>
            </a:extLst>
          </p:cNvPr>
          <p:cNvSpPr/>
          <p:nvPr/>
        </p:nvSpPr>
        <p:spPr>
          <a:xfrm>
            <a:off x="2835861" y="2954561"/>
            <a:ext cx="1155894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Nian.cpp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CA122-FC03-2A4A-49DC-A0F9B49893D8}"/>
              </a:ext>
            </a:extLst>
          </p:cNvPr>
          <p:cNvSpPr/>
          <p:nvPr/>
        </p:nvSpPr>
        <p:spPr>
          <a:xfrm>
            <a:off x="4132556" y="2954561"/>
            <a:ext cx="1155893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Boss.cpp</a:t>
            </a:r>
          </a:p>
        </p:txBody>
      </p:sp>
      <p:pic>
        <p:nvPicPr>
          <p:cNvPr id="22" name="Picture 2" descr="Nian | Soul Knight Wiki | Fandom">
            <a:extLst>
              <a:ext uri="{FF2B5EF4-FFF2-40B4-BE49-F238E27FC236}">
                <a16:creationId xmlns:a16="http://schemas.microsoft.com/office/drawing/2014/main" id="{BDFE4AB7-29A7-9CC9-F6C9-18EE016FE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6" y="2030911"/>
            <a:ext cx="1155893" cy="82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Asking the community what they think of each character's ability balance:  Day 21 (Knight) : r/SoulKnight">
            <a:extLst>
              <a:ext uri="{FF2B5EF4-FFF2-40B4-BE49-F238E27FC236}">
                <a16:creationId xmlns:a16="http://schemas.microsoft.com/office/drawing/2014/main" id="{4CD6E854-A840-8AFF-BD3A-3DFC9EFB9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32460" r="16698"/>
          <a:stretch>
            <a:fillRect/>
          </a:stretch>
        </p:blipFill>
        <p:spPr bwMode="auto">
          <a:xfrm>
            <a:off x="1193887" y="1824334"/>
            <a:ext cx="1262510" cy="103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Soul Knight Prequel/Boss - NamuWiki">
            <a:extLst>
              <a:ext uri="{FF2B5EF4-FFF2-40B4-BE49-F238E27FC236}">
                <a16:creationId xmlns:a16="http://schemas.microsoft.com/office/drawing/2014/main" id="{88DCDE90-A377-8716-F013-CC3704FDF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937" y="1566738"/>
            <a:ext cx="128486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5FD4989-D8D3-917D-B23B-90CE27688AD2}"/>
              </a:ext>
            </a:extLst>
          </p:cNvPr>
          <p:cNvSpPr/>
          <p:nvPr/>
        </p:nvSpPr>
        <p:spPr>
          <a:xfrm>
            <a:off x="744800" y="1556124"/>
            <a:ext cx="4687880" cy="4076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7C04C-ADDC-4789-5679-2AABA353AEBA}"/>
              </a:ext>
            </a:extLst>
          </p:cNvPr>
          <p:cNvSpPr/>
          <p:nvPr/>
        </p:nvSpPr>
        <p:spPr>
          <a:xfrm>
            <a:off x="6320575" y="680665"/>
            <a:ext cx="1825487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1622D1-E409-F346-FA80-A94B6D9E66E7}"/>
              </a:ext>
            </a:extLst>
          </p:cNvPr>
          <p:cNvSpPr/>
          <p:nvPr/>
        </p:nvSpPr>
        <p:spPr>
          <a:xfrm>
            <a:off x="8288523" y="680665"/>
            <a:ext cx="1296697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Nian.h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DF4669-0345-4B5E-0464-05BC6F186311}"/>
              </a:ext>
            </a:extLst>
          </p:cNvPr>
          <p:cNvSpPr/>
          <p:nvPr/>
        </p:nvSpPr>
        <p:spPr>
          <a:xfrm>
            <a:off x="9727681" y="680665"/>
            <a:ext cx="1498263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Boss.h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AA65C4-C79F-3F41-45AF-82950DCEFD6A}"/>
              </a:ext>
            </a:extLst>
          </p:cNvPr>
          <p:cNvSpPr/>
          <p:nvPr/>
        </p:nvSpPr>
        <p:spPr>
          <a:xfrm>
            <a:off x="924874" y="4808169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2C8F9D-9DF5-E723-8431-DCB027297839}"/>
              </a:ext>
            </a:extLst>
          </p:cNvPr>
          <p:cNvSpPr txBox="1"/>
          <p:nvPr/>
        </p:nvSpPr>
        <p:spPr>
          <a:xfrm>
            <a:off x="858614" y="3583850"/>
            <a:ext cx="2851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Aptos" panose="020B0004020202020204" pitchFamily="34" charset="0"/>
              </a:rPr>
              <a:t>#include “SoulKnight.cpp”</a:t>
            </a:r>
            <a:r>
              <a:rPr lang="en-VN">
                <a:latin typeface="Aptos" panose="020B0004020202020204" pitchFamily="34" charset="0"/>
              </a:rPr>
              <a:t>;</a:t>
            </a:r>
          </a:p>
          <a:p>
            <a:r>
              <a:rPr lang="en-VN">
                <a:latin typeface="Aptos" panose="020B0004020202020204" pitchFamily="34" charset="0"/>
              </a:rPr>
              <a:t>#include ”Nian.cpp”</a:t>
            </a:r>
          </a:p>
          <a:p>
            <a:r>
              <a:rPr lang="en-VN">
                <a:latin typeface="Aptos" panose="020B0004020202020204" pitchFamily="34" charset="0"/>
              </a:rPr>
              <a:t>#include “Boss.cpp”</a:t>
            </a:r>
          </a:p>
          <a:p>
            <a:r>
              <a:rPr lang="en-US">
                <a:latin typeface="Aptos" panose="020B0004020202020204" pitchFamily="34" charset="0"/>
              </a:rPr>
              <a:t>int main() { … }</a:t>
            </a:r>
            <a:endParaRPr lang="en-VN"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26D407-623E-BC93-AF21-5FD10A29697B}"/>
              </a:ext>
            </a:extLst>
          </p:cNvPr>
          <p:cNvSpPr/>
          <p:nvPr/>
        </p:nvSpPr>
        <p:spPr>
          <a:xfrm>
            <a:off x="867250" y="3622929"/>
            <a:ext cx="2842951" cy="18885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4A1A4C-88BA-C29A-F84A-787393B06DBB}"/>
              </a:ext>
            </a:extLst>
          </p:cNvPr>
          <p:cNvSpPr/>
          <p:nvPr/>
        </p:nvSpPr>
        <p:spPr>
          <a:xfrm>
            <a:off x="6386835" y="5987692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571638-F4AA-08F0-7E79-8F38BDA7BA62}"/>
              </a:ext>
            </a:extLst>
          </p:cNvPr>
          <p:cNvSpPr txBox="1"/>
          <p:nvPr/>
        </p:nvSpPr>
        <p:spPr>
          <a:xfrm>
            <a:off x="6320575" y="4776626"/>
            <a:ext cx="3061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Aptos" panose="020B0004020202020204" pitchFamily="34" charset="0"/>
              </a:rPr>
              <a:t>#include “SoulKnight.h”</a:t>
            </a:r>
            <a:r>
              <a:rPr lang="en-VN">
                <a:latin typeface="Aptos" panose="020B0004020202020204" pitchFamily="34" charset="0"/>
              </a:rPr>
              <a:t>;</a:t>
            </a:r>
          </a:p>
          <a:p>
            <a:r>
              <a:rPr lang="en-VN">
                <a:latin typeface="Aptos" panose="020B0004020202020204" pitchFamily="34" charset="0"/>
              </a:rPr>
              <a:t>#include ”Nian.h”</a:t>
            </a:r>
          </a:p>
          <a:p>
            <a:r>
              <a:rPr lang="en-VN">
                <a:latin typeface="Aptos" panose="020B0004020202020204" pitchFamily="34" charset="0"/>
              </a:rPr>
              <a:t>#include “Boss.h”</a:t>
            </a:r>
          </a:p>
          <a:p>
            <a:r>
              <a:rPr lang="en-US">
                <a:latin typeface="Aptos" panose="020B0004020202020204" pitchFamily="34" charset="0"/>
              </a:rPr>
              <a:t>int main() { … }</a:t>
            </a:r>
            <a:endParaRPr lang="en-VN">
              <a:latin typeface="Aptos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96DE8C-C170-4E93-E499-625707E9DC4D}"/>
              </a:ext>
            </a:extLst>
          </p:cNvPr>
          <p:cNvSpPr/>
          <p:nvPr/>
        </p:nvSpPr>
        <p:spPr>
          <a:xfrm>
            <a:off x="6329212" y="4749213"/>
            <a:ext cx="2589502" cy="19124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79148AF-9CF2-C779-EBFD-606F20A5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008" y="1628146"/>
            <a:ext cx="2185720" cy="27014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VN" sz="1800" b="1"/>
              <a:t>class</a:t>
            </a:r>
            <a:r>
              <a:rPr lang="en-VN" sz="1800"/>
              <a:t> </a:t>
            </a:r>
            <a:r>
              <a:rPr lang="en-VN" sz="1800" b="1">
                <a:solidFill>
                  <a:srgbClr val="00B0F0"/>
                </a:solidFill>
              </a:rPr>
              <a:t>SoulKnight</a:t>
            </a:r>
            <a:r>
              <a:rPr lang="en-VN" sz="1800"/>
              <a:t> {</a:t>
            </a:r>
          </a:p>
          <a:p>
            <a:pPr marL="0" indent="0">
              <a:buNone/>
            </a:pPr>
            <a:r>
              <a:rPr lang="en-VN" sz="1800"/>
              <a:t>   </a:t>
            </a:r>
            <a:r>
              <a:rPr lang="en-VN" sz="1800" b="1"/>
              <a:t>private</a:t>
            </a:r>
            <a:r>
              <a:rPr lang="en-VN" sz="1800"/>
              <a:t>:</a:t>
            </a:r>
          </a:p>
          <a:p>
            <a:pPr marL="0" indent="0">
              <a:buNone/>
            </a:pPr>
            <a:r>
              <a:rPr lang="en-VN" sz="1800"/>
              <a:t>      </a:t>
            </a:r>
            <a:r>
              <a:rPr lang="en-VN" sz="1800" b="1"/>
              <a:t>int</a:t>
            </a:r>
            <a:r>
              <a:rPr lang="en-VN" sz="1800"/>
              <a:t> HP; </a:t>
            </a:r>
            <a:r>
              <a:rPr lang="en-VN" sz="1800" b="1"/>
              <a:t>float</a:t>
            </a:r>
            <a:r>
              <a:rPr lang="en-VN" sz="1800"/>
              <a:t> ATK;</a:t>
            </a:r>
          </a:p>
          <a:p>
            <a:pPr marL="0" indent="0">
              <a:buNone/>
            </a:pPr>
            <a:r>
              <a:rPr lang="en-VN" sz="1800"/>
              <a:t>   </a:t>
            </a:r>
            <a:r>
              <a:rPr lang="en-VN" sz="1800" b="1"/>
              <a:t>public</a:t>
            </a:r>
            <a:r>
              <a:rPr lang="en-VN" sz="1800"/>
              <a:t>:</a:t>
            </a:r>
          </a:p>
          <a:p>
            <a:pPr marL="0" indent="0">
              <a:buNone/>
            </a:pPr>
            <a:r>
              <a:rPr lang="en-VN" sz="1800"/>
              <a:t>      </a:t>
            </a:r>
            <a:r>
              <a:rPr lang="en-VN" sz="1800" b="1"/>
              <a:t>void</a:t>
            </a:r>
            <a:r>
              <a:rPr lang="en-VN" sz="1800"/>
              <a:t> attack();</a:t>
            </a:r>
          </a:p>
          <a:p>
            <a:pPr marL="0" indent="0">
              <a:buNone/>
            </a:pPr>
            <a:r>
              <a:rPr lang="en-VN" sz="1800"/>
              <a:t>      </a:t>
            </a:r>
            <a:r>
              <a:rPr lang="en-VN" sz="1800" b="1"/>
              <a:t>void</a:t>
            </a:r>
            <a:r>
              <a:rPr lang="en-VN" sz="1800"/>
              <a:t> dash();</a:t>
            </a:r>
          </a:p>
          <a:p>
            <a:pPr marL="0" indent="0">
              <a:buNone/>
            </a:pPr>
            <a:r>
              <a:rPr lang="en-VN" sz="1800"/>
              <a:t>}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C1A441-6F0C-56C9-5673-CA9EEF3CC7A0}"/>
              </a:ext>
            </a:extLst>
          </p:cNvPr>
          <p:cNvSpPr/>
          <p:nvPr/>
        </p:nvSpPr>
        <p:spPr>
          <a:xfrm>
            <a:off x="6310893" y="1615758"/>
            <a:ext cx="2197004" cy="3069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7AD773-4A07-B46A-2A79-0532988BDFB0}"/>
              </a:ext>
            </a:extLst>
          </p:cNvPr>
          <p:cNvSpPr/>
          <p:nvPr/>
        </p:nvSpPr>
        <p:spPr>
          <a:xfrm>
            <a:off x="6376238" y="4259710"/>
            <a:ext cx="1825487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E98610-591E-E765-4443-CB4EB2E7C883}"/>
              </a:ext>
            </a:extLst>
          </p:cNvPr>
          <p:cNvSpPr/>
          <p:nvPr/>
        </p:nvSpPr>
        <p:spPr>
          <a:xfrm>
            <a:off x="8612034" y="1604423"/>
            <a:ext cx="2741766" cy="3069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1D9D46-1E57-5530-2AF5-C313FC1CACDA}"/>
              </a:ext>
            </a:extLst>
          </p:cNvPr>
          <p:cNvSpPr/>
          <p:nvPr/>
        </p:nvSpPr>
        <p:spPr>
          <a:xfrm>
            <a:off x="8677380" y="4248375"/>
            <a:ext cx="1825487" cy="341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6FE0D458-2F31-032A-54C5-35A5AE865BC3}"/>
              </a:ext>
            </a:extLst>
          </p:cNvPr>
          <p:cNvSpPr txBox="1">
            <a:spLocks/>
          </p:cNvSpPr>
          <p:nvPr/>
        </p:nvSpPr>
        <p:spPr>
          <a:xfrm>
            <a:off x="8635150" y="1645349"/>
            <a:ext cx="2880228" cy="2701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 sz="1800"/>
              <a:t>#include “SoulKnight.h”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v</a:t>
            </a:r>
            <a:r>
              <a:rPr lang="en-VN" sz="1800"/>
              <a:t>oid </a:t>
            </a:r>
            <a:r>
              <a:rPr lang="en-VN" sz="1800" b="1">
                <a:solidFill>
                  <a:schemeClr val="accent4"/>
                </a:solidFill>
              </a:rPr>
              <a:t>SoulKnight</a:t>
            </a:r>
            <a:r>
              <a:rPr lang="en-VN" sz="1800"/>
              <a:t>::attack()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 sz="1800"/>
              <a:t>   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 sz="1800"/>
              <a:t>}</a:t>
            </a:r>
          </a:p>
          <a:p>
            <a:pPr marL="0" indent="0">
              <a:buNone/>
            </a:pPr>
            <a:r>
              <a:rPr lang="en-US" sz="1800"/>
              <a:t>v</a:t>
            </a:r>
            <a:r>
              <a:rPr lang="en-VN" sz="1800"/>
              <a:t>oid </a:t>
            </a:r>
            <a:r>
              <a:rPr lang="en-VN" sz="1800" b="1">
                <a:solidFill>
                  <a:schemeClr val="accent4"/>
                </a:solidFill>
              </a:rPr>
              <a:t>SoulKnight</a:t>
            </a:r>
            <a:r>
              <a:rPr lang="en-VN" sz="1800"/>
              <a:t>::dash() { </a:t>
            </a:r>
          </a:p>
          <a:p>
            <a:pPr marL="0" indent="0">
              <a:buNone/>
            </a:pPr>
            <a:r>
              <a:rPr lang="en-VN" sz="1800"/>
              <a:t>   …</a:t>
            </a:r>
          </a:p>
          <a:p>
            <a:pPr marL="0" indent="0">
              <a:buNone/>
            </a:pPr>
            <a:r>
              <a:rPr lang="en-VN" sz="1800"/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2A8697-1A30-3588-8571-1DBD77F4946C}"/>
              </a:ext>
            </a:extLst>
          </p:cNvPr>
          <p:cNvSpPr txBox="1"/>
          <p:nvPr/>
        </p:nvSpPr>
        <p:spPr>
          <a:xfrm>
            <a:off x="838200" y="5819982"/>
            <a:ext cx="5139241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FF0000"/>
                </a:solidFill>
              </a:rPr>
              <a:t>Q</a:t>
            </a:r>
            <a:r>
              <a:rPr lang="en-VN" sz="2400">
                <a:solidFill>
                  <a:srgbClr val="FF0000"/>
                </a:solidFill>
              </a:rPr>
              <a:t>: Why we need to use .h (Header)?</a:t>
            </a:r>
          </a:p>
          <a:p>
            <a:r>
              <a:rPr lang="en-VN" sz="2400" b="1">
                <a:solidFill>
                  <a:srgbClr val="FF0000"/>
                </a:solidFill>
              </a:rPr>
              <a:t>NtK</a:t>
            </a:r>
            <a:r>
              <a:rPr lang="en-VN" sz="2400">
                <a:solidFill>
                  <a:srgbClr val="FF0000"/>
                </a:solidFill>
              </a:rPr>
              <a:t>: In C++ 20, </a:t>
            </a:r>
            <a:r>
              <a:rPr lang="en-VN" sz="2400" b="1">
                <a:solidFill>
                  <a:srgbClr val="FF0000"/>
                </a:solidFill>
              </a:rPr>
              <a:t>modules</a:t>
            </a:r>
            <a:r>
              <a:rPr lang="en-VN" sz="2400">
                <a:solidFill>
                  <a:srgbClr val="FF0000"/>
                </a:solidFill>
              </a:rPr>
              <a:t> is preferred</a:t>
            </a:r>
          </a:p>
        </p:txBody>
      </p:sp>
    </p:spTree>
    <p:extLst>
      <p:ext uri="{BB962C8B-B14F-4D97-AF65-F5344CB8AC3E}">
        <p14:creationId xmlns:p14="http://schemas.microsoft.com/office/powerpoint/2010/main" val="289958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7F3E-63A6-03DA-5034-725A98B9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single/multiple class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5010-851E-E636-5C1E-1060CF9F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Windows: Visual Studio (C++) </a:t>
            </a:r>
            <a:r>
              <a:rPr lang="en-VN">
                <a:sym typeface="Wingdings" pitchFamily="2" charset="2"/>
              </a:rPr>
              <a:t> </a:t>
            </a:r>
            <a:endParaRPr lang="en-VN"/>
          </a:p>
          <a:p>
            <a:pPr marL="0" indent="0">
              <a:buNone/>
            </a:pPr>
            <a:r>
              <a:rPr lang="en-VN"/>
              <a:t>MacOS / Linux: VSCode with clang++ &amp; CMake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7104F-893C-183E-5F3B-7B25FF88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0607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3BAD-1795-6409-6622-46B04509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encapsulation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24298-BC25-FDE2-C77E-F26C5DA8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17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378DDE-62CF-5268-BEB4-EB6DD2FB5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811" y="1467816"/>
            <a:ext cx="2837037" cy="274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2400" b="1"/>
              <a:t>class</a:t>
            </a:r>
            <a:r>
              <a:rPr lang="en-VN" sz="2400"/>
              <a:t> </a:t>
            </a:r>
            <a:r>
              <a:rPr lang="en-VN" sz="2400" b="1">
                <a:solidFill>
                  <a:srgbClr val="00B0F0"/>
                </a:solidFill>
              </a:rPr>
              <a:t>SoulKnight</a:t>
            </a:r>
            <a:r>
              <a:rPr lang="en-VN" sz="2400"/>
              <a:t> {</a:t>
            </a:r>
          </a:p>
          <a:p>
            <a:pPr marL="0" indent="0">
              <a:buNone/>
            </a:pPr>
            <a:r>
              <a:rPr lang="en-VN" sz="2400"/>
              <a:t>   </a:t>
            </a:r>
            <a:r>
              <a:rPr lang="en-VN" sz="2400" b="1"/>
              <a:t>public</a:t>
            </a:r>
            <a:r>
              <a:rPr lang="en-VN" sz="2400"/>
              <a:t>:</a:t>
            </a:r>
          </a:p>
          <a:p>
            <a:pPr marL="0" indent="0">
              <a:buNone/>
            </a:pPr>
            <a:r>
              <a:rPr lang="en-VN" sz="2400"/>
              <a:t>      </a:t>
            </a:r>
            <a:r>
              <a:rPr lang="en-VN" sz="2400" b="1"/>
              <a:t>int</a:t>
            </a:r>
            <a:r>
              <a:rPr lang="en-VN" sz="2400"/>
              <a:t> HP;</a:t>
            </a:r>
          </a:p>
          <a:p>
            <a:pPr marL="0" indent="0">
              <a:buNone/>
            </a:pPr>
            <a:r>
              <a:rPr lang="en-VN" sz="2400"/>
              <a:t>      </a:t>
            </a:r>
            <a:r>
              <a:rPr lang="en-VN" sz="2400" b="1"/>
              <a:t>float</a:t>
            </a:r>
            <a:r>
              <a:rPr lang="en-VN" sz="2400"/>
              <a:t> ATK;</a:t>
            </a:r>
          </a:p>
          <a:p>
            <a:pPr marL="0" indent="0">
              <a:buNone/>
            </a:pPr>
            <a:r>
              <a:rPr lang="en-VN" sz="2400"/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CA00B-A861-A699-235A-2FA2AD83DFCE}"/>
              </a:ext>
            </a:extLst>
          </p:cNvPr>
          <p:cNvSpPr txBox="1"/>
          <p:nvPr/>
        </p:nvSpPr>
        <p:spPr>
          <a:xfrm>
            <a:off x="3946370" y="1467816"/>
            <a:ext cx="46277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>
                <a:latin typeface="Aptos" panose="020B0004020202020204" pitchFamily="34" charset="0"/>
              </a:rPr>
              <a:t>#include “SoulKnight.cpp”</a:t>
            </a:r>
            <a:r>
              <a:rPr lang="en-VN" sz="2400">
                <a:latin typeface="Aptos" panose="020B0004020202020204" pitchFamily="34" charset="0"/>
              </a:rPr>
              <a:t>;</a:t>
            </a:r>
          </a:p>
          <a:p>
            <a:r>
              <a:rPr lang="en-VN" sz="2400">
                <a:latin typeface="Aptos" panose="020B0004020202020204" pitchFamily="34" charset="0"/>
              </a:rPr>
              <a:t>class CheatEngine {</a:t>
            </a:r>
          </a:p>
          <a:p>
            <a:r>
              <a:rPr lang="en-VN" sz="2400">
                <a:latin typeface="Aptos" panose="020B0004020202020204" pitchFamily="34" charset="0"/>
              </a:rPr>
              <a:t>   void cheat(SoulKnight &amp;knight) {</a:t>
            </a:r>
          </a:p>
          <a:p>
            <a:r>
              <a:rPr lang="en-VN" sz="2400">
                <a:latin typeface="Aptos" panose="020B0004020202020204" pitchFamily="34" charset="0"/>
              </a:rPr>
              <a:t>      knight.HP = 100000;   </a:t>
            </a:r>
          </a:p>
          <a:p>
            <a:r>
              <a:rPr lang="en-VN" sz="2400">
                <a:latin typeface="Aptos" panose="020B0004020202020204" pitchFamily="34" charset="0"/>
              </a:rPr>
              <a:t>   }</a:t>
            </a:r>
          </a:p>
          <a:p>
            <a:r>
              <a:rPr lang="en-VN" sz="2400">
                <a:latin typeface="Aptos" panose="020B0004020202020204" pitchFamily="34" charset="0"/>
              </a:rPr>
              <a:t>};</a:t>
            </a:r>
          </a:p>
          <a:p>
            <a:r>
              <a:rPr lang="en-US" sz="2400">
                <a:latin typeface="Aptos" panose="020B0004020202020204" pitchFamily="34" charset="0"/>
              </a:rPr>
              <a:t>int main() {</a:t>
            </a:r>
          </a:p>
          <a:p>
            <a:r>
              <a:rPr lang="en-US" sz="2400">
                <a:latin typeface="Aptos" panose="020B0004020202020204" pitchFamily="34" charset="0"/>
              </a:rPr>
              <a:t>   SoulKnight knight;</a:t>
            </a:r>
          </a:p>
          <a:p>
            <a:r>
              <a:rPr lang="en-US" sz="2400">
                <a:latin typeface="Aptos" panose="020B0004020202020204" pitchFamily="34" charset="0"/>
              </a:rPr>
              <a:t>   …</a:t>
            </a:r>
          </a:p>
          <a:p>
            <a:r>
              <a:rPr lang="en-US" sz="2400">
                <a:latin typeface="Aptos" panose="020B0004020202020204" pitchFamily="34" charset="0"/>
              </a:rPr>
              <a:t>   CheatEngine engine;</a:t>
            </a:r>
          </a:p>
          <a:p>
            <a:r>
              <a:rPr lang="en-US" sz="2400">
                <a:latin typeface="Aptos" panose="020B0004020202020204" pitchFamily="34" charset="0"/>
              </a:rPr>
              <a:t>   engine.cheat(knight);</a:t>
            </a:r>
          </a:p>
          <a:p>
            <a:r>
              <a:rPr lang="en-US" sz="2400">
                <a:latin typeface="Aptos" panose="020B0004020202020204" pitchFamily="34" charset="0"/>
              </a:rPr>
              <a:t>}</a:t>
            </a:r>
            <a:endParaRPr lang="en-VN" sz="240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7E615-147A-F710-7CB6-D63C7231A077}"/>
              </a:ext>
            </a:extLst>
          </p:cNvPr>
          <p:cNvSpPr/>
          <p:nvPr/>
        </p:nvSpPr>
        <p:spPr>
          <a:xfrm>
            <a:off x="4003994" y="6018164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A2DBA9-0BFE-0001-3258-ED106AE2514B}"/>
              </a:ext>
            </a:extLst>
          </p:cNvPr>
          <p:cNvSpPr/>
          <p:nvPr/>
        </p:nvSpPr>
        <p:spPr>
          <a:xfrm>
            <a:off x="3946370" y="1467816"/>
            <a:ext cx="4495264" cy="52536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454422-755A-D434-79D5-8B2585980211}"/>
              </a:ext>
            </a:extLst>
          </p:cNvPr>
          <p:cNvSpPr/>
          <p:nvPr/>
        </p:nvSpPr>
        <p:spPr>
          <a:xfrm>
            <a:off x="1072486" y="6018164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0C53F-FF9D-809D-D2AC-7A5EF6BBE184}"/>
              </a:ext>
            </a:extLst>
          </p:cNvPr>
          <p:cNvSpPr/>
          <p:nvPr/>
        </p:nvSpPr>
        <p:spPr>
          <a:xfrm>
            <a:off x="976810" y="1467816"/>
            <a:ext cx="2837037" cy="52536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4FD534-A319-EB3A-D93D-121B607E7634}"/>
              </a:ext>
            </a:extLst>
          </p:cNvPr>
          <p:cNvSpPr/>
          <p:nvPr/>
        </p:nvSpPr>
        <p:spPr>
          <a:xfrm>
            <a:off x="4374872" y="2610170"/>
            <a:ext cx="2807806" cy="38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F887E-90DB-A691-FEFE-55E0596AE9CF}"/>
              </a:ext>
            </a:extLst>
          </p:cNvPr>
          <p:cNvSpPr txBox="1"/>
          <p:nvPr/>
        </p:nvSpPr>
        <p:spPr>
          <a:xfrm>
            <a:off x="8706678" y="2387081"/>
            <a:ext cx="3046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O</a:t>
            </a:r>
            <a:r>
              <a:rPr lang="en-VN" sz="2400">
                <a:solidFill>
                  <a:srgbClr val="FF0000"/>
                </a:solidFill>
              </a:rPr>
              <a:t>bject’s values are easily changed</a:t>
            </a:r>
            <a:endParaRPr lang="en-VN" sz="2400" b="1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6C2BAC-7868-AEFC-F079-9A6F2FB2D300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7182678" y="2802580"/>
            <a:ext cx="152400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BA1A57-DCF2-DB88-C069-809EC76F54D9}"/>
              </a:ext>
            </a:extLst>
          </p:cNvPr>
          <p:cNvSpPr txBox="1"/>
          <p:nvPr/>
        </p:nvSpPr>
        <p:spPr>
          <a:xfrm>
            <a:off x="8706678" y="4951377"/>
            <a:ext cx="3046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Another object affect to </a:t>
            </a:r>
            <a:r>
              <a:rPr lang="en-VN" sz="2400" b="1">
                <a:solidFill>
                  <a:srgbClr val="FF0000"/>
                </a:solidFill>
              </a:rPr>
              <a:t>knight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B95313-C964-0BC0-86FF-BBF1835F2117}"/>
              </a:ext>
            </a:extLst>
          </p:cNvPr>
          <p:cNvSpPr/>
          <p:nvPr/>
        </p:nvSpPr>
        <p:spPr>
          <a:xfrm>
            <a:off x="4176088" y="5171269"/>
            <a:ext cx="3006590" cy="38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EAAC2A-D630-5846-DECA-E3362D4B289C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 flipV="1">
            <a:off x="7182678" y="5363680"/>
            <a:ext cx="1524000" cy="31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009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75DD-799D-5871-68C5-98BFDB40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46AE-1096-F33B-FB92-715654B6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encapsulation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755B0-07FE-5C51-3A24-2866AD4B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18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9B7A85-7667-0E7E-2292-6D77814F8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811" y="1467815"/>
            <a:ext cx="4854683" cy="5025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2400" b="1"/>
              <a:t>class</a:t>
            </a:r>
            <a:r>
              <a:rPr lang="en-VN" sz="2400"/>
              <a:t> </a:t>
            </a:r>
            <a:r>
              <a:rPr lang="en-VN" sz="2400" b="1">
                <a:solidFill>
                  <a:srgbClr val="00B0F0"/>
                </a:solidFill>
              </a:rPr>
              <a:t>SoulKnight</a:t>
            </a:r>
            <a:r>
              <a:rPr lang="en-VN" sz="2400"/>
              <a:t> {</a:t>
            </a:r>
          </a:p>
          <a:p>
            <a:pPr marL="0" indent="0">
              <a:buNone/>
            </a:pPr>
            <a:r>
              <a:rPr lang="en-VN" sz="2400"/>
              <a:t>   </a:t>
            </a:r>
            <a:r>
              <a:rPr lang="en-VN" sz="2400" b="1"/>
              <a:t>private</a:t>
            </a:r>
            <a:r>
              <a:rPr lang="en-VN" sz="2400"/>
              <a:t>:</a:t>
            </a:r>
          </a:p>
          <a:p>
            <a:pPr marL="0" indent="0">
              <a:buNone/>
            </a:pPr>
            <a:r>
              <a:rPr lang="en-VN" sz="2400"/>
              <a:t>      </a:t>
            </a:r>
            <a:r>
              <a:rPr lang="en-VN" sz="2400" b="1"/>
              <a:t>int</a:t>
            </a:r>
            <a:r>
              <a:rPr lang="en-VN" sz="2400"/>
              <a:t> HP; </a:t>
            </a:r>
            <a:r>
              <a:rPr lang="en-VN" sz="2400" b="1"/>
              <a:t>float</a:t>
            </a:r>
            <a:r>
              <a:rPr lang="en-VN" sz="2400"/>
              <a:t> ATK;</a:t>
            </a:r>
          </a:p>
          <a:p>
            <a:pPr marL="0" indent="0">
              <a:buNone/>
            </a:pPr>
            <a:r>
              <a:rPr lang="en-VN" sz="2400"/>
              <a:t>   </a:t>
            </a:r>
            <a:r>
              <a:rPr lang="en-VN" sz="2400" b="1"/>
              <a:t>public</a:t>
            </a:r>
            <a:r>
              <a:rPr lang="en-VN" sz="2400"/>
              <a:t>:</a:t>
            </a:r>
          </a:p>
          <a:p>
            <a:pPr marL="0" indent="0">
              <a:buNone/>
            </a:pPr>
            <a:r>
              <a:rPr lang="en-VN" sz="2400"/>
              <a:t>      </a:t>
            </a:r>
            <a:r>
              <a:rPr lang="en-VN" sz="2400" b="1"/>
              <a:t>void</a:t>
            </a:r>
            <a:r>
              <a:rPr lang="en-VN" sz="2400"/>
              <a:t> setHP(Key k, </a:t>
            </a:r>
            <a:r>
              <a:rPr lang="en-VN" sz="2400" b="1"/>
              <a:t>int</a:t>
            </a:r>
            <a:r>
              <a:rPr lang="en-VN" sz="2400"/>
              <a:t> newHP) {</a:t>
            </a:r>
          </a:p>
          <a:p>
            <a:pPr marL="0" indent="0">
              <a:buNone/>
            </a:pPr>
            <a:r>
              <a:rPr lang="en-VN" sz="2400"/>
              <a:t>         </a:t>
            </a:r>
            <a:r>
              <a:rPr lang="en-VN" sz="2400" b="1"/>
              <a:t>if</a:t>
            </a:r>
            <a:r>
              <a:rPr lang="en-VN" sz="2400"/>
              <a:t> k is not ok:</a:t>
            </a:r>
          </a:p>
          <a:p>
            <a:pPr marL="0" indent="0">
              <a:buNone/>
            </a:pPr>
            <a:r>
              <a:rPr lang="en-VN" sz="2400"/>
              <a:t>            </a:t>
            </a:r>
            <a:r>
              <a:rPr lang="en-VN" sz="2400" b="1"/>
              <a:t>return</a:t>
            </a:r>
            <a:r>
              <a:rPr lang="en-VN" sz="2400"/>
              <a:t>;</a:t>
            </a:r>
          </a:p>
          <a:p>
            <a:pPr marL="0" indent="0">
              <a:buNone/>
            </a:pPr>
            <a:r>
              <a:rPr lang="en-VN" sz="2400"/>
              <a:t>         </a:t>
            </a:r>
            <a:r>
              <a:rPr lang="en-VN" sz="2400" b="1"/>
              <a:t>else</a:t>
            </a:r>
            <a:r>
              <a:rPr lang="en-VN" sz="2400"/>
              <a:t>: HP = newHP;</a:t>
            </a:r>
          </a:p>
          <a:p>
            <a:pPr marL="0" indent="0">
              <a:buNone/>
            </a:pPr>
            <a:r>
              <a:rPr lang="en-VN" sz="2400"/>
              <a:t>      }</a:t>
            </a:r>
          </a:p>
          <a:p>
            <a:pPr marL="0" indent="0">
              <a:buNone/>
            </a:pPr>
            <a:r>
              <a:rPr lang="en-VN" sz="240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08439-4A6E-68E3-5466-0E7EABEC9162}"/>
              </a:ext>
            </a:extLst>
          </p:cNvPr>
          <p:cNvSpPr txBox="1"/>
          <p:nvPr/>
        </p:nvSpPr>
        <p:spPr>
          <a:xfrm>
            <a:off x="5708911" y="1056998"/>
            <a:ext cx="46277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>
                <a:latin typeface="Aptos" panose="020B0004020202020204" pitchFamily="34" charset="0"/>
              </a:rPr>
              <a:t>#include “SoulKnight.cpp”</a:t>
            </a:r>
            <a:r>
              <a:rPr lang="en-VN" sz="2400">
                <a:latin typeface="Aptos" panose="020B0004020202020204" pitchFamily="34" charset="0"/>
              </a:rPr>
              <a:t>;</a:t>
            </a:r>
          </a:p>
          <a:p>
            <a:r>
              <a:rPr lang="en-VN" sz="2400">
                <a:latin typeface="Aptos" panose="020B0004020202020204" pitchFamily="34" charset="0"/>
              </a:rPr>
              <a:t>class CheatEngine {</a:t>
            </a:r>
          </a:p>
          <a:p>
            <a:r>
              <a:rPr lang="en-VN" sz="2400">
                <a:latin typeface="Aptos" panose="020B0004020202020204" pitchFamily="34" charset="0"/>
              </a:rPr>
              <a:t>   void cheat(SoulKnight &amp;knight) {</a:t>
            </a:r>
          </a:p>
          <a:p>
            <a:r>
              <a:rPr lang="en-VN" sz="2400">
                <a:latin typeface="Aptos" panose="020B0004020202020204" pitchFamily="34" charset="0"/>
              </a:rPr>
              <a:t>      </a:t>
            </a:r>
            <a:r>
              <a:rPr lang="en-VN" sz="2400" strike="sngStrike">
                <a:latin typeface="Aptos" panose="020B0004020202020204" pitchFamily="34" charset="0"/>
              </a:rPr>
              <a:t>knight.HP = 100000</a:t>
            </a:r>
            <a:r>
              <a:rPr lang="en-VN" sz="2400">
                <a:latin typeface="Aptos" panose="020B0004020202020204" pitchFamily="34" charset="0"/>
              </a:rPr>
              <a:t>;</a:t>
            </a:r>
          </a:p>
          <a:p>
            <a:r>
              <a:rPr lang="en-VN" sz="2400">
                <a:latin typeface="Aptos" panose="020B0004020202020204" pitchFamily="34" charset="0"/>
              </a:rPr>
              <a:t>      knight.setHP(k?, 100000);</a:t>
            </a:r>
          </a:p>
          <a:p>
            <a:r>
              <a:rPr lang="en-VN" sz="2400">
                <a:latin typeface="Aptos" panose="020B0004020202020204" pitchFamily="34" charset="0"/>
              </a:rPr>
              <a:t>   }</a:t>
            </a:r>
          </a:p>
          <a:p>
            <a:r>
              <a:rPr lang="en-VN" sz="2400">
                <a:latin typeface="Aptos" panose="020B0004020202020204" pitchFamily="34" charset="0"/>
              </a:rPr>
              <a:t>};</a:t>
            </a:r>
          </a:p>
          <a:p>
            <a:r>
              <a:rPr lang="en-US" sz="2400">
                <a:latin typeface="Aptos" panose="020B0004020202020204" pitchFamily="34" charset="0"/>
              </a:rPr>
              <a:t>int main() {</a:t>
            </a:r>
          </a:p>
          <a:p>
            <a:r>
              <a:rPr lang="en-US" sz="2400">
                <a:latin typeface="Aptos" panose="020B0004020202020204" pitchFamily="34" charset="0"/>
              </a:rPr>
              <a:t>   SoulKnight knight;</a:t>
            </a:r>
          </a:p>
          <a:p>
            <a:r>
              <a:rPr lang="en-US" sz="2400">
                <a:latin typeface="Aptos" panose="020B0004020202020204" pitchFamily="34" charset="0"/>
              </a:rPr>
              <a:t>   …</a:t>
            </a:r>
          </a:p>
          <a:p>
            <a:r>
              <a:rPr lang="en-US" sz="2400">
                <a:latin typeface="Aptos" panose="020B0004020202020204" pitchFamily="34" charset="0"/>
              </a:rPr>
              <a:t>   CheatEngine engine;</a:t>
            </a:r>
          </a:p>
          <a:p>
            <a:r>
              <a:rPr lang="en-US" sz="2400">
                <a:latin typeface="Aptos" panose="020B0004020202020204" pitchFamily="34" charset="0"/>
              </a:rPr>
              <a:t>   engine.cheat(knight);</a:t>
            </a:r>
          </a:p>
          <a:p>
            <a:r>
              <a:rPr lang="en-US" sz="2400">
                <a:latin typeface="Aptos" panose="020B0004020202020204" pitchFamily="34" charset="0"/>
              </a:rPr>
              <a:t>}</a:t>
            </a:r>
            <a:endParaRPr lang="en-VN" sz="240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D26DCA-9C4B-78F0-5E38-1509B06D6F43}"/>
              </a:ext>
            </a:extLst>
          </p:cNvPr>
          <p:cNvSpPr/>
          <p:nvPr/>
        </p:nvSpPr>
        <p:spPr>
          <a:xfrm>
            <a:off x="5766535" y="6018164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5416F-190D-3195-A0BE-398A120C52A0}"/>
              </a:ext>
            </a:extLst>
          </p:cNvPr>
          <p:cNvSpPr/>
          <p:nvPr/>
        </p:nvSpPr>
        <p:spPr>
          <a:xfrm>
            <a:off x="5708911" y="1056998"/>
            <a:ext cx="4495264" cy="56644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8BF8B3-6FB8-AF73-37C2-AD7F902891C7}"/>
              </a:ext>
            </a:extLst>
          </p:cNvPr>
          <p:cNvSpPr/>
          <p:nvPr/>
        </p:nvSpPr>
        <p:spPr>
          <a:xfrm>
            <a:off x="1072486" y="6241774"/>
            <a:ext cx="1825487" cy="3859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381E04-FB3C-9FE0-2632-0468253E8BA9}"/>
              </a:ext>
            </a:extLst>
          </p:cNvPr>
          <p:cNvSpPr/>
          <p:nvPr/>
        </p:nvSpPr>
        <p:spPr>
          <a:xfrm>
            <a:off x="976810" y="1467816"/>
            <a:ext cx="4602355" cy="52536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E39E4-CD0D-7CEB-7B59-A8BD669B418C}"/>
              </a:ext>
            </a:extLst>
          </p:cNvPr>
          <p:cNvSpPr/>
          <p:nvPr/>
        </p:nvSpPr>
        <p:spPr>
          <a:xfrm>
            <a:off x="6137413" y="2186101"/>
            <a:ext cx="2807806" cy="38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44CBDF-E37E-721E-0155-C4A5BC8597EF}"/>
              </a:ext>
            </a:extLst>
          </p:cNvPr>
          <p:cNvSpPr txBox="1"/>
          <p:nvPr/>
        </p:nvSpPr>
        <p:spPr>
          <a:xfrm>
            <a:off x="10317356" y="2147678"/>
            <a:ext cx="97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Error</a:t>
            </a:r>
            <a:endParaRPr lang="en-VN" sz="2400" b="1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64B6FA-20EB-A330-4E79-6E2A898101E1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8945219" y="2378511"/>
            <a:ext cx="137213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BE20842-54F1-EDDF-100A-0D5FCE6BF855}"/>
              </a:ext>
            </a:extLst>
          </p:cNvPr>
          <p:cNvSpPr/>
          <p:nvPr/>
        </p:nvSpPr>
        <p:spPr>
          <a:xfrm>
            <a:off x="6137413" y="2609342"/>
            <a:ext cx="3510170" cy="38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A5B4C3-F1C9-E3D1-D03C-45F1BFD7C74A}"/>
              </a:ext>
            </a:extLst>
          </p:cNvPr>
          <p:cNvSpPr txBox="1"/>
          <p:nvPr/>
        </p:nvSpPr>
        <p:spPr>
          <a:xfrm>
            <a:off x="10336697" y="2570919"/>
            <a:ext cx="1285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Call</a:t>
            </a:r>
          </a:p>
          <a:p>
            <a:r>
              <a:rPr lang="en-VN" sz="2400">
                <a:solidFill>
                  <a:srgbClr val="FF0000"/>
                </a:solidFill>
              </a:rPr>
              <a:t>method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E37E732E-C3FC-32D3-168E-9D0B07C86897}"/>
              </a:ext>
            </a:extLst>
          </p:cNvPr>
          <p:cNvCxnSpPr>
            <a:stCxn id="19" idx="1"/>
            <a:endCxn id="15" idx="3"/>
          </p:cNvCxnSpPr>
          <p:nvPr/>
        </p:nvCxnSpPr>
        <p:spPr>
          <a:xfrm rot="10800000">
            <a:off x="9647583" y="2801754"/>
            <a:ext cx="689114" cy="18466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7B23542-3EC9-7E9C-49AA-EE1344894D53}"/>
              </a:ext>
            </a:extLst>
          </p:cNvPr>
          <p:cNvSpPr txBox="1"/>
          <p:nvPr/>
        </p:nvSpPr>
        <p:spPr>
          <a:xfrm>
            <a:off x="10283690" y="3700342"/>
            <a:ext cx="140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Do not have key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C38DD6-C6B5-CF85-5259-97AF8F821CE7}"/>
              </a:ext>
            </a:extLst>
          </p:cNvPr>
          <p:cNvCxnSpPr>
            <a:cxnSpLocks/>
            <a:stCxn id="26" idx="0"/>
            <a:endCxn id="19" idx="2"/>
          </p:cNvCxnSpPr>
          <p:nvPr/>
        </p:nvCxnSpPr>
        <p:spPr>
          <a:xfrm flipH="1" flipV="1">
            <a:off x="10979427" y="3401916"/>
            <a:ext cx="6628" cy="298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DB6C113-7FBE-BA2F-A0E7-B96EBB86F6E8}"/>
              </a:ext>
            </a:extLst>
          </p:cNvPr>
          <p:cNvSpPr txBox="1"/>
          <p:nvPr/>
        </p:nvSpPr>
        <p:spPr>
          <a:xfrm>
            <a:off x="10290852" y="4864636"/>
            <a:ext cx="14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Denied!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6A8FB-E9F2-0B99-3536-D6A1F9C717DF}"/>
              </a:ext>
            </a:extLst>
          </p:cNvPr>
          <p:cNvCxnSpPr>
            <a:cxnSpLocks/>
            <a:stCxn id="30" idx="0"/>
            <a:endCxn id="26" idx="2"/>
          </p:cNvCxnSpPr>
          <p:nvPr/>
        </p:nvCxnSpPr>
        <p:spPr>
          <a:xfrm flipH="1" flipV="1">
            <a:off x="10986055" y="4531339"/>
            <a:ext cx="7162" cy="3332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E85BF81-CDE6-0E55-0457-B5CD16A50D2A}"/>
              </a:ext>
            </a:extLst>
          </p:cNvPr>
          <p:cNvSpPr/>
          <p:nvPr/>
        </p:nvSpPr>
        <p:spPr>
          <a:xfrm>
            <a:off x="1311940" y="3269939"/>
            <a:ext cx="4157312" cy="2242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CB7926-1906-F081-0455-9D46241B5FF2}"/>
              </a:ext>
            </a:extLst>
          </p:cNvPr>
          <p:cNvSpPr txBox="1"/>
          <p:nvPr/>
        </p:nvSpPr>
        <p:spPr>
          <a:xfrm>
            <a:off x="4573074" y="5488980"/>
            <a:ext cx="14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setter</a:t>
            </a:r>
          </a:p>
        </p:txBody>
      </p:sp>
    </p:spTree>
    <p:extLst>
      <p:ext uri="{BB962C8B-B14F-4D97-AF65-F5344CB8AC3E}">
        <p14:creationId xmlns:p14="http://schemas.microsoft.com/office/powerpoint/2010/main" val="2072445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833A-2BBB-3106-B01E-2145BB9F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B4CF-C96F-3384-2939-DC07939A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encapsulation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E49AD-06BC-0F76-72ED-F7230BF3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19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9724C0-8C81-0D43-68F3-92EA4114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811" y="1467815"/>
            <a:ext cx="4854683" cy="5025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2400" b="1"/>
              <a:t>class</a:t>
            </a:r>
            <a:r>
              <a:rPr lang="en-VN" sz="2400"/>
              <a:t> </a:t>
            </a:r>
            <a:r>
              <a:rPr lang="en-VN" sz="2400" b="1">
                <a:solidFill>
                  <a:srgbClr val="00B0F0"/>
                </a:solidFill>
              </a:rPr>
              <a:t>SoulKnight</a:t>
            </a:r>
            <a:r>
              <a:rPr lang="en-VN" sz="2400"/>
              <a:t> {</a:t>
            </a:r>
          </a:p>
          <a:p>
            <a:pPr marL="0" indent="0">
              <a:buNone/>
            </a:pPr>
            <a:r>
              <a:rPr lang="en-VN" sz="2400"/>
              <a:t>   </a:t>
            </a:r>
            <a:r>
              <a:rPr lang="en-VN" sz="2400" b="1"/>
              <a:t>private</a:t>
            </a:r>
            <a:r>
              <a:rPr lang="en-VN" sz="2400"/>
              <a:t>:</a:t>
            </a:r>
          </a:p>
          <a:p>
            <a:pPr marL="0" indent="0">
              <a:buNone/>
            </a:pPr>
            <a:r>
              <a:rPr lang="en-VN" sz="2400"/>
              <a:t>      </a:t>
            </a:r>
            <a:r>
              <a:rPr lang="en-VN" sz="2400" b="1"/>
              <a:t>int</a:t>
            </a:r>
            <a:r>
              <a:rPr lang="en-VN" sz="2400"/>
              <a:t> HP; </a:t>
            </a:r>
            <a:r>
              <a:rPr lang="en-VN" sz="2400" b="1"/>
              <a:t>float</a:t>
            </a:r>
            <a:r>
              <a:rPr lang="en-VN" sz="2400"/>
              <a:t> ATK;</a:t>
            </a:r>
          </a:p>
          <a:p>
            <a:pPr marL="0" indent="0">
              <a:buNone/>
            </a:pPr>
            <a:r>
              <a:rPr lang="en-VN" sz="2400"/>
              <a:t>   </a:t>
            </a:r>
            <a:r>
              <a:rPr lang="en-VN" sz="2400" b="1"/>
              <a:t>public</a:t>
            </a:r>
            <a:r>
              <a:rPr lang="en-VN" sz="2400"/>
              <a:t>:</a:t>
            </a:r>
          </a:p>
          <a:p>
            <a:pPr marL="0" indent="0">
              <a:buNone/>
            </a:pPr>
            <a:r>
              <a:rPr lang="en-VN" sz="2400"/>
              <a:t>      </a:t>
            </a:r>
            <a:r>
              <a:rPr lang="en-VN" sz="2400" b="1"/>
              <a:t>int</a:t>
            </a:r>
            <a:r>
              <a:rPr lang="en-VN" sz="2400"/>
              <a:t> getHP(Key k) {</a:t>
            </a:r>
          </a:p>
          <a:p>
            <a:pPr marL="0" indent="0">
              <a:buNone/>
            </a:pPr>
            <a:r>
              <a:rPr lang="en-VN" sz="2400"/>
              <a:t>         </a:t>
            </a:r>
            <a:r>
              <a:rPr lang="en-VN" sz="2400" b="1"/>
              <a:t>if</a:t>
            </a:r>
            <a:r>
              <a:rPr lang="en-VN" sz="2400"/>
              <a:t> k is not ok:</a:t>
            </a:r>
          </a:p>
          <a:p>
            <a:pPr marL="0" indent="0">
              <a:buNone/>
            </a:pPr>
            <a:r>
              <a:rPr lang="en-VN" sz="2400"/>
              <a:t>            </a:t>
            </a:r>
            <a:r>
              <a:rPr lang="en-VN" sz="2400" b="1"/>
              <a:t>return </a:t>
            </a:r>
            <a:r>
              <a:rPr lang="en-VN" sz="2400"/>
              <a:t>ERROR;</a:t>
            </a:r>
          </a:p>
          <a:p>
            <a:pPr marL="0" indent="0">
              <a:buNone/>
            </a:pPr>
            <a:r>
              <a:rPr lang="en-VN" sz="2400"/>
              <a:t>         </a:t>
            </a:r>
            <a:r>
              <a:rPr lang="en-VN" sz="2400" b="1"/>
              <a:t>else</a:t>
            </a:r>
            <a:r>
              <a:rPr lang="en-VN" sz="2400"/>
              <a:t>: return HP;</a:t>
            </a:r>
          </a:p>
          <a:p>
            <a:pPr marL="0" indent="0">
              <a:buNone/>
            </a:pPr>
            <a:r>
              <a:rPr lang="en-VN" sz="2400"/>
              <a:t>      }</a:t>
            </a:r>
          </a:p>
          <a:p>
            <a:pPr marL="0" indent="0">
              <a:buNone/>
            </a:pPr>
            <a:r>
              <a:rPr lang="en-VN" sz="240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628EF-D731-D61F-2549-4315C6C7729A}"/>
              </a:ext>
            </a:extLst>
          </p:cNvPr>
          <p:cNvSpPr txBox="1"/>
          <p:nvPr/>
        </p:nvSpPr>
        <p:spPr>
          <a:xfrm>
            <a:off x="5708911" y="1056998"/>
            <a:ext cx="46277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>
                <a:latin typeface="Aptos" panose="020B0004020202020204" pitchFamily="34" charset="0"/>
              </a:rPr>
              <a:t>#include “SoulKnight.cpp”</a:t>
            </a:r>
            <a:r>
              <a:rPr lang="en-VN" sz="2400">
                <a:latin typeface="Aptos" panose="020B0004020202020204" pitchFamily="34" charset="0"/>
              </a:rPr>
              <a:t>;</a:t>
            </a:r>
          </a:p>
          <a:p>
            <a:r>
              <a:rPr lang="en-VN" sz="2400">
                <a:latin typeface="Aptos" panose="020B0004020202020204" pitchFamily="34" charset="0"/>
              </a:rPr>
              <a:t>class CheatEngine {</a:t>
            </a:r>
          </a:p>
          <a:p>
            <a:r>
              <a:rPr lang="en-VN" sz="2400">
                <a:latin typeface="Aptos" panose="020B0004020202020204" pitchFamily="34" charset="0"/>
              </a:rPr>
              <a:t>   void cheat(SoulKnight &amp;knight) {</a:t>
            </a:r>
          </a:p>
          <a:p>
            <a:r>
              <a:rPr lang="en-VN" sz="2400">
                <a:latin typeface="Aptos" panose="020B0004020202020204" pitchFamily="34" charset="0"/>
              </a:rPr>
              <a:t>      </a:t>
            </a:r>
            <a:r>
              <a:rPr lang="en-VN" sz="2400" strike="sngStrike">
                <a:latin typeface="Aptos" panose="020B0004020202020204" pitchFamily="34" charset="0"/>
              </a:rPr>
              <a:t>knight.HP = 100000</a:t>
            </a:r>
            <a:r>
              <a:rPr lang="en-VN" sz="2400">
                <a:latin typeface="Aptos" panose="020B0004020202020204" pitchFamily="34" charset="0"/>
              </a:rPr>
              <a:t>;</a:t>
            </a:r>
          </a:p>
          <a:p>
            <a:r>
              <a:rPr lang="en-VN" sz="2400">
                <a:latin typeface="Aptos" panose="020B0004020202020204" pitchFamily="34" charset="0"/>
              </a:rPr>
              <a:t>      knight.getHP(k?);</a:t>
            </a:r>
          </a:p>
          <a:p>
            <a:r>
              <a:rPr lang="en-VN" sz="2400">
                <a:latin typeface="Aptos" panose="020B0004020202020204" pitchFamily="34" charset="0"/>
              </a:rPr>
              <a:t>   }</a:t>
            </a:r>
          </a:p>
          <a:p>
            <a:r>
              <a:rPr lang="en-VN" sz="2400">
                <a:latin typeface="Aptos" panose="020B0004020202020204" pitchFamily="34" charset="0"/>
              </a:rPr>
              <a:t>};</a:t>
            </a:r>
          </a:p>
          <a:p>
            <a:r>
              <a:rPr lang="en-US" sz="2400">
                <a:latin typeface="Aptos" panose="020B0004020202020204" pitchFamily="34" charset="0"/>
              </a:rPr>
              <a:t>int main() {</a:t>
            </a:r>
          </a:p>
          <a:p>
            <a:r>
              <a:rPr lang="en-US" sz="2400">
                <a:latin typeface="Aptos" panose="020B0004020202020204" pitchFamily="34" charset="0"/>
              </a:rPr>
              <a:t>   SoulKnight knight;</a:t>
            </a:r>
          </a:p>
          <a:p>
            <a:r>
              <a:rPr lang="en-US" sz="2400">
                <a:latin typeface="Aptos" panose="020B0004020202020204" pitchFamily="34" charset="0"/>
              </a:rPr>
              <a:t>   …</a:t>
            </a:r>
          </a:p>
          <a:p>
            <a:r>
              <a:rPr lang="en-US" sz="2400">
                <a:latin typeface="Aptos" panose="020B0004020202020204" pitchFamily="34" charset="0"/>
              </a:rPr>
              <a:t>   CheatEngine engine;</a:t>
            </a:r>
          </a:p>
          <a:p>
            <a:r>
              <a:rPr lang="en-US" sz="2400">
                <a:latin typeface="Aptos" panose="020B0004020202020204" pitchFamily="34" charset="0"/>
              </a:rPr>
              <a:t>   engine.cheat(knight);</a:t>
            </a:r>
          </a:p>
          <a:p>
            <a:r>
              <a:rPr lang="en-US" sz="2400">
                <a:latin typeface="Aptos" panose="020B0004020202020204" pitchFamily="34" charset="0"/>
              </a:rPr>
              <a:t>}</a:t>
            </a:r>
            <a:endParaRPr lang="en-VN" sz="240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F3F30-490B-22B4-539F-A083C59F9399}"/>
              </a:ext>
            </a:extLst>
          </p:cNvPr>
          <p:cNvSpPr/>
          <p:nvPr/>
        </p:nvSpPr>
        <p:spPr>
          <a:xfrm>
            <a:off x="5766535" y="6018164"/>
            <a:ext cx="1825487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main.cpp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A4B987-954C-23E2-0A81-8B70ECF04F4B}"/>
              </a:ext>
            </a:extLst>
          </p:cNvPr>
          <p:cNvSpPr/>
          <p:nvPr/>
        </p:nvSpPr>
        <p:spPr>
          <a:xfrm>
            <a:off x="5708911" y="1056998"/>
            <a:ext cx="4495264" cy="56644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8BC2AF-B4A0-9229-60EB-0D99E125EB5C}"/>
              </a:ext>
            </a:extLst>
          </p:cNvPr>
          <p:cNvSpPr/>
          <p:nvPr/>
        </p:nvSpPr>
        <p:spPr>
          <a:xfrm>
            <a:off x="1072486" y="6241774"/>
            <a:ext cx="1825487" cy="3859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tx1"/>
                </a:solidFill>
              </a:rPr>
              <a:t>SoulKnight.cpp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FC1BA6-AE8C-E593-697B-ED85F8178672}"/>
              </a:ext>
            </a:extLst>
          </p:cNvPr>
          <p:cNvSpPr/>
          <p:nvPr/>
        </p:nvSpPr>
        <p:spPr>
          <a:xfrm>
            <a:off x="976810" y="1467816"/>
            <a:ext cx="4602355" cy="52536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AE103-C712-8CF6-3B12-1B31CADAFB38}"/>
              </a:ext>
            </a:extLst>
          </p:cNvPr>
          <p:cNvSpPr/>
          <p:nvPr/>
        </p:nvSpPr>
        <p:spPr>
          <a:xfrm>
            <a:off x="6137413" y="2186101"/>
            <a:ext cx="2807806" cy="38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22AE36-7248-2201-8CBE-F17130D8300C}"/>
              </a:ext>
            </a:extLst>
          </p:cNvPr>
          <p:cNvSpPr txBox="1"/>
          <p:nvPr/>
        </p:nvSpPr>
        <p:spPr>
          <a:xfrm>
            <a:off x="10317356" y="2147678"/>
            <a:ext cx="97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Error</a:t>
            </a:r>
            <a:endParaRPr lang="en-VN" sz="2400" b="1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11EA37-BB54-EC45-65BB-0A5A9A43A150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8945219" y="2378511"/>
            <a:ext cx="137213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87EBCA1-E1A6-FF49-5E83-BA2745ECAB1C}"/>
              </a:ext>
            </a:extLst>
          </p:cNvPr>
          <p:cNvSpPr/>
          <p:nvPr/>
        </p:nvSpPr>
        <p:spPr>
          <a:xfrm>
            <a:off x="6137413" y="2609342"/>
            <a:ext cx="3510170" cy="384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EC1AEA-1548-6DAA-C66A-8E46A018F6A6}"/>
              </a:ext>
            </a:extLst>
          </p:cNvPr>
          <p:cNvSpPr txBox="1"/>
          <p:nvPr/>
        </p:nvSpPr>
        <p:spPr>
          <a:xfrm>
            <a:off x="10336697" y="2570919"/>
            <a:ext cx="1285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Call</a:t>
            </a:r>
          </a:p>
          <a:p>
            <a:r>
              <a:rPr lang="en-VN" sz="2400">
                <a:solidFill>
                  <a:srgbClr val="FF0000"/>
                </a:solidFill>
              </a:rPr>
              <a:t>method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E7350C86-7CE0-2120-B539-6546604B6B32}"/>
              </a:ext>
            </a:extLst>
          </p:cNvPr>
          <p:cNvCxnSpPr>
            <a:stCxn id="19" idx="1"/>
            <a:endCxn id="15" idx="3"/>
          </p:cNvCxnSpPr>
          <p:nvPr/>
        </p:nvCxnSpPr>
        <p:spPr>
          <a:xfrm rot="10800000">
            <a:off x="9647583" y="2801754"/>
            <a:ext cx="689114" cy="18466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DDB6FA-C96E-EA90-4309-76248F22F722}"/>
              </a:ext>
            </a:extLst>
          </p:cNvPr>
          <p:cNvSpPr txBox="1"/>
          <p:nvPr/>
        </p:nvSpPr>
        <p:spPr>
          <a:xfrm>
            <a:off x="10283690" y="3700342"/>
            <a:ext cx="140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Do not have key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AD5920-E839-D209-D385-1CFB63FA2DF1}"/>
              </a:ext>
            </a:extLst>
          </p:cNvPr>
          <p:cNvCxnSpPr>
            <a:cxnSpLocks/>
            <a:stCxn id="26" idx="0"/>
            <a:endCxn id="19" idx="2"/>
          </p:cNvCxnSpPr>
          <p:nvPr/>
        </p:nvCxnSpPr>
        <p:spPr>
          <a:xfrm flipH="1" flipV="1">
            <a:off x="10979427" y="3401916"/>
            <a:ext cx="6628" cy="298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FE8F383-415B-3D3B-7482-6F830F05BB97}"/>
              </a:ext>
            </a:extLst>
          </p:cNvPr>
          <p:cNvSpPr txBox="1"/>
          <p:nvPr/>
        </p:nvSpPr>
        <p:spPr>
          <a:xfrm>
            <a:off x="10290852" y="4864636"/>
            <a:ext cx="14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Denied!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69F49A-A7C4-F2B0-079C-761485E2C342}"/>
              </a:ext>
            </a:extLst>
          </p:cNvPr>
          <p:cNvCxnSpPr>
            <a:cxnSpLocks/>
            <a:stCxn id="30" idx="0"/>
            <a:endCxn id="26" idx="2"/>
          </p:cNvCxnSpPr>
          <p:nvPr/>
        </p:nvCxnSpPr>
        <p:spPr>
          <a:xfrm flipH="1" flipV="1">
            <a:off x="10986055" y="4531339"/>
            <a:ext cx="7162" cy="3332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D239556-094E-C415-F3E2-A2647B6E53B9}"/>
              </a:ext>
            </a:extLst>
          </p:cNvPr>
          <p:cNvSpPr/>
          <p:nvPr/>
        </p:nvSpPr>
        <p:spPr>
          <a:xfrm>
            <a:off x="1311940" y="3269939"/>
            <a:ext cx="4157312" cy="2242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3E2DCF-C2DB-5BFB-0493-B625A03C287F}"/>
              </a:ext>
            </a:extLst>
          </p:cNvPr>
          <p:cNvSpPr txBox="1"/>
          <p:nvPr/>
        </p:nvSpPr>
        <p:spPr>
          <a:xfrm>
            <a:off x="4573074" y="5488980"/>
            <a:ext cx="14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FF0000"/>
                </a:solidFill>
              </a:rPr>
              <a:t>getter</a:t>
            </a:r>
          </a:p>
        </p:txBody>
      </p:sp>
    </p:spTree>
    <p:extLst>
      <p:ext uri="{BB962C8B-B14F-4D97-AF65-F5344CB8AC3E}">
        <p14:creationId xmlns:p14="http://schemas.microsoft.com/office/powerpoint/2010/main" val="1838397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6726-BB6B-C2D5-0DC8-44F8324D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OOP: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1E939-486F-57A5-6252-EFB3DFE54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590"/>
            <a:ext cx="10515600" cy="983836"/>
          </a:xfrm>
        </p:spPr>
        <p:txBody>
          <a:bodyPr/>
          <a:lstStyle/>
          <a:p>
            <a:pPr marL="0" indent="0">
              <a:buNone/>
            </a:pPr>
            <a:r>
              <a:rPr lang="en-VN" b="1"/>
              <a:t>Exercise</a:t>
            </a:r>
            <a:r>
              <a:rPr lang="en-VN"/>
              <a:t>: Create class </a:t>
            </a:r>
            <a:r>
              <a:rPr lang="en-VN" b="1">
                <a:solidFill>
                  <a:srgbClr val="FF0000"/>
                </a:solidFill>
              </a:rPr>
              <a:t>Score</a:t>
            </a:r>
            <a:r>
              <a:rPr lang="en-VN"/>
              <a:t>: </a:t>
            </a:r>
            <a:r>
              <a:rPr lang="en-US">
                <a:solidFill>
                  <a:srgbClr val="00B050"/>
                </a:solidFill>
              </a:rPr>
              <a:t>course ID, mid-term score </a:t>
            </a:r>
            <a:r>
              <a:rPr lang="en-US"/>
              <a:t>and </a:t>
            </a:r>
            <a:r>
              <a:rPr lang="en-US">
                <a:solidFill>
                  <a:srgbClr val="00B050"/>
                </a:solidFill>
              </a:rPr>
              <a:t>final-term score</a:t>
            </a:r>
            <a:r>
              <a:rPr lang="en-US"/>
              <a:t>. We can </a:t>
            </a:r>
            <a:r>
              <a:rPr lang="en-US">
                <a:solidFill>
                  <a:srgbClr val="7030A0"/>
                </a:solidFill>
              </a:rPr>
              <a:t>update / delete / add</a:t>
            </a:r>
            <a:r>
              <a:rPr lang="en-US"/>
              <a:t> a new score record.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B5DDC-4BC8-0402-6C94-620F94F1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20</a:t>
            </a:fld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D5974-8E40-7449-8EB4-17C6493EDDC6}"/>
              </a:ext>
            </a:extLst>
          </p:cNvPr>
          <p:cNvSpPr txBox="1"/>
          <p:nvPr/>
        </p:nvSpPr>
        <p:spPr>
          <a:xfrm>
            <a:off x="838200" y="2604834"/>
            <a:ext cx="2315817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>
                <a:solidFill>
                  <a:srgbClr val="FF0000"/>
                </a:solidFill>
              </a:rPr>
              <a:t>Real-life being</a:t>
            </a:r>
            <a:endParaRPr lang="en-VN" sz="24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A4E85-1224-B6DB-E3AE-DDB102850758}"/>
              </a:ext>
            </a:extLst>
          </p:cNvPr>
          <p:cNvSpPr txBox="1"/>
          <p:nvPr/>
        </p:nvSpPr>
        <p:spPr>
          <a:xfrm>
            <a:off x="5456585" y="4969502"/>
            <a:ext cx="105023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>
                <a:solidFill>
                  <a:srgbClr val="FF0000"/>
                </a:solidFill>
              </a:rPr>
              <a:t>Class</a:t>
            </a:r>
            <a:endParaRPr lang="en-VN" sz="24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B48D9-14C3-8EBD-7E77-14CFA540D6BA}"/>
              </a:ext>
            </a:extLst>
          </p:cNvPr>
          <p:cNvSpPr txBox="1"/>
          <p:nvPr/>
        </p:nvSpPr>
        <p:spPr>
          <a:xfrm>
            <a:off x="8401878" y="5717325"/>
            <a:ext cx="140804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>
                <a:solidFill>
                  <a:srgbClr val="FF0000"/>
                </a:solidFill>
              </a:rPr>
              <a:t>Object</a:t>
            </a:r>
            <a:endParaRPr lang="en-VN" sz="24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D5895-E128-2E2E-9DCB-697262C0E101}"/>
              </a:ext>
            </a:extLst>
          </p:cNvPr>
          <p:cNvSpPr txBox="1"/>
          <p:nvPr/>
        </p:nvSpPr>
        <p:spPr>
          <a:xfrm>
            <a:off x="2610204" y="4032963"/>
            <a:ext cx="208721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>
                <a:solidFill>
                  <a:srgbClr val="FF0000"/>
                </a:solidFill>
              </a:rPr>
              <a:t>UML diagram</a:t>
            </a:r>
            <a:endParaRPr lang="en-VN" sz="2400">
              <a:solidFill>
                <a:srgbClr val="FF0000"/>
              </a:solidFill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317DD334-61C4-F004-F3C8-912135731C19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1704508" y="3358099"/>
            <a:ext cx="1197297" cy="61409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F15FF49-E5A6-1717-8300-413538653F91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 rot="16200000" flipH="1">
            <a:off x="4202345" y="3946094"/>
            <a:ext cx="705707" cy="18027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D17E8A-B921-4368-C006-9D01AA8627E7}"/>
              </a:ext>
            </a:extLst>
          </p:cNvPr>
          <p:cNvSpPr txBox="1"/>
          <p:nvPr/>
        </p:nvSpPr>
        <p:spPr>
          <a:xfrm>
            <a:off x="2086268" y="3181204"/>
            <a:ext cx="3135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OOA: object-oriented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6AE98C-08F7-BFB1-2152-BFA47EC1A058}"/>
              </a:ext>
            </a:extLst>
          </p:cNvPr>
          <p:cNvSpPr txBox="1"/>
          <p:nvPr/>
        </p:nvSpPr>
        <p:spPr>
          <a:xfrm>
            <a:off x="2086268" y="3521290"/>
            <a:ext cx="303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OOD: object-oriented design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CF3EDA36-1D94-1EA8-4C3B-265C4FC514B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506818" y="5200335"/>
            <a:ext cx="1895060" cy="74782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BBC7D4-4939-E91C-D32E-49137F14322A}"/>
              </a:ext>
            </a:extLst>
          </p:cNvPr>
          <p:cNvSpPr txBox="1"/>
          <p:nvPr/>
        </p:nvSpPr>
        <p:spPr>
          <a:xfrm>
            <a:off x="3653811" y="4580529"/>
            <a:ext cx="603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OOP: object-oriented programming – ONLY TAKE 20%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E583D0-8EA8-5EB2-2E08-5597B672AF1C}"/>
              </a:ext>
            </a:extLst>
          </p:cNvPr>
          <p:cNvSpPr txBox="1"/>
          <p:nvPr/>
        </p:nvSpPr>
        <p:spPr>
          <a:xfrm>
            <a:off x="6571534" y="5235567"/>
            <a:ext cx="122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Create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928E6F-6C8F-383B-7732-BB6A9E03CAEE}"/>
              </a:ext>
            </a:extLst>
          </p:cNvPr>
          <p:cNvSpPr txBox="1"/>
          <p:nvPr/>
        </p:nvSpPr>
        <p:spPr>
          <a:xfrm>
            <a:off x="838200" y="5837264"/>
            <a:ext cx="24218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00B050"/>
                </a:solidFill>
              </a:rPr>
              <a:t>Noun (Danh từ)</a:t>
            </a:r>
            <a:endParaRPr lang="en-VN" sz="2400">
              <a:solidFill>
                <a:srgbClr val="00B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C0BD47-EA43-F959-68C0-26D93948E807}"/>
              </a:ext>
            </a:extLst>
          </p:cNvPr>
          <p:cNvSpPr txBox="1"/>
          <p:nvPr/>
        </p:nvSpPr>
        <p:spPr>
          <a:xfrm>
            <a:off x="3843127" y="5841018"/>
            <a:ext cx="136828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/>
              <a:t>Property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CEB1D1-5EA9-6AF3-0614-9345460D08AE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3260032" y="6068097"/>
            <a:ext cx="583095" cy="3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72EF359-3ED0-FFCF-DDAB-FE6862F2D1CB}"/>
              </a:ext>
            </a:extLst>
          </p:cNvPr>
          <p:cNvSpPr txBox="1"/>
          <p:nvPr/>
        </p:nvSpPr>
        <p:spPr>
          <a:xfrm>
            <a:off x="838200" y="6241658"/>
            <a:ext cx="24218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7030A0"/>
                </a:solidFill>
              </a:rPr>
              <a:t>Verb (Động từ)</a:t>
            </a:r>
            <a:endParaRPr lang="en-VN" sz="2400">
              <a:solidFill>
                <a:srgbClr val="7030A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3F1CE4-4D56-7DBB-7AAD-5CC09A10F25E}"/>
              </a:ext>
            </a:extLst>
          </p:cNvPr>
          <p:cNvSpPr txBox="1"/>
          <p:nvPr/>
        </p:nvSpPr>
        <p:spPr>
          <a:xfrm>
            <a:off x="3843127" y="6245412"/>
            <a:ext cx="136828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/>
              <a:t>Method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A0092D-0B31-5B22-7E8F-D682887ADE44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60032" y="6472491"/>
            <a:ext cx="583095" cy="3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335770C-5A72-B9D6-382C-4FE8D5AD23C6}"/>
              </a:ext>
            </a:extLst>
          </p:cNvPr>
          <p:cNvSpPr txBox="1"/>
          <p:nvPr/>
        </p:nvSpPr>
        <p:spPr>
          <a:xfrm>
            <a:off x="839379" y="5413292"/>
            <a:ext cx="43819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FF0000"/>
                </a:solidFill>
              </a:rPr>
              <a:t>Ntk: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64E6BE-4041-C42D-E5B2-AC645D857F5A}"/>
              </a:ext>
            </a:extLst>
          </p:cNvPr>
          <p:cNvSpPr/>
          <p:nvPr/>
        </p:nvSpPr>
        <p:spPr>
          <a:xfrm>
            <a:off x="838200" y="5413292"/>
            <a:ext cx="4383156" cy="1308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9698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15104</TotalTime>
  <Words>1286</Words>
  <Application>Microsoft Macintosh PowerPoint</Application>
  <PresentationFormat>Widescreen</PresentationFormat>
  <Paragraphs>345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Intro OOP</vt:lpstr>
      <vt:lpstr>Timeline</vt:lpstr>
      <vt:lpstr>C++: Pointer</vt:lpstr>
      <vt:lpstr>C++</vt:lpstr>
      <vt:lpstr>Programming paradigms</vt:lpstr>
      <vt:lpstr>Programming paradigm: Procedure</vt:lpstr>
      <vt:lpstr>Programming paradigm: Procedure</vt:lpstr>
      <vt:lpstr>Programming paradigm: Procedure</vt:lpstr>
      <vt:lpstr>Programming paradigm: Procedure</vt:lpstr>
      <vt:lpstr>Programming paradigm: OOP</vt:lpstr>
      <vt:lpstr>OOP: abstraction</vt:lpstr>
      <vt:lpstr>OOP: class</vt:lpstr>
      <vt:lpstr>OOP: class</vt:lpstr>
      <vt:lpstr>OOP: multiple classes</vt:lpstr>
      <vt:lpstr>OOP: multiple classes</vt:lpstr>
      <vt:lpstr>OOP: single/multiple class compilation</vt:lpstr>
      <vt:lpstr>OOP: encapsulation</vt:lpstr>
      <vt:lpstr>OOP: encapsulation</vt:lpstr>
      <vt:lpstr>OOP: encapsulation</vt:lpstr>
      <vt:lpstr>OOP: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Le  Thuy - Y19</dc:creator>
  <cp:lastModifiedBy>Tuan Hai Vu</cp:lastModifiedBy>
  <cp:revision>48</cp:revision>
  <dcterms:created xsi:type="dcterms:W3CDTF">2025-10-12T07:14:27Z</dcterms:created>
  <dcterms:modified xsi:type="dcterms:W3CDTF">2026-02-26T06:25:51Z</dcterms:modified>
</cp:coreProperties>
</file>