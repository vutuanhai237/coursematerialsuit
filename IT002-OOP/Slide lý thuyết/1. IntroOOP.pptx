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1027" r:id="rId3"/>
    <p:sldId id="1034" r:id="rId4"/>
    <p:sldId id="1033" r:id="rId5"/>
    <p:sldId id="1028" r:id="rId6"/>
    <p:sldId id="1029" r:id="rId7"/>
    <p:sldId id="1030" r:id="rId8"/>
    <p:sldId id="1032" r:id="rId9"/>
    <p:sldId id="1031" r:id="rId10"/>
  </p:sldIdLst>
  <p:sldSz cx="12192000" cy="6858000"/>
  <p:notesSz cx="6858000" cy="9144000"/>
  <p:defaultTextStyle>
    <a:defPPr>
      <a:defRPr lang="en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57"/>
    <p:restoredTop sz="94701"/>
  </p:normalViewPr>
  <p:slideViewPr>
    <p:cSldViewPr snapToGrid="0">
      <p:cViewPr varScale="1">
        <p:scale>
          <a:sx n="91" d="100"/>
          <a:sy n="91" d="100"/>
        </p:scale>
        <p:origin x="1517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F5E20D-330D-AE4A-A6A6-1850AD2ED2D6}" type="datetimeFigureOut">
              <a:t>29/01/2026</a:t>
            </a:fld>
            <a:endParaRPr lang="en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8D1A52-94DB-CE4E-80E4-5A5A3CBD908E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741266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879C-66BC-BE38-71AE-B0A52BE998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1E43DC-52BF-FFC7-A6F7-77C3F65F66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FB3760-1A42-A517-B329-17A032D0F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CC23C-BA29-DE42-B018-0A671B23AB5C}" type="datetime1">
              <a:t>29/01/2026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33FEB5-9A1D-C760-3A59-6961C4186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C8E25-5819-D9BB-2B7B-FD89ADD93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833247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8E967-6FF5-2AB7-5A89-60DD8D392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E7CEF-4815-3E95-7909-2FA3AD96CD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71C15-89E5-727B-1490-05CC5367B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3D96D-7531-BC47-A011-B5D6B3D43310}" type="datetime1">
              <a:t>29/01/2026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7CB36A-D94F-AC92-80B1-8040A94C5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88F61-1BFA-0780-D5CD-C8709F5C0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4086" y="6356350"/>
            <a:ext cx="979714" cy="365125"/>
          </a:xfrm>
        </p:spPr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96BE16-5785-3287-F219-A63A98C1F6B4}"/>
              </a:ext>
            </a:extLst>
          </p:cNvPr>
          <p:cNvSpPr txBox="1"/>
          <p:nvPr userDrawn="1"/>
        </p:nvSpPr>
        <p:spPr>
          <a:xfrm>
            <a:off x="10025743" y="180459"/>
            <a:ext cx="2008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VN" b="1"/>
              <a:t>IT002 - OOP</a:t>
            </a:r>
          </a:p>
        </p:txBody>
      </p:sp>
    </p:spTree>
    <p:extLst>
      <p:ext uri="{BB962C8B-B14F-4D97-AF65-F5344CB8AC3E}">
        <p14:creationId xmlns:p14="http://schemas.microsoft.com/office/powerpoint/2010/main" val="3226230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5098A-1FF5-4E9C-3958-AAAE5EB16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3F6B0-B22B-B8B5-5476-1A0488046E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31000-AB74-AEFD-50FE-977A929AE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F25-CCF5-1749-B789-DEA9DF3915D1}" type="datetime1">
              <a:t>29/01/2026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11593-2B6B-2CA0-DB2F-19489B8CE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FED81-0B56-6FA2-95D2-CECADDCD1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369224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DCBAD-C94E-8462-42F7-6CE1DEB6E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7A8E9-46E4-3722-3678-DB1E6624F4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ED4EB0-C0BC-93AB-256D-477F0B020C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C385DA-986F-905C-F93C-11946E71E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9BD3F-C60C-8F40-A1AA-746E79F526C8}" type="datetime1">
              <a:t>29/01/2026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8EEC57-B8A1-E8E8-D3C6-C712BD1EB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BD3BD5-89C2-ABF6-BC50-26CCE3F3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71075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AD908-C8FB-B40D-5338-B12F38A31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44DDE4-2F4D-BD99-A231-CA6008F12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B206A1-A852-DFD4-176B-D30D76696A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DBD5B1-0FAD-D905-193A-A988870AEE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492ABD-06A7-0A8A-B162-6B100DD63D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FA0F5E-BC75-DA33-C23A-2C084BB43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563D55-6338-8241-BEA3-C8267015B326}" type="datetime1">
              <a:t>29/01/2026</a:t>
            </a:fld>
            <a:endParaRPr lang="en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F6DAFF-76C5-9BAB-7595-F3D8650BF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DA2C9E-5705-21CC-7F2F-2C316299E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68996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A4701-A80A-232F-0854-5DA8AFC2E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11774C-BD97-3E58-CD40-4C950D605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82EF4-4D34-8E49-9BB8-7FCD8F64F56C}" type="datetime1">
              <a:t>29/01/2026</a:t>
            </a:fld>
            <a:endParaRPr lang="en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13042-37A8-CF0D-C96F-6512F2746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167E85-AB14-0D13-176E-0A06051FE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73792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DEB413-185C-B41C-723A-9D4A6A678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5D4F-1253-B847-8798-F89DBC53ECA3}" type="datetime1">
              <a:t>29/01/2026</a:t>
            </a:fld>
            <a:endParaRPr lang="en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74A144-520E-E52F-DDF2-1E748F632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B450AA-C86A-7829-97FB-257B463C3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121519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A9349-7940-BEF0-B4D4-5A7C82685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6DDD3-2B20-C5F9-4DC4-024003B7A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7E6026-5F77-9B71-E592-DF3B228313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51FFE-290A-F231-2373-CB0706827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0E56D-C72A-354F-B0FC-65EC27F745C6}" type="datetime1">
              <a:t>29/01/2026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6C637D-0DBB-9D94-B84C-DD221A50A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BD7C7B-EC72-7C24-BC80-9FF123A0E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22121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B795E-B04D-560C-A632-0313EB8BD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6418B6-E0F2-379C-988E-BFAA86E45F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1D15F2-ED27-6782-8C8C-9B6E07184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AF3CA7-0F96-3431-B3F4-06BC0EFD0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EE616-05B3-E949-A580-BAD4E917BCA4}" type="datetime1">
              <a:t>29/01/2026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65F99E-A59B-DABF-2474-1B2A079D4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290139-F785-8A64-8D32-C52E8E26B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41789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89D33-1B65-702E-AF68-091EFE88F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1663F3-7D0E-B1DA-F503-E4430BF7BE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7C38CE-AAC4-CCE9-CDB5-8A582C91E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8E9E1-1963-2549-A392-0CE442C818D3}" type="datetime1">
              <a:t>29/01/2026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90330-95FE-A9AD-654D-097C1AB47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1C464-4061-61F4-DFB5-70DE041BF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487876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DDA118-9B30-AADB-BB00-1A29AD187B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E6A5B8-6D26-4874-BB54-AAA2C8A080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A1E27-ACFA-67B6-8F29-D119DAA10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FA920-85BE-4747-816A-47AD76A510FA}" type="datetime1">
              <a:t>29/01/2026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78A6B8-C0F3-CDF8-2607-D9CE1D139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7331BE-9413-D25C-37C9-D57203794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81420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E82CA9-C9D9-B13F-66CB-521D6AC8E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C7227C-7C52-761E-38B0-5791D21983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F0B1A1-6E5E-9BBC-C985-0A43829F97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508FC7-06EA-184C-B437-1FD4117B159D}" type="datetime1">
              <a:t>29/01/2026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A9B3D4-A45B-92A5-6062-5A7DF6FA35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62E2A-F337-A4D9-6F2A-F999444383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99396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0750B-39EE-3B01-075B-7F8F628047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VN"/>
              <a:t>Intro OOP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62B4C0-AF9F-C53E-D24C-0775EFEFBE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VN"/>
              <a:t>Vu Tuan Hai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02840-6693-8282-76B9-EE98C0B0B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77803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837F1-282E-01E0-2049-846D7E12F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Timeline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B8A17-7E9F-0450-C914-8263C7A38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/>
              <a:t>Chap 1: C++</a:t>
            </a:r>
          </a:p>
          <a:p>
            <a:pPr marL="0" indent="0">
              <a:buNone/>
            </a:pPr>
            <a:r>
              <a:rPr lang="en-US"/>
              <a:t>Chap 2: Overview of OOP</a:t>
            </a:r>
          </a:p>
          <a:p>
            <a:pPr marL="0" indent="0">
              <a:buNone/>
            </a:pPr>
            <a:r>
              <a:rPr lang="en-US"/>
              <a:t>Chap 3: Object &amp; Class</a:t>
            </a:r>
          </a:p>
          <a:p>
            <a:pPr marL="0" indent="0">
              <a:buNone/>
            </a:pPr>
            <a:r>
              <a:rPr lang="en-US"/>
              <a:t>Chap 4: Operator &amp; Overloading</a:t>
            </a:r>
          </a:p>
          <a:p>
            <a:pPr marL="0" indent="0">
              <a:buNone/>
            </a:pPr>
            <a:r>
              <a:rPr lang="en-US"/>
              <a:t>Chap 5: Inheritance</a:t>
            </a:r>
          </a:p>
          <a:p>
            <a:pPr marL="0" indent="0">
              <a:buNone/>
            </a:pPr>
            <a:r>
              <a:rPr lang="en-US"/>
              <a:t>Chap 6: Polymorphism</a:t>
            </a:r>
          </a:p>
          <a:p>
            <a:pPr marL="0" indent="0">
              <a:buNone/>
            </a:pPr>
            <a:r>
              <a:rPr lang="en-US"/>
              <a:t>Chap 7: Advanced topics</a:t>
            </a:r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E99F9-24F7-0CE7-3181-5CB4D13F0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04980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6F33D-AFFF-BD8A-891A-C9AA75200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C++: Pointer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1E53E6-8FC1-4FEB-0B90-088A7E5AA6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798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int a = 1</a:t>
            </a:r>
          </a:p>
          <a:p>
            <a:pPr marL="0" indent="0">
              <a:buNone/>
            </a:pPr>
            <a:r>
              <a:rPr lang="en-US"/>
              <a:t>int* p = a</a:t>
            </a:r>
          </a:p>
          <a:p>
            <a:pPr marL="0" indent="0">
              <a:buNone/>
            </a:pPr>
            <a:r>
              <a:rPr lang="en-US"/>
              <a:t>int* p = &amp;a</a:t>
            </a:r>
          </a:p>
          <a:p>
            <a:pPr marL="0" indent="0">
              <a:buNone/>
            </a:pPr>
            <a:r>
              <a:rPr lang="en-US"/>
              <a:t>int* p = 0x43343443</a:t>
            </a:r>
          </a:p>
          <a:p>
            <a:pPr marL="0" indent="0">
              <a:buNone/>
            </a:pPr>
            <a:r>
              <a:rPr lang="en-US"/>
              <a:t>int&amp; r = a</a:t>
            </a:r>
          </a:p>
          <a:p>
            <a:pPr marL="0" indent="0">
              <a:buNone/>
            </a:pPr>
            <a:r>
              <a:rPr lang="en-US"/>
              <a:t>---</a:t>
            </a:r>
          </a:p>
          <a:p>
            <a:pPr marL="0" indent="0">
              <a:buNone/>
            </a:pPr>
            <a:r>
              <a:rPr lang="en-US"/>
              <a:t>p = ?</a:t>
            </a:r>
          </a:p>
          <a:p>
            <a:pPr marL="0" indent="0">
              <a:buNone/>
            </a:pPr>
            <a:r>
              <a:rPr lang="en-US"/>
              <a:t>&amp;p = ?</a:t>
            </a:r>
          </a:p>
          <a:p>
            <a:pPr marL="0" indent="0">
              <a:buNone/>
            </a:pPr>
            <a:r>
              <a:rPr lang="en-US"/>
              <a:t>&amp;p = ?</a:t>
            </a:r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AF4017-AC32-D0AD-279C-B573E3E2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vi-VN" smtClean="0"/>
              <a:t>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451339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D95A6-F0DD-16BB-F20C-52FB365A8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C++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572FB-8962-2DAD-5D9B-7DD083C9B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4</a:t>
            </a:fld>
            <a:endParaRPr lang="en-V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C921178-712A-C715-A575-FF29AB4CF1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58228"/>
            <a:ext cx="2495309" cy="2089241"/>
          </a:xfrm>
          <a:solidFill>
            <a:srgbClr val="D9D9D9"/>
          </a:solidFill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400"/>
              <a:t>v</a:t>
            </a:r>
            <a:r>
              <a:rPr lang="en-VN" sz="2400"/>
              <a:t>oid print(int </a:t>
            </a:r>
            <a:r>
              <a:rPr lang="en-VN" sz="2400" b="1"/>
              <a:t>a</a:t>
            </a:r>
            <a:r>
              <a:rPr lang="en-VN" sz="2400"/>
              <a:t>) {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VN" sz="2400"/>
              <a:t>   a++;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VN" sz="2400"/>
              <a:t>   cout &lt;&lt; a;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VN" sz="2400"/>
              <a:t>}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B0DDC32-5822-0F62-2B7D-A100D45C67E2}"/>
              </a:ext>
            </a:extLst>
          </p:cNvPr>
          <p:cNvSpPr txBox="1">
            <a:spLocks/>
          </p:cNvSpPr>
          <p:nvPr/>
        </p:nvSpPr>
        <p:spPr>
          <a:xfrm>
            <a:off x="3712656" y="2858228"/>
            <a:ext cx="2985304" cy="2089241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2400"/>
              <a:t>v</a:t>
            </a:r>
            <a:r>
              <a:rPr lang="en-VN" sz="2400"/>
              <a:t>oid print(int &amp;</a:t>
            </a:r>
            <a:r>
              <a:rPr lang="en-VN" sz="2400" b="1"/>
              <a:t>a</a:t>
            </a:r>
            <a:r>
              <a:rPr lang="en-VN" sz="2400"/>
              <a:t>) {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VN" sz="2400"/>
              <a:t>   </a:t>
            </a:r>
            <a:r>
              <a:rPr lang="en-VN" sz="2400" b="1"/>
              <a:t>a++;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VN" sz="2400"/>
              <a:t>   cout &lt;&lt; </a:t>
            </a:r>
            <a:r>
              <a:rPr lang="en-VN" sz="2400" b="1"/>
              <a:t>a</a:t>
            </a:r>
            <a:r>
              <a:rPr lang="en-VN" sz="2400"/>
              <a:t>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VN" sz="240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D25C18-362F-144F-CF22-BDF7C96F79D7}"/>
              </a:ext>
            </a:extLst>
          </p:cNvPr>
          <p:cNvSpPr txBox="1"/>
          <p:nvPr/>
        </p:nvSpPr>
        <p:spPr>
          <a:xfrm>
            <a:off x="838200" y="1516284"/>
            <a:ext cx="24953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/>
              <a:t>Pass by value</a:t>
            </a:r>
            <a:endParaRPr lang="en-US" sz="2400"/>
          </a:p>
          <a:p>
            <a:r>
              <a:rPr lang="en-US" sz="2400"/>
              <a:t>(Shallow copy)</a:t>
            </a:r>
            <a:endParaRPr lang="en-VN" sz="2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2F306E-7A6D-97BA-9B5C-BD538F338F8A}"/>
              </a:ext>
            </a:extLst>
          </p:cNvPr>
          <p:cNvSpPr txBox="1"/>
          <p:nvPr/>
        </p:nvSpPr>
        <p:spPr>
          <a:xfrm>
            <a:off x="3600691" y="1517068"/>
            <a:ext cx="24953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/>
              <a:t>Pass by reference</a:t>
            </a:r>
            <a:endParaRPr lang="en-US" sz="2400"/>
          </a:p>
          <a:p>
            <a:r>
              <a:rPr lang="en-US" sz="2400"/>
              <a:t>(Deep copy)</a:t>
            </a:r>
            <a:endParaRPr lang="en-VN" sz="240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D67AD2B-88E7-FFF4-9BDE-9EC6C29292A2}"/>
              </a:ext>
            </a:extLst>
          </p:cNvPr>
          <p:cNvSpPr txBox="1">
            <a:spLocks/>
          </p:cNvSpPr>
          <p:nvPr/>
        </p:nvSpPr>
        <p:spPr>
          <a:xfrm>
            <a:off x="838200" y="2383969"/>
            <a:ext cx="1210519" cy="432133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2400"/>
              <a:t>i</a:t>
            </a:r>
            <a:r>
              <a:rPr lang="en-VN" sz="2400"/>
              <a:t>nt a = 1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C62F0F1-B049-3390-5800-A0E91C167A8D}"/>
              </a:ext>
            </a:extLst>
          </p:cNvPr>
          <p:cNvSpPr txBox="1">
            <a:spLocks/>
          </p:cNvSpPr>
          <p:nvPr/>
        </p:nvSpPr>
        <p:spPr>
          <a:xfrm>
            <a:off x="3712656" y="2383969"/>
            <a:ext cx="1210519" cy="432133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2400"/>
              <a:t>i</a:t>
            </a:r>
            <a:r>
              <a:rPr lang="en-VN" sz="2400"/>
              <a:t>nt a = 1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F85944C-0785-425E-B4BD-F988FFB9E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5490482"/>
              </p:ext>
            </p:extLst>
          </p:nvPr>
        </p:nvGraphicFramePr>
        <p:xfrm>
          <a:off x="3712656" y="5090799"/>
          <a:ext cx="905375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05375">
                  <a:extLst>
                    <a:ext uri="{9D8B030D-6E8A-4147-A177-3AD203B41FA5}">
                      <a16:colId xmlns:a16="http://schemas.microsoft.com/office/drawing/2014/main" val="12343996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600"/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9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600" b="1"/>
                        <a:t>a’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1485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600" b="1"/>
                        <a:t>RAM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65848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11DE05B-DBEB-C91A-2B94-90AD1DC7AA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0315237"/>
              </p:ext>
            </p:extLst>
          </p:nvPr>
        </p:nvGraphicFramePr>
        <p:xfrm>
          <a:off x="5190625" y="5079601"/>
          <a:ext cx="905375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05375">
                  <a:extLst>
                    <a:ext uri="{9D8B030D-6E8A-4147-A177-3AD203B41FA5}">
                      <a16:colId xmlns:a16="http://schemas.microsoft.com/office/drawing/2014/main" val="12343996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60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9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60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1485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600" b="1"/>
                        <a:t>RAM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658485"/>
                  </a:ext>
                </a:extLst>
              </a:tr>
            </a:tbl>
          </a:graphicData>
        </a:graphic>
      </p:graphicFrame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DF54EA8-1047-54CF-58E9-4945678EAB67}"/>
              </a:ext>
            </a:extLst>
          </p:cNvPr>
          <p:cNvCxnSpPr>
            <a:cxnSpLocks/>
          </p:cNvCxnSpPr>
          <p:nvPr/>
        </p:nvCxnSpPr>
        <p:spPr>
          <a:xfrm>
            <a:off x="4618031" y="5337111"/>
            <a:ext cx="57259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C3C5229-CD34-81B2-A782-C6BFC1140530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4618031" y="5371412"/>
            <a:ext cx="572594" cy="4509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DFAE7C8-FA4F-2DDD-8B15-41479AC0BEBD}"/>
              </a:ext>
            </a:extLst>
          </p:cNvPr>
          <p:cNvSpPr txBox="1"/>
          <p:nvPr/>
        </p:nvSpPr>
        <p:spPr>
          <a:xfrm rot="5400000">
            <a:off x="4140186" y="6117027"/>
            <a:ext cx="14917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>
                <a:solidFill>
                  <a:srgbClr val="FF0000"/>
                </a:solidFill>
              </a:rPr>
              <a:t>Reference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3C3B183-D206-0E91-1E3E-8DAAC3909C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959887"/>
              </p:ext>
            </p:extLst>
          </p:nvPr>
        </p:nvGraphicFramePr>
        <p:xfrm>
          <a:off x="838200" y="5090799"/>
          <a:ext cx="980331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80331">
                  <a:extLst>
                    <a:ext uri="{9D8B030D-6E8A-4147-A177-3AD203B41FA5}">
                      <a16:colId xmlns:a16="http://schemas.microsoft.com/office/drawing/2014/main" val="12343996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600"/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9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600" b="1"/>
                        <a:t>a’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1485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600" b="1"/>
                        <a:t>RAM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658485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1E7DFE97-5477-4799-D264-09912F602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5843406"/>
              </p:ext>
            </p:extLst>
          </p:nvPr>
        </p:nvGraphicFramePr>
        <p:xfrm>
          <a:off x="2205446" y="5079601"/>
          <a:ext cx="905374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05374">
                  <a:extLst>
                    <a:ext uri="{9D8B030D-6E8A-4147-A177-3AD203B41FA5}">
                      <a16:colId xmlns:a16="http://schemas.microsoft.com/office/drawing/2014/main" val="12343996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60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9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60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1485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600" b="1"/>
                        <a:t>RAM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658485"/>
                  </a:ext>
                </a:extLst>
              </a:tr>
            </a:tbl>
          </a:graphicData>
        </a:graphic>
      </p:graphicFrame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035AF-970A-3F3D-CE1F-AD8429962512}"/>
              </a:ext>
            </a:extLst>
          </p:cNvPr>
          <p:cNvCxnSpPr>
            <a:cxnSpLocks/>
          </p:cNvCxnSpPr>
          <p:nvPr/>
        </p:nvCxnSpPr>
        <p:spPr>
          <a:xfrm>
            <a:off x="1818531" y="5325913"/>
            <a:ext cx="38691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Arrow: Curved Left 29">
            <a:extLst>
              <a:ext uri="{FF2B5EF4-FFF2-40B4-BE49-F238E27FC236}">
                <a16:creationId xmlns:a16="http://schemas.microsoft.com/office/drawing/2014/main" id="{5A059B02-23D1-9771-35DC-FB2C7ACC6D7B}"/>
              </a:ext>
            </a:extLst>
          </p:cNvPr>
          <p:cNvSpPr/>
          <p:nvPr/>
        </p:nvSpPr>
        <p:spPr>
          <a:xfrm>
            <a:off x="2525394" y="5271071"/>
            <a:ext cx="355704" cy="627086"/>
          </a:xfrm>
          <a:prstGeom prst="curvedLeftArrow">
            <a:avLst>
              <a:gd name="adj1" fmla="val 25000"/>
              <a:gd name="adj2" fmla="val 60590"/>
              <a:gd name="adj3" fmla="val 25000"/>
            </a:avLst>
          </a:prstGeom>
          <a:solidFill>
            <a:srgbClr val="FF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D5A1AF2-5291-149F-EFDB-DD6EBC77F5F2}"/>
              </a:ext>
            </a:extLst>
          </p:cNvPr>
          <p:cNvSpPr txBox="1"/>
          <p:nvPr/>
        </p:nvSpPr>
        <p:spPr>
          <a:xfrm rot="5400000">
            <a:off x="2860224" y="5399948"/>
            <a:ext cx="9053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>
                <a:solidFill>
                  <a:srgbClr val="FF0000"/>
                </a:solidFill>
              </a:rPr>
              <a:t>Copy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4E2DBDB-1B1E-D996-C2B5-8A0BDACD0A71}"/>
              </a:ext>
            </a:extLst>
          </p:cNvPr>
          <p:cNvCxnSpPr>
            <a:cxnSpLocks/>
          </p:cNvCxnSpPr>
          <p:nvPr/>
        </p:nvCxnSpPr>
        <p:spPr>
          <a:xfrm>
            <a:off x="1842483" y="5822611"/>
            <a:ext cx="38691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3652DD6-9141-196E-61FD-2AD0C866BC75}"/>
              </a:ext>
            </a:extLst>
          </p:cNvPr>
          <p:cNvSpPr txBox="1"/>
          <p:nvPr/>
        </p:nvSpPr>
        <p:spPr>
          <a:xfrm>
            <a:off x="6948826" y="1516283"/>
            <a:ext cx="3226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Left value – Right value</a:t>
            </a:r>
            <a:endParaRPr lang="en-VN" sz="2400"/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3410751F-731E-353F-8675-24F707863ECA}"/>
              </a:ext>
            </a:extLst>
          </p:cNvPr>
          <p:cNvSpPr txBox="1">
            <a:spLocks/>
          </p:cNvSpPr>
          <p:nvPr/>
        </p:nvSpPr>
        <p:spPr>
          <a:xfrm>
            <a:off x="7051461" y="2383968"/>
            <a:ext cx="1579356" cy="432133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2400"/>
              <a:t>i</a:t>
            </a:r>
            <a:r>
              <a:rPr lang="en-VN" sz="2400"/>
              <a:t>nt </a:t>
            </a:r>
            <a:r>
              <a:rPr lang="en-US" sz="2400"/>
              <a:t>  </a:t>
            </a:r>
            <a:r>
              <a:rPr lang="en-VN" sz="2400"/>
              <a:t>a</a:t>
            </a:r>
            <a:r>
              <a:rPr lang="en-US" sz="2400"/>
              <a:t>  </a:t>
            </a:r>
            <a:r>
              <a:rPr lang="en-VN" sz="2400"/>
              <a:t> = </a:t>
            </a:r>
            <a:r>
              <a:rPr lang="en-US" sz="2400"/>
              <a:t>  </a:t>
            </a:r>
            <a:r>
              <a:rPr lang="en-VN" sz="2400"/>
              <a:t>1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BEA50A2-F5D5-B250-BEBC-9D49AC0C428F}"/>
              </a:ext>
            </a:extLst>
          </p:cNvPr>
          <p:cNvSpPr/>
          <p:nvPr/>
        </p:nvSpPr>
        <p:spPr>
          <a:xfrm>
            <a:off x="7573630" y="2328424"/>
            <a:ext cx="371386" cy="5134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A69229F-C9B9-32B6-5CCE-DF40F7B43273}"/>
              </a:ext>
            </a:extLst>
          </p:cNvPr>
          <p:cNvSpPr txBox="1"/>
          <p:nvPr/>
        </p:nvSpPr>
        <p:spPr>
          <a:xfrm>
            <a:off x="7238377" y="3359251"/>
            <a:ext cx="10418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solidFill>
                  <a:srgbClr val="FF0000"/>
                </a:solidFill>
              </a:rPr>
              <a:t>lvalue</a:t>
            </a:r>
            <a:endParaRPr lang="en-VN" sz="2400" b="1">
              <a:solidFill>
                <a:srgbClr val="FF0000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6C15E4D-5D03-06CE-6137-5A1AF086E69E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>
            <a:off x="7759323" y="2841846"/>
            <a:ext cx="0" cy="5174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3D6AC731-B4C1-7BD8-41C5-CD492C685146}"/>
              </a:ext>
            </a:extLst>
          </p:cNvPr>
          <p:cNvSpPr/>
          <p:nvPr/>
        </p:nvSpPr>
        <p:spPr>
          <a:xfrm>
            <a:off x="8267079" y="2328424"/>
            <a:ext cx="371386" cy="5134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5966523-4883-929B-D6F6-C33E37B33C11}"/>
              </a:ext>
            </a:extLst>
          </p:cNvPr>
          <p:cNvSpPr txBox="1"/>
          <p:nvPr/>
        </p:nvSpPr>
        <p:spPr>
          <a:xfrm>
            <a:off x="8188418" y="3359250"/>
            <a:ext cx="10418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solidFill>
                  <a:srgbClr val="FF0000"/>
                </a:solidFill>
              </a:rPr>
              <a:t>rvalue</a:t>
            </a:r>
            <a:endParaRPr lang="en-VN" sz="2400" b="1">
              <a:solidFill>
                <a:srgbClr val="FF0000"/>
              </a:solidFill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45D364D-833C-6DE5-BCE8-8B4C4EC1ECAE}"/>
              </a:ext>
            </a:extLst>
          </p:cNvPr>
          <p:cNvCxnSpPr>
            <a:cxnSpLocks/>
            <a:stCxn id="54" idx="2"/>
            <a:endCxn id="55" idx="0"/>
          </p:cNvCxnSpPr>
          <p:nvPr/>
        </p:nvCxnSpPr>
        <p:spPr>
          <a:xfrm>
            <a:off x="8452772" y="2841846"/>
            <a:ext cx="256592" cy="51740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Content Placeholder 2">
            <a:extLst>
              <a:ext uri="{FF2B5EF4-FFF2-40B4-BE49-F238E27FC236}">
                <a16:creationId xmlns:a16="http://schemas.microsoft.com/office/drawing/2014/main" id="{03A7F64A-C740-8FBA-9DCB-B1AD97963200}"/>
              </a:ext>
            </a:extLst>
          </p:cNvPr>
          <p:cNvSpPr txBox="1">
            <a:spLocks/>
          </p:cNvSpPr>
          <p:nvPr/>
        </p:nvSpPr>
        <p:spPr>
          <a:xfrm>
            <a:off x="7051461" y="3872672"/>
            <a:ext cx="1726304" cy="1329545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2400"/>
              <a:t>int x = 1;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/>
              <a:t>int y = 1;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/>
              <a:t>int z = x + y;</a:t>
            </a:r>
            <a:endParaRPr lang="en-VN" sz="2400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AD0885F-9A7C-C43E-8832-87F696230360}"/>
              </a:ext>
            </a:extLst>
          </p:cNvPr>
          <p:cNvCxnSpPr>
            <a:cxnSpLocks/>
            <a:stCxn id="62" idx="0"/>
            <a:endCxn id="55" idx="2"/>
          </p:cNvCxnSpPr>
          <p:nvPr/>
        </p:nvCxnSpPr>
        <p:spPr>
          <a:xfrm flipV="1">
            <a:off x="8181922" y="3820915"/>
            <a:ext cx="527442" cy="8698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93F4797A-9793-ECF3-151F-E3DE024E5D8F}"/>
              </a:ext>
            </a:extLst>
          </p:cNvPr>
          <p:cNvSpPr/>
          <p:nvPr/>
        </p:nvSpPr>
        <p:spPr>
          <a:xfrm>
            <a:off x="7863656" y="4690758"/>
            <a:ext cx="636531" cy="4268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034848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55C0-DE10-2A2A-4C91-28EB1C42F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Programming paradigms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BAED5-144B-C6A9-2B15-6D0A17620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5</a:t>
            </a:fld>
            <a:endParaRPr lang="en-V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58354D-618F-D0DC-85D5-D38B414DFFE6}"/>
              </a:ext>
            </a:extLst>
          </p:cNvPr>
          <p:cNvSpPr/>
          <p:nvPr/>
        </p:nvSpPr>
        <p:spPr>
          <a:xfrm>
            <a:off x="5009723" y="1856261"/>
            <a:ext cx="3393495" cy="10914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2400">
                <a:solidFill>
                  <a:schemeClr val="tx1"/>
                </a:solidFill>
                <a:cs typeface="Times New Roman" panose="02020603050405020304" pitchFamily="18" charset="0"/>
              </a:rPr>
              <a:t>Imperative (stateful)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F175B6-7132-3FC7-C5C5-241BB55FA87E}"/>
              </a:ext>
            </a:extLst>
          </p:cNvPr>
          <p:cNvSpPr/>
          <p:nvPr/>
        </p:nvSpPr>
        <p:spPr>
          <a:xfrm>
            <a:off x="5009723" y="3490222"/>
            <a:ext cx="3393495" cy="10914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2400">
                <a:solidFill>
                  <a:schemeClr val="tx1"/>
                </a:solidFill>
                <a:cs typeface="Times New Roman" panose="02020603050405020304" pitchFamily="18" charset="0"/>
              </a:rPr>
              <a:t>Procedure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F6C288-0964-0772-8F43-6B9C4ACCBC23}"/>
              </a:ext>
            </a:extLst>
          </p:cNvPr>
          <p:cNvSpPr/>
          <p:nvPr/>
        </p:nvSpPr>
        <p:spPr>
          <a:xfrm>
            <a:off x="5009723" y="5101031"/>
            <a:ext cx="3393495" cy="10914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2400">
                <a:solidFill>
                  <a:schemeClr val="tx1"/>
                </a:solidFill>
                <a:cs typeface="Times New Roman" panose="02020603050405020304" pitchFamily="18" charset="0"/>
              </a:rPr>
              <a:t>Object-oriented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2E92B3-1C63-8E05-B282-EFF486DF68F4}"/>
              </a:ext>
            </a:extLst>
          </p:cNvPr>
          <p:cNvSpPr/>
          <p:nvPr/>
        </p:nvSpPr>
        <p:spPr>
          <a:xfrm>
            <a:off x="1423502" y="1856261"/>
            <a:ext cx="3393495" cy="10914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2400">
                <a:solidFill>
                  <a:schemeClr val="tx1"/>
                </a:solidFill>
                <a:cs typeface="Times New Roman" panose="02020603050405020304" pitchFamily="18" charset="0"/>
              </a:rPr>
              <a:t>Declarative (stateless)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F39FD-207C-AB18-F6C0-05FE940AD63C}"/>
              </a:ext>
            </a:extLst>
          </p:cNvPr>
          <p:cNvSpPr/>
          <p:nvPr/>
        </p:nvSpPr>
        <p:spPr>
          <a:xfrm>
            <a:off x="3004328" y="5567424"/>
            <a:ext cx="1796290" cy="6829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2400">
                <a:solidFill>
                  <a:schemeClr val="tx1"/>
                </a:solidFill>
                <a:cs typeface="Times New Roman" panose="02020603050405020304" pitchFamily="18" charset="0"/>
              </a:rPr>
              <a:t>Functional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54CE63-5279-8393-A321-1C6733E8E8E5}"/>
              </a:ext>
            </a:extLst>
          </p:cNvPr>
          <p:cNvSpPr/>
          <p:nvPr/>
        </p:nvSpPr>
        <p:spPr>
          <a:xfrm>
            <a:off x="2209223" y="4659142"/>
            <a:ext cx="1796290" cy="6829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2400">
                <a:solidFill>
                  <a:schemeClr val="tx1"/>
                </a:solidFill>
                <a:cs typeface="Times New Roman" panose="02020603050405020304" pitchFamily="18" charset="0"/>
              </a:rPr>
              <a:t>Logic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F2E5AF4-F844-3A32-7FCF-2A9D7AE65062}"/>
              </a:ext>
            </a:extLst>
          </p:cNvPr>
          <p:cNvSpPr/>
          <p:nvPr/>
        </p:nvSpPr>
        <p:spPr>
          <a:xfrm>
            <a:off x="993067" y="3822893"/>
            <a:ext cx="1796290" cy="6687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2400">
                <a:solidFill>
                  <a:schemeClr val="tx1"/>
                </a:solidFill>
                <a:cs typeface="Times New Roman" panose="02020603050405020304" pitchFamily="18" charset="0"/>
              </a:rPr>
              <a:t>Symbolic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55B4C1-5147-2A40-454C-5C18A9840FE9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6706471" y="2947686"/>
            <a:ext cx="0" cy="5425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E10C9DC-36F2-C7F6-FB92-86EEBC98C6E8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6706471" y="4581647"/>
            <a:ext cx="0" cy="51938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4A63337-A542-1FE7-CF56-A473C2F3CD7D}"/>
              </a:ext>
            </a:extLst>
          </p:cNvPr>
          <p:cNvCxnSpPr>
            <a:cxnSpLocks/>
          </p:cNvCxnSpPr>
          <p:nvPr/>
        </p:nvCxnSpPr>
        <p:spPr>
          <a:xfrm>
            <a:off x="4254754" y="2947686"/>
            <a:ext cx="0" cy="256186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4881709-62A5-D7EF-25DC-97FB5D4D51F9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flipH="1">
            <a:off x="3107368" y="2947686"/>
            <a:ext cx="12882" cy="171145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FA95D29E-8967-5C28-683A-2FAF94F489FE}"/>
              </a:ext>
            </a:extLst>
          </p:cNvPr>
          <p:cNvCxnSpPr>
            <a:cxnSpLocks/>
            <a:stCxn id="8" idx="1"/>
            <a:endCxn id="11" idx="0"/>
          </p:cNvCxnSpPr>
          <p:nvPr/>
        </p:nvCxnSpPr>
        <p:spPr>
          <a:xfrm rot="10800000" flipH="1" flipV="1">
            <a:off x="1423502" y="2401973"/>
            <a:ext cx="467710" cy="1420919"/>
          </a:xfrm>
          <a:prstGeom prst="bentConnector4">
            <a:avLst>
              <a:gd name="adj1" fmla="val -48876"/>
              <a:gd name="adj2" fmla="val 69203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52A2AB4-A414-44E1-B59B-9873F7939CFF}"/>
              </a:ext>
            </a:extLst>
          </p:cNvPr>
          <p:cNvSpPr/>
          <p:nvPr/>
        </p:nvSpPr>
        <p:spPr>
          <a:xfrm>
            <a:off x="2905246" y="5499427"/>
            <a:ext cx="2000638" cy="8338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178E90D-6497-EB96-D29C-8AE9BE171AC4}"/>
              </a:ext>
            </a:extLst>
          </p:cNvPr>
          <p:cNvSpPr txBox="1"/>
          <p:nvPr/>
        </p:nvSpPr>
        <p:spPr>
          <a:xfrm>
            <a:off x="1270265" y="5737825"/>
            <a:ext cx="16287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I love this guy!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85F759-6FB4-F5C6-A124-71EAC2EEF3CA}"/>
              </a:ext>
            </a:extLst>
          </p:cNvPr>
          <p:cNvSpPr txBox="1"/>
          <p:nvPr/>
        </p:nvSpPr>
        <p:spPr>
          <a:xfrm>
            <a:off x="6774421" y="3041059"/>
            <a:ext cx="16287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including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B5BDA95-D443-C894-5FB3-4B78352D83D5}"/>
              </a:ext>
            </a:extLst>
          </p:cNvPr>
          <p:cNvSpPr txBox="1"/>
          <p:nvPr/>
        </p:nvSpPr>
        <p:spPr>
          <a:xfrm>
            <a:off x="6774421" y="4631263"/>
            <a:ext cx="16287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including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0DA49B7-3251-9134-72C0-B0B36C0A30DE}"/>
              </a:ext>
            </a:extLst>
          </p:cNvPr>
          <p:cNvSpPr/>
          <p:nvPr/>
        </p:nvSpPr>
        <p:spPr>
          <a:xfrm>
            <a:off x="4934803" y="4942720"/>
            <a:ext cx="3536364" cy="13255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CD35F8A-DB9D-4B2F-F457-4730D9C9870C}"/>
              </a:ext>
            </a:extLst>
          </p:cNvPr>
          <p:cNvSpPr txBox="1"/>
          <p:nvPr/>
        </p:nvSpPr>
        <p:spPr>
          <a:xfrm>
            <a:off x="8546087" y="5323577"/>
            <a:ext cx="23338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But you must understand OOP first</a:t>
            </a:r>
          </a:p>
        </p:txBody>
      </p:sp>
    </p:spTree>
    <p:extLst>
      <p:ext uri="{BB962C8B-B14F-4D97-AF65-F5344CB8AC3E}">
        <p14:creationId xmlns:p14="http://schemas.microsoft.com/office/powerpoint/2010/main" val="4036441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76709-DE10-13E3-BFB1-D09899D23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Programming paradigm: </a:t>
            </a:r>
            <a:r>
              <a:rPr lang="en-VN">
                <a:cs typeface="Times New Roman" panose="02020603050405020304" pitchFamily="18" charset="0"/>
              </a:rPr>
              <a:t>Procedure</a:t>
            </a:r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7570DB-B5E0-8239-8B29-D1D96E962C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53561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VN"/>
                  <a:t>You have a variable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vi-VN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VN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vi-VN" b="0" i="1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VN"/>
                  <a:t>, then apply a series of procedures to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VN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vi-VN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VN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7570DB-B5E0-8239-8B29-D1D96E962C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535610"/>
              </a:xfrm>
              <a:blipFill>
                <a:blip r:embed="rId2"/>
                <a:stretch>
                  <a:fillRect l="-1206" t="-18605" b="-2325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BD579-99E7-E8E6-65B7-DBB5758F7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6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2135E4D-3A92-AAA7-F493-C5A2986C2293}"/>
                  </a:ext>
                </a:extLst>
              </p:cNvPr>
              <p:cNvSpPr txBox="1"/>
              <p:nvPr/>
            </p:nvSpPr>
            <p:spPr>
              <a:xfrm>
                <a:off x="838200" y="2635071"/>
                <a:ext cx="66650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sz="28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vi-VN" sz="2800" b="0" i="1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</m:oMath>
                  </m:oMathPara>
                </a14:m>
                <a:endParaRPr lang="en-VN" sz="280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2135E4D-3A92-AAA7-F493-C5A2986C2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635071"/>
                <a:ext cx="66650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D76384F-B117-BBC4-1CCE-6FBE55FB350B}"/>
                  </a:ext>
                </a:extLst>
              </p:cNvPr>
              <p:cNvSpPr/>
              <p:nvPr/>
            </p:nvSpPr>
            <p:spPr>
              <a:xfrm>
                <a:off x="1956122" y="2478012"/>
                <a:ext cx="2500131" cy="83733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VN" sz="2400">
                    <a:solidFill>
                      <a:schemeClr val="tx1"/>
                    </a:solidFill>
                  </a:rPr>
                  <a:t>Procedure 1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vi-VN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VN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vi-VN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VN" sz="240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D76384F-B117-BBC4-1CCE-6FBE55FB35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6122" y="2478012"/>
                <a:ext cx="2500131" cy="837337"/>
              </a:xfrm>
              <a:prstGeom prst="rect">
                <a:avLst/>
              </a:prstGeom>
              <a:blipFill>
                <a:blip r:embed="rId4"/>
                <a:stretch>
                  <a:fillRect l="-50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64E2B7E-9F34-4A83-2FE7-3087FA97A692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04709" y="2896681"/>
            <a:ext cx="45141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73B48AA-BE41-9E04-97B1-BF9050B626D4}"/>
                  </a:ext>
                </a:extLst>
              </p:cNvPr>
              <p:cNvSpPr txBox="1"/>
              <p:nvPr/>
            </p:nvSpPr>
            <p:spPr>
              <a:xfrm>
                <a:off x="4978078" y="2635071"/>
                <a:ext cx="66650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sz="28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vi-VN" sz="2800" b="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VN" sz="2800" i="1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73B48AA-BE41-9E04-97B1-BF9050B62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8078" y="2635071"/>
                <a:ext cx="666509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C64BD38-A30E-FFED-4D24-4F34DB3C5A42}"/>
                  </a:ext>
                </a:extLst>
              </p:cNvPr>
              <p:cNvSpPr/>
              <p:nvPr/>
            </p:nvSpPr>
            <p:spPr>
              <a:xfrm>
                <a:off x="6096000" y="2478012"/>
                <a:ext cx="2500131" cy="83733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VN" sz="2400">
                    <a:solidFill>
                      <a:schemeClr val="tx1"/>
                    </a:solidFill>
                  </a:rPr>
                  <a:t>Procedure 2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vi-VN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VN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vi-VN" sz="24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VN" sz="240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C64BD38-A30E-FFED-4D24-4F34DB3C5A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478012"/>
                <a:ext cx="2500131" cy="83733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9634CE-C21E-F361-11E2-355D17D72664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5644587" y="2896681"/>
            <a:ext cx="45141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D7C70B6-ED35-2092-E69B-476A14735DF8}"/>
              </a:ext>
            </a:extLst>
          </p:cNvPr>
          <p:cNvCxnSpPr>
            <a:cxnSpLocks/>
            <a:stCxn id="7" idx="3"/>
            <a:endCxn id="13" idx="1"/>
          </p:cNvCxnSpPr>
          <p:nvPr/>
        </p:nvCxnSpPr>
        <p:spPr>
          <a:xfrm>
            <a:off x="4456253" y="2896681"/>
            <a:ext cx="521825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3CE57F5-EF52-D584-797F-9ED80CA23A1C}"/>
                  </a:ext>
                </a:extLst>
              </p:cNvPr>
              <p:cNvSpPr txBox="1"/>
              <p:nvPr/>
            </p:nvSpPr>
            <p:spPr>
              <a:xfrm>
                <a:off x="10171253" y="2635071"/>
                <a:ext cx="666509" cy="5309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sz="28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vi-VN" sz="28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VN" sz="2800" i="1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3CE57F5-EF52-D584-797F-9ED80CA23A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71253" y="2635071"/>
                <a:ext cx="666509" cy="53091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7412A5E-1ABE-D413-0EFF-9A20AF16371B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9649428" y="2896681"/>
            <a:ext cx="521825" cy="384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93A54EA-06AB-C869-8ECF-46C84A42DBCF}"/>
              </a:ext>
            </a:extLst>
          </p:cNvPr>
          <p:cNvCxnSpPr>
            <a:cxnSpLocks/>
          </p:cNvCxnSpPr>
          <p:nvPr/>
        </p:nvCxnSpPr>
        <p:spPr>
          <a:xfrm>
            <a:off x="8596131" y="2896681"/>
            <a:ext cx="45141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E09B45-EAFB-778A-75B8-2392DA0EEE2E}"/>
                  </a:ext>
                </a:extLst>
              </p:cNvPr>
              <p:cNvSpPr txBox="1"/>
              <p:nvPr/>
            </p:nvSpPr>
            <p:spPr>
              <a:xfrm>
                <a:off x="8992082" y="2559035"/>
                <a:ext cx="66650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2800" b="0" i="1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VN" sz="2800" i="1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E09B45-EAFB-778A-75B8-2392DA0EEE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2082" y="2559035"/>
                <a:ext cx="666509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F5F26F57-CBCD-70B7-7A93-8E8C7248FB64}"/>
              </a:ext>
            </a:extLst>
          </p:cNvPr>
          <p:cNvSpPr/>
          <p:nvPr/>
        </p:nvSpPr>
        <p:spPr>
          <a:xfrm>
            <a:off x="838200" y="2361235"/>
            <a:ext cx="10025743" cy="10677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2">
                <a:extLst>
                  <a:ext uri="{FF2B5EF4-FFF2-40B4-BE49-F238E27FC236}">
                    <a16:creationId xmlns:a16="http://schemas.microsoft.com/office/drawing/2014/main" id="{887623EB-9017-3531-1145-2EDDBCC098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49388" y="3518869"/>
                <a:ext cx="5221628" cy="36512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VN" sz="2000">
                    <a:solidFill>
                      <a:srgbClr val="FF0000"/>
                    </a:solidFill>
                  </a:rPr>
                  <a:t>Stateful process, without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vi-VN" sz="2000" b="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VN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vi-VN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en-VN" sz="2000" i="1">
                    <a:solidFill>
                      <a:srgbClr val="FF0000"/>
                    </a:solidFill>
                  </a:rPr>
                  <a:t>, </a:t>
                </a:r>
                <a:r>
                  <a:rPr lang="en-VN" sz="2000">
                    <a:solidFill>
                      <a:srgbClr val="FF0000"/>
                    </a:solidFill>
                  </a:rPr>
                  <a:t>we are cooked </a:t>
                </a:r>
                <a:r>
                  <a:rPr lang="en-VN" sz="2000"/>
                  <a:t>💀</a:t>
                </a:r>
                <a:endParaRPr lang="en-VN" sz="2000" i="1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Content Placeholder 2">
                <a:extLst>
                  <a:ext uri="{FF2B5EF4-FFF2-40B4-BE49-F238E27FC236}">
                    <a16:creationId xmlns:a16="http://schemas.microsoft.com/office/drawing/2014/main" id="{887623EB-9017-3531-1145-2EDDBCC098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9388" y="3518869"/>
                <a:ext cx="5221628" cy="365125"/>
              </a:xfrm>
              <a:prstGeom prst="rect">
                <a:avLst/>
              </a:prstGeom>
              <a:blipFill>
                <a:blip r:embed="rId9"/>
                <a:stretch>
                  <a:fillRect l="-1214" t="-16667" b="-233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06208800-9994-00A5-E5EC-09C9745F2157}"/>
              </a:ext>
            </a:extLst>
          </p:cNvPr>
          <p:cNvSpPr txBox="1">
            <a:spLocks/>
          </p:cNvSpPr>
          <p:nvPr/>
        </p:nvSpPr>
        <p:spPr>
          <a:xfrm>
            <a:off x="838200" y="4756189"/>
            <a:ext cx="979025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Rice</a:t>
            </a:r>
          </a:p>
        </p:txBody>
      </p:sp>
      <p:pic>
        <p:nvPicPr>
          <p:cNvPr id="1026" name="Picture 2" descr="Rice Icons - Free SVG &amp; PNG Rice Images - Noun Project">
            <a:extLst>
              <a:ext uri="{FF2B5EF4-FFF2-40B4-BE49-F238E27FC236}">
                <a16:creationId xmlns:a16="http://schemas.microsoft.com/office/drawing/2014/main" id="{8433F2AB-6C11-C08B-0E34-E45C9930B2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91799"/>
            <a:ext cx="815006" cy="815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641CF0BA-7791-FD18-831B-96E7DDC55C0B}"/>
              </a:ext>
            </a:extLst>
          </p:cNvPr>
          <p:cNvSpPr txBox="1">
            <a:spLocks/>
          </p:cNvSpPr>
          <p:nvPr/>
        </p:nvSpPr>
        <p:spPr>
          <a:xfrm>
            <a:off x="3936355" y="4756189"/>
            <a:ext cx="2141317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Cooked rice</a:t>
            </a:r>
          </a:p>
        </p:txBody>
      </p:sp>
      <p:pic>
        <p:nvPicPr>
          <p:cNvPr id="1028" name="Picture 4" descr="Rice - Free food icons">
            <a:extLst>
              <a:ext uri="{FF2B5EF4-FFF2-40B4-BE49-F238E27FC236}">
                <a16:creationId xmlns:a16="http://schemas.microsoft.com/office/drawing/2014/main" id="{63F446A4-E6ED-6476-0B9F-577184F168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5229" y="5233196"/>
            <a:ext cx="932211" cy="932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6BC237E-B8BF-CBC6-26CC-F723DC3A8510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1817225" y="5023994"/>
            <a:ext cx="211913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30" name="Picture 6" descr="Nồi Cơm điện Hình ảnh PNG | Vector Và Các Tập Tin PSD | Tải ...">
            <a:extLst>
              <a:ext uri="{FF2B5EF4-FFF2-40B4-BE49-F238E27FC236}">
                <a16:creationId xmlns:a16="http://schemas.microsoft.com/office/drawing/2014/main" id="{5AA23108-132F-2B1E-1992-6934BD77CE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2046" y="4187936"/>
            <a:ext cx="815007" cy="815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" descr="Rice Icons - Free SVG &amp; PNG Rice Images - Noun Project">
            <a:extLst>
              <a:ext uri="{FF2B5EF4-FFF2-40B4-BE49-F238E27FC236}">
                <a16:creationId xmlns:a16="http://schemas.microsoft.com/office/drawing/2014/main" id="{5402C60E-43D2-4622-EDD4-39DF35F40D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873" y="4348686"/>
            <a:ext cx="535601" cy="535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8407D78-AD78-0FB0-4EB3-411B8DBE91B1}"/>
              </a:ext>
            </a:extLst>
          </p:cNvPr>
          <p:cNvSpPr txBox="1">
            <a:spLocks/>
          </p:cNvSpPr>
          <p:nvPr/>
        </p:nvSpPr>
        <p:spPr>
          <a:xfrm>
            <a:off x="2825965" y="4392878"/>
            <a:ext cx="979715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(        )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EB2DA024-0443-4348-98DB-EEAA7E964E85}"/>
              </a:ext>
            </a:extLst>
          </p:cNvPr>
          <p:cNvSpPr txBox="1">
            <a:spLocks/>
          </p:cNvSpPr>
          <p:nvPr/>
        </p:nvSpPr>
        <p:spPr>
          <a:xfrm>
            <a:off x="8422510" y="4756189"/>
            <a:ext cx="2141317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Fried rice</a:t>
            </a:r>
          </a:p>
        </p:txBody>
      </p:sp>
      <p:pic>
        <p:nvPicPr>
          <p:cNvPr id="1032" name="Picture 8" descr="Fried rice - Free food icons">
            <a:extLst>
              <a:ext uri="{FF2B5EF4-FFF2-40B4-BE49-F238E27FC236}">
                <a16:creationId xmlns:a16="http://schemas.microsoft.com/office/drawing/2014/main" id="{0535807D-A7BC-57BD-44FD-08AA41AE07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2397" y="5086626"/>
            <a:ext cx="1020179" cy="10201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4880D2C-6A83-67EA-39CA-1AFC9CDB44DC}"/>
              </a:ext>
            </a:extLst>
          </p:cNvPr>
          <p:cNvCxnSpPr>
            <a:cxnSpLocks/>
            <a:stCxn id="26" idx="3"/>
            <a:endCxn id="32" idx="1"/>
          </p:cNvCxnSpPr>
          <p:nvPr/>
        </p:nvCxnSpPr>
        <p:spPr>
          <a:xfrm>
            <a:off x="6077672" y="5023994"/>
            <a:ext cx="23448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34" name="Picture 10" descr="Frying pan - Free food icons">
            <a:extLst>
              <a:ext uri="{FF2B5EF4-FFF2-40B4-BE49-F238E27FC236}">
                <a16:creationId xmlns:a16="http://schemas.microsoft.com/office/drawing/2014/main" id="{A53F1646-3B11-FF8B-83BD-10D6A49B60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1898" y="4054316"/>
            <a:ext cx="1120596" cy="1120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65C95781-2BFC-DCE3-7506-8DA45D182D43}"/>
              </a:ext>
            </a:extLst>
          </p:cNvPr>
          <p:cNvSpPr txBox="1">
            <a:spLocks/>
          </p:cNvSpPr>
          <p:nvPr/>
        </p:nvSpPr>
        <p:spPr>
          <a:xfrm>
            <a:off x="7132457" y="4455349"/>
            <a:ext cx="979715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(        )</a:t>
            </a:r>
          </a:p>
        </p:txBody>
      </p:sp>
      <p:pic>
        <p:nvPicPr>
          <p:cNvPr id="37" name="Picture 4" descr="Rice - Free food icons">
            <a:extLst>
              <a:ext uri="{FF2B5EF4-FFF2-40B4-BE49-F238E27FC236}">
                <a16:creationId xmlns:a16="http://schemas.microsoft.com/office/drawing/2014/main" id="{27ED0025-B39D-1B49-F2EE-87CEEBBB16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4509" y="4429261"/>
            <a:ext cx="535610" cy="535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87784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E1042-2B53-F639-3240-E5F2D5C0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Programming paradigm: </a:t>
            </a:r>
            <a:r>
              <a:rPr lang="en-VN">
                <a:cs typeface="Times New Roman" panose="02020603050405020304" pitchFamily="18" charset="0"/>
              </a:rPr>
              <a:t>Procedure</a:t>
            </a:r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84CB1-5A68-7AF0-5D11-B193C253D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7</a:t>
            </a:fld>
            <a:endParaRPr lang="en-VN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DA590CB-7E63-0E18-D640-59895C282E8C}"/>
              </a:ext>
            </a:extLst>
          </p:cNvPr>
          <p:cNvSpPr txBox="1">
            <a:spLocks/>
          </p:cNvSpPr>
          <p:nvPr/>
        </p:nvSpPr>
        <p:spPr>
          <a:xfrm>
            <a:off x="838200" y="2186610"/>
            <a:ext cx="979025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Rice</a:t>
            </a:r>
          </a:p>
        </p:txBody>
      </p:sp>
      <p:pic>
        <p:nvPicPr>
          <p:cNvPr id="6" name="Picture 2" descr="Rice Icons - Free SVG &amp; PNG Rice Images - Noun Project">
            <a:extLst>
              <a:ext uri="{FF2B5EF4-FFF2-40B4-BE49-F238E27FC236}">
                <a16:creationId xmlns:a16="http://schemas.microsoft.com/office/drawing/2014/main" id="{2C463450-80C8-55D0-DFEC-F3E949885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722220"/>
            <a:ext cx="815006" cy="815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3A5284B-62F6-8C31-C284-6D6F71E86E38}"/>
              </a:ext>
            </a:extLst>
          </p:cNvPr>
          <p:cNvSpPr txBox="1">
            <a:spLocks/>
          </p:cNvSpPr>
          <p:nvPr/>
        </p:nvSpPr>
        <p:spPr>
          <a:xfrm>
            <a:off x="3936355" y="2186610"/>
            <a:ext cx="2141317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Cooked rice</a:t>
            </a:r>
          </a:p>
        </p:txBody>
      </p:sp>
      <p:pic>
        <p:nvPicPr>
          <p:cNvPr id="8" name="Picture 4" descr="Rice - Free food icons">
            <a:extLst>
              <a:ext uri="{FF2B5EF4-FFF2-40B4-BE49-F238E27FC236}">
                <a16:creationId xmlns:a16="http://schemas.microsoft.com/office/drawing/2014/main" id="{8C230690-F81C-FA01-1051-2B7B3FA5B1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5229" y="2663617"/>
            <a:ext cx="932211" cy="932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20E3EED-6339-6858-9D88-5A0CEEB8EA98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1817225" y="2454415"/>
            <a:ext cx="211913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" name="Picture 6" descr="Nồi Cơm điện Hình ảnh PNG | Vector Và Các Tập Tin PSD | Tải ...">
            <a:extLst>
              <a:ext uri="{FF2B5EF4-FFF2-40B4-BE49-F238E27FC236}">
                <a16:creationId xmlns:a16="http://schemas.microsoft.com/office/drawing/2014/main" id="{94991861-5808-B859-DC16-09428AFFE2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2046" y="1618357"/>
            <a:ext cx="815007" cy="815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Rice Icons - Free SVG &amp; PNG Rice Images - Noun Project">
            <a:extLst>
              <a:ext uri="{FF2B5EF4-FFF2-40B4-BE49-F238E27FC236}">
                <a16:creationId xmlns:a16="http://schemas.microsoft.com/office/drawing/2014/main" id="{38B727DA-FE95-4F0F-662B-1F346D029A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873" y="1779107"/>
            <a:ext cx="535601" cy="535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A4DE8A02-846A-FD29-36E7-23490826D394}"/>
              </a:ext>
            </a:extLst>
          </p:cNvPr>
          <p:cNvSpPr txBox="1">
            <a:spLocks/>
          </p:cNvSpPr>
          <p:nvPr/>
        </p:nvSpPr>
        <p:spPr>
          <a:xfrm>
            <a:off x="2825965" y="1823299"/>
            <a:ext cx="979715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(        )</a:t>
            </a:r>
          </a:p>
        </p:txBody>
      </p:sp>
      <p:pic>
        <p:nvPicPr>
          <p:cNvPr id="13" name="Picture 8" descr="Fried rice - Free food icons">
            <a:extLst>
              <a:ext uri="{FF2B5EF4-FFF2-40B4-BE49-F238E27FC236}">
                <a16:creationId xmlns:a16="http://schemas.microsoft.com/office/drawing/2014/main" id="{0D1B38CC-5CC9-93B7-6970-B323E071A0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2397" y="2517047"/>
            <a:ext cx="1020179" cy="10201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9E333E-57F5-8236-AA0E-FADF2380DE52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6077672" y="2454415"/>
            <a:ext cx="23448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0" descr="Frying pan - Free food icons">
            <a:extLst>
              <a:ext uri="{FF2B5EF4-FFF2-40B4-BE49-F238E27FC236}">
                <a16:creationId xmlns:a16="http://schemas.microsoft.com/office/drawing/2014/main" id="{6D946B01-66C4-F6FE-F9F3-7E5DE5B2A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1898" y="1484737"/>
            <a:ext cx="1120596" cy="1120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E0A0928-3873-7645-9E6C-132D1ACEF998}"/>
              </a:ext>
            </a:extLst>
          </p:cNvPr>
          <p:cNvSpPr txBox="1">
            <a:spLocks/>
          </p:cNvSpPr>
          <p:nvPr/>
        </p:nvSpPr>
        <p:spPr>
          <a:xfrm>
            <a:off x="7132457" y="1885770"/>
            <a:ext cx="979715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(        )</a:t>
            </a:r>
          </a:p>
        </p:txBody>
      </p:sp>
      <p:pic>
        <p:nvPicPr>
          <p:cNvPr id="17" name="Picture 4" descr="Rice - Free food icons">
            <a:extLst>
              <a:ext uri="{FF2B5EF4-FFF2-40B4-BE49-F238E27FC236}">
                <a16:creationId xmlns:a16="http://schemas.microsoft.com/office/drawing/2014/main" id="{A3A23161-94F4-BEC8-9FDB-1D59B481AE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4509" y="1859682"/>
            <a:ext cx="535610" cy="535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3B7FB76-07F4-CC2D-A56D-92B5113D7369}"/>
              </a:ext>
            </a:extLst>
          </p:cNvPr>
          <p:cNvSpPr txBox="1"/>
          <p:nvPr/>
        </p:nvSpPr>
        <p:spPr>
          <a:xfrm>
            <a:off x="838200" y="3442621"/>
            <a:ext cx="23131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/>
              <a:t>Input:</a:t>
            </a:r>
          </a:p>
          <a:p>
            <a:pPr marL="285750" indent="-285750">
              <a:buFontTx/>
              <a:buChar char="-"/>
            </a:pPr>
            <a:r>
              <a:rPr lang="en-VN"/>
              <a:t>Quantity</a:t>
            </a:r>
          </a:p>
          <a:p>
            <a:pPr marL="285750" indent="-285750">
              <a:buFontTx/>
              <a:buChar char="-"/>
            </a:pPr>
            <a:r>
              <a:rPr lang="en-VN"/>
              <a:t>Volume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C8CA49-5D8F-5C23-F60E-4D8C6B96642C}"/>
              </a:ext>
            </a:extLst>
          </p:cNvPr>
          <p:cNvSpPr txBox="1"/>
          <p:nvPr/>
        </p:nvSpPr>
        <p:spPr>
          <a:xfrm>
            <a:off x="3936355" y="3442621"/>
            <a:ext cx="27885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VN"/>
          </a:p>
          <a:p>
            <a:pPr marL="285750" indent="-285750">
              <a:buFontTx/>
              <a:buChar char="-"/>
            </a:pPr>
            <a:r>
              <a:rPr lang="en-VN"/>
              <a:t>Quantity (unchange)</a:t>
            </a:r>
          </a:p>
          <a:p>
            <a:pPr marL="285750" indent="-285750">
              <a:buFontTx/>
              <a:buChar char="-"/>
            </a:pPr>
            <a:r>
              <a:rPr lang="en-VN"/>
              <a:t>Volume (+50%)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1FE5A4-642F-118D-24DB-60D8DD27CD6E}"/>
              </a:ext>
            </a:extLst>
          </p:cNvPr>
          <p:cNvSpPr txBox="1"/>
          <p:nvPr/>
        </p:nvSpPr>
        <p:spPr>
          <a:xfrm>
            <a:off x="8422510" y="3442621"/>
            <a:ext cx="27885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VN"/>
          </a:p>
          <a:p>
            <a:pPr marL="285750" indent="-285750">
              <a:buFontTx/>
              <a:buChar char="-"/>
            </a:pPr>
            <a:r>
              <a:rPr lang="en-VN"/>
              <a:t>Quantity (-10%)</a:t>
            </a:r>
          </a:p>
          <a:p>
            <a:pPr marL="285750" indent="-285750">
              <a:buFontTx/>
              <a:buChar char="-"/>
            </a:pPr>
            <a:r>
              <a:rPr lang="en-VN"/>
              <a:t>Volume (-30%)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E797C8D-F8A6-97AB-CF99-F85D75987C65}"/>
                  </a:ext>
                </a:extLst>
              </p:cNvPr>
              <p:cNvSpPr txBox="1"/>
              <p:nvPr/>
            </p:nvSpPr>
            <p:spPr>
              <a:xfrm>
                <a:off x="838199" y="4433392"/>
                <a:ext cx="9451695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VN" sz="2400" b="1"/>
                  <a:t>Exercise</a:t>
                </a:r>
                <a:r>
                  <a:rPr lang="en-VN" sz="2400"/>
                  <a:t>: Let </a:t>
                </a:r>
                <a14:m>
                  <m:oMath xmlns:m="http://schemas.openxmlformats.org/officeDocument/2006/math">
                    <m:r>
                      <a:rPr lang="en-VN" sz="2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VN" sz="2400"/>
                  <a:t> is number of rice grains and </a:t>
                </a:r>
                <a14:m>
                  <m:oMath xmlns:m="http://schemas.openxmlformats.org/officeDocument/2006/math">
                    <m:r>
                      <a:rPr lang="en-VN" sz="2400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VN" sz="2400"/>
                  <a:t> is the total volume, return final number of rice grains and volume, using 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E797C8D-F8A6-97AB-CF99-F85D75987C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4433392"/>
                <a:ext cx="9451695" cy="830997"/>
              </a:xfrm>
              <a:prstGeom prst="rect">
                <a:avLst/>
              </a:prstGeom>
              <a:blipFill>
                <a:blip r:embed="rId7"/>
                <a:stretch>
                  <a:fillRect l="-938" t="-4478" b="-1641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77C34D47-2D97-E9BA-9F44-8F17BDD06270}"/>
              </a:ext>
            </a:extLst>
          </p:cNvPr>
          <p:cNvSpPr txBox="1">
            <a:spLocks/>
          </p:cNvSpPr>
          <p:nvPr/>
        </p:nvSpPr>
        <p:spPr>
          <a:xfrm>
            <a:off x="8422510" y="2186608"/>
            <a:ext cx="2141317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Fried rice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ED444F32-4938-CB16-8676-450B450C12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1775" y="5294698"/>
            <a:ext cx="4508325" cy="1432378"/>
          </a:xfrm>
          <a:solidFill>
            <a:srgbClr val="D9D9D9"/>
          </a:solidFill>
        </p:spPr>
        <p:txBody>
          <a:bodyPr>
            <a:normAutofit lnSpcReduction="1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400"/>
              <a:t>s</a:t>
            </a:r>
            <a:r>
              <a:rPr lang="en-VN" sz="2400"/>
              <a:t>truct Rice  {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VN" sz="2400"/>
              <a:t>   int numGrains; float volume;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VN" sz="2400"/>
              <a:t>};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3DE5BBF-88C7-B86C-1194-C545A55620D4}"/>
              </a:ext>
            </a:extLst>
          </p:cNvPr>
          <p:cNvSpPr/>
          <p:nvPr/>
        </p:nvSpPr>
        <p:spPr>
          <a:xfrm>
            <a:off x="1826326" y="5239643"/>
            <a:ext cx="650656" cy="4078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1E2CB3-9CC2-7245-7C71-A6D0C0C18FDF}"/>
              </a:ext>
            </a:extLst>
          </p:cNvPr>
          <p:cNvSpPr txBox="1"/>
          <p:nvPr/>
        </p:nvSpPr>
        <p:spPr>
          <a:xfrm>
            <a:off x="5596839" y="5215817"/>
            <a:ext cx="38230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>
                <a:solidFill>
                  <a:srgbClr val="FF0000"/>
                </a:solidFill>
              </a:rPr>
              <a:t>We care about struct </a:t>
            </a:r>
            <a:r>
              <a:rPr lang="en-VN" sz="2400" b="1">
                <a:solidFill>
                  <a:srgbClr val="FF0000"/>
                </a:solidFill>
              </a:rPr>
              <a:t>Rice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AE19F7A-DFF6-87D7-19F2-6FC954D57769}"/>
              </a:ext>
            </a:extLst>
          </p:cNvPr>
          <p:cNvCxnSpPr>
            <a:stCxn id="25" idx="3"/>
            <a:endCxn id="26" idx="1"/>
          </p:cNvCxnSpPr>
          <p:nvPr/>
        </p:nvCxnSpPr>
        <p:spPr>
          <a:xfrm>
            <a:off x="2476982" y="5443562"/>
            <a:ext cx="3119857" cy="308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152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A2F5E-5982-33FD-55A6-B476FC35E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AAC34-11B9-E6A0-1F85-44FE4DB8A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Programming paradigm: </a:t>
            </a:r>
            <a:r>
              <a:rPr lang="en-VN">
                <a:cs typeface="Times New Roman" panose="02020603050405020304" pitchFamily="18" charset="0"/>
              </a:rPr>
              <a:t>Procedure</a:t>
            </a:r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3C774A-B2CF-F537-CB4D-1A19A6833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8</a:t>
            </a:fld>
            <a:endParaRPr lang="en-VN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77B8E27-F393-9B20-F426-BAB9E2D95E85}"/>
              </a:ext>
            </a:extLst>
          </p:cNvPr>
          <p:cNvSpPr txBox="1">
            <a:spLocks/>
          </p:cNvSpPr>
          <p:nvPr/>
        </p:nvSpPr>
        <p:spPr>
          <a:xfrm>
            <a:off x="1008948" y="2283150"/>
            <a:ext cx="1137191" cy="236224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Rice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VN"/>
          </a:p>
          <a:p>
            <a:pPr marL="0" indent="0">
              <a:buFont typeface="Arial" panose="020B0604020202020204" pitchFamily="34" charset="0"/>
              <a:buNone/>
            </a:pPr>
            <a:r>
              <a:rPr lang="en-VN">
                <a:solidFill>
                  <a:schemeClr val="accent2"/>
                </a:solidFill>
              </a:rPr>
              <a:t>Sticky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>
                <a:solidFill>
                  <a:schemeClr val="accent2"/>
                </a:solidFill>
              </a:rPr>
              <a:t>rice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…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62C6F4-0B77-7879-CDAD-C4E442983385}"/>
              </a:ext>
            </a:extLst>
          </p:cNvPr>
          <p:cNvSpPr txBox="1">
            <a:spLocks/>
          </p:cNvSpPr>
          <p:nvPr/>
        </p:nvSpPr>
        <p:spPr>
          <a:xfrm>
            <a:off x="4265269" y="2283151"/>
            <a:ext cx="2141317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Cooked rice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C8E1047-4E56-0C13-98A9-4E3D3A8030EA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2123952" y="2550956"/>
            <a:ext cx="214131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" name="Picture 6" descr="Nồi Cơm điện Hình ảnh PNG | Vector Và Các Tập Tin PSD | Tải ...">
            <a:extLst>
              <a:ext uri="{FF2B5EF4-FFF2-40B4-BE49-F238E27FC236}">
                <a16:creationId xmlns:a16="http://schemas.microsoft.com/office/drawing/2014/main" id="{7CD9CEDA-EF14-7094-8BA5-E3B293508D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0960" y="1714898"/>
            <a:ext cx="815007" cy="815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809A999-4010-EE0B-80E9-B665D3B3D17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6406586" y="2550956"/>
            <a:ext cx="23448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0" descr="Frying pan - Free food icons">
            <a:extLst>
              <a:ext uri="{FF2B5EF4-FFF2-40B4-BE49-F238E27FC236}">
                <a16:creationId xmlns:a16="http://schemas.microsoft.com/office/drawing/2014/main" id="{F2EE7081-5EC7-3CD2-8068-30597E5E52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3247" y="1581278"/>
            <a:ext cx="1120596" cy="1120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C7CA4B8F-8F14-27CF-2470-2E475AFC35CD}"/>
              </a:ext>
            </a:extLst>
          </p:cNvPr>
          <p:cNvSpPr txBox="1">
            <a:spLocks/>
          </p:cNvSpPr>
          <p:nvPr/>
        </p:nvSpPr>
        <p:spPr>
          <a:xfrm>
            <a:off x="8751424" y="2283149"/>
            <a:ext cx="2141317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Fried rice</a:t>
            </a:r>
          </a:p>
        </p:txBody>
      </p:sp>
      <p:pic>
        <p:nvPicPr>
          <p:cNvPr id="33" name="Picture 6" descr="Nồi Cơm điện Hình ảnh PNG | Vector Và Các Tập Tin PSD | Tải ...">
            <a:extLst>
              <a:ext uri="{FF2B5EF4-FFF2-40B4-BE49-F238E27FC236}">
                <a16:creationId xmlns:a16="http://schemas.microsoft.com/office/drawing/2014/main" id="{46A562CE-3FE8-76B9-3C53-BFAFB7519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0960" y="2632957"/>
            <a:ext cx="815007" cy="815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16CD4676-D8BA-4CD2-DB78-9E90D13FC600}"/>
              </a:ext>
            </a:extLst>
          </p:cNvPr>
          <p:cNvSpPr txBox="1">
            <a:spLocks/>
          </p:cNvSpPr>
          <p:nvPr/>
        </p:nvSpPr>
        <p:spPr>
          <a:xfrm>
            <a:off x="3800441" y="3257736"/>
            <a:ext cx="3118432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>
                <a:solidFill>
                  <a:schemeClr val="accent2"/>
                </a:solidFill>
              </a:rPr>
              <a:t>Cooked sticky rice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0319CB7-5EE2-1400-F852-F86B72CE20E6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2123952" y="3525541"/>
            <a:ext cx="1676489" cy="0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A004BC9-79A6-5571-ED75-DCFEC279F279}"/>
              </a:ext>
            </a:extLst>
          </p:cNvPr>
          <p:cNvCxnSpPr>
            <a:cxnSpLocks/>
          </p:cNvCxnSpPr>
          <p:nvPr/>
        </p:nvCxnSpPr>
        <p:spPr>
          <a:xfrm>
            <a:off x="6941060" y="3501319"/>
            <a:ext cx="1788177" cy="0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7" name="Picture 10" descr="Frying pan - Free food icons">
            <a:extLst>
              <a:ext uri="{FF2B5EF4-FFF2-40B4-BE49-F238E27FC236}">
                <a16:creationId xmlns:a16="http://schemas.microsoft.com/office/drawing/2014/main" id="{7CE05142-B2DE-731F-E406-E456A5504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1060" y="2531641"/>
            <a:ext cx="1120596" cy="1120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709C98E5-B598-A453-BE8A-3385EBB264B3}"/>
              </a:ext>
            </a:extLst>
          </p:cNvPr>
          <p:cNvSpPr txBox="1">
            <a:spLocks/>
          </p:cNvSpPr>
          <p:nvPr/>
        </p:nvSpPr>
        <p:spPr>
          <a:xfrm>
            <a:off x="8729237" y="3233512"/>
            <a:ext cx="2953477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>
                <a:solidFill>
                  <a:schemeClr val="accent2"/>
                </a:solidFill>
              </a:rPr>
              <a:t>Fried sticky rice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B073472-3A2B-B3E9-DB71-18E0ED643FF5}"/>
              </a:ext>
            </a:extLst>
          </p:cNvPr>
          <p:cNvSpPr/>
          <p:nvPr/>
        </p:nvSpPr>
        <p:spPr>
          <a:xfrm>
            <a:off x="838200" y="1546810"/>
            <a:ext cx="10515600" cy="29775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C6DD393-E399-FC00-5F2F-ACD8202F9A60}"/>
              </a:ext>
            </a:extLst>
          </p:cNvPr>
          <p:cNvSpPr txBox="1"/>
          <p:nvPr/>
        </p:nvSpPr>
        <p:spPr>
          <a:xfrm>
            <a:off x="4513402" y="4524342"/>
            <a:ext cx="38230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>
                <a:solidFill>
                  <a:srgbClr val="FF0000"/>
                </a:solidFill>
              </a:rPr>
              <a:t>Boilerplate</a:t>
            </a:r>
            <a:endParaRPr lang="en-VN" sz="2400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4101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F9C07-C714-F9F3-B291-6197E73D7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Programming paradigm: </a:t>
            </a:r>
            <a:r>
              <a:rPr lang="en-VN">
                <a:cs typeface="Times New Roman" panose="02020603050405020304" pitchFamily="18" charset="0"/>
              </a:rPr>
              <a:t>OOP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5A4B9-9F60-BE4F-579B-47DFD8FDB4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VN" b="1"/>
              <a:t>class</a:t>
            </a:r>
            <a:r>
              <a:rPr lang="en-VN"/>
              <a:t> is simply an upgrade version of </a:t>
            </a:r>
            <a:r>
              <a:rPr lang="en-VN" b="1"/>
              <a:t>struct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A05978-A7B7-1539-D02F-933F739CC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118418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7220</TotalTime>
  <Words>384</Words>
  <Application>Microsoft Office PowerPoint</Application>
  <PresentationFormat>Widescreen</PresentationFormat>
  <Paragraphs>124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Times New Roman</vt:lpstr>
      <vt:lpstr>Office Theme</vt:lpstr>
      <vt:lpstr>Intro OOP</vt:lpstr>
      <vt:lpstr>Timeline</vt:lpstr>
      <vt:lpstr>C++: Pointer</vt:lpstr>
      <vt:lpstr>C++</vt:lpstr>
      <vt:lpstr>Programming paradigms</vt:lpstr>
      <vt:lpstr>Programming paradigm: Procedure</vt:lpstr>
      <vt:lpstr>Programming paradigm: Procedure</vt:lpstr>
      <vt:lpstr>Programming paradigm: Procedure</vt:lpstr>
      <vt:lpstr>Programming paradigm: OOP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 Thi Le  Thuy - Y19</dc:creator>
  <cp:lastModifiedBy>Vũ Tuấn Hải</cp:lastModifiedBy>
  <cp:revision>32</cp:revision>
  <dcterms:created xsi:type="dcterms:W3CDTF">2025-10-12T07:14:27Z</dcterms:created>
  <dcterms:modified xsi:type="dcterms:W3CDTF">2026-01-29T05:47:19Z</dcterms:modified>
</cp:coreProperties>
</file>