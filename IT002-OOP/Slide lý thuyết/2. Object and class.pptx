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1027" r:id="rId3"/>
    <p:sldId id="1029" r:id="rId4"/>
    <p:sldId id="1030" r:id="rId5"/>
    <p:sldId id="1031" r:id="rId6"/>
    <p:sldId id="1032" r:id="rId7"/>
    <p:sldId id="1028" r:id="rId8"/>
    <p:sldId id="1033" r:id="rId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5"/>
    <p:restoredTop sz="94490"/>
  </p:normalViewPr>
  <p:slideViewPr>
    <p:cSldViewPr snapToGrid="0">
      <p:cViewPr>
        <p:scale>
          <a:sx n="115" d="100"/>
          <a:sy n="115" d="100"/>
        </p:scale>
        <p:origin x="71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9/3/26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4086" y="6356350"/>
            <a:ext cx="979714" cy="365125"/>
          </a:xfrm>
        </p:spPr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9/3/26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9/3/26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9/3/26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9/3/26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9/3/26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9/3/26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9/3/26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Intro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37F1-282E-01E0-2049-846D7E12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8A17-7E9F-0450-C914-8263C7A38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Chap 1: C++</a:t>
            </a:r>
          </a:p>
          <a:p>
            <a:pPr marL="0" indent="0">
              <a:buNone/>
            </a:pPr>
            <a:r>
              <a:rPr lang="en-US"/>
              <a:t>Chap 2: Overview of OOP</a:t>
            </a:r>
          </a:p>
          <a:p>
            <a:pPr marL="0" indent="0">
              <a:buNone/>
            </a:pPr>
            <a:r>
              <a:rPr lang="en-US" b="1"/>
              <a:t>Chap 3: Object &amp; Class</a:t>
            </a:r>
          </a:p>
          <a:p>
            <a:pPr marL="0" indent="0">
              <a:buNone/>
            </a:pPr>
            <a:r>
              <a:rPr lang="en-US"/>
              <a:t>Chap 4: Operator &amp; Overloading</a:t>
            </a:r>
          </a:p>
          <a:p>
            <a:pPr marL="0" indent="0">
              <a:buNone/>
            </a:pPr>
            <a:r>
              <a:rPr lang="en-US"/>
              <a:t>Chap 5: Inheritance</a:t>
            </a:r>
          </a:p>
          <a:p>
            <a:pPr marL="0" indent="0">
              <a:buNone/>
            </a:pPr>
            <a:r>
              <a:rPr lang="en-US"/>
              <a:t>Chap 6: Polymorphism</a:t>
            </a:r>
          </a:p>
          <a:p>
            <a:pPr marL="0" indent="0">
              <a:buNone/>
            </a:pPr>
            <a:r>
              <a:rPr lang="en-US"/>
              <a:t>Chap 7: Advanced topics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99F9-24F7-0CE7-3181-5CB4D13F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498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E54B-4D4E-03A3-C02A-9BEE8643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Obj lifeloop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25678-F186-8066-9A00-DF6AAB52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3</a:t>
            </a:fld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6D872-3996-6393-C7BF-ED5099C8B2C7}"/>
              </a:ext>
            </a:extLst>
          </p:cNvPr>
          <p:cNvSpPr/>
          <p:nvPr/>
        </p:nvSpPr>
        <p:spPr>
          <a:xfrm>
            <a:off x="923009" y="1690688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BFE20-4F8F-F4FF-52D9-9B67A0DAF4EB}"/>
              </a:ext>
            </a:extLst>
          </p:cNvPr>
          <p:cNvSpPr/>
          <p:nvPr/>
        </p:nvSpPr>
        <p:spPr>
          <a:xfrm>
            <a:off x="923009" y="2569598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1430B-9EE3-63E3-5211-742DEE57B4A3}"/>
              </a:ext>
            </a:extLst>
          </p:cNvPr>
          <p:cNvSpPr/>
          <p:nvPr/>
        </p:nvSpPr>
        <p:spPr>
          <a:xfrm>
            <a:off x="923009" y="3423456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8ADF26-5CC2-BDB1-0E42-3B1EB4BC5D0A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746555" y="2175627"/>
            <a:ext cx="0" cy="3939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CF18B43-5354-56CD-A72C-8F4E9BB86A0C}"/>
              </a:ext>
            </a:extLst>
          </p:cNvPr>
          <p:cNvCxnSpPr>
            <a:stCxn id="6" idx="3"/>
            <a:endCxn id="7" idx="3"/>
          </p:cNvCxnSpPr>
          <p:nvPr/>
        </p:nvCxnSpPr>
        <p:spPr>
          <a:xfrm>
            <a:off x="2570101" y="2812068"/>
            <a:ext cx="12700" cy="853858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CF67948D-AE27-B39E-E349-D144AC1E527A}"/>
              </a:ext>
            </a:extLst>
          </p:cNvPr>
          <p:cNvCxnSpPr>
            <a:stCxn id="7" idx="1"/>
            <a:endCxn id="6" idx="1"/>
          </p:cNvCxnSpPr>
          <p:nvPr/>
        </p:nvCxnSpPr>
        <p:spPr>
          <a:xfrm rot="10800000">
            <a:off x="923009" y="2812068"/>
            <a:ext cx="12700" cy="853858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6253B82-9B23-F712-CC29-469631B2EB0A}"/>
              </a:ext>
            </a:extLst>
          </p:cNvPr>
          <p:cNvSpPr/>
          <p:nvPr/>
        </p:nvSpPr>
        <p:spPr>
          <a:xfrm>
            <a:off x="923008" y="4289840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A4EFA8-10A7-D502-8249-F159CEE2D2BA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1746554" y="3908395"/>
            <a:ext cx="1" cy="381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7559EA-FC3D-A595-BA7A-D8AD58BA2AA5}"/>
                  </a:ext>
                </a:extLst>
              </p:cNvPr>
              <p:cNvSpPr txBox="1"/>
              <p:nvPr/>
            </p:nvSpPr>
            <p:spPr>
              <a:xfrm>
                <a:off x="3006026" y="1789841"/>
                <a:ext cx="2586619" cy="3739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𝒊𝒔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𝒊𝒏𝒕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1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𝒊𝒔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𝒊𝒏𝒕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2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{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      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𝒊𝒔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𝒊𝒏𝒕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3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      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𝒊𝒔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vi-V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𝒊𝒏𝒕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= 4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}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+ 1</m:t>
                    </m:r>
                  </m:oMath>
                </a14:m>
                <a:r>
                  <a:rPr lang="en-V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vi-V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VN">
                    <a:effectLst/>
                  </a:rPr>
                  <a:t> </a:t>
                </a:r>
                <a:endParaRPr lang="en-V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7559EA-FC3D-A595-BA7A-D8AD58BA2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026" y="1789841"/>
                <a:ext cx="2586619" cy="3739485"/>
              </a:xfrm>
              <a:prstGeom prst="rect">
                <a:avLst/>
              </a:prstGeom>
              <a:blipFill>
                <a:blip r:embed="rId2"/>
                <a:stretch>
                  <a:fillRect l="-976" b="-6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EC36D02-F7E3-9638-7BC5-482231D45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32404"/>
              </p:ext>
            </p:extLst>
          </p:nvPr>
        </p:nvGraphicFramePr>
        <p:xfrm>
          <a:off x="5504297" y="2225122"/>
          <a:ext cx="1829466" cy="769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66">
                  <a:extLst>
                    <a:ext uri="{9D8B030D-6E8A-4147-A177-3AD203B41FA5}">
                      <a16:colId xmlns:a16="http://schemas.microsoft.com/office/drawing/2014/main" val="2832705096"/>
                    </a:ext>
                  </a:extLst>
                </a:gridCol>
              </a:tblGrid>
              <a:tr h="769449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8843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BFC7222-CDF7-EB4D-F9D1-3CD7A91D37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0540137"/>
                  </p:ext>
                </p:extLst>
              </p:nvPr>
            </p:nvGraphicFramePr>
            <p:xfrm>
              <a:off x="5592645" y="2552288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BFC7222-CDF7-EB4D-F9D1-3CD7A91D37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0540137"/>
                  </p:ext>
                </p:extLst>
              </p:nvPr>
            </p:nvGraphicFramePr>
            <p:xfrm>
              <a:off x="5592645" y="2552288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5" r="-100000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077" r="-1538" b="-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2711456-6315-5FCE-975B-8BD5CCB19D16}"/>
              </a:ext>
            </a:extLst>
          </p:cNvPr>
          <p:cNvSpPr/>
          <p:nvPr/>
        </p:nvSpPr>
        <p:spPr>
          <a:xfrm>
            <a:off x="3339750" y="2225122"/>
            <a:ext cx="1388513" cy="787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5E1A21-9B31-D468-BB58-C6523BE61F51}"/>
              </a:ext>
            </a:extLst>
          </p:cNvPr>
          <p:cNvCxnSpPr>
            <a:stCxn id="16" idx="3"/>
          </p:cNvCxnSpPr>
          <p:nvPr/>
        </p:nvCxnSpPr>
        <p:spPr>
          <a:xfrm flipV="1">
            <a:off x="4728263" y="2611641"/>
            <a:ext cx="776034" cy="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2DC5683-1868-C1F1-C0A3-93751A1AF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75507"/>
              </p:ext>
            </p:extLst>
          </p:nvPr>
        </p:nvGraphicFramePr>
        <p:xfrm>
          <a:off x="5504297" y="3289794"/>
          <a:ext cx="1829466" cy="101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66">
                  <a:extLst>
                    <a:ext uri="{9D8B030D-6E8A-4147-A177-3AD203B41FA5}">
                      <a16:colId xmlns:a16="http://schemas.microsoft.com/office/drawing/2014/main" val="2832705096"/>
                    </a:ext>
                  </a:extLst>
                </a:gridCol>
              </a:tblGrid>
              <a:tr h="1018030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8843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0ED7C69-21A0-F235-DDBC-1AB00AE79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259295"/>
                  </p:ext>
                </p:extLst>
              </p:nvPr>
            </p:nvGraphicFramePr>
            <p:xfrm>
              <a:off x="5592645" y="3865540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0ED7C69-21A0-F235-DDBC-1AB00AE79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259295"/>
                  </p:ext>
                </p:extLst>
              </p:nvPr>
            </p:nvGraphicFramePr>
            <p:xfrm>
              <a:off x="5592645" y="3865540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5" t="-3125" r="-100000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077" t="-3125" r="-1538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C89708CF-D595-A856-0611-396B0E36542B}"/>
              </a:ext>
            </a:extLst>
          </p:cNvPr>
          <p:cNvSpPr/>
          <p:nvPr/>
        </p:nvSpPr>
        <p:spPr>
          <a:xfrm>
            <a:off x="3626060" y="3526936"/>
            <a:ext cx="1579218" cy="787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B331BE43-0502-7C55-1A50-FF0B9EF640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609816"/>
                  </p:ext>
                </p:extLst>
              </p:nvPr>
            </p:nvGraphicFramePr>
            <p:xfrm>
              <a:off x="5592645" y="3369119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VN" b="0" i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vi-VN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VN" b="0" i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B331BE43-0502-7C55-1A50-FF0B9EF640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609816"/>
                  </p:ext>
                </p:extLst>
              </p:nvPr>
            </p:nvGraphicFramePr>
            <p:xfrm>
              <a:off x="5592645" y="3369119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15" t="-3125" r="-100000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077" t="-3125" r="-1538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6A413C1-30DC-072A-4D08-8EA05A5A3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40393"/>
              </p:ext>
            </p:extLst>
          </p:nvPr>
        </p:nvGraphicFramePr>
        <p:xfrm>
          <a:off x="5345906" y="4499497"/>
          <a:ext cx="1829466" cy="694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66">
                  <a:extLst>
                    <a:ext uri="{9D8B030D-6E8A-4147-A177-3AD203B41FA5}">
                      <a16:colId xmlns:a16="http://schemas.microsoft.com/office/drawing/2014/main" val="2832705096"/>
                    </a:ext>
                  </a:extLst>
                </a:gridCol>
              </a:tblGrid>
              <a:tr h="694473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8843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449EB57-1891-7E7A-EBF3-F46990F849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6126782"/>
                  </p:ext>
                </p:extLst>
              </p:nvPr>
            </p:nvGraphicFramePr>
            <p:xfrm>
              <a:off x="5434254" y="4751687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vi-V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V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449EB57-1891-7E7A-EBF3-F46990F849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6126782"/>
                  </p:ext>
                </p:extLst>
              </p:nvPr>
            </p:nvGraphicFramePr>
            <p:xfrm>
              <a:off x="5434254" y="4751687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125" r="-100000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538" t="-3125" r="-1538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03B28DF4-A1F5-81F1-A423-38BCBD4805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142101"/>
                  </p:ext>
                </p:extLst>
              </p:nvPr>
            </p:nvGraphicFramePr>
            <p:xfrm>
              <a:off x="7144736" y="4628923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V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V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VN" b="0" i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vi-V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VN" b="0" i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03B28DF4-A1F5-81F1-A423-38BCBD4805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142101"/>
                  </p:ext>
                </p:extLst>
              </p:nvPr>
            </p:nvGraphicFramePr>
            <p:xfrm>
              <a:off x="7144736" y="4628923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515" t="-3125" r="-100000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077" t="-3125" r="-1538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9A74A2-18C9-6392-EDE1-CD3BD2DD4EFF}"/>
              </a:ext>
            </a:extLst>
          </p:cNvPr>
          <p:cNvCxnSpPr>
            <a:cxnSpLocks/>
          </p:cNvCxnSpPr>
          <p:nvPr/>
        </p:nvCxnSpPr>
        <p:spPr>
          <a:xfrm>
            <a:off x="4635881" y="5006803"/>
            <a:ext cx="68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A3EEB67-FF76-689E-A26D-DC355CA59CEB}"/>
              </a:ext>
            </a:extLst>
          </p:cNvPr>
          <p:cNvSpPr/>
          <p:nvPr/>
        </p:nvSpPr>
        <p:spPr>
          <a:xfrm>
            <a:off x="3334612" y="4764212"/>
            <a:ext cx="1301269" cy="43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F09ACC19-D230-CD04-4242-6DFC763472E6}"/>
              </a:ext>
            </a:extLst>
          </p:cNvPr>
          <p:cNvCxnSpPr>
            <a:cxnSpLocks/>
            <a:stCxn id="23" idx="0"/>
            <a:endCxn id="24" idx="0"/>
          </p:cNvCxnSpPr>
          <p:nvPr/>
        </p:nvCxnSpPr>
        <p:spPr>
          <a:xfrm rot="5400000" flipH="1" flipV="1">
            <a:off x="7051657" y="3835064"/>
            <a:ext cx="122764" cy="1710482"/>
          </a:xfrm>
          <a:prstGeom prst="curvedConnector3">
            <a:avLst>
              <a:gd name="adj1" fmla="val 2862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A67C590-6FC4-E6AB-242A-E420A94F9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73027"/>
              </p:ext>
            </p:extLst>
          </p:nvPr>
        </p:nvGraphicFramePr>
        <p:xfrm>
          <a:off x="5326622" y="5293889"/>
          <a:ext cx="1848749" cy="792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749">
                  <a:extLst>
                    <a:ext uri="{9D8B030D-6E8A-4147-A177-3AD203B41FA5}">
                      <a16:colId xmlns:a16="http://schemas.microsoft.com/office/drawing/2014/main" val="2832705096"/>
                    </a:ext>
                  </a:extLst>
                </a:gridCol>
              </a:tblGrid>
              <a:tr h="79285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884370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C64C77-C58B-DC49-6871-0C736F57E003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205278" y="3920612"/>
            <a:ext cx="293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30DEB0-3BC8-22D7-BD02-3EB42243E13B}"/>
              </a:ext>
            </a:extLst>
          </p:cNvPr>
          <p:cNvCxnSpPr>
            <a:cxnSpLocks/>
          </p:cNvCxnSpPr>
          <p:nvPr/>
        </p:nvCxnSpPr>
        <p:spPr>
          <a:xfrm>
            <a:off x="4635881" y="5736307"/>
            <a:ext cx="68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972A385-969F-F1EC-99E0-A0339A8E61E3}"/>
              </a:ext>
            </a:extLst>
          </p:cNvPr>
          <p:cNvSpPr/>
          <p:nvPr/>
        </p:nvSpPr>
        <p:spPr>
          <a:xfrm>
            <a:off x="3125018" y="5518768"/>
            <a:ext cx="1510863" cy="43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9BB199C8-852E-AF4A-A3B8-C456ABCC9D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875060"/>
                  </p:ext>
                </p:extLst>
              </p:nvPr>
            </p:nvGraphicFramePr>
            <p:xfrm>
              <a:off x="7089697" y="5601778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V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VN" b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V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vi-V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VN" b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9BB199C8-852E-AF4A-A3B8-C456ABCC9D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875060"/>
                  </p:ext>
                </p:extLst>
              </p:nvPr>
            </p:nvGraphicFramePr>
            <p:xfrm>
              <a:off x="7089697" y="5601778"/>
              <a:ext cx="1647088" cy="393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544">
                      <a:extLst>
                        <a:ext uri="{9D8B030D-6E8A-4147-A177-3AD203B41FA5}">
                          <a16:colId xmlns:a16="http://schemas.microsoft.com/office/drawing/2014/main" val="3432593259"/>
                        </a:ext>
                      </a:extLst>
                    </a:gridCol>
                    <a:gridCol w="823544">
                      <a:extLst>
                        <a:ext uri="{9D8B030D-6E8A-4147-A177-3AD203B41FA5}">
                          <a16:colId xmlns:a16="http://schemas.microsoft.com/office/drawing/2014/main" val="3690242776"/>
                        </a:ext>
                      </a:extLst>
                    </a:gridCol>
                  </a:tblGrid>
                  <a:tr h="393971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538" t="-3125" r="-103077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538" t="-3125" r="-3077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7953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001BD994-E505-B93B-5949-5C1235A036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96618" y="4809536"/>
            <a:ext cx="122764" cy="1710482"/>
          </a:xfrm>
          <a:prstGeom prst="curvedConnector3">
            <a:avLst>
              <a:gd name="adj1" fmla="val 2862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37BD7D-2761-9869-A7DF-7ECC26243F42}"/>
              </a:ext>
            </a:extLst>
          </p:cNvPr>
          <p:cNvSpPr txBox="1"/>
          <p:nvPr/>
        </p:nvSpPr>
        <p:spPr>
          <a:xfrm>
            <a:off x="6096000" y="1806747"/>
            <a:ext cx="114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Stack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14BCD1-C0C5-1C44-ADE4-E58A9BB4C6FD}"/>
              </a:ext>
            </a:extLst>
          </p:cNvPr>
          <p:cNvSpPr txBox="1"/>
          <p:nvPr/>
        </p:nvSpPr>
        <p:spPr>
          <a:xfrm>
            <a:off x="3783318" y="1806747"/>
            <a:ext cx="114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Blocks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0784B-E547-4510-6B1C-7E47EEB3D8DC}"/>
              </a:ext>
            </a:extLst>
          </p:cNvPr>
          <p:cNvSpPr/>
          <p:nvPr/>
        </p:nvSpPr>
        <p:spPr>
          <a:xfrm>
            <a:off x="3019819" y="1685395"/>
            <a:ext cx="5892827" cy="4528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A4949D-D40F-AB8D-2269-3CF223A90F39}"/>
              </a:ext>
            </a:extLst>
          </p:cNvPr>
          <p:cNvSpPr txBox="1"/>
          <p:nvPr/>
        </p:nvSpPr>
        <p:spPr>
          <a:xfrm>
            <a:off x="2904777" y="6279462"/>
            <a:ext cx="22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Default variables</a:t>
            </a:r>
          </a:p>
        </p:txBody>
      </p:sp>
    </p:spTree>
    <p:extLst>
      <p:ext uri="{BB962C8B-B14F-4D97-AF65-F5344CB8AC3E}">
        <p14:creationId xmlns:p14="http://schemas.microsoft.com/office/powerpoint/2010/main" val="322518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5B86-13EC-4BE5-44EC-C909DB45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AE14-3544-BE02-265E-37664EEB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Obj lifeloop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CFB8A-28EB-9475-7228-8DFE32A5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4</a:t>
            </a:fld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44D3D-6FB7-D8C1-A2AC-8B1503A36833}"/>
              </a:ext>
            </a:extLst>
          </p:cNvPr>
          <p:cNvSpPr/>
          <p:nvPr/>
        </p:nvSpPr>
        <p:spPr>
          <a:xfrm>
            <a:off x="790805" y="1690688"/>
            <a:ext cx="1895626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(new)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719DD0-754D-5844-2183-DC7F3B319D4B}"/>
              </a:ext>
            </a:extLst>
          </p:cNvPr>
          <p:cNvSpPr/>
          <p:nvPr/>
        </p:nvSpPr>
        <p:spPr>
          <a:xfrm>
            <a:off x="923009" y="2569598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B7AE5-3B23-2377-B65F-55B450AC2157}"/>
              </a:ext>
            </a:extLst>
          </p:cNvPr>
          <p:cNvSpPr/>
          <p:nvPr/>
        </p:nvSpPr>
        <p:spPr>
          <a:xfrm>
            <a:off x="923009" y="3423456"/>
            <a:ext cx="1647092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0B7471-EF83-3896-2101-07D8665DA94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38618" y="2175627"/>
            <a:ext cx="7937" cy="3939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824A9C54-E757-09FA-1675-45DF188F4E00}"/>
              </a:ext>
            </a:extLst>
          </p:cNvPr>
          <p:cNvCxnSpPr>
            <a:stCxn id="6" idx="3"/>
            <a:endCxn id="7" idx="3"/>
          </p:cNvCxnSpPr>
          <p:nvPr/>
        </p:nvCxnSpPr>
        <p:spPr>
          <a:xfrm>
            <a:off x="2570101" y="2812068"/>
            <a:ext cx="12700" cy="853858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8A3EB901-01A7-3C34-8778-7CA11F61F746}"/>
              </a:ext>
            </a:extLst>
          </p:cNvPr>
          <p:cNvCxnSpPr>
            <a:stCxn id="7" idx="1"/>
            <a:endCxn id="6" idx="1"/>
          </p:cNvCxnSpPr>
          <p:nvPr/>
        </p:nvCxnSpPr>
        <p:spPr>
          <a:xfrm rot="10800000">
            <a:off x="923009" y="2812068"/>
            <a:ext cx="12700" cy="853858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59C8B84-7703-7839-1F7C-D7909F442017}"/>
              </a:ext>
            </a:extLst>
          </p:cNvPr>
          <p:cNvSpPr/>
          <p:nvPr/>
        </p:nvSpPr>
        <p:spPr>
          <a:xfrm>
            <a:off x="674473" y="4289840"/>
            <a:ext cx="2128087" cy="48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 (Delete)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97BA27-3FB6-D1B2-9BF8-89B13EAB8F1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1738517" y="3908395"/>
            <a:ext cx="8038" cy="381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EC0CC65-884B-6A07-6CF3-09B901729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26882"/>
              </p:ext>
            </p:extLst>
          </p:nvPr>
        </p:nvGraphicFramePr>
        <p:xfrm>
          <a:off x="4392771" y="1694118"/>
          <a:ext cx="999298" cy="2587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9298">
                  <a:extLst>
                    <a:ext uri="{9D8B030D-6E8A-4147-A177-3AD203B41FA5}">
                      <a16:colId xmlns:a16="http://schemas.microsoft.com/office/drawing/2014/main" val="2832117873"/>
                    </a:ext>
                  </a:extLst>
                </a:gridCol>
              </a:tblGrid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73322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461302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41041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52337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42336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CA6377-4199-EB27-E92A-74C3EF481862}"/>
              </a:ext>
            </a:extLst>
          </p:cNvPr>
          <p:cNvCxnSpPr/>
          <p:nvPr/>
        </p:nvCxnSpPr>
        <p:spPr>
          <a:xfrm flipH="1">
            <a:off x="4001680" y="1938958"/>
            <a:ext cx="391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802A58-969D-0030-8DB1-67CF6FE1368B}"/>
              </a:ext>
            </a:extLst>
          </p:cNvPr>
          <p:cNvSpPr txBox="1"/>
          <p:nvPr/>
        </p:nvSpPr>
        <p:spPr>
          <a:xfrm>
            <a:off x="3380946" y="1754292"/>
            <a:ext cx="151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76E3640-E346-C484-F19A-5A00F534C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045992"/>
              </p:ext>
            </p:extLst>
          </p:nvPr>
        </p:nvGraphicFramePr>
        <p:xfrm>
          <a:off x="6524979" y="1694118"/>
          <a:ext cx="999298" cy="2587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9298">
                  <a:extLst>
                    <a:ext uri="{9D8B030D-6E8A-4147-A177-3AD203B41FA5}">
                      <a16:colId xmlns:a16="http://schemas.microsoft.com/office/drawing/2014/main" val="2832117873"/>
                    </a:ext>
                  </a:extLst>
                </a:gridCol>
              </a:tblGrid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73322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461302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41041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52337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42336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65BB1B-5478-0F4C-829F-F1856FCE5139}"/>
              </a:ext>
            </a:extLst>
          </p:cNvPr>
          <p:cNvCxnSpPr/>
          <p:nvPr/>
        </p:nvCxnSpPr>
        <p:spPr>
          <a:xfrm flipH="1">
            <a:off x="6133888" y="2991142"/>
            <a:ext cx="391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58D5A84-0CAC-E8CC-430E-5B7B5014B093}"/>
              </a:ext>
            </a:extLst>
          </p:cNvPr>
          <p:cNvSpPr txBox="1"/>
          <p:nvPr/>
        </p:nvSpPr>
        <p:spPr>
          <a:xfrm>
            <a:off x="5513154" y="2806476"/>
            <a:ext cx="151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FB75D63-CC7F-61F4-0BC1-08A25481E07A}"/>
              </a:ext>
            </a:extLst>
          </p:cNvPr>
          <p:cNvSpPr/>
          <p:nvPr/>
        </p:nvSpPr>
        <p:spPr>
          <a:xfrm>
            <a:off x="4342667" y="1888854"/>
            <a:ext cx="112734" cy="1127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ABC9F86-09DE-230E-572E-F5BF95218D29}"/>
              </a:ext>
            </a:extLst>
          </p:cNvPr>
          <p:cNvSpPr/>
          <p:nvPr/>
        </p:nvSpPr>
        <p:spPr>
          <a:xfrm>
            <a:off x="6474175" y="2930600"/>
            <a:ext cx="112734" cy="1127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05F6071B-CC10-C140-8C90-FC3D71DE2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09942"/>
              </p:ext>
            </p:extLst>
          </p:nvPr>
        </p:nvGraphicFramePr>
        <p:xfrm>
          <a:off x="8610559" y="1694118"/>
          <a:ext cx="999298" cy="2587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9298">
                  <a:extLst>
                    <a:ext uri="{9D8B030D-6E8A-4147-A177-3AD203B41FA5}">
                      <a16:colId xmlns:a16="http://schemas.microsoft.com/office/drawing/2014/main" val="2832117873"/>
                    </a:ext>
                  </a:extLst>
                </a:gridCol>
              </a:tblGrid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73322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461302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410419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52337"/>
                  </a:ext>
                </a:extLst>
              </a:tr>
              <a:tr h="517441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42336"/>
                  </a:ext>
                </a:extLst>
              </a:tr>
            </a:tbl>
          </a:graphicData>
        </a:graphic>
      </p:graphicFrame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9F0C6D6-365B-7701-A730-6CEEB265652F}"/>
              </a:ext>
            </a:extLst>
          </p:cNvPr>
          <p:cNvCxnSpPr/>
          <p:nvPr/>
        </p:nvCxnSpPr>
        <p:spPr>
          <a:xfrm flipH="1">
            <a:off x="8219468" y="1951484"/>
            <a:ext cx="391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81C006E-3A79-3506-E56B-B9C3DA9FC5A5}"/>
              </a:ext>
            </a:extLst>
          </p:cNvPr>
          <p:cNvSpPr txBox="1"/>
          <p:nvPr/>
        </p:nvSpPr>
        <p:spPr>
          <a:xfrm>
            <a:off x="7598734" y="1766818"/>
            <a:ext cx="151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5AE385E-362D-EA3C-B47F-DE09BB015D3C}"/>
              </a:ext>
            </a:extLst>
          </p:cNvPr>
          <p:cNvSpPr/>
          <p:nvPr/>
        </p:nvSpPr>
        <p:spPr>
          <a:xfrm>
            <a:off x="8559755" y="1890942"/>
            <a:ext cx="112734" cy="1127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89744C-2F4B-F221-A944-4F845B8C7CB2}"/>
              </a:ext>
            </a:extLst>
          </p:cNvPr>
          <p:cNvSpPr txBox="1"/>
          <p:nvPr/>
        </p:nvSpPr>
        <p:spPr>
          <a:xfrm>
            <a:off x="4001680" y="4409625"/>
            <a:ext cx="204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(a) Empty heap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0966DD-644A-98DB-420D-72BF2F895DAF}"/>
              </a:ext>
            </a:extLst>
          </p:cNvPr>
          <p:cNvSpPr txBox="1"/>
          <p:nvPr/>
        </p:nvSpPr>
        <p:spPr>
          <a:xfrm>
            <a:off x="6133888" y="4405447"/>
            <a:ext cx="204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(b) Allocated heap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95DFBA-4929-4B70-EC98-AD5943930883}"/>
              </a:ext>
            </a:extLst>
          </p:cNvPr>
          <p:cNvSpPr txBox="1"/>
          <p:nvPr/>
        </p:nvSpPr>
        <p:spPr>
          <a:xfrm>
            <a:off x="8089336" y="4405447"/>
            <a:ext cx="301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(c) Heap after free()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8E49A3-CDAB-1ADF-A63C-3818B71AC226}"/>
              </a:ext>
            </a:extLst>
          </p:cNvPr>
          <p:cNvSpPr/>
          <p:nvPr/>
        </p:nvSpPr>
        <p:spPr>
          <a:xfrm>
            <a:off x="3146023" y="1529476"/>
            <a:ext cx="7307359" cy="3488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550180-45C0-EB9A-ADD4-188C0FD5BAB2}"/>
              </a:ext>
            </a:extLst>
          </p:cNvPr>
          <p:cNvSpPr txBox="1"/>
          <p:nvPr/>
        </p:nvSpPr>
        <p:spPr>
          <a:xfrm>
            <a:off x="3007454" y="5133201"/>
            <a:ext cx="22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158349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CEF1-AE67-E0D5-4D8F-3CBFBD53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Obj lifeloop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DF558-D647-603C-4BAF-F07E304B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5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0E1B1C-AD29-C234-7ABF-DE0C88A67EA4}"/>
              </a:ext>
            </a:extLst>
          </p:cNvPr>
          <p:cNvSpPr txBox="1">
            <a:spLocks/>
          </p:cNvSpPr>
          <p:nvPr/>
        </p:nvSpPr>
        <p:spPr>
          <a:xfrm>
            <a:off x="838200" y="1690689"/>
            <a:ext cx="4714301" cy="3310970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b="1"/>
              <a:t>class</a:t>
            </a:r>
            <a:r>
              <a:rPr lang="en-US" sz="2400"/>
              <a:t> Rectangle{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private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width, length;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public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void set (int w, int l);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area() { return width*length; 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};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FFD14F-49B9-D8BB-76D2-9411393B3C03}"/>
              </a:ext>
            </a:extLst>
          </p:cNvPr>
          <p:cNvCxnSpPr>
            <a:cxnSpLocks/>
          </p:cNvCxnSpPr>
          <p:nvPr/>
        </p:nvCxnSpPr>
        <p:spPr>
          <a:xfrm>
            <a:off x="5783766" y="1690688"/>
            <a:ext cx="0" cy="361729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7AF60F-6CAA-0AB4-6CEC-0EF18429E91E}"/>
              </a:ext>
            </a:extLst>
          </p:cNvPr>
          <p:cNvSpPr txBox="1"/>
          <p:nvPr/>
        </p:nvSpPr>
        <p:spPr>
          <a:xfrm>
            <a:off x="5419492" y="1248937"/>
            <a:ext cx="72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FA69B-C2B6-D3F7-D5B6-23310DB1D216}"/>
              </a:ext>
            </a:extLst>
          </p:cNvPr>
          <p:cNvSpPr txBox="1"/>
          <p:nvPr/>
        </p:nvSpPr>
        <p:spPr>
          <a:xfrm>
            <a:off x="6015032" y="1690688"/>
            <a:ext cx="38843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Raw Memory Allocation</a:t>
            </a:r>
          </a:p>
          <a:p>
            <a:r>
              <a:rPr lang="en-US">
                <a:solidFill>
                  <a:srgbClr val="0A0A0A"/>
                </a:solidFill>
                <a:latin typeface="Google Sans"/>
              </a:rPr>
              <a:t>+ Stack: through stack pointer</a:t>
            </a:r>
          </a:p>
          <a:p>
            <a:r>
              <a:rPr lang="en-US">
                <a:solidFill>
                  <a:srgbClr val="0A0A0A"/>
                </a:solidFill>
                <a:latin typeface="Google Sans"/>
              </a:rPr>
              <a:t>+ Heap (new): find free space on heap</a:t>
            </a:r>
          </a:p>
          <a:p>
            <a:r>
              <a:rPr lang="en-US">
                <a:solidFill>
                  <a:srgbClr val="0A0A0A"/>
                </a:solidFill>
                <a:latin typeface="Google Sans"/>
              </a:rPr>
              <a:t>+ Handcraft (malloc): sizeof</a:t>
            </a:r>
          </a:p>
          <a:p>
            <a:r>
              <a:rPr lang="en-US">
                <a:solidFill>
                  <a:srgbClr val="0A0A0A"/>
                </a:solidFill>
                <a:latin typeface="Google Sans"/>
              </a:rPr>
              <a:t>Note: padding, vptr, … </a:t>
            </a:r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625D73-A34A-F5B6-A026-4C27D13649D0}"/>
              </a:ext>
            </a:extLst>
          </p:cNvPr>
          <p:cNvSpPr/>
          <p:nvPr/>
        </p:nvSpPr>
        <p:spPr>
          <a:xfrm>
            <a:off x="5932450" y="1690687"/>
            <a:ext cx="3884337" cy="1477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4CCB6-086A-8ECA-E356-2D62C25207B4}"/>
              </a:ext>
            </a:extLst>
          </p:cNvPr>
          <p:cNvSpPr txBox="1"/>
          <p:nvPr/>
        </p:nvSpPr>
        <p:spPr>
          <a:xfrm>
            <a:off x="5932450" y="3976227"/>
            <a:ext cx="388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Constructor</a:t>
            </a:r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39FF9-59D5-4FC9-F640-804EDF3A7571}"/>
              </a:ext>
            </a:extLst>
          </p:cNvPr>
          <p:cNvSpPr txBox="1"/>
          <p:nvPr/>
        </p:nvSpPr>
        <p:spPr>
          <a:xfrm>
            <a:off x="5932448" y="4597133"/>
            <a:ext cx="388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A0A0A"/>
                </a:solidFill>
                <a:latin typeface="Google Sans"/>
              </a:rPr>
              <a:t>Des</a:t>
            </a:r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tructor</a:t>
            </a:r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FC67B-2869-0D3D-D504-64075DEB6B63}"/>
              </a:ext>
            </a:extLst>
          </p:cNvPr>
          <p:cNvSpPr txBox="1"/>
          <p:nvPr/>
        </p:nvSpPr>
        <p:spPr>
          <a:xfrm>
            <a:off x="5932447" y="3352682"/>
            <a:ext cx="388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Init member variables</a:t>
            </a:r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81A124-AA98-4AB0-6779-B468283821D4}"/>
              </a:ext>
            </a:extLst>
          </p:cNvPr>
          <p:cNvSpPr txBox="1"/>
          <p:nvPr/>
        </p:nvSpPr>
        <p:spPr>
          <a:xfrm>
            <a:off x="838201" y="5819982"/>
            <a:ext cx="417006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Q</a:t>
            </a:r>
            <a:r>
              <a:rPr lang="en-VN" sz="2400">
                <a:solidFill>
                  <a:srgbClr val="FF0000"/>
                </a:solidFill>
              </a:rPr>
              <a:t>: What happens if constructor has </a:t>
            </a:r>
            <a:r>
              <a:rPr lang="en-VN" sz="2400" b="1">
                <a:solidFill>
                  <a:srgbClr val="FF0000"/>
                </a:solidFill>
              </a:rPr>
              <a:t>exceptions</a:t>
            </a:r>
            <a:r>
              <a:rPr lang="en-VN" sz="240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1862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5D8E-9AA5-7885-6E47-CB0D1E4E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5ACA7-911B-BF61-7982-9D6F77B1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335C8-241A-DF77-BCC4-A1A47189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4828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1913-B3D8-CEE3-5FCC-5C4E82FD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 obj &amp;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5B641-9685-C776-306A-5B1393D6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7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D0FC4A-8BEB-974D-9888-7328BA2D84A0}"/>
              </a:ext>
            </a:extLst>
          </p:cNvPr>
          <p:cNvSpPr txBox="1">
            <a:spLocks/>
          </p:cNvSpPr>
          <p:nvPr/>
        </p:nvSpPr>
        <p:spPr>
          <a:xfrm>
            <a:off x="838200" y="1690689"/>
            <a:ext cx="4714301" cy="3310970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b="1"/>
              <a:t>class</a:t>
            </a:r>
            <a:r>
              <a:rPr lang="en-US" sz="2400"/>
              <a:t> Rectangle{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private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width, length;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public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void set (int w, int l);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area() { return width*length; 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};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3223D-42CC-E0E2-60DB-C8BD2E23D471}"/>
              </a:ext>
            </a:extLst>
          </p:cNvPr>
          <p:cNvSpPr/>
          <p:nvPr/>
        </p:nvSpPr>
        <p:spPr>
          <a:xfrm>
            <a:off x="727113" y="1575412"/>
            <a:ext cx="4957591" cy="3547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0D914-EF84-BCC7-036A-2E08094B4DB0}"/>
              </a:ext>
            </a:extLst>
          </p:cNvPr>
          <p:cNvSpPr txBox="1"/>
          <p:nvPr/>
        </p:nvSpPr>
        <p:spPr>
          <a:xfrm>
            <a:off x="616944" y="5167311"/>
            <a:ext cx="22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Inside class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848042-A49A-3F7F-EC06-28077928F88B}"/>
              </a:ext>
            </a:extLst>
          </p:cNvPr>
          <p:cNvSpPr txBox="1">
            <a:spLocks/>
          </p:cNvSpPr>
          <p:nvPr/>
        </p:nvSpPr>
        <p:spPr>
          <a:xfrm>
            <a:off x="5795791" y="1690689"/>
            <a:ext cx="4714301" cy="3310970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void Rectangle :: set (int w, int l) 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width = w; length = l;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86C44-1438-67FC-91A4-B570688F6AE7}"/>
              </a:ext>
            </a:extLst>
          </p:cNvPr>
          <p:cNvSpPr txBox="1"/>
          <p:nvPr/>
        </p:nvSpPr>
        <p:spPr>
          <a:xfrm>
            <a:off x="5795791" y="5167311"/>
            <a:ext cx="22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Outside class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52373-E695-E1B6-B4C8-A896B21AB732}"/>
              </a:ext>
            </a:extLst>
          </p:cNvPr>
          <p:cNvSpPr/>
          <p:nvPr/>
        </p:nvSpPr>
        <p:spPr>
          <a:xfrm>
            <a:off x="6485264" y="1575412"/>
            <a:ext cx="1590100" cy="583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F257B-0AA3-7407-22F0-35201A27E01F}"/>
              </a:ext>
            </a:extLst>
          </p:cNvPr>
          <p:cNvSpPr txBox="1"/>
          <p:nvPr/>
        </p:nvSpPr>
        <p:spPr>
          <a:xfrm>
            <a:off x="5875663" y="1155705"/>
            <a:ext cx="340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Class name + scope operator</a:t>
            </a:r>
          </a:p>
        </p:txBody>
      </p:sp>
    </p:spTree>
    <p:extLst>
      <p:ext uri="{BB962C8B-B14F-4D97-AF65-F5344CB8AC3E}">
        <p14:creationId xmlns:p14="http://schemas.microsoft.com/office/powerpoint/2010/main" val="403164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A238-E3E6-90BD-F9DA-0097CA68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EF98-FD10-0F16-B49E-C64D89E7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 obj &amp; class: this pointer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84EEA-3C88-D329-F946-300FB140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8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70624C-51D3-C24E-BAFC-27FE96361011}"/>
              </a:ext>
            </a:extLst>
          </p:cNvPr>
          <p:cNvSpPr txBox="1">
            <a:spLocks/>
          </p:cNvSpPr>
          <p:nvPr/>
        </p:nvSpPr>
        <p:spPr>
          <a:xfrm>
            <a:off x="838200" y="1690689"/>
            <a:ext cx="4714301" cy="3310970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b="1"/>
              <a:t>class</a:t>
            </a:r>
            <a:r>
              <a:rPr lang="en-US" sz="2400"/>
              <a:t> Rectangle{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private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width, length;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en-US" sz="2400" b="1"/>
              <a:t>public</a:t>
            </a:r>
            <a:r>
              <a:rPr lang="en-US" sz="2400"/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void set (int w, int l);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   int area() { return width*length; 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};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7961DBB-B2E5-E357-29A9-0F434F4C15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5791" y="1690689"/>
                <a:ext cx="4953985" cy="3310970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b="1"/>
                  <a:t>void</a:t>
                </a:r>
                <a:r>
                  <a:rPr lang="en-US" sz="2400"/>
                  <a:t> Rectangle :: set (int w, int l) {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/>
                  <a:t>   this</a:t>
                </a:r>
                <a14:m>
                  <m:oMath xmlns:m="http://schemas.openxmlformats.org/officeDocument/2006/math">
                    <m:r>
                      <a:rPr lang="vi-VN" sz="2400" b="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/>
                  <a:t>   width = w; this</a:t>
                </a:r>
                <a14:m>
                  <m:oMath xmlns:m="http://schemas.openxmlformats.org/officeDocument/2006/math">
                    <m:r>
                      <a:rPr lang="vi-VN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/>
                  <a:t>length = l;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/>
                  <a:t>   (*this).width = w; (*this).length =l;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/>
                  <a:t>}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7961DBB-B2E5-E357-29A9-0F434F4C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791" y="1690689"/>
                <a:ext cx="4953985" cy="3310970"/>
              </a:xfrm>
              <a:prstGeom prst="rect">
                <a:avLst/>
              </a:prstGeom>
              <a:blipFill>
                <a:blip r:embed="rId2"/>
                <a:stretch>
                  <a:fillRect l="-2046" t="-114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1401C5C-2E7A-4D41-906E-4E73C086CEFE}"/>
              </a:ext>
            </a:extLst>
          </p:cNvPr>
          <p:cNvSpPr txBox="1"/>
          <p:nvPr/>
        </p:nvSpPr>
        <p:spPr>
          <a:xfrm>
            <a:off x="6096000" y="2757193"/>
            <a:ext cx="22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This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72750-390E-4949-415F-E0E0434B8D0C}"/>
              </a:ext>
            </a:extLst>
          </p:cNvPr>
          <p:cNvSpPr/>
          <p:nvPr/>
        </p:nvSpPr>
        <p:spPr>
          <a:xfrm>
            <a:off x="5994610" y="2116660"/>
            <a:ext cx="919146" cy="583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3353-8B39-9FBC-AD47-BC6D8608C00D}"/>
              </a:ext>
            </a:extLst>
          </p:cNvPr>
          <p:cNvSpPr txBox="1">
            <a:spLocks/>
          </p:cNvSpPr>
          <p:nvPr/>
        </p:nvSpPr>
        <p:spPr>
          <a:xfrm>
            <a:off x="838199" y="5001659"/>
            <a:ext cx="4714301" cy="1719816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b="1"/>
              <a:t>int</a:t>
            </a:r>
            <a:r>
              <a:rPr lang="en-US" sz="2400"/>
              <a:t> main() 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Rectangle r;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   r.  set(3, 5)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/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C7E84C-E94F-59E0-01DB-BACC32FE5E5E}"/>
              </a:ext>
            </a:extLst>
          </p:cNvPr>
          <p:cNvSpPr/>
          <p:nvPr/>
        </p:nvSpPr>
        <p:spPr>
          <a:xfrm>
            <a:off x="1028601" y="5887843"/>
            <a:ext cx="276092" cy="393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599A4D-30FC-0AC3-7950-1FC55468BE63}"/>
              </a:ext>
            </a:extLst>
          </p:cNvPr>
          <p:cNvCxnSpPr>
            <a:stCxn id="12" idx="0"/>
            <a:endCxn id="10" idx="1"/>
          </p:cNvCxnSpPr>
          <p:nvPr/>
        </p:nvCxnSpPr>
        <p:spPr>
          <a:xfrm flipV="1">
            <a:off x="1166647" y="2408607"/>
            <a:ext cx="4827963" cy="347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5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16006</TotalTime>
  <Words>429</Words>
  <Application>Microsoft Macintosh PowerPoint</Application>
  <PresentationFormat>Widescreen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Google Sans</vt:lpstr>
      <vt:lpstr>Times New Roman</vt:lpstr>
      <vt:lpstr>Office Theme</vt:lpstr>
      <vt:lpstr>Intro OOP</vt:lpstr>
      <vt:lpstr>Timeline</vt:lpstr>
      <vt:lpstr>Obj lifeloop</vt:lpstr>
      <vt:lpstr>Obj lifeloop</vt:lpstr>
      <vt:lpstr>Obj lifeloop</vt:lpstr>
      <vt:lpstr>Constructor</vt:lpstr>
      <vt:lpstr>OOP obj &amp; class</vt:lpstr>
      <vt:lpstr>OOP obj &amp; class: this pointer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Tuan Hai Vu</cp:lastModifiedBy>
  <cp:revision>49</cp:revision>
  <dcterms:created xsi:type="dcterms:W3CDTF">2025-10-12T07:14:27Z</dcterms:created>
  <dcterms:modified xsi:type="dcterms:W3CDTF">2026-03-10T06:03:13Z</dcterms:modified>
</cp:coreProperties>
</file>